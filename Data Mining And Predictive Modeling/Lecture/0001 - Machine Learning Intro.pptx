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tags/tag15.xml" ContentType="application/vnd.openxmlformats-officedocument.presentationml.tags+xml"/>
  <Override PartName="/ppt/notesSlides/notesSlide32.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7335" r:id="rId4"/>
    <p:sldMasterId id="2147487361" r:id="rId5"/>
  </p:sldMasterIdLst>
  <p:notesMasterIdLst>
    <p:notesMasterId r:id="rId39"/>
  </p:notesMasterIdLst>
  <p:handoutMasterIdLst>
    <p:handoutMasterId r:id="rId40"/>
  </p:handoutMasterIdLst>
  <p:sldIdLst>
    <p:sldId id="2147477476" r:id="rId6"/>
    <p:sldId id="586" r:id="rId7"/>
    <p:sldId id="592" r:id="rId8"/>
    <p:sldId id="593" r:id="rId9"/>
    <p:sldId id="597" r:id="rId10"/>
    <p:sldId id="598" r:id="rId11"/>
    <p:sldId id="603" r:id="rId12"/>
    <p:sldId id="642" r:id="rId13"/>
    <p:sldId id="609" r:id="rId14"/>
    <p:sldId id="472" r:id="rId15"/>
    <p:sldId id="644" r:id="rId16"/>
    <p:sldId id="702" r:id="rId17"/>
    <p:sldId id="703" r:id="rId18"/>
    <p:sldId id="704" r:id="rId19"/>
    <p:sldId id="636" r:id="rId20"/>
    <p:sldId id="634" r:id="rId21"/>
    <p:sldId id="635" r:id="rId22"/>
    <p:sldId id="654" r:id="rId23"/>
    <p:sldId id="656" r:id="rId24"/>
    <p:sldId id="660" r:id="rId25"/>
    <p:sldId id="2147477480" r:id="rId26"/>
    <p:sldId id="2147477513" r:id="rId27"/>
    <p:sldId id="2147477482" r:id="rId28"/>
    <p:sldId id="2147477483" r:id="rId29"/>
    <p:sldId id="639" r:id="rId30"/>
    <p:sldId id="647" r:id="rId31"/>
    <p:sldId id="651" r:id="rId32"/>
    <p:sldId id="695" r:id="rId33"/>
    <p:sldId id="709" r:id="rId34"/>
    <p:sldId id="2147477484" r:id="rId35"/>
    <p:sldId id="2147477477" r:id="rId36"/>
    <p:sldId id="2147477481" r:id="rId37"/>
    <p:sldId id="2147477485" r:id="rId38"/>
  </p:sldIdLst>
  <p:sldSz cx="9144000" cy="5143500" type="screen16x9"/>
  <p:notesSz cx="7010400" cy="9296400"/>
  <p:custDataLst>
    <p:tags r:id="rId4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chine Learning in Business Decision Making" id="{3E228B38-3762-4C0F-8064-CEBA25A0C210}">
          <p14:sldIdLst>
            <p14:sldId id="2147477476"/>
          </p14:sldIdLst>
        </p14:section>
        <p14:section name="What is Machine Learning?" id="{591CCE6B-37A5-4220-B073-F93C37E68237}">
          <p14:sldIdLst>
            <p14:sldId id="586"/>
          </p14:sldIdLst>
        </p14:section>
        <p14:section name="3 Steps of Process Machine Learning" id="{F818669F-2C77-4256-B6C5-45EA51852A0F}">
          <p14:sldIdLst>
            <p14:sldId id="592"/>
            <p14:sldId id="593"/>
            <p14:sldId id="597"/>
            <p14:sldId id="598"/>
          </p14:sldIdLst>
        </p14:section>
        <p14:section name="SAS Viya Overview" id="{AA4ECD33-D1A5-4855-8A64-BC0631C88F26}">
          <p14:sldIdLst>
            <p14:sldId id="603"/>
            <p14:sldId id="642"/>
            <p14:sldId id="609"/>
          </p14:sldIdLst>
        </p14:section>
        <p14:section name="Analytics Life Cycle" id="{6FDBD83C-7BE3-44CC-8C46-1DD5DDED4A1E}">
          <p14:sldIdLst>
            <p14:sldId id="472"/>
            <p14:sldId id="644"/>
            <p14:sldId id="702"/>
            <p14:sldId id="703"/>
            <p14:sldId id="704"/>
            <p14:sldId id="636"/>
          </p14:sldIdLst>
        </p14:section>
        <p14:section name="Case Study: Customer Churn" id="{E8272719-1AC4-40F3-9C68-71DE297A7129}">
          <p14:sldIdLst>
            <p14:sldId id="634"/>
            <p14:sldId id="635"/>
            <p14:sldId id="654"/>
            <p14:sldId id="656"/>
            <p14:sldId id="660"/>
          </p14:sldIdLst>
        </p14:section>
        <p14:section name="Applications of Prediction-Based Decision Making" id="{2FE2AA27-A0A8-43FD-BEE9-C80B1AF5D590}">
          <p14:sldIdLst>
            <p14:sldId id="2147477480"/>
            <p14:sldId id="2147477513"/>
          </p14:sldIdLst>
        </p14:section>
        <p14:section name="Case Study: Data Dictionary" id="{F8899177-8F64-45C3-BF5E-A9599B19D3B0}">
          <p14:sldIdLst>
            <p14:sldId id="2147477482"/>
          </p14:sldIdLst>
        </p14:section>
        <p14:section name="SAS Viya Applications Menu" id="{3A153521-8E24-40A0-859E-A4AD1D26C249}">
          <p14:sldIdLst>
            <p14:sldId id="2147477483"/>
          </p14:sldIdLst>
        </p14:section>
        <p14:section name="SAS Viya Tools Machine Learning" id="{A88D7E2C-C092-46FE-B936-C46894DFF0B9}">
          <p14:sldIdLst>
            <p14:sldId id="639"/>
            <p14:sldId id="647"/>
            <p14:sldId id="651"/>
            <p14:sldId id="695"/>
            <p14:sldId id="709"/>
          </p14:sldIdLst>
        </p14:section>
        <p14:section name="SAS Drive" id="{4B8241C3-D20E-423B-9E18-39203914D1F4}">
          <p14:sldIdLst>
            <p14:sldId id="2147477484"/>
          </p14:sldIdLst>
        </p14:section>
        <p14:section name="Demo: Creating a Project and Loading Data" id="{8B4AF710-0B2E-4705-894B-C3065E38F1FD}">
          <p14:sldIdLst>
            <p14:sldId id="2147477477"/>
          </p14:sldIdLst>
        </p14:section>
        <p14:section name="Question: Model Studio" id="{E3D42347-7C54-48B5-9A3E-C25559E87FCA}">
          <p14:sldIdLst>
            <p14:sldId id="2147477481"/>
            <p14:sldId id="2147477485"/>
          </p14:sldIdLst>
        </p14:section>
      </p14:sectionLst>
    </p:ext>
    <p:ext uri="{EFAFB233-063F-42B5-8137-9DF3F51BA10A}">
      <p15:sldGuideLst xmlns:p15="http://schemas.microsoft.com/office/powerpoint/2012/main">
        <p15:guide id="1" pos="2880" userDrawn="1">
          <p15:clr>
            <a:srgbClr val="A4A3A4"/>
          </p15:clr>
        </p15:guide>
        <p15:guide id="3" pos="5328" userDrawn="1">
          <p15:clr>
            <a:srgbClr val="A4A3A4"/>
          </p15:clr>
        </p15:guide>
        <p15:guide id="4" orient="horz" pos="162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412C21-5711-7C63-3003-1301A9C02ACF}" name="Sharad Saxena" initials="SS" userId="S::sharad.saxena@sas.com::2175a1b6-0374-4538-90b4-f967b264fc69" providerId="AD"/>
  <p188:author id="{B123AD2C-F4F3-2429-D5BA-01EDDC7D00CA}" name="Marya Ilgen-Lieth" initials="MIL" userId="S::marya.ilgen-lieth@sas.com::bdc64539-34c7-4a13-96e9-db0cf703961b" providerId="AD"/>
  <p188:author id="{C981293A-ABA0-501C-ED92-9C6DD5CA3D31}" name="Kirstin Morrison" initials="KM" userId="S::Kirstin.Morrison@sas.com::e930b3d7-5adf-4c98-ab43-56898f766a85" providerId="AD"/>
  <p188:author id="{5A510643-6C17-D247-7D6A-038D4D453CD5}" name="Rick Cornell" initials="RC" userId="S::rick.cornell@sas.com::7d5fb255-44fe-4502-b992-0f386f68e94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90DC"/>
    <a:srgbClr val="708D1F"/>
    <a:srgbClr val="627B1B"/>
    <a:srgbClr val="4B7C1A"/>
    <a:srgbClr val="85A725"/>
    <a:srgbClr val="9EC62C"/>
    <a:srgbClr val="D9D9D9"/>
    <a:srgbClr val="08649C"/>
    <a:srgbClr val="19BBB7"/>
    <a:srgbClr val="29466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496C73-C870-4FCF-85D5-9C72B83C0524}" v="4" dt="2025-02-24T07:08:38.6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166" autoAdjust="0"/>
    <p:restoredTop sz="50280" autoAdjust="0"/>
  </p:normalViewPr>
  <p:slideViewPr>
    <p:cSldViewPr snapToGrid="0">
      <p:cViewPr varScale="1">
        <p:scale>
          <a:sx n="75" d="100"/>
          <a:sy n="75" d="100"/>
        </p:scale>
        <p:origin x="2694" y="54"/>
      </p:cViewPr>
      <p:guideLst>
        <p:guide pos="2880"/>
        <p:guide pos="5328"/>
        <p:guide orient="horz" pos="162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p:scale>
          <a:sx n="1" d="2"/>
          <a:sy n="1" d="2"/>
        </p:scale>
        <p:origin x="3456" y="389"/>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notesMaster" Target="notesMasters/notesMaster1.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presProps" Target="presProps.xml"/><Relationship Id="rId47" Type="http://schemas.microsoft.com/office/2018/10/relationships/authors" Target="author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viewProps" Target="viewProps.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tags" Target="tags/tag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A5CB56-A321-4846-AC76-50B4F9F6CC73}" type="doc">
      <dgm:prSet loTypeId="urn:microsoft.com/office/officeart/2005/8/layout/default" loCatId="list" qsTypeId="urn:microsoft.com/office/officeart/2005/8/quickstyle/simple4" qsCatId="simple" csTypeId="urn:microsoft.com/office/officeart/2005/8/colors/accent1_2" csCatId="accent1" phldr="1"/>
      <dgm:spPr/>
      <dgm:t>
        <a:bodyPr/>
        <a:lstStyle/>
        <a:p>
          <a:endParaRPr lang="en-US"/>
        </a:p>
      </dgm:t>
    </dgm:pt>
    <dgm:pt modelId="{BF5F1D6A-44C6-425B-B65D-9A371DBFF496}">
      <dgm:prSet custT="1"/>
      <dgm:spPr/>
      <dgm:t>
        <a:bodyPr/>
        <a:lstStyle/>
        <a:p>
          <a:r>
            <a:rPr lang="en-US" sz="1000" b="0" i="0" baseline="0"/>
            <a:t>• Database marketing applications include offer response, upsell, cross-sell, and attrition models. </a:t>
          </a:r>
          <a:endParaRPr lang="en-US" sz="1000"/>
        </a:p>
      </dgm:t>
    </dgm:pt>
    <dgm:pt modelId="{FE6E62F8-AC4D-41E7-8605-C788FEF9EB25}" type="parTrans" cxnId="{0ABF0952-35A3-44F3-ABEB-E43D5F945756}">
      <dgm:prSet/>
      <dgm:spPr/>
      <dgm:t>
        <a:bodyPr/>
        <a:lstStyle/>
        <a:p>
          <a:endParaRPr lang="en-US" sz="1000"/>
        </a:p>
      </dgm:t>
    </dgm:pt>
    <dgm:pt modelId="{51D50BF4-A3D7-4EAA-86FF-1C95DC211B36}" type="sibTrans" cxnId="{0ABF0952-35A3-44F3-ABEB-E43D5F945756}">
      <dgm:prSet/>
      <dgm:spPr/>
      <dgm:t>
        <a:bodyPr/>
        <a:lstStyle/>
        <a:p>
          <a:endParaRPr lang="en-US" sz="1000"/>
        </a:p>
      </dgm:t>
    </dgm:pt>
    <dgm:pt modelId="{46EB8F68-60CE-4B6D-BE4A-478B96394D5D}">
      <dgm:prSet custT="1"/>
      <dgm:spPr/>
      <dgm:t>
        <a:bodyPr/>
        <a:lstStyle/>
        <a:p>
          <a:r>
            <a:rPr lang="en-US" sz="1000" b="0" i="0" baseline="0"/>
            <a:t>• Process-monitoring applications detect deviations from the norm in manufacturing, financial, and security processes. </a:t>
          </a:r>
          <a:endParaRPr lang="en-US" sz="1000"/>
        </a:p>
      </dgm:t>
    </dgm:pt>
    <dgm:pt modelId="{B1FAC60F-3367-4D00-B74B-5FE9CC52A645}" type="parTrans" cxnId="{BFC2D110-D800-4382-91E4-47D2B2DD3C14}">
      <dgm:prSet/>
      <dgm:spPr/>
      <dgm:t>
        <a:bodyPr/>
        <a:lstStyle/>
        <a:p>
          <a:endParaRPr lang="en-US" sz="1000"/>
        </a:p>
      </dgm:t>
    </dgm:pt>
    <dgm:pt modelId="{5EB87B5E-C523-48E4-A4AA-92CACC47F416}" type="sibTrans" cxnId="{BFC2D110-D800-4382-91E4-47D2B2DD3C14}">
      <dgm:prSet/>
      <dgm:spPr/>
      <dgm:t>
        <a:bodyPr/>
        <a:lstStyle/>
        <a:p>
          <a:endParaRPr lang="en-US" sz="1000"/>
        </a:p>
      </dgm:t>
    </dgm:pt>
    <dgm:pt modelId="{D0BE8216-4F4E-4DE9-AA58-A1B3EBA17534}">
      <dgm:prSet custT="1"/>
      <dgm:spPr/>
      <dgm:t>
        <a:bodyPr/>
        <a:lstStyle/>
        <a:p>
          <a:r>
            <a:rPr lang="en-US" sz="1000" b="0" i="0" baseline="0"/>
            <a:t>• Pattern-detection models are used in applications ranging from handwriting analysis to medical diagnostics. </a:t>
          </a:r>
          <a:endParaRPr lang="en-US" sz="1000"/>
        </a:p>
      </dgm:t>
    </dgm:pt>
    <dgm:pt modelId="{FD19A5D1-B7D3-4F00-9F79-916D9ADA8E00}" type="parTrans" cxnId="{DA1CA3B3-A19A-4A4D-ACE7-E93A48D49B9D}">
      <dgm:prSet/>
      <dgm:spPr/>
      <dgm:t>
        <a:bodyPr/>
        <a:lstStyle/>
        <a:p>
          <a:endParaRPr lang="en-US" sz="1000"/>
        </a:p>
      </dgm:t>
    </dgm:pt>
    <dgm:pt modelId="{E133A10D-597A-4C59-8069-4C0B2397A633}" type="sibTrans" cxnId="{DA1CA3B3-A19A-4A4D-ACE7-E93A48D49B9D}">
      <dgm:prSet/>
      <dgm:spPr/>
      <dgm:t>
        <a:bodyPr/>
        <a:lstStyle/>
        <a:p>
          <a:endParaRPr lang="en-US" sz="1000"/>
        </a:p>
      </dgm:t>
    </dgm:pt>
    <dgm:pt modelId="{ACB5F15B-4064-4E69-BC93-AFD1D366525A}">
      <dgm:prSet custT="1"/>
      <dgm:spPr/>
      <dgm:t>
        <a:bodyPr/>
        <a:lstStyle/>
        <a:p>
          <a:r>
            <a:rPr lang="en-US" sz="1000" b="0" i="0" baseline="0"/>
            <a:t>• Recommender systems make recommendations by predicting a user's rating or preference. </a:t>
          </a:r>
          <a:endParaRPr lang="en-US" sz="1000"/>
        </a:p>
      </dgm:t>
    </dgm:pt>
    <dgm:pt modelId="{E0BE2BE8-9DC6-4A58-8357-7CC2424222CA}" type="parTrans" cxnId="{625E539F-0218-487A-969C-8E59FE802F63}">
      <dgm:prSet/>
      <dgm:spPr/>
      <dgm:t>
        <a:bodyPr/>
        <a:lstStyle/>
        <a:p>
          <a:endParaRPr lang="en-US" sz="1000"/>
        </a:p>
      </dgm:t>
    </dgm:pt>
    <dgm:pt modelId="{18107CC6-0844-48D8-AED9-BD9BCF8DF76D}" type="sibTrans" cxnId="{625E539F-0218-487A-969C-8E59FE802F63}">
      <dgm:prSet/>
      <dgm:spPr/>
      <dgm:t>
        <a:bodyPr/>
        <a:lstStyle/>
        <a:p>
          <a:endParaRPr lang="en-US" sz="1000"/>
        </a:p>
      </dgm:t>
    </dgm:pt>
    <dgm:pt modelId="{BABED4B0-55E0-4667-9C12-7EF977DE5CF6}">
      <dgm:prSet custT="1"/>
      <dgm:spPr/>
      <dgm:t>
        <a:bodyPr/>
        <a:lstStyle/>
        <a:p>
          <a:r>
            <a:rPr lang="en-US" sz="1000" b="0" i="0" baseline="0"/>
            <a:t>• Text mining applications include, for example, determining customer sentiment based on online comments, classifying a document based on content, or determining the authorship of a document. </a:t>
          </a:r>
          <a:endParaRPr lang="en-US" sz="1000"/>
        </a:p>
      </dgm:t>
    </dgm:pt>
    <dgm:pt modelId="{D6B91B01-32A0-40BA-A179-2D5564A17F3C}" type="parTrans" cxnId="{6646F07B-95C9-4459-9C67-13EAC9DE33F4}">
      <dgm:prSet/>
      <dgm:spPr/>
      <dgm:t>
        <a:bodyPr/>
        <a:lstStyle/>
        <a:p>
          <a:endParaRPr lang="en-US" sz="1000"/>
        </a:p>
      </dgm:t>
    </dgm:pt>
    <dgm:pt modelId="{1C4B17F8-E362-45E8-9F0D-FBE1DDEF3517}" type="sibTrans" cxnId="{6646F07B-95C9-4459-9C67-13EAC9DE33F4}">
      <dgm:prSet/>
      <dgm:spPr/>
      <dgm:t>
        <a:bodyPr/>
        <a:lstStyle/>
        <a:p>
          <a:endParaRPr lang="en-US" sz="1000"/>
        </a:p>
      </dgm:t>
    </dgm:pt>
    <dgm:pt modelId="{B2B2D003-ECC0-4A1E-81CF-2309CD3A77C7}">
      <dgm:prSet custT="1"/>
      <dgm:spPr/>
      <dgm:t>
        <a:bodyPr/>
        <a:lstStyle/>
        <a:p>
          <a:r>
            <a:rPr lang="en-US" sz="1000" b="0" i="0" baseline="0"/>
            <a:t>• Predictive asset maintenance assists with retirement planning. </a:t>
          </a:r>
          <a:endParaRPr lang="en-US" sz="1000"/>
        </a:p>
      </dgm:t>
    </dgm:pt>
    <dgm:pt modelId="{3AD0EBB1-6C92-4189-8179-DCF2642CF99A}" type="parTrans" cxnId="{C7229CBB-C1CD-428C-844A-E41FB7868109}">
      <dgm:prSet/>
      <dgm:spPr/>
      <dgm:t>
        <a:bodyPr/>
        <a:lstStyle/>
        <a:p>
          <a:endParaRPr lang="en-US" sz="1000"/>
        </a:p>
      </dgm:t>
    </dgm:pt>
    <dgm:pt modelId="{AFF57477-78C4-44EA-A6C5-4A4C0B96772A}" type="sibTrans" cxnId="{C7229CBB-C1CD-428C-844A-E41FB7868109}">
      <dgm:prSet/>
      <dgm:spPr/>
      <dgm:t>
        <a:bodyPr/>
        <a:lstStyle/>
        <a:p>
          <a:endParaRPr lang="en-US" sz="1000"/>
        </a:p>
      </dgm:t>
    </dgm:pt>
    <dgm:pt modelId="{F6A996B0-E3E1-4133-9ED8-B74DDECBD6AD}">
      <dgm:prSet custT="1"/>
      <dgm:spPr/>
      <dgm:t>
        <a:bodyPr/>
        <a:lstStyle/>
        <a:p>
          <a:r>
            <a:rPr lang="en-US" sz="1000" b="0" i="0" baseline="0" dirty="0"/>
            <a:t>• Network management and optimization includes modeling and predicting network traffic fluctuations to optimize quality of service and routing by being able to reallocate bandwidth as needed, identify and resolve network bottlenecks, manage capacity to plan for infrastructure investments, maintain quality of service, and optimize the network for the most valuable customers. </a:t>
          </a:r>
          <a:endParaRPr lang="en-US" sz="1000" dirty="0"/>
        </a:p>
      </dgm:t>
    </dgm:pt>
    <dgm:pt modelId="{1AA10223-3D63-4C1F-8A38-2C1C858783A9}" type="parTrans" cxnId="{05EA88CB-86A1-42E2-A8DC-AA02CF409D0C}">
      <dgm:prSet/>
      <dgm:spPr/>
      <dgm:t>
        <a:bodyPr/>
        <a:lstStyle/>
        <a:p>
          <a:endParaRPr lang="en-US" sz="1000"/>
        </a:p>
      </dgm:t>
    </dgm:pt>
    <dgm:pt modelId="{73C2DADC-F899-4A24-B42D-43DF0461CDA0}" type="sibTrans" cxnId="{05EA88CB-86A1-42E2-A8DC-AA02CF409D0C}">
      <dgm:prSet/>
      <dgm:spPr/>
      <dgm:t>
        <a:bodyPr/>
        <a:lstStyle/>
        <a:p>
          <a:endParaRPr lang="en-US" sz="1000"/>
        </a:p>
      </dgm:t>
    </dgm:pt>
    <dgm:pt modelId="{635CB4D5-C7C2-4445-9712-ED0C72159A6F}" type="pres">
      <dgm:prSet presAssocID="{21A5CB56-A321-4846-AC76-50B4F9F6CC73}" presName="diagram" presStyleCnt="0">
        <dgm:presLayoutVars>
          <dgm:dir/>
          <dgm:resizeHandles val="exact"/>
        </dgm:presLayoutVars>
      </dgm:prSet>
      <dgm:spPr/>
    </dgm:pt>
    <dgm:pt modelId="{65DC5F1F-8DDF-4200-ABA0-D8EB966A7CD7}" type="pres">
      <dgm:prSet presAssocID="{BF5F1D6A-44C6-425B-B65D-9A371DBFF496}" presName="node" presStyleLbl="node1" presStyleIdx="0" presStyleCnt="7">
        <dgm:presLayoutVars>
          <dgm:bulletEnabled val="1"/>
        </dgm:presLayoutVars>
      </dgm:prSet>
      <dgm:spPr/>
    </dgm:pt>
    <dgm:pt modelId="{E5C67493-DBCB-4401-BA2E-5A710FF9D597}" type="pres">
      <dgm:prSet presAssocID="{51D50BF4-A3D7-4EAA-86FF-1C95DC211B36}" presName="sibTrans" presStyleCnt="0"/>
      <dgm:spPr/>
    </dgm:pt>
    <dgm:pt modelId="{66A0C339-E546-41A0-87CF-6255A6B82774}" type="pres">
      <dgm:prSet presAssocID="{46EB8F68-60CE-4B6D-BE4A-478B96394D5D}" presName="node" presStyleLbl="node1" presStyleIdx="1" presStyleCnt="7">
        <dgm:presLayoutVars>
          <dgm:bulletEnabled val="1"/>
        </dgm:presLayoutVars>
      </dgm:prSet>
      <dgm:spPr/>
    </dgm:pt>
    <dgm:pt modelId="{D186E87F-C2D3-45FB-8A82-449A86D0ACCE}" type="pres">
      <dgm:prSet presAssocID="{5EB87B5E-C523-48E4-A4AA-92CACC47F416}" presName="sibTrans" presStyleCnt="0"/>
      <dgm:spPr/>
    </dgm:pt>
    <dgm:pt modelId="{82639AE9-63AA-4410-8552-C807AB65E9A8}" type="pres">
      <dgm:prSet presAssocID="{D0BE8216-4F4E-4DE9-AA58-A1B3EBA17534}" presName="node" presStyleLbl="node1" presStyleIdx="2" presStyleCnt="7">
        <dgm:presLayoutVars>
          <dgm:bulletEnabled val="1"/>
        </dgm:presLayoutVars>
      </dgm:prSet>
      <dgm:spPr/>
    </dgm:pt>
    <dgm:pt modelId="{925C7C40-735B-4AFD-ABDC-D616C24D5CC0}" type="pres">
      <dgm:prSet presAssocID="{E133A10D-597A-4C59-8069-4C0B2397A633}" presName="sibTrans" presStyleCnt="0"/>
      <dgm:spPr/>
    </dgm:pt>
    <dgm:pt modelId="{B9F829C6-2FB6-4C4A-9047-1D856EF0A5C9}" type="pres">
      <dgm:prSet presAssocID="{ACB5F15B-4064-4E69-BC93-AFD1D366525A}" presName="node" presStyleLbl="node1" presStyleIdx="3" presStyleCnt="7">
        <dgm:presLayoutVars>
          <dgm:bulletEnabled val="1"/>
        </dgm:presLayoutVars>
      </dgm:prSet>
      <dgm:spPr/>
    </dgm:pt>
    <dgm:pt modelId="{A3719A28-5A64-47B7-8FFC-95542D7F73A0}" type="pres">
      <dgm:prSet presAssocID="{18107CC6-0844-48D8-AED9-BD9BCF8DF76D}" presName="sibTrans" presStyleCnt="0"/>
      <dgm:spPr/>
    </dgm:pt>
    <dgm:pt modelId="{88AC90E3-9F2E-46AC-9D33-9E7499C71915}" type="pres">
      <dgm:prSet presAssocID="{BABED4B0-55E0-4667-9C12-7EF977DE5CF6}" presName="node" presStyleLbl="node1" presStyleIdx="4" presStyleCnt="7">
        <dgm:presLayoutVars>
          <dgm:bulletEnabled val="1"/>
        </dgm:presLayoutVars>
      </dgm:prSet>
      <dgm:spPr/>
    </dgm:pt>
    <dgm:pt modelId="{26D3E569-2CB0-4FDE-8172-A8D13B956454}" type="pres">
      <dgm:prSet presAssocID="{1C4B17F8-E362-45E8-9F0D-FBE1DDEF3517}" presName="sibTrans" presStyleCnt="0"/>
      <dgm:spPr/>
    </dgm:pt>
    <dgm:pt modelId="{93D603AA-10BD-4147-B6B1-7F12FDD42F86}" type="pres">
      <dgm:prSet presAssocID="{B2B2D003-ECC0-4A1E-81CF-2309CD3A77C7}" presName="node" presStyleLbl="node1" presStyleIdx="5" presStyleCnt="7">
        <dgm:presLayoutVars>
          <dgm:bulletEnabled val="1"/>
        </dgm:presLayoutVars>
      </dgm:prSet>
      <dgm:spPr/>
    </dgm:pt>
    <dgm:pt modelId="{591098A7-F3E5-458A-AFB7-C00560F27508}" type="pres">
      <dgm:prSet presAssocID="{AFF57477-78C4-44EA-A6C5-4A4C0B96772A}" presName="sibTrans" presStyleCnt="0"/>
      <dgm:spPr/>
    </dgm:pt>
    <dgm:pt modelId="{B399870F-0F4D-46D8-877D-96927E0B0052}" type="pres">
      <dgm:prSet presAssocID="{F6A996B0-E3E1-4133-9ED8-B74DDECBD6AD}" presName="node" presStyleLbl="node1" presStyleIdx="6" presStyleCnt="7" custScaleX="152137" custScaleY="142455">
        <dgm:presLayoutVars>
          <dgm:bulletEnabled val="1"/>
        </dgm:presLayoutVars>
      </dgm:prSet>
      <dgm:spPr/>
    </dgm:pt>
  </dgm:ptLst>
  <dgm:cxnLst>
    <dgm:cxn modelId="{BFC2D110-D800-4382-91E4-47D2B2DD3C14}" srcId="{21A5CB56-A321-4846-AC76-50B4F9F6CC73}" destId="{46EB8F68-60CE-4B6D-BE4A-478B96394D5D}" srcOrd="1" destOrd="0" parTransId="{B1FAC60F-3367-4D00-B74B-5FE9CC52A645}" sibTransId="{5EB87B5E-C523-48E4-A4AA-92CACC47F416}"/>
    <dgm:cxn modelId="{1EB2F43A-30FD-43F7-9240-709C96678D48}" type="presOf" srcId="{21A5CB56-A321-4846-AC76-50B4F9F6CC73}" destId="{635CB4D5-C7C2-4445-9712-ED0C72159A6F}" srcOrd="0" destOrd="0" presId="urn:microsoft.com/office/officeart/2005/8/layout/default"/>
    <dgm:cxn modelId="{0ABF0952-35A3-44F3-ABEB-E43D5F945756}" srcId="{21A5CB56-A321-4846-AC76-50B4F9F6CC73}" destId="{BF5F1D6A-44C6-425B-B65D-9A371DBFF496}" srcOrd="0" destOrd="0" parTransId="{FE6E62F8-AC4D-41E7-8605-C788FEF9EB25}" sibTransId="{51D50BF4-A3D7-4EAA-86FF-1C95DC211B36}"/>
    <dgm:cxn modelId="{9BF6BB7A-B248-4EFC-925E-FA8BD5D7D2CB}" type="presOf" srcId="{46EB8F68-60CE-4B6D-BE4A-478B96394D5D}" destId="{66A0C339-E546-41A0-87CF-6255A6B82774}" srcOrd="0" destOrd="0" presId="urn:microsoft.com/office/officeart/2005/8/layout/default"/>
    <dgm:cxn modelId="{6646F07B-95C9-4459-9C67-13EAC9DE33F4}" srcId="{21A5CB56-A321-4846-AC76-50B4F9F6CC73}" destId="{BABED4B0-55E0-4667-9C12-7EF977DE5CF6}" srcOrd="4" destOrd="0" parTransId="{D6B91B01-32A0-40BA-A179-2D5564A17F3C}" sibTransId="{1C4B17F8-E362-45E8-9F0D-FBE1DDEF3517}"/>
    <dgm:cxn modelId="{4971B282-7120-4A3B-9264-6C125F9FC781}" type="presOf" srcId="{ACB5F15B-4064-4E69-BC93-AFD1D366525A}" destId="{B9F829C6-2FB6-4C4A-9047-1D856EF0A5C9}" srcOrd="0" destOrd="0" presId="urn:microsoft.com/office/officeart/2005/8/layout/default"/>
    <dgm:cxn modelId="{BCA5BC8F-62AC-4B46-8CFB-1BEC2F3FE2E6}" type="presOf" srcId="{B2B2D003-ECC0-4A1E-81CF-2309CD3A77C7}" destId="{93D603AA-10BD-4147-B6B1-7F12FDD42F86}" srcOrd="0" destOrd="0" presId="urn:microsoft.com/office/officeart/2005/8/layout/default"/>
    <dgm:cxn modelId="{625E539F-0218-487A-969C-8E59FE802F63}" srcId="{21A5CB56-A321-4846-AC76-50B4F9F6CC73}" destId="{ACB5F15B-4064-4E69-BC93-AFD1D366525A}" srcOrd="3" destOrd="0" parTransId="{E0BE2BE8-9DC6-4A58-8357-7CC2424222CA}" sibTransId="{18107CC6-0844-48D8-AED9-BD9BCF8DF76D}"/>
    <dgm:cxn modelId="{160B9DAD-81DA-4EFF-AFA2-6891DFC69748}" type="presOf" srcId="{BF5F1D6A-44C6-425B-B65D-9A371DBFF496}" destId="{65DC5F1F-8DDF-4200-ABA0-D8EB966A7CD7}" srcOrd="0" destOrd="0" presId="urn:microsoft.com/office/officeart/2005/8/layout/default"/>
    <dgm:cxn modelId="{DA1CA3B3-A19A-4A4D-ACE7-E93A48D49B9D}" srcId="{21A5CB56-A321-4846-AC76-50B4F9F6CC73}" destId="{D0BE8216-4F4E-4DE9-AA58-A1B3EBA17534}" srcOrd="2" destOrd="0" parTransId="{FD19A5D1-B7D3-4F00-9F79-916D9ADA8E00}" sibTransId="{E133A10D-597A-4C59-8069-4C0B2397A633}"/>
    <dgm:cxn modelId="{C7229CBB-C1CD-428C-844A-E41FB7868109}" srcId="{21A5CB56-A321-4846-AC76-50B4F9F6CC73}" destId="{B2B2D003-ECC0-4A1E-81CF-2309CD3A77C7}" srcOrd="5" destOrd="0" parTransId="{3AD0EBB1-6C92-4189-8179-DCF2642CF99A}" sibTransId="{AFF57477-78C4-44EA-A6C5-4A4C0B96772A}"/>
    <dgm:cxn modelId="{161F49C9-1133-406B-B027-7FBE81839109}" type="presOf" srcId="{D0BE8216-4F4E-4DE9-AA58-A1B3EBA17534}" destId="{82639AE9-63AA-4410-8552-C807AB65E9A8}" srcOrd="0" destOrd="0" presId="urn:microsoft.com/office/officeart/2005/8/layout/default"/>
    <dgm:cxn modelId="{05EA88CB-86A1-42E2-A8DC-AA02CF409D0C}" srcId="{21A5CB56-A321-4846-AC76-50B4F9F6CC73}" destId="{F6A996B0-E3E1-4133-9ED8-B74DDECBD6AD}" srcOrd="6" destOrd="0" parTransId="{1AA10223-3D63-4C1F-8A38-2C1C858783A9}" sibTransId="{73C2DADC-F899-4A24-B42D-43DF0461CDA0}"/>
    <dgm:cxn modelId="{B1FE0CDA-09F4-4F27-9334-27B15033DD1B}" type="presOf" srcId="{BABED4B0-55E0-4667-9C12-7EF977DE5CF6}" destId="{88AC90E3-9F2E-46AC-9D33-9E7499C71915}" srcOrd="0" destOrd="0" presId="urn:microsoft.com/office/officeart/2005/8/layout/default"/>
    <dgm:cxn modelId="{09EAC7FF-CD67-42EF-B8DB-E6AEE20CE65E}" type="presOf" srcId="{F6A996B0-E3E1-4133-9ED8-B74DDECBD6AD}" destId="{B399870F-0F4D-46D8-877D-96927E0B0052}" srcOrd="0" destOrd="0" presId="urn:microsoft.com/office/officeart/2005/8/layout/default"/>
    <dgm:cxn modelId="{9FD179ED-7B4A-4C7E-BE1C-562D0DBD07FF}" type="presParOf" srcId="{635CB4D5-C7C2-4445-9712-ED0C72159A6F}" destId="{65DC5F1F-8DDF-4200-ABA0-D8EB966A7CD7}" srcOrd="0" destOrd="0" presId="urn:microsoft.com/office/officeart/2005/8/layout/default"/>
    <dgm:cxn modelId="{7C5F540C-A4DF-4D62-9B02-D64F5E7285E6}" type="presParOf" srcId="{635CB4D5-C7C2-4445-9712-ED0C72159A6F}" destId="{E5C67493-DBCB-4401-BA2E-5A710FF9D597}" srcOrd="1" destOrd="0" presId="urn:microsoft.com/office/officeart/2005/8/layout/default"/>
    <dgm:cxn modelId="{8524B6EC-3202-4529-8042-18F5E791EA4B}" type="presParOf" srcId="{635CB4D5-C7C2-4445-9712-ED0C72159A6F}" destId="{66A0C339-E546-41A0-87CF-6255A6B82774}" srcOrd="2" destOrd="0" presId="urn:microsoft.com/office/officeart/2005/8/layout/default"/>
    <dgm:cxn modelId="{354B4DC8-094C-4B2F-8588-38945001BF4C}" type="presParOf" srcId="{635CB4D5-C7C2-4445-9712-ED0C72159A6F}" destId="{D186E87F-C2D3-45FB-8A82-449A86D0ACCE}" srcOrd="3" destOrd="0" presId="urn:microsoft.com/office/officeart/2005/8/layout/default"/>
    <dgm:cxn modelId="{1E69AE02-F21D-4EC5-BEDA-AAB898FCB0B1}" type="presParOf" srcId="{635CB4D5-C7C2-4445-9712-ED0C72159A6F}" destId="{82639AE9-63AA-4410-8552-C807AB65E9A8}" srcOrd="4" destOrd="0" presId="urn:microsoft.com/office/officeart/2005/8/layout/default"/>
    <dgm:cxn modelId="{CC323FDC-BCA8-47E8-89FE-25806050EF28}" type="presParOf" srcId="{635CB4D5-C7C2-4445-9712-ED0C72159A6F}" destId="{925C7C40-735B-4AFD-ABDC-D616C24D5CC0}" srcOrd="5" destOrd="0" presId="urn:microsoft.com/office/officeart/2005/8/layout/default"/>
    <dgm:cxn modelId="{6F80BF06-F3CF-49ED-B029-AD45267AD662}" type="presParOf" srcId="{635CB4D5-C7C2-4445-9712-ED0C72159A6F}" destId="{B9F829C6-2FB6-4C4A-9047-1D856EF0A5C9}" srcOrd="6" destOrd="0" presId="urn:microsoft.com/office/officeart/2005/8/layout/default"/>
    <dgm:cxn modelId="{97EAC9BB-BE6C-49FC-B02D-AB9729056EDE}" type="presParOf" srcId="{635CB4D5-C7C2-4445-9712-ED0C72159A6F}" destId="{A3719A28-5A64-47B7-8FFC-95542D7F73A0}" srcOrd="7" destOrd="0" presId="urn:microsoft.com/office/officeart/2005/8/layout/default"/>
    <dgm:cxn modelId="{1EE4DB4B-07EA-4643-94F9-FA9059F9820F}" type="presParOf" srcId="{635CB4D5-C7C2-4445-9712-ED0C72159A6F}" destId="{88AC90E3-9F2E-46AC-9D33-9E7499C71915}" srcOrd="8" destOrd="0" presId="urn:microsoft.com/office/officeart/2005/8/layout/default"/>
    <dgm:cxn modelId="{701DABD1-8123-478C-80CF-20200B8BA147}" type="presParOf" srcId="{635CB4D5-C7C2-4445-9712-ED0C72159A6F}" destId="{26D3E569-2CB0-4FDE-8172-A8D13B956454}" srcOrd="9" destOrd="0" presId="urn:microsoft.com/office/officeart/2005/8/layout/default"/>
    <dgm:cxn modelId="{2953C53A-21E4-43DF-A168-CF28771724E2}" type="presParOf" srcId="{635CB4D5-C7C2-4445-9712-ED0C72159A6F}" destId="{93D603AA-10BD-4147-B6B1-7F12FDD42F86}" srcOrd="10" destOrd="0" presId="urn:microsoft.com/office/officeart/2005/8/layout/default"/>
    <dgm:cxn modelId="{E09D663C-7FE9-418E-9980-7C7A559D222E}" type="presParOf" srcId="{635CB4D5-C7C2-4445-9712-ED0C72159A6F}" destId="{591098A7-F3E5-458A-AFB7-C00560F27508}" srcOrd="11" destOrd="0" presId="urn:microsoft.com/office/officeart/2005/8/layout/default"/>
    <dgm:cxn modelId="{D90FAD8A-9C4B-461A-8356-945D94B9E0BB}" type="presParOf" srcId="{635CB4D5-C7C2-4445-9712-ED0C72159A6F}" destId="{B399870F-0F4D-46D8-877D-96927E0B0052}" srcOrd="12"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DC5F1F-8DDF-4200-ABA0-D8EB966A7CD7}">
      <dsp:nvSpPr>
        <dsp:cNvPr id="0" name=""/>
        <dsp:cNvSpPr/>
      </dsp:nvSpPr>
      <dsp:spPr>
        <a:xfrm>
          <a:off x="2310" y="312417"/>
          <a:ext cx="1833041" cy="10998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i="0" kern="1200" baseline="0"/>
            <a:t>• Database marketing applications include offer response, upsell, cross-sell, and attrition models. </a:t>
          </a:r>
          <a:endParaRPr lang="en-US" sz="1000" kern="1200"/>
        </a:p>
      </dsp:txBody>
      <dsp:txXfrm>
        <a:off x="2310" y="312417"/>
        <a:ext cx="1833041" cy="1099824"/>
      </dsp:txXfrm>
    </dsp:sp>
    <dsp:sp modelId="{66A0C339-E546-41A0-87CF-6255A6B82774}">
      <dsp:nvSpPr>
        <dsp:cNvPr id="0" name=""/>
        <dsp:cNvSpPr/>
      </dsp:nvSpPr>
      <dsp:spPr>
        <a:xfrm>
          <a:off x="2018656" y="312417"/>
          <a:ext cx="1833041" cy="10998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i="0" kern="1200" baseline="0"/>
            <a:t>• Process-monitoring applications detect deviations from the norm in manufacturing, financial, and security processes. </a:t>
          </a:r>
          <a:endParaRPr lang="en-US" sz="1000" kern="1200"/>
        </a:p>
      </dsp:txBody>
      <dsp:txXfrm>
        <a:off x="2018656" y="312417"/>
        <a:ext cx="1833041" cy="1099824"/>
      </dsp:txXfrm>
    </dsp:sp>
    <dsp:sp modelId="{82639AE9-63AA-4410-8552-C807AB65E9A8}">
      <dsp:nvSpPr>
        <dsp:cNvPr id="0" name=""/>
        <dsp:cNvSpPr/>
      </dsp:nvSpPr>
      <dsp:spPr>
        <a:xfrm>
          <a:off x="4035002" y="312417"/>
          <a:ext cx="1833041" cy="10998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i="0" kern="1200" baseline="0"/>
            <a:t>• Pattern-detection models are used in applications ranging from handwriting analysis to medical diagnostics. </a:t>
          </a:r>
          <a:endParaRPr lang="en-US" sz="1000" kern="1200"/>
        </a:p>
      </dsp:txBody>
      <dsp:txXfrm>
        <a:off x="4035002" y="312417"/>
        <a:ext cx="1833041" cy="1099824"/>
      </dsp:txXfrm>
    </dsp:sp>
    <dsp:sp modelId="{B9F829C6-2FB6-4C4A-9047-1D856EF0A5C9}">
      <dsp:nvSpPr>
        <dsp:cNvPr id="0" name=""/>
        <dsp:cNvSpPr/>
      </dsp:nvSpPr>
      <dsp:spPr>
        <a:xfrm>
          <a:off x="6051347" y="312417"/>
          <a:ext cx="1833041" cy="10998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i="0" kern="1200" baseline="0"/>
            <a:t>• Recommender systems make recommendations by predicting a user's rating or preference. </a:t>
          </a:r>
          <a:endParaRPr lang="en-US" sz="1000" kern="1200"/>
        </a:p>
      </dsp:txBody>
      <dsp:txXfrm>
        <a:off x="6051347" y="312417"/>
        <a:ext cx="1833041" cy="1099824"/>
      </dsp:txXfrm>
    </dsp:sp>
    <dsp:sp modelId="{88AC90E3-9F2E-46AC-9D33-9E7499C71915}">
      <dsp:nvSpPr>
        <dsp:cNvPr id="0" name=""/>
        <dsp:cNvSpPr/>
      </dsp:nvSpPr>
      <dsp:spPr>
        <a:xfrm>
          <a:off x="532636" y="1829012"/>
          <a:ext cx="1833041" cy="10998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i="0" kern="1200" baseline="0"/>
            <a:t>• Text mining applications include, for example, determining customer sentiment based on online comments, classifying a document based on content, or determining the authorship of a document. </a:t>
          </a:r>
          <a:endParaRPr lang="en-US" sz="1000" kern="1200"/>
        </a:p>
      </dsp:txBody>
      <dsp:txXfrm>
        <a:off x="532636" y="1829012"/>
        <a:ext cx="1833041" cy="1099824"/>
      </dsp:txXfrm>
    </dsp:sp>
    <dsp:sp modelId="{93D603AA-10BD-4147-B6B1-7F12FDD42F86}">
      <dsp:nvSpPr>
        <dsp:cNvPr id="0" name=""/>
        <dsp:cNvSpPr/>
      </dsp:nvSpPr>
      <dsp:spPr>
        <a:xfrm>
          <a:off x="2548982" y="1829012"/>
          <a:ext cx="1833041" cy="1099824"/>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i="0" kern="1200" baseline="0"/>
            <a:t>• Predictive asset maintenance assists with retirement planning. </a:t>
          </a:r>
          <a:endParaRPr lang="en-US" sz="1000" kern="1200"/>
        </a:p>
      </dsp:txBody>
      <dsp:txXfrm>
        <a:off x="2548982" y="1829012"/>
        <a:ext cx="1833041" cy="1099824"/>
      </dsp:txXfrm>
    </dsp:sp>
    <dsp:sp modelId="{B399870F-0F4D-46D8-877D-96927E0B0052}">
      <dsp:nvSpPr>
        <dsp:cNvPr id="0" name=""/>
        <dsp:cNvSpPr/>
      </dsp:nvSpPr>
      <dsp:spPr>
        <a:xfrm>
          <a:off x="4565328" y="1595546"/>
          <a:ext cx="2788734" cy="1566755"/>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b="0" i="0" kern="1200" baseline="0" dirty="0"/>
            <a:t>• Network management and optimization includes modeling and predicting network traffic fluctuations to optimize quality of service and routing by being able to reallocate bandwidth as needed, identify and resolve network bottlenecks, manage capacity to plan for infrastructure investments, maintain quality of service, and optimize the network for the most valuable customers. </a:t>
          </a:r>
          <a:endParaRPr lang="en-US" sz="1000" kern="1200" dirty="0"/>
        </a:p>
      </dsp:txBody>
      <dsp:txXfrm>
        <a:off x="4565328" y="1595546"/>
        <a:ext cx="2788734" cy="1566755"/>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50" tIns="46576" rIns="93150" bIns="46576" rtlCol="0"/>
          <a:lstStyle>
            <a:lvl1pPr algn="l">
              <a:defRPr sz="1200"/>
            </a:lvl1pPr>
          </a:lstStyle>
          <a:p>
            <a:r>
              <a:rPr lang="en-US"/>
              <a:t>ecpml41: Lesson 1 pptx for Edit (see instructions in related email) - Marya - Nov 15, 2018</a:t>
            </a:r>
          </a:p>
        </p:txBody>
      </p:sp>
      <p:sp>
        <p:nvSpPr>
          <p:cNvPr id="3" name="Date Placeholder 2"/>
          <p:cNvSpPr>
            <a:spLocks noGrp="1"/>
          </p:cNvSpPr>
          <p:nvPr>
            <p:ph type="dt" sz="quarter" idx="1"/>
          </p:nvPr>
        </p:nvSpPr>
        <p:spPr>
          <a:xfrm>
            <a:off x="3970938" y="1"/>
            <a:ext cx="3037840" cy="466434"/>
          </a:xfrm>
          <a:prstGeom prst="rect">
            <a:avLst/>
          </a:prstGeom>
        </p:spPr>
        <p:txBody>
          <a:bodyPr vert="horz" lIns="93150" tIns="46576" rIns="93150" bIns="46576" rtlCol="0"/>
          <a:lstStyle>
            <a:lvl1pPr algn="r">
              <a:defRPr sz="1200"/>
            </a:lvl1pPr>
          </a:lstStyle>
          <a:p>
            <a:fld id="{6CCA5A6D-F37B-4B14-9AE8-ADFDAB54BEB0}" type="datetimeFigureOut">
              <a:rPr lang="en-US" smtClean="0"/>
              <a:t>12/3/2025</a:t>
            </a:fld>
            <a:endParaRPr lang="en-US"/>
          </a:p>
        </p:txBody>
      </p:sp>
      <p:sp>
        <p:nvSpPr>
          <p:cNvPr id="4" name="Footer Placeholder 3"/>
          <p:cNvSpPr>
            <a:spLocks noGrp="1"/>
          </p:cNvSpPr>
          <p:nvPr>
            <p:ph type="ftr" sz="quarter" idx="2"/>
          </p:nvPr>
        </p:nvSpPr>
        <p:spPr>
          <a:xfrm>
            <a:off x="0" y="8829969"/>
            <a:ext cx="3037840" cy="466433"/>
          </a:xfrm>
          <a:prstGeom prst="rect">
            <a:avLst/>
          </a:prstGeom>
        </p:spPr>
        <p:txBody>
          <a:bodyPr vert="horz" lIns="93150" tIns="46576" rIns="93150" bIns="46576"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829969"/>
            <a:ext cx="3037840" cy="466433"/>
          </a:xfrm>
          <a:prstGeom prst="rect">
            <a:avLst/>
          </a:prstGeom>
        </p:spPr>
        <p:txBody>
          <a:bodyPr vert="horz" lIns="93150" tIns="46576" rIns="93150" bIns="46576" rtlCol="0" anchor="b"/>
          <a:lstStyle>
            <a:lvl1pPr algn="r">
              <a:defRPr sz="1200"/>
            </a:lvl1pPr>
          </a:lstStyle>
          <a:p>
            <a:fld id="{42DC6801-ACE6-4820-97FB-7E24D7C585B7}" type="slidenum">
              <a:rPr lang="en-US" smtClean="0"/>
              <a:t>‹#›</a:t>
            </a:fld>
            <a:endParaRPr lang="en-US"/>
          </a:p>
        </p:txBody>
      </p:sp>
    </p:spTree>
    <p:extLst>
      <p:ext uri="{BB962C8B-B14F-4D97-AF65-F5344CB8AC3E}">
        <p14:creationId xmlns:p14="http://schemas.microsoft.com/office/powerpoint/2010/main" val="1727939774"/>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1">
            <a:extLst>
              <a:ext uri="{FF2B5EF4-FFF2-40B4-BE49-F238E27FC236}">
                <a16:creationId xmlns:a16="http://schemas.microsoft.com/office/drawing/2014/main" id="{54823E7A-AAF9-39F1-260C-31CE6C8DFF15}"/>
              </a:ext>
            </a:extLst>
          </p:cNvPr>
          <p:cNvSpPr>
            <a:spLocks noGrp="1" noRot="1" noChangeAspect="1"/>
          </p:cNvSpPr>
          <p:nvPr>
            <p:ph type="sldImg" idx="2"/>
          </p:nvPr>
        </p:nvSpPr>
        <p:spPr>
          <a:xfrm>
            <a:off x="641097" y="1161288"/>
            <a:ext cx="5575807" cy="3136392"/>
          </a:xfrm>
          <a:prstGeom prst="rect">
            <a:avLst/>
          </a:prstGeom>
          <a:noFill/>
          <a:ln w="12700">
            <a:solidFill>
              <a:schemeClr val="bg1">
                <a:lumMod val="85000"/>
              </a:schemeClr>
            </a:solidFill>
          </a:ln>
        </p:spPr>
        <p:txBody>
          <a:bodyPr vert="horz" lIns="91440" tIns="45720" rIns="91440" bIns="45720" rtlCol="0" anchor="ctr"/>
          <a:lstStyle/>
          <a:p>
            <a:endParaRPr lang="en-US" dirty="0"/>
          </a:p>
        </p:txBody>
      </p:sp>
      <p:sp>
        <p:nvSpPr>
          <p:cNvPr id="10" name="Notes Placeholder 2">
            <a:extLst>
              <a:ext uri="{FF2B5EF4-FFF2-40B4-BE49-F238E27FC236}">
                <a16:creationId xmlns:a16="http://schemas.microsoft.com/office/drawing/2014/main" id="{5835EC91-5B4C-1497-BABF-04A5621AC484}"/>
              </a:ext>
            </a:extLst>
          </p:cNvPr>
          <p:cNvSpPr>
            <a:spLocks noGrp="1"/>
          </p:cNvSpPr>
          <p:nvPr>
            <p:ph type="body" sz="quarter" idx="3"/>
          </p:nvPr>
        </p:nvSpPr>
        <p:spPr>
          <a:xfrm>
            <a:off x="635508" y="4471416"/>
            <a:ext cx="5586984" cy="4105656"/>
          </a:xfrm>
          <a:prstGeom prst="rect">
            <a:avLst/>
          </a:prstGeom>
        </p:spPr>
        <p:txBody>
          <a:bodyPr vert="horz" lIns="45720" tIns="45720" rIns="4572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11" name="Slide Number Placeholder 3">
            <a:extLst>
              <a:ext uri="{FF2B5EF4-FFF2-40B4-BE49-F238E27FC236}">
                <a16:creationId xmlns:a16="http://schemas.microsoft.com/office/drawing/2014/main" id="{AC767C14-C1B6-B6B5-1E40-7F20B7D7065A}"/>
              </a:ext>
            </a:extLst>
          </p:cNvPr>
          <p:cNvSpPr txBox="1">
            <a:spLocks noChangeAspect="1"/>
          </p:cNvSpPr>
          <p:nvPr/>
        </p:nvSpPr>
        <p:spPr>
          <a:xfrm>
            <a:off x="0" y="8678204"/>
            <a:ext cx="6858000" cy="465796"/>
          </a:xfrm>
          <a:prstGeom prst="rect">
            <a:avLst/>
          </a:prstGeom>
          <a:gradFill>
            <a:gsLst>
              <a:gs pos="0">
                <a:srgbClr val="00517E"/>
              </a:gs>
              <a:gs pos="100000">
                <a:srgbClr val="04304B"/>
              </a:gs>
            </a:gsLst>
            <a:path path="circle">
              <a:fillToRect l="50000" t="50000" r="50000" b="50000"/>
            </a:path>
          </a:gradFill>
        </p:spPr>
        <p:txBody>
          <a:bodyPr vert="horz" lIns="274320" tIns="92958" rIns="91440" bIns="92958" rtlCol="0" anchor="ctr" anchorCtr="0"/>
          <a:lstStyle>
            <a:defPPr>
              <a:defRPr lang="en-US"/>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82880"/>
            <a:r>
              <a:rPr lang="en-US" sz="1000" dirty="0">
                <a:solidFill>
                  <a:schemeClr val="bg1"/>
                </a:solidFill>
              </a:rPr>
              <a:t>Page </a:t>
            </a:r>
            <a:fld id="{114C7B2E-8ACE-7A49-BC19-183EB2D79019}" type="slidenum">
              <a:rPr lang="en-US" sz="1000" smtClean="0">
                <a:solidFill>
                  <a:schemeClr val="bg1"/>
                </a:solidFill>
              </a:rPr>
              <a:pPr algn="l" defTabSz="182880"/>
              <a:t>‹#›</a:t>
            </a:fld>
            <a:endParaRPr lang="en-US" sz="1000" dirty="0">
              <a:solidFill>
                <a:schemeClr val="bg1"/>
              </a:solidFill>
            </a:endParaRPr>
          </a:p>
        </p:txBody>
      </p:sp>
      <p:sp>
        <p:nvSpPr>
          <p:cNvPr id="12" name="Textbox 4">
            <a:extLst>
              <a:ext uri="{FF2B5EF4-FFF2-40B4-BE49-F238E27FC236}">
                <a16:creationId xmlns:a16="http://schemas.microsoft.com/office/drawing/2014/main" id="{56C4DF69-75DC-3BDB-AB99-3DE4F43B2E6B}"/>
              </a:ext>
            </a:extLst>
          </p:cNvPr>
          <p:cNvSpPr>
            <a:spLocks noChangeAspect="1"/>
          </p:cNvSpPr>
          <p:nvPr/>
        </p:nvSpPr>
        <p:spPr>
          <a:xfrm>
            <a:off x="2148840" y="8902677"/>
            <a:ext cx="2560320" cy="169277"/>
          </a:xfrm>
          <a:prstGeom prst="rect">
            <a:avLst/>
          </a:prstGeom>
        </p:spPr>
        <p:txBody>
          <a:bodyPr wrap="square" anchor="b" anchorCtr="0">
            <a:spAutoFit/>
          </a:bodyPr>
          <a:lstStyle/>
          <a:p>
            <a:pPr algn="ctr" defTabSz="274320" eaLnBrk="0" hangingPunct="0">
              <a:defRPr/>
            </a:pPr>
            <a:r>
              <a:rPr lang="en-US" sz="500" kern="300" spc="51" dirty="0">
                <a:solidFill>
                  <a:srgbClr val="0871B1"/>
                </a:solidFill>
                <a:latin typeface="Calibri" panose="020F0502020204030204" pitchFamily="34" charset="0"/>
                <a:ea typeface="Calibri" charset="0"/>
                <a:cs typeface="Arial" panose="020B0604020202020204" pitchFamily="34" charset="0"/>
              </a:rPr>
              <a:t>Copyright © SAS Institute Inc. All rights </a:t>
            </a:r>
            <a:r>
              <a:rPr lang="en-US" sz="500" kern="300" spc="51" dirty="0">
                <a:solidFill>
                  <a:srgbClr val="0871B1"/>
                </a:solidFill>
                <a:latin typeface="+mn-lt"/>
                <a:ea typeface="Calibri" charset="0"/>
                <a:cs typeface="Arial" panose="020B0604020202020204" pitchFamily="34" charset="0"/>
              </a:rPr>
              <a:t>reserved</a:t>
            </a:r>
            <a:r>
              <a:rPr lang="en-US" sz="500" kern="300" spc="51" dirty="0">
                <a:solidFill>
                  <a:srgbClr val="0871B1"/>
                </a:solidFill>
                <a:latin typeface="Calibri" panose="020F0502020204030204" pitchFamily="34" charset="0"/>
                <a:ea typeface="Calibri" charset="0"/>
                <a:cs typeface="Arial" panose="020B0604020202020204" pitchFamily="34" charset="0"/>
              </a:rPr>
              <a:t>.</a:t>
            </a:r>
          </a:p>
        </p:txBody>
      </p:sp>
      <p:sp>
        <p:nvSpPr>
          <p:cNvPr id="13" name="TextBox 5">
            <a:extLst>
              <a:ext uri="{FF2B5EF4-FFF2-40B4-BE49-F238E27FC236}">
                <a16:creationId xmlns:a16="http://schemas.microsoft.com/office/drawing/2014/main" id="{B2C81C77-B199-9C09-FA22-D861BB631699}"/>
              </a:ext>
            </a:extLst>
          </p:cNvPr>
          <p:cNvSpPr txBox="1"/>
          <p:nvPr/>
        </p:nvSpPr>
        <p:spPr>
          <a:xfrm>
            <a:off x="2493335" y="8732520"/>
            <a:ext cx="1871330" cy="215444"/>
          </a:xfrm>
          <a:prstGeom prst="rect">
            <a:avLst/>
          </a:prstGeom>
          <a:noFill/>
        </p:spPr>
        <p:txBody>
          <a:bodyPr wrap="square" rtlCol="0" anchor="ctr">
            <a:spAutoFit/>
          </a:bodyPr>
          <a:lstStyle/>
          <a:p>
            <a:pPr algn="ctr" defTabSz="182880"/>
            <a:r>
              <a:rPr lang="en-US" sz="800" dirty="0">
                <a:solidFill>
                  <a:schemeClr val="bg1"/>
                </a:solidFill>
                <a:latin typeface="+mn-lt"/>
              </a:rPr>
              <a:t>sas.com</a:t>
            </a:r>
          </a:p>
        </p:txBody>
      </p:sp>
      <p:pic>
        <p:nvPicPr>
          <p:cNvPr id="14" name="Picture 6">
            <a:extLst>
              <a:ext uri="{FF2B5EF4-FFF2-40B4-BE49-F238E27FC236}">
                <a16:creationId xmlns:a16="http://schemas.microsoft.com/office/drawing/2014/main" id="{82F8F933-7134-DA80-397B-C162ED2635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71746" y="0"/>
            <a:ext cx="2514508" cy="1244554"/>
          </a:xfrm>
          <a:prstGeom prst="rect">
            <a:avLst/>
          </a:prstGeom>
        </p:spPr>
      </p:pic>
      <p:pic>
        <p:nvPicPr>
          <p:cNvPr id="15" name="Picture 7">
            <a:extLst>
              <a:ext uri="{FF2B5EF4-FFF2-40B4-BE49-F238E27FC236}">
                <a16:creationId xmlns:a16="http://schemas.microsoft.com/office/drawing/2014/main" id="{7BE7B9BB-3839-0482-74E1-D3B1AF58AE0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119261" y="8785834"/>
            <a:ext cx="558779" cy="253991"/>
          </a:xfrm>
          <a:prstGeom prst="rect">
            <a:avLst/>
          </a:prstGeom>
        </p:spPr>
      </p:pic>
    </p:spTree>
    <p:extLst>
      <p:ext uri="{BB962C8B-B14F-4D97-AF65-F5344CB8AC3E}">
        <p14:creationId xmlns:p14="http://schemas.microsoft.com/office/powerpoint/2010/main" val="1365460160"/>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normAutofit/>
          </a:bodyPr>
          <a:lstStyle/>
          <a:p>
            <a:r>
              <a:rPr lang="en-US" b="1" dirty="0">
                <a:solidFill>
                  <a:srgbClr val="FF0000"/>
                </a:solidFill>
              </a:rPr>
              <a:t>What is Machine Learning?</a:t>
            </a:r>
          </a:p>
          <a:p>
            <a:pPr marL="171450" indent="-171450">
              <a:buFontTx/>
              <a:buChar char="-"/>
            </a:pPr>
            <a:r>
              <a:rPr lang="en-MY" dirty="0"/>
              <a:t>Machine learning is a part of artificial intelligence that builds systems that learn from data step by step and make predictions.</a:t>
            </a:r>
          </a:p>
          <a:p>
            <a:pPr marL="0" indent="0">
              <a:buFontTx/>
              <a:buNone/>
            </a:pPr>
            <a:endParaRPr lang="en-US" dirty="0"/>
          </a:p>
          <a:p>
            <a:pPr marL="0" indent="0">
              <a:buFontTx/>
              <a:buNone/>
            </a:pPr>
            <a:endParaRPr lang="en-US" dirty="0"/>
          </a:p>
          <a:p>
            <a:pPr marL="0" indent="0">
              <a:buFontTx/>
              <a:buNone/>
            </a:pPr>
            <a:r>
              <a:rPr lang="en-MY" altLang="zh-CN" dirty="0"/>
              <a:t>Machine Learning start by collecting input data such as:</a:t>
            </a:r>
          </a:p>
          <a:p>
            <a:pPr marL="171450" indent="-171450">
              <a:buFontTx/>
              <a:buChar char="-"/>
            </a:pPr>
            <a:r>
              <a:rPr lang="en-MY" dirty="0"/>
              <a:t>Numbers</a:t>
            </a:r>
          </a:p>
          <a:p>
            <a:pPr marL="171450" indent="-171450">
              <a:buFontTx/>
              <a:buChar char="-"/>
            </a:pPr>
            <a:r>
              <a:rPr lang="en-MY" dirty="0"/>
              <a:t>Text</a:t>
            </a:r>
          </a:p>
          <a:p>
            <a:pPr marL="171450" indent="-171450">
              <a:buFontTx/>
              <a:buChar char="-"/>
            </a:pPr>
            <a:r>
              <a:rPr lang="en-MY" dirty="0"/>
              <a:t>Images</a:t>
            </a:r>
          </a:p>
          <a:p>
            <a:pPr marL="171450" indent="-171450">
              <a:buFontTx/>
              <a:buChar char="-"/>
            </a:pPr>
            <a:r>
              <a:rPr lang="en-MY" dirty="0"/>
              <a:t>Logs</a:t>
            </a:r>
          </a:p>
          <a:p>
            <a:pPr marL="171450" indent="-171450">
              <a:buFontTx/>
              <a:buChar char="-"/>
            </a:pPr>
            <a:endParaRPr lang="en-US" dirty="0"/>
          </a:p>
          <a:p>
            <a:pPr marL="0" indent="0">
              <a:buFontTx/>
              <a:buNone/>
            </a:pPr>
            <a:endParaRPr lang="en-US" altLang="zh-CN" dirty="0"/>
          </a:p>
          <a:p>
            <a:pPr marL="0" indent="0">
              <a:buFontTx/>
              <a:buNone/>
            </a:pPr>
            <a:r>
              <a:rPr lang="en-US" altLang="zh-CN" dirty="0"/>
              <a:t>Machine Learning Model learns patterns from the input data and builds internal rules. </a:t>
            </a:r>
          </a:p>
          <a:p>
            <a:pPr marL="171450" indent="-171450">
              <a:buFontTx/>
              <a:buChar char="-"/>
            </a:pPr>
            <a:r>
              <a:rPr lang="en-US" dirty="0"/>
              <a:t>Example of ML models include Linear Regression, </a:t>
            </a:r>
            <a:r>
              <a:rPr lang="en-MY" dirty="0"/>
              <a:t>Decision Trees, Neural Networks, Clustering Models</a:t>
            </a:r>
          </a:p>
          <a:p>
            <a:pPr marL="171450" indent="-171450">
              <a:buFontTx/>
              <a:buChar char="-"/>
            </a:pPr>
            <a:endParaRPr lang="en-MY" dirty="0"/>
          </a:p>
          <a:p>
            <a:pPr marL="171450" indent="-171450">
              <a:buFontTx/>
              <a:buChar char="-"/>
            </a:pPr>
            <a:endParaRPr lang="en-MY" dirty="0"/>
          </a:p>
          <a:p>
            <a:pPr marL="0" indent="0">
              <a:buFontTx/>
              <a:buNone/>
            </a:pPr>
            <a:r>
              <a:rPr lang="en-MY" dirty="0"/>
              <a:t>Output of the Machine Learning model can be </a:t>
            </a:r>
          </a:p>
          <a:p>
            <a:pPr marL="171450" indent="-171450">
              <a:buFontTx/>
              <a:buChar char="-"/>
            </a:pPr>
            <a:r>
              <a:rPr lang="en-MY" dirty="0"/>
              <a:t>Predictions</a:t>
            </a:r>
            <a:endParaRPr lang="en-US" dirty="0"/>
          </a:p>
          <a:p>
            <a:pPr marL="171450" indent="-171450">
              <a:buFontTx/>
              <a:buChar char="-"/>
            </a:pPr>
            <a:r>
              <a:rPr lang="en-MY" dirty="0"/>
              <a:t>Classifications</a:t>
            </a:r>
          </a:p>
          <a:p>
            <a:pPr marL="171450" indent="-171450">
              <a:buFontTx/>
              <a:buChar char="-"/>
            </a:pPr>
            <a:r>
              <a:rPr lang="en-MY" dirty="0"/>
              <a:t>Recommendations</a:t>
            </a:r>
          </a:p>
          <a:p>
            <a:pPr marL="171450" indent="-171450">
              <a:buFontTx/>
              <a:buChar char="-"/>
            </a:pPr>
            <a:r>
              <a:rPr lang="en-MY" dirty="0"/>
              <a:t>Detected anomalies</a:t>
            </a:r>
          </a:p>
          <a:p>
            <a:pPr marL="171450" indent="-171450">
              <a:buFontTx/>
              <a:buChar char="-"/>
            </a:pPr>
            <a:endParaRPr lang="en-US" dirty="0"/>
          </a:p>
        </p:txBody>
      </p:sp>
    </p:spTree>
    <p:extLst>
      <p:ext uri="{BB962C8B-B14F-4D97-AF65-F5344CB8AC3E}">
        <p14:creationId xmlns:p14="http://schemas.microsoft.com/office/powerpoint/2010/main" val="30132947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normAutofit/>
          </a:bodyPr>
          <a:lstStyle/>
          <a:p>
            <a:pPr defTabSz="914132">
              <a:defRPr/>
            </a:pPr>
            <a:r>
              <a:rPr lang="en-MY" dirty="0"/>
              <a:t>Machine learning can be understood as a process with </a:t>
            </a:r>
            <a:r>
              <a:rPr lang="en-MY" b="1" dirty="0"/>
              <a:t>three main steps</a:t>
            </a:r>
            <a:r>
              <a:rPr lang="en-MY" dirty="0"/>
              <a:t>:</a:t>
            </a:r>
            <a:br>
              <a:rPr lang="en-MY" dirty="0"/>
            </a:br>
            <a:r>
              <a:rPr lang="en-MY" dirty="0"/>
              <a:t>- </a:t>
            </a:r>
            <a:r>
              <a:rPr lang="en-MY" b="1" dirty="0"/>
              <a:t>Automation, Customization, and Acceleration.</a:t>
            </a:r>
            <a:endParaRPr lang="en-MY" b="0" dirty="0"/>
          </a:p>
        </p:txBody>
      </p:sp>
    </p:spTree>
    <p:extLst>
      <p:ext uri="{BB962C8B-B14F-4D97-AF65-F5344CB8AC3E}">
        <p14:creationId xmlns:p14="http://schemas.microsoft.com/office/powerpoint/2010/main" val="4244772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normAutofit/>
          </a:bodyPr>
          <a:lstStyle/>
          <a:p>
            <a:pPr marL="0" indent="0">
              <a:buNone/>
            </a:pPr>
            <a:r>
              <a:rPr lang="en-US" b="1" dirty="0"/>
              <a:t>What is Automation?</a:t>
            </a:r>
          </a:p>
          <a:p>
            <a:pPr marL="171450" indent="-171450">
              <a:buFontTx/>
              <a:buChar char="-"/>
            </a:pPr>
            <a:r>
              <a:rPr lang="en-MY" dirty="0"/>
              <a:t>Machine learning is mostly an </a:t>
            </a:r>
            <a:r>
              <a:rPr lang="en-MY" b="1" dirty="0"/>
              <a:t>automated</a:t>
            </a:r>
            <a:r>
              <a:rPr lang="en-MY" dirty="0"/>
              <a:t> process. </a:t>
            </a:r>
          </a:p>
          <a:p>
            <a:pPr marL="171450" indent="-171450">
              <a:buFontTx/>
              <a:buChar char="-"/>
            </a:pPr>
            <a:r>
              <a:rPr lang="en-MY" dirty="0"/>
              <a:t>This means the system can build a model with </a:t>
            </a:r>
            <a:r>
              <a:rPr lang="en-MY" b="1" dirty="0"/>
              <a:t>very little human work</a:t>
            </a:r>
            <a:r>
              <a:rPr lang="en-MY" dirty="0"/>
              <a:t>. </a:t>
            </a:r>
          </a:p>
          <a:p>
            <a:pPr marL="171450" indent="-171450">
              <a:buFontTx/>
              <a:buChar char="-"/>
            </a:pPr>
            <a:r>
              <a:rPr lang="en-MY" dirty="0"/>
              <a:t>You just click “Run,” and the system starts learning from the data on its own, using algorithms instead of manual programming.</a:t>
            </a:r>
          </a:p>
          <a:p>
            <a:pPr marL="171450" indent="-171450">
              <a:buFontTx/>
              <a:buChar char="-"/>
            </a:pPr>
            <a:endParaRPr lang="en-MY" dirty="0"/>
          </a:p>
          <a:p>
            <a:pPr marL="171450" indent="-171450">
              <a:buFontTx/>
              <a:buChar char="-"/>
            </a:pPr>
            <a:r>
              <a:rPr lang="en-MY" dirty="0"/>
              <a:t>As the system goes through the data again and again, it </a:t>
            </a:r>
            <a:r>
              <a:rPr lang="en-MY" b="1" dirty="0"/>
              <a:t>learns step-by-step (iteratively)</a:t>
            </a:r>
            <a:r>
              <a:rPr lang="en-MY" dirty="0"/>
              <a:t>. </a:t>
            </a:r>
          </a:p>
          <a:p>
            <a:pPr marL="171450" indent="-171450">
              <a:buFontTx/>
              <a:buChar char="-"/>
            </a:pPr>
            <a:r>
              <a:rPr lang="en-MY" dirty="0"/>
              <a:t>Each time, it becomes better at finding patterns and making predictions.</a:t>
            </a:r>
          </a:p>
          <a:p>
            <a:pPr marL="0" indent="0">
              <a:buFontTx/>
              <a:buNone/>
            </a:pPr>
            <a:endParaRPr lang="en-MY" dirty="0"/>
          </a:p>
          <a:p>
            <a:pPr marL="171450" indent="-171450">
              <a:buFontTx/>
              <a:buChar char="-"/>
            </a:pPr>
            <a:r>
              <a:rPr lang="en-MY" dirty="0"/>
              <a:t>A neural network is one example of a machine learning model. </a:t>
            </a:r>
          </a:p>
          <a:p>
            <a:pPr marL="171450" indent="-171450">
              <a:buFontTx/>
              <a:buChar char="-"/>
            </a:pPr>
            <a:r>
              <a:rPr lang="en-MY" dirty="0"/>
              <a:t>In a neural network, the model begins with weights (values) that are close to zero. </a:t>
            </a:r>
          </a:p>
          <a:p>
            <a:pPr marL="171450" indent="-171450">
              <a:buFontTx/>
              <a:buChar char="-"/>
            </a:pPr>
            <a:r>
              <a:rPr lang="en-MY" dirty="0"/>
              <a:t>Every time the model trains on the data, these weights are adjusted. </a:t>
            </a:r>
          </a:p>
          <a:p>
            <a:pPr marL="171450" indent="-171450">
              <a:buFontTx/>
              <a:buChar char="-"/>
            </a:pPr>
            <a:r>
              <a:rPr lang="en-MY" dirty="0"/>
              <a:t>This helps the neural network improve and make more accurate predictions.</a:t>
            </a:r>
          </a:p>
        </p:txBody>
      </p:sp>
    </p:spTree>
    <p:extLst>
      <p:ext uri="{BB962C8B-B14F-4D97-AF65-F5344CB8AC3E}">
        <p14:creationId xmlns:p14="http://schemas.microsoft.com/office/powerpoint/2010/main" val="2320649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normAutofit fontScale="92500" lnSpcReduction="20000"/>
          </a:bodyPr>
          <a:lstStyle/>
          <a:p>
            <a:r>
              <a:rPr lang="en-MY" dirty="0"/>
              <a:t>Machine learning can be </a:t>
            </a:r>
            <a:r>
              <a:rPr lang="en-MY" b="1" dirty="0"/>
              <a:t>customized</a:t>
            </a:r>
            <a:r>
              <a:rPr lang="en-MY" dirty="0"/>
              <a:t>, which means you can choose different types of models depending on what you need.</a:t>
            </a:r>
            <a:br>
              <a:rPr lang="en-MY" dirty="0"/>
            </a:br>
            <a:r>
              <a:rPr lang="en-MY" dirty="0"/>
              <a:t>Different problems require different tools, so machine learning lets you pick the model that fits the situation best.</a:t>
            </a:r>
          </a:p>
          <a:p>
            <a:endParaRPr lang="en-MY" b="1" dirty="0"/>
          </a:p>
          <a:p>
            <a:endParaRPr lang="en-MY" b="1" dirty="0"/>
          </a:p>
          <a:p>
            <a:r>
              <a:rPr lang="en-MY" b="1" dirty="0"/>
              <a:t>What “customized” means</a:t>
            </a:r>
          </a:p>
          <a:p>
            <a:r>
              <a:rPr lang="en-MY" dirty="0"/>
              <a:t>- You are </a:t>
            </a:r>
            <a:r>
              <a:rPr lang="en-MY" b="1" dirty="0"/>
              <a:t>not limited to one type of algorithm</a:t>
            </a:r>
            <a:r>
              <a:rPr lang="en-MY" dirty="0"/>
              <a:t>.</a:t>
            </a:r>
          </a:p>
          <a:p>
            <a:r>
              <a:rPr lang="en-MY" dirty="0"/>
              <a:t>- You can choose from many models based on your data and your goal.</a:t>
            </a:r>
          </a:p>
          <a:p>
            <a:endParaRPr lang="en-MY" b="1" dirty="0"/>
          </a:p>
          <a:p>
            <a:endParaRPr lang="en-MY" b="1" dirty="0"/>
          </a:p>
          <a:p>
            <a:r>
              <a:rPr lang="en-MY" b="1" dirty="0"/>
              <a:t>Common types of machine learning models:</a:t>
            </a:r>
          </a:p>
          <a:p>
            <a:pPr lvl="0"/>
            <a:r>
              <a:rPr lang="en-MY" b="1" dirty="0"/>
              <a:t>  A. Decision trees / tree-based models</a:t>
            </a:r>
          </a:p>
          <a:p>
            <a:pPr lvl="0"/>
            <a:r>
              <a:rPr lang="en-MY" dirty="0"/>
              <a:t>      - Work like flowcharts that split data step by step.</a:t>
            </a:r>
          </a:p>
          <a:p>
            <a:pPr lvl="0"/>
            <a:endParaRPr lang="en-MY" b="1" dirty="0"/>
          </a:p>
          <a:p>
            <a:pPr lvl="0"/>
            <a:r>
              <a:rPr lang="en-MY" b="1" dirty="0"/>
              <a:t>  B. Neural networks</a:t>
            </a:r>
          </a:p>
          <a:p>
            <a:pPr lvl="0"/>
            <a:r>
              <a:rPr lang="en-MY" b="1" dirty="0"/>
              <a:t>     </a:t>
            </a:r>
            <a:r>
              <a:rPr lang="en-MY" b="0" dirty="0"/>
              <a:t>-</a:t>
            </a:r>
            <a:r>
              <a:rPr lang="en-MY" b="1" dirty="0"/>
              <a:t> </a:t>
            </a:r>
            <a:r>
              <a:rPr lang="en-MY" dirty="0"/>
              <a:t>Work like little “brains” that learn patterns from many examples.</a:t>
            </a:r>
          </a:p>
          <a:p>
            <a:pPr lvl="0"/>
            <a:r>
              <a:rPr lang="en-MY" b="1" dirty="0"/>
              <a:t>   </a:t>
            </a:r>
          </a:p>
          <a:p>
            <a:pPr lvl="0"/>
            <a:r>
              <a:rPr lang="en-MY" b="1" dirty="0"/>
              <a:t>  C. Support vector machines (SVM)</a:t>
            </a:r>
          </a:p>
          <a:p>
            <a:pPr lvl="0"/>
            <a:r>
              <a:rPr lang="en-MY" dirty="0"/>
              <a:t>     - Find the best line or boundary to separate different groups of data.</a:t>
            </a:r>
          </a:p>
          <a:p>
            <a:pPr lvl="0"/>
            <a:endParaRPr lang="en-MY" b="1" dirty="0"/>
          </a:p>
          <a:p>
            <a:pPr lvl="0"/>
            <a:r>
              <a:rPr lang="en-MY" b="1" dirty="0"/>
              <a:t>  D. Others…</a:t>
            </a:r>
          </a:p>
          <a:p>
            <a:pPr lvl="0"/>
            <a:r>
              <a:rPr lang="en-MY" dirty="0"/>
              <a:t>    - Many more models exist, and you can select whichever works best.</a:t>
            </a:r>
          </a:p>
          <a:p>
            <a:endParaRPr lang="en-MY" b="1" dirty="0"/>
          </a:p>
          <a:p>
            <a:endParaRPr lang="en-MY" b="1" dirty="0"/>
          </a:p>
          <a:p>
            <a:r>
              <a:rPr lang="en-MY" b="1" dirty="0"/>
              <a:t>Main idea</a:t>
            </a:r>
          </a:p>
          <a:p>
            <a:r>
              <a:rPr lang="en-MY" dirty="0"/>
              <a:t>- Machine learning is flexible.</a:t>
            </a:r>
            <a:br>
              <a:rPr lang="en-MY" dirty="0"/>
            </a:br>
            <a:r>
              <a:rPr lang="en-MY" dirty="0"/>
              <a:t>- You can </a:t>
            </a:r>
            <a:r>
              <a:rPr lang="en-MY" b="1" dirty="0"/>
              <a:t>customize</a:t>
            </a:r>
            <a:r>
              <a:rPr lang="en-MY" dirty="0"/>
              <a:t> the learning process by choosing the type of model that best solves your problem.</a:t>
            </a:r>
          </a:p>
        </p:txBody>
      </p:sp>
    </p:spTree>
    <p:extLst>
      <p:ext uri="{BB962C8B-B14F-4D97-AF65-F5344CB8AC3E}">
        <p14:creationId xmlns:p14="http://schemas.microsoft.com/office/powerpoint/2010/main" val="9639560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normAutofit/>
          </a:bodyPr>
          <a:lstStyle/>
          <a:p>
            <a:r>
              <a:rPr lang="en-US" b="1" dirty="0"/>
              <a:t>What is Acceleration?</a:t>
            </a:r>
          </a:p>
          <a:p>
            <a:r>
              <a:rPr lang="en-MY" dirty="0"/>
              <a:t>- Machine learning helps things run </a:t>
            </a:r>
            <a:r>
              <a:rPr lang="en-MY" b="1" dirty="0"/>
              <a:t>faster</a:t>
            </a:r>
            <a:r>
              <a:rPr lang="en-MY" dirty="0"/>
              <a:t>, especially when working with </a:t>
            </a:r>
            <a:r>
              <a:rPr lang="en-MY" b="1" dirty="0"/>
              <a:t>large or complex data</a:t>
            </a:r>
            <a:r>
              <a:rPr lang="en-MY" dirty="0"/>
              <a:t>.</a:t>
            </a:r>
            <a:br>
              <a:rPr lang="en-MY" dirty="0"/>
            </a:br>
            <a:r>
              <a:rPr lang="en-MY" dirty="0"/>
              <a:t>- It can process big amounts of information quickly and still give accurate results.</a:t>
            </a:r>
            <a:br>
              <a:rPr lang="en-MY" dirty="0"/>
            </a:br>
            <a:r>
              <a:rPr lang="en-MY" dirty="0"/>
              <a:t>- This means you can get answers or predictions much sooner, even when the data is very big or detailed.</a:t>
            </a:r>
          </a:p>
          <a:p>
            <a:r>
              <a:rPr lang="en-MY" dirty="0"/>
              <a:t>- In short: </a:t>
            </a:r>
            <a:r>
              <a:rPr lang="en-MY" b="1" dirty="0"/>
              <a:t>Machine learning accelerates (speeds up) the whole analytics process so results come quickly.</a:t>
            </a:r>
            <a:endParaRPr lang="en-MY" dirty="0"/>
          </a:p>
          <a:p>
            <a:endParaRPr lang="en-US" b="0" dirty="0"/>
          </a:p>
        </p:txBody>
      </p:sp>
    </p:spTree>
    <p:extLst>
      <p:ext uri="{BB962C8B-B14F-4D97-AF65-F5344CB8AC3E}">
        <p14:creationId xmlns:p14="http://schemas.microsoft.com/office/powerpoint/2010/main" val="4085469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normAutofit/>
          </a:bodyPr>
          <a:lstStyle/>
          <a:p>
            <a:r>
              <a:rPr lang="en-MY" dirty="0"/>
              <a:t>- Machine learning is similar to other fields that work with data.</a:t>
            </a:r>
            <a:br>
              <a:rPr lang="en-MY" dirty="0"/>
            </a:br>
            <a:r>
              <a:rPr lang="en-MY" dirty="0"/>
              <a:t>- SAS Viya is a platform that gives you the tools you need to do machine learning.</a:t>
            </a:r>
          </a:p>
          <a:p>
            <a:endParaRPr lang="en-MY" b="0" dirty="0"/>
          </a:p>
          <a:p>
            <a:endParaRPr lang="en-MY" b="0" dirty="0"/>
          </a:p>
          <a:p>
            <a:r>
              <a:rPr lang="en-MY" b="0" dirty="0"/>
              <a:t>- </a:t>
            </a:r>
            <a:r>
              <a:rPr lang="en-MY" b="1" dirty="0"/>
              <a:t>SAS Viya</a:t>
            </a:r>
            <a:r>
              <a:rPr lang="en-MY" dirty="0"/>
              <a:t> is a cloud-based system.</a:t>
            </a:r>
            <a:br>
              <a:rPr lang="en-MY" dirty="0"/>
            </a:br>
            <a:r>
              <a:rPr lang="en-MY" dirty="0"/>
              <a:t>- This means it runs on the internet instead of your computer.</a:t>
            </a:r>
            <a:br>
              <a:rPr lang="en-MY" dirty="0"/>
            </a:br>
            <a:r>
              <a:rPr lang="en-MY" dirty="0"/>
              <a:t>- It also works </a:t>
            </a:r>
            <a:r>
              <a:rPr lang="en-MY" b="1" dirty="0"/>
              <a:t>in memory</a:t>
            </a:r>
            <a:r>
              <a:rPr lang="en-MY" dirty="0"/>
              <a:t>, which means it can process data very fast.</a:t>
            </a:r>
            <a:br>
              <a:rPr lang="en-MY" dirty="0"/>
            </a:br>
            <a:r>
              <a:rPr lang="en-MY" dirty="0"/>
              <a:t>- Because of this design, SAS Viya can handle </a:t>
            </a:r>
            <a:r>
              <a:rPr lang="en-MY" b="1" dirty="0"/>
              <a:t>any size of data</a:t>
            </a:r>
            <a:r>
              <a:rPr lang="en-MY" dirty="0"/>
              <a:t>, no matter how big, how fast it changes, or what type it is.</a:t>
            </a:r>
          </a:p>
          <a:p>
            <a:endParaRPr lang="en-MY" dirty="0"/>
          </a:p>
          <a:p>
            <a:endParaRPr lang="en-MY" dirty="0"/>
          </a:p>
          <a:p>
            <a:r>
              <a:rPr lang="en-MY" dirty="0"/>
              <a:t>- In short:</a:t>
            </a:r>
          </a:p>
          <a:p>
            <a:pPr marL="628650" lvl="1" indent="-171450">
              <a:buFont typeface="Arial" panose="020B0604020202020204" pitchFamily="34" charset="0"/>
              <a:buChar char="•"/>
            </a:pPr>
            <a:r>
              <a:rPr lang="en-MY" dirty="0"/>
              <a:t>SAS Viya runs in the cloud</a:t>
            </a:r>
          </a:p>
          <a:p>
            <a:pPr marL="628650" lvl="1" indent="-171450">
              <a:buFont typeface="Arial" panose="020B0604020202020204" pitchFamily="34" charset="0"/>
              <a:buChar char="•"/>
            </a:pPr>
            <a:r>
              <a:rPr lang="en-MY" dirty="0"/>
              <a:t>It processes data quickly using in-memory technology</a:t>
            </a:r>
          </a:p>
          <a:p>
            <a:pPr marL="628650" lvl="1" indent="-171450">
              <a:buFont typeface="Arial" panose="020B0604020202020204" pitchFamily="34" charset="0"/>
              <a:buChar char="•"/>
            </a:pPr>
            <a:r>
              <a:rPr lang="en-MY" dirty="0"/>
              <a:t>It can scale up easily to handle very large or complex data</a:t>
            </a:r>
          </a:p>
          <a:p>
            <a:pPr marL="628650" lvl="1" indent="-171450">
              <a:buFont typeface="Arial" panose="020B0604020202020204" pitchFamily="34" charset="0"/>
              <a:buChar char="•"/>
            </a:pPr>
            <a:r>
              <a:rPr lang="en-MY" dirty="0"/>
              <a:t>It provides tools that support machine learning</a:t>
            </a:r>
          </a:p>
        </p:txBody>
      </p:sp>
    </p:spTree>
    <p:extLst>
      <p:ext uri="{BB962C8B-B14F-4D97-AF65-F5344CB8AC3E}">
        <p14:creationId xmlns:p14="http://schemas.microsoft.com/office/powerpoint/2010/main" val="411267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normAutofit/>
          </a:bodyPr>
          <a:lstStyle/>
          <a:p>
            <a:r>
              <a:rPr lang="en-MY" b="0" dirty="0"/>
              <a:t>- </a:t>
            </a:r>
            <a:r>
              <a:rPr lang="en-MY" b="1" dirty="0"/>
              <a:t>Templates</a:t>
            </a:r>
            <a:r>
              <a:rPr lang="en-MY" dirty="0"/>
              <a:t> help you create a </a:t>
            </a:r>
            <a:r>
              <a:rPr lang="en-MY" b="1" dirty="0"/>
              <a:t>basic model very quickly</a:t>
            </a:r>
            <a:r>
              <a:rPr lang="en-MY" dirty="0"/>
              <a:t>.</a:t>
            </a:r>
            <a:br>
              <a:rPr lang="en-MY" dirty="0"/>
            </a:br>
            <a:r>
              <a:rPr lang="en-MY" b="0" dirty="0"/>
              <a:t>- </a:t>
            </a:r>
            <a:r>
              <a:rPr lang="en-MY" dirty="0"/>
              <a:t>They give you starting settings so you don’t need to set everything yourself.</a:t>
            </a:r>
          </a:p>
          <a:p>
            <a:endParaRPr lang="en-MY" b="1" dirty="0"/>
          </a:p>
          <a:p>
            <a:r>
              <a:rPr lang="en-MY" b="0" dirty="0"/>
              <a:t>- </a:t>
            </a:r>
            <a:r>
              <a:rPr lang="en-MY" b="1" dirty="0"/>
              <a:t>Autotuning</a:t>
            </a:r>
            <a:r>
              <a:rPr lang="en-MY" dirty="0"/>
              <a:t> is a feature that </a:t>
            </a:r>
            <a:r>
              <a:rPr lang="en-MY" b="1" dirty="0"/>
              <a:t>automatically chooses the best model settings for you</a:t>
            </a:r>
            <a:r>
              <a:rPr lang="en-MY" dirty="0"/>
              <a:t>.</a:t>
            </a:r>
            <a:br>
              <a:rPr lang="en-MY" dirty="0"/>
            </a:br>
            <a:r>
              <a:rPr lang="en-MY" b="0" dirty="0"/>
              <a:t>- </a:t>
            </a:r>
            <a:r>
              <a:rPr lang="en-MY" dirty="0"/>
              <a:t>It tests different options and finds the ones that work best, without you doing it manually.</a:t>
            </a:r>
          </a:p>
          <a:p>
            <a:endParaRPr lang="en-MY" dirty="0"/>
          </a:p>
          <a:p>
            <a:r>
              <a:rPr lang="en-MY" b="0" dirty="0"/>
              <a:t>- </a:t>
            </a:r>
            <a:r>
              <a:rPr lang="en-MY" dirty="0"/>
              <a:t>After autotuning finishes, </a:t>
            </a:r>
            <a:r>
              <a:rPr lang="en-MY" b="1" dirty="0"/>
              <a:t>you can still add your own knowledge</a:t>
            </a:r>
            <a:r>
              <a:rPr lang="en-MY" dirty="0"/>
              <a:t> to improve the results.</a:t>
            </a:r>
          </a:p>
          <a:p>
            <a:endParaRPr lang="en-MY" b="1" dirty="0"/>
          </a:p>
          <a:p>
            <a:endParaRPr lang="en-MY" b="1" dirty="0"/>
          </a:p>
          <a:p>
            <a:r>
              <a:rPr lang="en-MY" b="1" dirty="0"/>
              <a:t>Important note:</a:t>
            </a:r>
            <a:br>
              <a:rPr lang="en-MY" dirty="0"/>
            </a:br>
            <a:r>
              <a:rPr lang="en-MY" b="0" dirty="0"/>
              <a:t>- </a:t>
            </a:r>
            <a:r>
              <a:rPr lang="en-MY" dirty="0"/>
              <a:t>In </a:t>
            </a:r>
            <a:r>
              <a:rPr lang="en-MY" b="1" dirty="0"/>
              <a:t>SAS Viya for Learners</a:t>
            </a:r>
            <a:r>
              <a:rPr lang="en-MY" dirty="0"/>
              <a:t>, autotuning is </a:t>
            </a:r>
            <a:r>
              <a:rPr lang="en-MY" b="1" dirty="0"/>
              <a:t>turned off</a:t>
            </a:r>
            <a:r>
              <a:rPr lang="en-MY" dirty="0"/>
              <a:t>, so if you try to use it, you will get an error.</a:t>
            </a:r>
          </a:p>
          <a:p>
            <a:endParaRPr lang="en-US" b="0" dirty="0"/>
          </a:p>
        </p:txBody>
      </p:sp>
    </p:spTree>
    <p:extLst>
      <p:ext uri="{BB962C8B-B14F-4D97-AF65-F5344CB8AC3E}">
        <p14:creationId xmlns:p14="http://schemas.microsoft.com/office/powerpoint/2010/main" val="9600712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73100" y="1181100"/>
            <a:ext cx="5664200" cy="3187700"/>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normAutofit/>
          </a:bodyPr>
          <a:lstStyle/>
          <a:p>
            <a:pPr marL="171450" indent="-171450">
              <a:buFontTx/>
              <a:buChar char="-"/>
            </a:pPr>
            <a:r>
              <a:rPr lang="en-MY" dirty="0"/>
              <a:t>You can </a:t>
            </a:r>
            <a:r>
              <a:rPr lang="en-MY" b="1" dirty="0"/>
              <a:t>customize</a:t>
            </a:r>
            <a:r>
              <a:rPr lang="en-MY" dirty="0"/>
              <a:t> your machine learning work in SAS Viya.</a:t>
            </a:r>
          </a:p>
          <a:p>
            <a:pPr marL="171450" indent="-171450">
              <a:buFontTx/>
              <a:buChar char="-"/>
            </a:pPr>
            <a:r>
              <a:rPr lang="en-MY" dirty="0"/>
              <a:t>This means you can </a:t>
            </a:r>
            <a:r>
              <a:rPr lang="en-MY" b="1" dirty="0"/>
              <a:t>mix and match</a:t>
            </a:r>
            <a:r>
              <a:rPr lang="en-MY" dirty="0"/>
              <a:t> tools:</a:t>
            </a:r>
          </a:p>
          <a:p>
            <a:pPr marL="628650" lvl="1" indent="-171450">
              <a:buFont typeface="Arial" panose="020B0604020202020204" pitchFamily="34" charset="0"/>
              <a:buChar char="•"/>
            </a:pPr>
            <a:r>
              <a:rPr lang="en-MY" dirty="0"/>
              <a:t>On one side, SAS Viya gives you </a:t>
            </a:r>
            <a:r>
              <a:rPr lang="en-MY" b="1" dirty="0"/>
              <a:t>powerful machine learning algorithms</a:t>
            </a:r>
            <a:r>
              <a:rPr lang="en-MY" dirty="0"/>
              <a:t>.</a:t>
            </a:r>
          </a:p>
          <a:p>
            <a:pPr marL="628650" lvl="1" indent="-171450">
              <a:buFont typeface="Arial" panose="020B0604020202020204" pitchFamily="34" charset="0"/>
              <a:buChar char="•"/>
            </a:pPr>
            <a:r>
              <a:rPr lang="en-MY" dirty="0"/>
              <a:t>On the other side, you can also use </a:t>
            </a:r>
            <a:r>
              <a:rPr lang="en-MY" b="1" dirty="0"/>
              <a:t>open-source tools</a:t>
            </a:r>
            <a:r>
              <a:rPr lang="en-MY" dirty="0"/>
              <a:t> (like Python, R, or other libraries).</a:t>
            </a:r>
          </a:p>
          <a:p>
            <a:endParaRPr lang="en-MY" dirty="0"/>
          </a:p>
          <a:p>
            <a:r>
              <a:rPr lang="en-MY" dirty="0"/>
              <a:t>- By combining both, you can build models that fit your </a:t>
            </a:r>
            <a:r>
              <a:rPr lang="en-MY" b="1" dirty="0"/>
              <a:t>exact needs</a:t>
            </a:r>
            <a:r>
              <a:rPr lang="en-MY" dirty="0"/>
              <a:t>.</a:t>
            </a:r>
            <a:br>
              <a:rPr lang="en-MY" dirty="0"/>
            </a:br>
            <a:r>
              <a:rPr lang="en-MY" dirty="0"/>
              <a:t>- You get the strengths of SAS Viya </a:t>
            </a:r>
            <a:r>
              <a:rPr lang="en-MY" i="1" dirty="0"/>
              <a:t>plus</a:t>
            </a:r>
            <a:r>
              <a:rPr lang="en-MY" dirty="0"/>
              <a:t> the flexibility of open-source tools.</a:t>
            </a:r>
          </a:p>
          <a:p>
            <a:endParaRPr lang="en-US" b="0" dirty="0"/>
          </a:p>
        </p:txBody>
      </p:sp>
    </p:spTree>
    <p:extLst>
      <p:ext uri="{BB962C8B-B14F-4D97-AF65-F5344CB8AC3E}">
        <p14:creationId xmlns:p14="http://schemas.microsoft.com/office/powerpoint/2010/main" val="14598368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pPr marL="171450" indent="-171450">
              <a:buFontTx/>
              <a:buChar char="-"/>
            </a:pPr>
            <a:r>
              <a:rPr lang="en-MY" dirty="0"/>
              <a:t>Every analytics project begins with a </a:t>
            </a:r>
            <a:r>
              <a:rPr lang="en-MY" b="1" dirty="0"/>
              <a:t>business challenge</a:t>
            </a:r>
            <a:r>
              <a:rPr lang="en-MY" dirty="0"/>
              <a:t> — a problem the company wants to solve.</a:t>
            </a:r>
          </a:p>
          <a:p>
            <a:pPr marL="171450" indent="-171450">
              <a:buFontTx/>
              <a:buChar char="-"/>
            </a:pPr>
            <a:endParaRPr lang="en-MY" dirty="0"/>
          </a:p>
          <a:p>
            <a:pPr marL="171450" indent="-171450">
              <a:buFontTx/>
              <a:buChar char="-"/>
            </a:pPr>
            <a:r>
              <a:rPr lang="en-MY" dirty="0"/>
              <a:t>After understanding the challenge, the organization defines a </a:t>
            </a:r>
            <a:r>
              <a:rPr lang="en-MY" b="1" dirty="0"/>
              <a:t>clear and specific analysis goal</a:t>
            </a:r>
            <a:r>
              <a:rPr lang="en-MY" dirty="0"/>
              <a:t>.</a:t>
            </a:r>
          </a:p>
          <a:p>
            <a:pPr marL="171450" indent="-171450">
              <a:buFontTx/>
              <a:buChar char="-"/>
            </a:pPr>
            <a:endParaRPr lang="en-MY" dirty="0"/>
          </a:p>
          <a:p>
            <a:pPr marL="171450" indent="-171450">
              <a:buFontTx/>
              <a:buChar char="-"/>
            </a:pPr>
            <a:r>
              <a:rPr lang="en-MY" dirty="0"/>
              <a:t>This goal must be </a:t>
            </a:r>
            <a:r>
              <a:rPr lang="en-MY" b="1" dirty="0"/>
              <a:t>measurable</a:t>
            </a:r>
            <a:r>
              <a:rPr lang="en-MY" dirty="0"/>
              <a:t>, so the team knows exactly what they are trying to achieve.</a:t>
            </a:r>
          </a:p>
          <a:p>
            <a:pPr marL="171450" indent="-171450">
              <a:buFontTx/>
              <a:buChar char="-"/>
            </a:pPr>
            <a:endParaRPr lang="en-MY" dirty="0"/>
          </a:p>
          <a:p>
            <a:endParaRPr lang="en-US" dirty="0"/>
          </a:p>
        </p:txBody>
      </p:sp>
    </p:spTree>
    <p:extLst>
      <p:ext uri="{BB962C8B-B14F-4D97-AF65-F5344CB8AC3E}">
        <p14:creationId xmlns:p14="http://schemas.microsoft.com/office/powerpoint/2010/main" val="3009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r>
              <a:rPr lang="en-MY" dirty="0"/>
              <a:t>- The analytics life cycle is a process that helps organizations turn raw data into something useful.</a:t>
            </a:r>
            <a:br>
              <a:rPr lang="en-MY" dirty="0"/>
            </a:br>
            <a:r>
              <a:rPr lang="en-MY" dirty="0"/>
              <a:t>- It has </a:t>
            </a:r>
            <a:r>
              <a:rPr lang="en-MY" b="1" dirty="0"/>
              <a:t>one main purpose: to create value from data</a:t>
            </a:r>
            <a:r>
              <a:rPr lang="en-MY" dirty="0"/>
              <a:t>.</a:t>
            </a:r>
          </a:p>
          <a:p>
            <a:endParaRPr lang="en-MY" dirty="0"/>
          </a:p>
          <a:p>
            <a:r>
              <a:rPr lang="en-MY" dirty="0"/>
              <a:t>- This life cycle has </a:t>
            </a:r>
            <a:r>
              <a:rPr lang="en-MY" b="1" dirty="0"/>
              <a:t>three main phases</a:t>
            </a:r>
            <a:r>
              <a:rPr lang="en-MY" dirty="0"/>
              <a:t>:</a:t>
            </a:r>
          </a:p>
          <a:p>
            <a:pPr marL="628650" lvl="1" indent="-171450">
              <a:buFont typeface="Arial" panose="020B0604020202020204" pitchFamily="34" charset="0"/>
              <a:buChar char="•"/>
            </a:pPr>
            <a:r>
              <a:rPr lang="en-MY" b="1" dirty="0"/>
              <a:t>Data</a:t>
            </a:r>
            <a:r>
              <a:rPr lang="en-MY" dirty="0"/>
              <a:t> – You collect and prepare the data.</a:t>
            </a:r>
          </a:p>
          <a:p>
            <a:pPr marL="628650" lvl="1" indent="-171450">
              <a:buFont typeface="Arial" panose="020B0604020202020204" pitchFamily="34" charset="0"/>
              <a:buChar char="•"/>
            </a:pPr>
            <a:r>
              <a:rPr lang="en-MY" b="1" dirty="0"/>
              <a:t>Discovery</a:t>
            </a:r>
            <a:r>
              <a:rPr lang="en-MY" dirty="0"/>
              <a:t> – You explore the data, </a:t>
            </a:r>
            <a:r>
              <a:rPr lang="en-MY" dirty="0" err="1"/>
              <a:t>analyze</a:t>
            </a:r>
            <a:r>
              <a:rPr lang="en-MY" dirty="0"/>
              <a:t> it, and build models to find insights.</a:t>
            </a:r>
          </a:p>
          <a:p>
            <a:pPr marL="628650" lvl="1" indent="-171450">
              <a:buFont typeface="Arial" panose="020B0604020202020204" pitchFamily="34" charset="0"/>
              <a:buChar char="•"/>
            </a:pPr>
            <a:r>
              <a:rPr lang="en-MY" b="1" dirty="0"/>
              <a:t>Deployment</a:t>
            </a:r>
            <a:r>
              <a:rPr lang="en-MY" dirty="0"/>
              <a:t> – You put the results or models into real use so the organization can benefit.</a:t>
            </a:r>
          </a:p>
          <a:p>
            <a:endParaRPr lang="en-MY" dirty="0"/>
          </a:p>
          <a:p>
            <a:r>
              <a:rPr lang="en-MY" dirty="0"/>
              <a:t>- By moving through these three phases, the organization can take raw data and turn it into something valuable, such as better decisions or improved processes.</a:t>
            </a:r>
          </a:p>
        </p:txBody>
      </p:sp>
    </p:spTree>
    <p:extLst>
      <p:ext uri="{BB962C8B-B14F-4D97-AF65-F5344CB8AC3E}">
        <p14:creationId xmlns:p14="http://schemas.microsoft.com/office/powerpoint/2010/main" val="28314868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pPr marL="171450" indent="-171450">
              <a:buFontTx/>
              <a:buChar char="-"/>
            </a:pPr>
            <a:r>
              <a:rPr lang="en-MY" dirty="0"/>
              <a:t>In this step, you work with your data.</a:t>
            </a:r>
          </a:p>
          <a:p>
            <a:pPr marL="171450" indent="-171450">
              <a:buFontTx/>
              <a:buChar char="-"/>
            </a:pPr>
            <a:endParaRPr lang="en-MY" dirty="0"/>
          </a:p>
          <a:p>
            <a:pPr marL="171450" indent="-171450">
              <a:buFontTx/>
              <a:buChar char="-"/>
            </a:pPr>
            <a:r>
              <a:rPr lang="en-MY" dirty="0"/>
              <a:t>This means you </a:t>
            </a:r>
            <a:r>
              <a:rPr lang="en-MY" b="1" dirty="0"/>
              <a:t>look at the data, clean it, fix errors, and get it ready</a:t>
            </a:r>
            <a:r>
              <a:rPr lang="en-MY" dirty="0"/>
              <a:t> so that you can use it for analysis later.</a:t>
            </a:r>
          </a:p>
          <a:p>
            <a:pPr marL="171450" indent="-171450">
              <a:buFontTx/>
              <a:buChar char="-"/>
            </a:pPr>
            <a:endParaRPr lang="en-MY" dirty="0"/>
          </a:p>
          <a:p>
            <a:pPr marL="171450" indent="-171450">
              <a:buFontTx/>
              <a:buChar char="-"/>
            </a:pPr>
            <a:r>
              <a:rPr lang="en-MY" dirty="0"/>
              <a:t>Good data is very important because it is the </a:t>
            </a:r>
            <a:r>
              <a:rPr lang="en-MY" b="1" dirty="0"/>
              <a:t>foundation</a:t>
            </a:r>
            <a:r>
              <a:rPr lang="en-MY" dirty="0"/>
              <a:t> of everything you will do in the analytics process.</a:t>
            </a:r>
          </a:p>
        </p:txBody>
      </p:sp>
    </p:spTree>
    <p:extLst>
      <p:ext uri="{BB962C8B-B14F-4D97-AF65-F5344CB8AC3E}">
        <p14:creationId xmlns:p14="http://schemas.microsoft.com/office/powerpoint/2010/main" val="1974180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r>
              <a:rPr lang="en-MY" b="0" dirty="0"/>
              <a:t>- </a:t>
            </a:r>
            <a:r>
              <a:rPr lang="en-MY" b="1" dirty="0"/>
              <a:t>Discovery</a:t>
            </a:r>
            <a:r>
              <a:rPr lang="en-MY" dirty="0"/>
              <a:t> means </a:t>
            </a:r>
            <a:r>
              <a:rPr lang="en-MY" b="1" dirty="0"/>
              <a:t>finding something new</a:t>
            </a:r>
            <a:r>
              <a:rPr lang="en-MY" dirty="0"/>
              <a:t> in your data — something you did not know before.</a:t>
            </a:r>
          </a:p>
          <a:p>
            <a:endParaRPr lang="en-MY" b="0" dirty="0"/>
          </a:p>
          <a:p>
            <a:r>
              <a:rPr lang="en-MY" b="0" dirty="0"/>
              <a:t>- </a:t>
            </a:r>
            <a:r>
              <a:rPr lang="en-MY" dirty="0"/>
              <a:t>During this phase:</a:t>
            </a:r>
          </a:p>
          <a:p>
            <a:pPr marL="628650" lvl="1" indent="-171450">
              <a:buFont typeface="Arial" panose="020B0604020202020204" pitchFamily="34" charset="0"/>
              <a:buChar char="•"/>
            </a:pPr>
            <a:r>
              <a:rPr lang="en-MY" dirty="0"/>
              <a:t>You </a:t>
            </a:r>
            <a:r>
              <a:rPr lang="en-MY" b="1" dirty="0"/>
              <a:t>build many different models</a:t>
            </a:r>
            <a:r>
              <a:rPr lang="en-MY" dirty="0"/>
              <a:t> to understand your data.</a:t>
            </a:r>
          </a:p>
          <a:p>
            <a:pPr marL="628650" lvl="1" indent="-171450">
              <a:buFont typeface="Arial" panose="020B0604020202020204" pitchFamily="34" charset="0"/>
              <a:buChar char="•"/>
            </a:pPr>
            <a:r>
              <a:rPr lang="en-MY" dirty="0"/>
              <a:t>You </a:t>
            </a:r>
            <a:r>
              <a:rPr lang="en-MY" b="1" dirty="0"/>
              <a:t>improve and adjust</a:t>
            </a:r>
            <a:r>
              <a:rPr lang="en-MY" dirty="0"/>
              <a:t> these models.</a:t>
            </a:r>
          </a:p>
          <a:p>
            <a:pPr marL="628650" lvl="1" indent="-171450">
              <a:buFont typeface="Arial" panose="020B0604020202020204" pitchFamily="34" charset="0"/>
              <a:buChar char="•"/>
            </a:pPr>
            <a:r>
              <a:rPr lang="en-MY" dirty="0"/>
              <a:t>Then you </a:t>
            </a:r>
            <a:r>
              <a:rPr lang="en-MY" b="1" dirty="0"/>
              <a:t>compare them</a:t>
            </a:r>
            <a:r>
              <a:rPr lang="en-MY" dirty="0"/>
              <a:t>.</a:t>
            </a:r>
          </a:p>
          <a:p>
            <a:pPr marL="628650" lvl="1" indent="-171450">
              <a:buFont typeface="Arial" panose="020B0604020202020204" pitchFamily="34" charset="0"/>
              <a:buChar char="•"/>
            </a:pPr>
            <a:r>
              <a:rPr lang="en-MY" dirty="0"/>
              <a:t>Finally, you </a:t>
            </a:r>
            <a:r>
              <a:rPr lang="en-MY" b="1" dirty="0"/>
              <a:t>choose the best model</a:t>
            </a:r>
            <a:r>
              <a:rPr lang="en-MY" dirty="0"/>
              <a:t> for your analysis.</a:t>
            </a:r>
          </a:p>
          <a:p>
            <a:endParaRPr lang="en-MY" dirty="0"/>
          </a:p>
          <a:p>
            <a:r>
              <a:rPr lang="en-MY" b="0" dirty="0"/>
              <a:t>- </a:t>
            </a:r>
            <a:r>
              <a:rPr lang="en-MY" dirty="0"/>
              <a:t>In short: </a:t>
            </a:r>
            <a:r>
              <a:rPr lang="en-MY" i="1" dirty="0"/>
              <a:t>Discovery is about testing many models so you can find the one that works the best.</a:t>
            </a:r>
            <a:endParaRPr lang="en-MY" dirty="0"/>
          </a:p>
        </p:txBody>
      </p:sp>
    </p:spTree>
    <p:extLst>
      <p:ext uri="{BB962C8B-B14F-4D97-AF65-F5344CB8AC3E}">
        <p14:creationId xmlns:p14="http://schemas.microsoft.com/office/powerpoint/2010/main" val="9889948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pPr marL="171450" indent="-171450">
              <a:buFontTx/>
              <a:buChar char="-"/>
            </a:pPr>
            <a:r>
              <a:rPr lang="en-MY" b="1" dirty="0"/>
              <a:t>Deployment</a:t>
            </a:r>
            <a:r>
              <a:rPr lang="en-MY" dirty="0"/>
              <a:t> is the stage where you start using your machine learning model in real life.</a:t>
            </a:r>
            <a:br>
              <a:rPr lang="en-MY" dirty="0"/>
            </a:br>
            <a:endParaRPr lang="en-MY" dirty="0"/>
          </a:p>
          <a:p>
            <a:pPr marL="171450" indent="-171450">
              <a:buFontTx/>
              <a:buChar char="-"/>
            </a:pPr>
            <a:r>
              <a:rPr lang="en-MY" dirty="0"/>
              <a:t>This means:</a:t>
            </a:r>
          </a:p>
          <a:p>
            <a:pPr marL="628650" lvl="1" indent="-171450">
              <a:buFont typeface="Arial" panose="020B0604020202020204" pitchFamily="34" charset="0"/>
              <a:buChar char="•"/>
            </a:pPr>
            <a:r>
              <a:rPr lang="en-MY" dirty="0"/>
              <a:t>You </a:t>
            </a:r>
            <a:r>
              <a:rPr lang="en-MY" b="1" dirty="0"/>
              <a:t>take the model you built</a:t>
            </a:r>
            <a:r>
              <a:rPr lang="en-MY" dirty="0"/>
              <a:t> earlier.</a:t>
            </a:r>
          </a:p>
          <a:p>
            <a:pPr marL="628650" lvl="1" indent="-171450">
              <a:buFont typeface="Arial" panose="020B0604020202020204" pitchFamily="34" charset="0"/>
              <a:buChar char="•"/>
            </a:pPr>
            <a:r>
              <a:rPr lang="en-MY" dirty="0"/>
              <a:t>You </a:t>
            </a:r>
            <a:r>
              <a:rPr lang="en-MY" b="1" dirty="0"/>
              <a:t>apply it to new data</a:t>
            </a:r>
            <a:r>
              <a:rPr lang="en-MY" dirty="0"/>
              <a:t> to get results.</a:t>
            </a:r>
          </a:p>
          <a:p>
            <a:pPr marL="628650" lvl="1" indent="-171450">
              <a:buFont typeface="Arial" panose="020B0604020202020204" pitchFamily="34" charset="0"/>
              <a:buChar char="•"/>
            </a:pPr>
            <a:r>
              <a:rPr lang="en-MY" dirty="0"/>
              <a:t>This process of using the model to make predictions on new data is called </a:t>
            </a:r>
            <a:r>
              <a:rPr lang="en-MY" b="1" dirty="0"/>
              <a:t>scoring</a:t>
            </a:r>
            <a:r>
              <a:rPr lang="en-MY" dirty="0"/>
              <a:t>.</a:t>
            </a:r>
          </a:p>
          <a:p>
            <a:endParaRPr lang="en-MY" dirty="0"/>
          </a:p>
          <a:p>
            <a:r>
              <a:rPr lang="en-MY" b="0" dirty="0"/>
              <a:t>- </a:t>
            </a:r>
            <a:r>
              <a:rPr lang="en-MY" dirty="0"/>
              <a:t>In short: </a:t>
            </a:r>
            <a:r>
              <a:rPr lang="en-MY" i="1" dirty="0"/>
              <a:t>Deployment = putting your model to work and scoring new data.</a:t>
            </a:r>
            <a:endParaRPr lang="en-MY" dirty="0"/>
          </a:p>
        </p:txBody>
      </p:sp>
    </p:spTree>
    <p:extLst>
      <p:ext uri="{BB962C8B-B14F-4D97-AF65-F5344CB8AC3E}">
        <p14:creationId xmlns:p14="http://schemas.microsoft.com/office/powerpoint/2010/main" val="21173262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pPr marL="171450" indent="-171450">
              <a:buFontTx/>
              <a:buChar char="-"/>
            </a:pPr>
            <a:r>
              <a:rPr lang="en-MY" dirty="0"/>
              <a:t>The analytics life cycle shows that machine learning creates value at every stage.</a:t>
            </a:r>
            <a:br>
              <a:rPr lang="en-MY" dirty="0"/>
            </a:br>
            <a:endParaRPr lang="en-MY" dirty="0"/>
          </a:p>
          <a:p>
            <a:pPr marL="171450" indent="-171450">
              <a:buFontTx/>
              <a:buChar char="-"/>
            </a:pPr>
            <a:r>
              <a:rPr lang="en-MY" dirty="0"/>
              <a:t>Each stage has important tasks you must do:</a:t>
            </a:r>
          </a:p>
          <a:p>
            <a:pPr marL="628650" lvl="1" indent="-171450">
              <a:buFont typeface="Arial" panose="020B0604020202020204" pitchFamily="34" charset="0"/>
              <a:buChar char="•"/>
            </a:pPr>
            <a:r>
              <a:rPr lang="en-MY" b="1" dirty="0"/>
              <a:t>Data tasks:</a:t>
            </a:r>
            <a:r>
              <a:rPr lang="en-MY" dirty="0"/>
              <a:t> Collect, clean, and prepare your data.</a:t>
            </a:r>
          </a:p>
          <a:p>
            <a:pPr marL="628650" lvl="1" indent="-171450">
              <a:buFont typeface="Arial" panose="020B0604020202020204" pitchFamily="34" charset="0"/>
              <a:buChar char="•"/>
            </a:pPr>
            <a:r>
              <a:rPr lang="en-MY" b="1" dirty="0"/>
              <a:t>Discovery tasks:</a:t>
            </a:r>
            <a:r>
              <a:rPr lang="en-MY" dirty="0"/>
              <a:t> Explore the data, build models, and choose the best one.</a:t>
            </a:r>
          </a:p>
          <a:p>
            <a:pPr marL="628650" lvl="1" indent="-171450">
              <a:buFont typeface="Arial" panose="020B0604020202020204" pitchFamily="34" charset="0"/>
              <a:buChar char="•"/>
            </a:pPr>
            <a:r>
              <a:rPr lang="en-MY" b="1" dirty="0"/>
              <a:t>Deployment tasks:</a:t>
            </a:r>
            <a:r>
              <a:rPr lang="en-MY" dirty="0"/>
              <a:t> Use the model in real situations to make predictions.</a:t>
            </a:r>
          </a:p>
          <a:p>
            <a:endParaRPr lang="en-MY" dirty="0"/>
          </a:p>
          <a:p>
            <a:r>
              <a:rPr lang="en-MY" dirty="0"/>
              <a:t>- As you learn to use SAS Viya in this course, you will practice the key tasks for each stage.</a:t>
            </a:r>
            <a:br>
              <a:rPr lang="en-MY" dirty="0"/>
            </a:br>
            <a:r>
              <a:rPr lang="en-MY" dirty="0"/>
              <a:t>- The life cycle is also </a:t>
            </a:r>
            <a:r>
              <a:rPr lang="en-MY" b="1" dirty="0"/>
              <a:t>flexible</a:t>
            </a:r>
            <a:r>
              <a:rPr lang="en-MY" dirty="0"/>
              <a:t> — in real projects, you might follow the steps in a different order depending on your needs.</a:t>
            </a:r>
          </a:p>
        </p:txBody>
      </p:sp>
    </p:spTree>
    <p:extLst>
      <p:ext uri="{BB962C8B-B14F-4D97-AF65-F5344CB8AC3E}">
        <p14:creationId xmlns:p14="http://schemas.microsoft.com/office/powerpoint/2010/main" val="106444083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pPr marL="171450" indent="-171450">
              <a:buFontTx/>
              <a:buChar char="-"/>
            </a:pPr>
            <a:r>
              <a:rPr lang="en-MY" dirty="0"/>
              <a:t>A phone or internet company is losing customers.</a:t>
            </a:r>
          </a:p>
          <a:p>
            <a:pPr marL="171450" indent="-171450">
              <a:buFontTx/>
              <a:buChar char="-"/>
            </a:pPr>
            <a:r>
              <a:rPr lang="en-MY" dirty="0"/>
              <a:t>When a customer stops using the company’s service, this is called </a:t>
            </a:r>
            <a:r>
              <a:rPr lang="en-MY" b="1" dirty="0"/>
              <a:t>customer churn </a:t>
            </a:r>
            <a:r>
              <a:rPr lang="zh-CN" altLang="en-US" sz="1200" b="0" i="0" kern="1200" dirty="0">
                <a:solidFill>
                  <a:schemeClr val="tx1"/>
                </a:solidFill>
                <a:effectLst/>
                <a:latin typeface="+mn-lt"/>
                <a:ea typeface="+mn-ea"/>
                <a:cs typeface="+mn-cs"/>
              </a:rPr>
              <a:t>流失</a:t>
            </a:r>
            <a:r>
              <a:rPr lang="en-MY" dirty="0"/>
              <a:t>.</a:t>
            </a:r>
            <a:br>
              <a:rPr lang="en-MY" dirty="0"/>
            </a:br>
            <a:endParaRPr lang="en-MY" dirty="0"/>
          </a:p>
          <a:p>
            <a:pPr marL="171450" indent="-171450">
              <a:buFontTx/>
              <a:buChar char="-"/>
            </a:pPr>
            <a:r>
              <a:rPr lang="en-MY" dirty="0"/>
              <a:t>Churn is a problem because it is </a:t>
            </a:r>
            <a:r>
              <a:rPr lang="en-MY" b="1" dirty="0"/>
              <a:t>more expensive to find new customers</a:t>
            </a:r>
            <a:r>
              <a:rPr lang="en-MY" dirty="0"/>
              <a:t> than to keep the ones you already have.</a:t>
            </a:r>
            <a:br>
              <a:rPr lang="en-MY" sz="1200" b="0" i="0" kern="1200" dirty="0">
                <a:solidFill>
                  <a:schemeClr val="tx1"/>
                </a:solidFill>
                <a:effectLst/>
                <a:latin typeface="+mn-lt"/>
                <a:ea typeface="+mn-ea"/>
                <a:cs typeface="+mn-cs"/>
              </a:rPr>
            </a:br>
            <a:r>
              <a:rPr lang="zh-CN" altLang="en-US" sz="1200" b="0" i="0" kern="1200" dirty="0">
                <a:solidFill>
                  <a:schemeClr val="tx1"/>
                </a:solidFill>
                <a:effectLst/>
                <a:latin typeface="+mn-lt"/>
                <a:ea typeface="+mn-ea"/>
                <a:cs typeface="+mn-cs"/>
              </a:rPr>
              <a:t>客户流失是个问题，因为获取新客户的成本要高于留住现有客户的成本。</a:t>
            </a:r>
            <a:endParaRPr lang="en-MY" altLang="zh-CN" sz="1200" b="0" i="0" kern="1200" dirty="0">
              <a:solidFill>
                <a:schemeClr val="tx1"/>
              </a:solidFill>
              <a:effectLst/>
              <a:latin typeface="+mn-lt"/>
              <a:ea typeface="+mn-ea"/>
              <a:cs typeface="+mn-cs"/>
            </a:endParaRPr>
          </a:p>
          <a:p>
            <a:pPr marL="171450" indent="-171450">
              <a:buFontTx/>
              <a:buChar char="-"/>
            </a:pPr>
            <a:endParaRPr lang="en-MY" dirty="0"/>
          </a:p>
          <a:p>
            <a:pPr marL="171450" indent="-171450">
              <a:buFontTx/>
              <a:buChar char="-"/>
            </a:pPr>
            <a:r>
              <a:rPr lang="en-MY" dirty="0"/>
              <a:t>Machine learning can help the company </a:t>
            </a:r>
            <a:r>
              <a:rPr lang="en-MY" b="1" dirty="0"/>
              <a:t>predict which customers are likely to leave</a:t>
            </a:r>
            <a:r>
              <a:rPr lang="en-MY" dirty="0"/>
              <a:t>.</a:t>
            </a:r>
            <a:br>
              <a:rPr lang="en-MY" dirty="0"/>
            </a:br>
            <a:endParaRPr lang="en-MY" dirty="0"/>
          </a:p>
          <a:p>
            <a:pPr marL="171450" indent="-171450">
              <a:buFontTx/>
              <a:buChar char="-"/>
            </a:pPr>
            <a:r>
              <a:rPr lang="en-MY" dirty="0"/>
              <a:t>If the model’s prediction is </a:t>
            </a:r>
            <a:r>
              <a:rPr lang="en-MY" b="1" dirty="0"/>
              <a:t>correct</a:t>
            </a:r>
            <a:r>
              <a:rPr lang="en-MY" dirty="0"/>
              <a:t>, the company can take action to keep the customer.</a:t>
            </a:r>
          </a:p>
          <a:p>
            <a:pPr marL="171450" indent="-171450">
              <a:buFontTx/>
              <a:buChar char="-"/>
            </a:pPr>
            <a:r>
              <a:rPr lang="en-MY" dirty="0"/>
              <a:t>If the prediction is </a:t>
            </a:r>
            <a:r>
              <a:rPr lang="en-MY" b="1" dirty="0"/>
              <a:t>wrong</a:t>
            </a:r>
            <a:r>
              <a:rPr lang="en-MY" dirty="0"/>
              <a:t>, the company may spend effort on the wrong person.</a:t>
            </a:r>
          </a:p>
        </p:txBody>
      </p:sp>
    </p:spTree>
    <p:extLst>
      <p:ext uri="{BB962C8B-B14F-4D97-AF65-F5344CB8AC3E}">
        <p14:creationId xmlns:p14="http://schemas.microsoft.com/office/powerpoint/2010/main" val="37118360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pPr marL="171450" indent="-171450">
              <a:buFontTx/>
              <a:buChar char="-"/>
            </a:pPr>
            <a:r>
              <a:rPr lang="en-MY" dirty="0"/>
              <a:t>Many companies use analytics to find out </a:t>
            </a:r>
            <a:r>
              <a:rPr lang="en-MY" b="1" dirty="0"/>
              <a:t>which customers might leave (churn)</a:t>
            </a:r>
            <a:r>
              <a:rPr lang="en-MY" dirty="0"/>
              <a:t> and to understand </a:t>
            </a:r>
            <a:r>
              <a:rPr lang="en-MY" b="1" dirty="0"/>
              <a:t>how to keep them</a:t>
            </a:r>
            <a:r>
              <a:rPr lang="en-MY" dirty="0"/>
              <a:t>.</a:t>
            </a:r>
            <a:br>
              <a:rPr lang="en-MY" dirty="0"/>
            </a:br>
            <a:endParaRPr lang="en-MY" dirty="0"/>
          </a:p>
          <a:p>
            <a:pPr marL="171450" indent="-171450">
              <a:buFontTx/>
              <a:buChar char="-"/>
            </a:pPr>
            <a:r>
              <a:rPr lang="en-MY" dirty="0"/>
              <a:t>Telecommunication companies often use </a:t>
            </a:r>
            <a:r>
              <a:rPr lang="en-MY" b="1" dirty="0"/>
              <a:t>predictive models</a:t>
            </a:r>
            <a:r>
              <a:rPr lang="en-MY" dirty="0"/>
              <a:t> to lower the churn rate, especially for customers who pay after using the service (post-paid customers).</a:t>
            </a:r>
          </a:p>
          <a:p>
            <a:pPr marL="171450" indent="-171450">
              <a:buFontTx/>
              <a:buChar char="-"/>
            </a:pPr>
            <a:endParaRPr lang="en-MY" dirty="0"/>
          </a:p>
          <a:p>
            <a:pPr marL="171450" indent="-171450">
              <a:buFontTx/>
              <a:buChar char="-"/>
            </a:pPr>
            <a:r>
              <a:rPr lang="en-MY" dirty="0"/>
              <a:t>In this case study, the </a:t>
            </a:r>
            <a:r>
              <a:rPr lang="en-MY" b="1" dirty="0"/>
              <a:t>analysis goal</a:t>
            </a:r>
            <a:r>
              <a:rPr lang="en-MY" dirty="0"/>
              <a:t> is: </a:t>
            </a:r>
            <a:r>
              <a:rPr lang="en-MY" b="1" dirty="0"/>
              <a:t>Identify the customers who are likely to churn.</a:t>
            </a:r>
          </a:p>
          <a:p>
            <a:pPr marL="171450" indent="-171450">
              <a:buFontTx/>
              <a:buChar char="-"/>
            </a:pPr>
            <a:r>
              <a:rPr lang="en-MY" dirty="0"/>
              <a:t>The results from this analysis help the company design </a:t>
            </a:r>
            <a:r>
              <a:rPr lang="en-MY" b="1" dirty="0"/>
              <a:t>better programs to keep customers</a:t>
            </a:r>
            <a:r>
              <a:rPr lang="en-MY" dirty="0"/>
              <a:t>, such as loyalty rewards or special offers.</a:t>
            </a:r>
          </a:p>
        </p:txBody>
      </p:sp>
    </p:spTree>
    <p:extLst>
      <p:ext uri="{BB962C8B-B14F-4D97-AF65-F5344CB8AC3E}">
        <p14:creationId xmlns:p14="http://schemas.microsoft.com/office/powerpoint/2010/main" val="36017405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r>
              <a:rPr lang="en-MY" dirty="0"/>
              <a:t>- The company has a SAS table called </a:t>
            </a:r>
            <a:r>
              <a:rPr lang="en-MY" b="1" dirty="0" err="1"/>
              <a:t>commsdata</a:t>
            </a:r>
            <a:r>
              <a:rPr lang="en-MY" dirty="0"/>
              <a:t>. This table contains information about how customers behave.</a:t>
            </a:r>
          </a:p>
          <a:p>
            <a:r>
              <a:rPr lang="en-MY" dirty="0"/>
              <a:t>- In this table:</a:t>
            </a:r>
          </a:p>
          <a:p>
            <a:pPr marL="628650" lvl="1" indent="-171450">
              <a:buFont typeface="Arial" panose="020B0604020202020204" pitchFamily="34" charset="0"/>
              <a:buChar char="•"/>
            </a:pPr>
            <a:r>
              <a:rPr lang="en-MY" dirty="0"/>
              <a:t>The </a:t>
            </a:r>
            <a:r>
              <a:rPr lang="en-MY" b="1" dirty="0"/>
              <a:t>input variables</a:t>
            </a:r>
            <a:r>
              <a:rPr lang="en-MY" dirty="0"/>
              <a:t> (the information used to make predictions) include:</a:t>
            </a:r>
          </a:p>
          <a:p>
            <a:pPr marL="1085850" lvl="2" indent="-171450">
              <a:buFont typeface="Arial" panose="020B0604020202020204" pitchFamily="34" charset="0"/>
              <a:buChar char="•"/>
            </a:pPr>
            <a:r>
              <a:rPr lang="en-MY" b="1" dirty="0"/>
              <a:t>Demographic information</a:t>
            </a:r>
            <a:r>
              <a:rPr lang="en-MY" dirty="0"/>
              <a:t> (such as age, location, gender, etc.)</a:t>
            </a:r>
          </a:p>
          <a:p>
            <a:pPr marL="1085850" lvl="2" indent="-171450">
              <a:buFont typeface="Arial" panose="020B0604020202020204" pitchFamily="34" charset="0"/>
              <a:buChar char="•"/>
            </a:pPr>
            <a:r>
              <a:rPr lang="en-MY" b="1" dirty="0"/>
              <a:t>Product usage and type</a:t>
            </a:r>
            <a:r>
              <a:rPr lang="en-MY" dirty="0"/>
              <a:t> (how the customer uses the service)</a:t>
            </a:r>
          </a:p>
          <a:p>
            <a:pPr marL="1085850" lvl="2" indent="-171450">
              <a:buFont typeface="Arial" panose="020B0604020202020204" pitchFamily="34" charset="0"/>
              <a:buChar char="•"/>
            </a:pPr>
            <a:r>
              <a:rPr lang="en-MY" b="1" dirty="0"/>
              <a:t>Billing data</a:t>
            </a:r>
            <a:r>
              <a:rPr lang="en-MY" dirty="0"/>
              <a:t> (payment history and billing amounts)</a:t>
            </a:r>
          </a:p>
          <a:p>
            <a:pPr marL="1085850" lvl="2" indent="-171450">
              <a:buFont typeface="Arial" panose="020B0604020202020204" pitchFamily="34" charset="0"/>
              <a:buChar char="•"/>
            </a:pPr>
            <a:r>
              <a:rPr lang="en-MY" b="1" dirty="0"/>
              <a:t>Customer service interactions</a:t>
            </a:r>
            <a:r>
              <a:rPr lang="en-MY" dirty="0"/>
              <a:t> (how often the customer contacted support and why)</a:t>
            </a:r>
          </a:p>
          <a:p>
            <a:endParaRPr lang="en-MY" dirty="0"/>
          </a:p>
          <a:p>
            <a:r>
              <a:rPr lang="en-MY" dirty="0"/>
              <a:t>- The </a:t>
            </a:r>
            <a:r>
              <a:rPr lang="en-MY" b="1" dirty="0"/>
              <a:t>target variable</a:t>
            </a:r>
            <a:r>
              <a:rPr lang="en-MY" dirty="0"/>
              <a:t> is a </a:t>
            </a:r>
            <a:r>
              <a:rPr lang="en-MY" b="1" dirty="0"/>
              <a:t>yes/no value</a:t>
            </a:r>
            <a:r>
              <a:rPr lang="en-MY" dirty="0"/>
              <a:t> that shows whether a customer has </a:t>
            </a:r>
            <a:r>
              <a:rPr lang="en-MY" b="1" dirty="0"/>
              <a:t>churned</a:t>
            </a:r>
            <a:r>
              <a:rPr lang="en-MY" dirty="0"/>
              <a:t> (stopped using the service).</a:t>
            </a:r>
          </a:p>
          <a:p>
            <a:r>
              <a:rPr lang="en-MY" dirty="0"/>
              <a:t>- This target is what you want the model to predict.</a:t>
            </a:r>
          </a:p>
        </p:txBody>
      </p:sp>
    </p:spTree>
    <p:extLst>
      <p:ext uri="{BB962C8B-B14F-4D97-AF65-F5344CB8AC3E}">
        <p14:creationId xmlns:p14="http://schemas.microsoft.com/office/powerpoint/2010/main" val="1125512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pPr marL="171450" indent="-171450">
              <a:buFontTx/>
              <a:buChar char="-"/>
            </a:pPr>
            <a:r>
              <a:rPr lang="en-MY" dirty="0"/>
              <a:t>The </a:t>
            </a:r>
            <a:r>
              <a:rPr lang="en-MY" b="1" dirty="0" err="1"/>
              <a:t>commsdata</a:t>
            </a:r>
            <a:r>
              <a:rPr lang="en-MY" dirty="0"/>
              <a:t> table is a large data set.</a:t>
            </a:r>
          </a:p>
          <a:p>
            <a:pPr marL="171450" indent="-171450">
              <a:buFontTx/>
              <a:buChar char="-"/>
            </a:pPr>
            <a:r>
              <a:rPr lang="en-MY" dirty="0"/>
              <a:t>It has </a:t>
            </a:r>
            <a:r>
              <a:rPr lang="en-MY" b="1" dirty="0"/>
              <a:t>128 columns</a:t>
            </a:r>
            <a:r>
              <a:rPr lang="en-MY" dirty="0"/>
              <a:t> (128 different pieces of information about each customer).</a:t>
            </a:r>
          </a:p>
          <a:p>
            <a:pPr marL="171450" indent="-171450">
              <a:buFontTx/>
              <a:buChar char="-"/>
            </a:pPr>
            <a:r>
              <a:rPr lang="en-MY" dirty="0"/>
              <a:t>It also has </a:t>
            </a:r>
            <a:r>
              <a:rPr lang="en-MY" b="1" dirty="0"/>
              <a:t>more than 56,000 rows</a:t>
            </a:r>
            <a:r>
              <a:rPr lang="en-MY" dirty="0"/>
              <a:t> (over 56,000 customers).</a:t>
            </a:r>
          </a:p>
          <a:p>
            <a:pPr marL="171450" indent="-171450">
              <a:buFontTx/>
              <a:buChar char="-"/>
            </a:pPr>
            <a:endParaRPr lang="en-MY" dirty="0"/>
          </a:p>
          <a:p>
            <a:pPr marL="171450" indent="-171450">
              <a:buFontTx/>
              <a:buChar char="-"/>
            </a:pPr>
            <a:r>
              <a:rPr lang="en-MY" dirty="0"/>
              <a:t>Don’t worry if the words or ideas seem new right now—you will learn everything step by step in the course.</a:t>
            </a:r>
          </a:p>
          <a:p>
            <a:pPr marL="171450" indent="-171450">
              <a:buFontTx/>
              <a:buChar char="-"/>
            </a:pPr>
            <a:r>
              <a:rPr lang="en-MY" dirty="0"/>
              <a:t>Your task is to use this data set to build </a:t>
            </a:r>
            <a:r>
              <a:rPr lang="en-MY" b="1" dirty="0"/>
              <a:t>supervised machine learning models</a:t>
            </a:r>
            <a:r>
              <a:rPr lang="en-MY" dirty="0"/>
              <a:t>.</a:t>
            </a:r>
          </a:p>
          <a:p>
            <a:pPr marL="171450" indent="-171450">
              <a:buFontTx/>
              <a:buChar char="-"/>
            </a:pPr>
            <a:r>
              <a:rPr lang="en-MY" dirty="0"/>
              <a:t>These models will try to </a:t>
            </a:r>
            <a:r>
              <a:rPr lang="en-MY" b="1" dirty="0"/>
              <a:t>predict which customers will churn</a:t>
            </a:r>
            <a:r>
              <a:rPr lang="en-MY" dirty="0"/>
              <a:t> (stop using the company’s service).</a:t>
            </a:r>
          </a:p>
          <a:p>
            <a:pPr marL="171450" indent="-171450">
              <a:buFontTx/>
              <a:buChar char="-"/>
            </a:pPr>
            <a:endParaRPr lang="en-MY" dirty="0"/>
          </a:p>
          <a:p>
            <a:pPr marL="171450" indent="-171450">
              <a:buFontTx/>
              <a:buChar char="-"/>
            </a:pPr>
            <a:r>
              <a:rPr lang="en-MY" dirty="0"/>
              <a:t>Your instructors will use the same data to teach the lessons.</a:t>
            </a:r>
          </a:p>
          <a:p>
            <a:pPr marL="171450" indent="-171450">
              <a:buFontTx/>
              <a:buChar char="-"/>
            </a:pPr>
            <a:r>
              <a:rPr lang="en-MY" dirty="0"/>
              <a:t>You will practice doing the same steps they show in the videos.</a:t>
            </a:r>
          </a:p>
          <a:p>
            <a:pPr marL="171450" indent="-171450">
              <a:buFontTx/>
              <a:buChar char="-"/>
            </a:pPr>
            <a:r>
              <a:rPr lang="en-MY" dirty="0"/>
              <a:t>This will help you build confidence, and you will get extra practice doing machine learning on your own.</a:t>
            </a:r>
          </a:p>
        </p:txBody>
      </p:sp>
    </p:spTree>
    <p:extLst>
      <p:ext uri="{BB962C8B-B14F-4D97-AF65-F5344CB8AC3E}">
        <p14:creationId xmlns:p14="http://schemas.microsoft.com/office/powerpoint/2010/main" val="36737910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01675" y="1200150"/>
            <a:ext cx="5762625" cy="3241675"/>
          </a:xfrm>
          <a:prstGeom prst="rect">
            <a:avLst/>
          </a:prstGeom>
        </p:spPr>
      </p:sp>
      <p:sp>
        <p:nvSpPr>
          <p:cNvPr id="3" name="Notes Placeholder 2"/>
          <p:cNvSpPr>
            <a:spLocks noGrp="1"/>
          </p:cNvSpPr>
          <p:nvPr>
            <p:ph type="body" idx="1"/>
          </p:nvPr>
        </p:nvSpPr>
        <p:spPr>
          <a:xfrm>
            <a:off x="649633" y="4545939"/>
            <a:ext cx="5711139" cy="4174084"/>
          </a:xfrm>
          <a:prstGeom prst="rect">
            <a:avLst/>
          </a:prstGeom>
        </p:spPr>
        <p:txBody>
          <a:bodyPr/>
          <a:lstStyle/>
          <a:p>
            <a:pPr marL="171450" indent="-171450">
              <a:buFontTx/>
              <a:buChar char="-"/>
            </a:pPr>
            <a:r>
              <a:rPr lang="en-MY" dirty="0"/>
              <a:t>Even though this course uses </a:t>
            </a:r>
            <a:r>
              <a:rPr lang="en-MY" i="1" dirty="0"/>
              <a:t>customer churn</a:t>
            </a:r>
            <a:r>
              <a:rPr lang="en-MY" dirty="0"/>
              <a:t> as the example problem, the things you learn can be used for </a:t>
            </a:r>
            <a:r>
              <a:rPr lang="en-MY" b="1" dirty="0"/>
              <a:t>any business problem</a:t>
            </a:r>
            <a:r>
              <a:rPr lang="en-MY" dirty="0"/>
              <a:t>.</a:t>
            </a:r>
          </a:p>
          <a:p>
            <a:pPr marL="171450" indent="-171450">
              <a:buFontTx/>
              <a:buChar char="-"/>
            </a:pPr>
            <a:endParaRPr lang="en-MY" dirty="0"/>
          </a:p>
          <a:p>
            <a:pPr marL="171450" indent="-171450">
              <a:buFontTx/>
              <a:buChar char="-"/>
            </a:pPr>
            <a:r>
              <a:rPr lang="en-MY" dirty="0"/>
              <a:t>Machine learning and the analytics life cycle (Data → Discovery → Deployment) can be applied to many different tasks, such as predicting sales, detecting fraud, improving marketing, or </a:t>
            </a:r>
            <a:r>
              <a:rPr lang="en-MY" dirty="0" err="1"/>
              <a:t>analyzing</a:t>
            </a:r>
            <a:r>
              <a:rPr lang="en-MY" dirty="0"/>
              <a:t> operations.</a:t>
            </a:r>
          </a:p>
          <a:p>
            <a:pPr marL="171450" indent="-171450">
              <a:buFontTx/>
              <a:buChar char="-"/>
            </a:pPr>
            <a:endParaRPr lang="en-MY" dirty="0"/>
          </a:p>
          <a:p>
            <a:pPr marL="171450" indent="-171450">
              <a:buFontTx/>
              <a:buChar char="-"/>
            </a:pPr>
            <a:r>
              <a:rPr lang="en-MY" dirty="0"/>
              <a:t>So, the skills you learn in SAS Viya are </a:t>
            </a:r>
            <a:r>
              <a:rPr lang="en-MY" b="1" dirty="0"/>
              <a:t>not only for churn problems</a:t>
            </a:r>
            <a:r>
              <a:rPr lang="en-MY" dirty="0"/>
              <a:t>—you can use them to solve many other real-world business challenges in many different industries.</a:t>
            </a:r>
          </a:p>
        </p:txBody>
      </p:sp>
    </p:spTree>
    <p:extLst>
      <p:ext uri="{BB962C8B-B14F-4D97-AF65-F5344CB8AC3E}">
        <p14:creationId xmlns:p14="http://schemas.microsoft.com/office/powerpoint/2010/main" val="1856652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normAutofit fontScale="70000" lnSpcReduction="20000"/>
          </a:bodyPr>
          <a:lstStyle/>
          <a:p>
            <a:r>
              <a:rPr lang="en-MY" dirty="0"/>
              <a:t>Prediction-based decision making means using data and models to guess what is likely to happen in the future. </a:t>
            </a:r>
          </a:p>
          <a:p>
            <a:r>
              <a:rPr lang="en-MY" dirty="0"/>
              <a:t>Many businesses use these predictions to make better decisions. </a:t>
            </a:r>
          </a:p>
          <a:p>
            <a:endParaRPr lang="en-MY" dirty="0"/>
          </a:p>
          <a:p>
            <a:r>
              <a:rPr lang="en-MY" dirty="0"/>
              <a:t>Here are a few common examples:</a:t>
            </a:r>
            <a:br>
              <a:rPr lang="en-MY" dirty="0"/>
            </a:br>
            <a:endParaRPr lang="en-MY" dirty="0"/>
          </a:p>
          <a:p>
            <a:r>
              <a:rPr lang="en-MY" b="1" dirty="0"/>
              <a:t>1. Fraud Detection</a:t>
            </a:r>
          </a:p>
          <a:p>
            <a:pPr marL="171450" indent="-171450">
              <a:buFontTx/>
              <a:buChar char="-"/>
            </a:pPr>
            <a:r>
              <a:rPr lang="en-MY" b="1" dirty="0"/>
              <a:t>Fraud</a:t>
            </a:r>
            <a:r>
              <a:rPr lang="en-MY" dirty="0"/>
              <a:t> means someone is trying to cheat or do something illegal to get money or an advantage.</a:t>
            </a:r>
          </a:p>
          <a:p>
            <a:pPr marL="171450" indent="-171450">
              <a:buFontTx/>
              <a:buChar char="-"/>
            </a:pPr>
            <a:r>
              <a:rPr lang="en-MY" dirty="0"/>
              <a:t>Companies use prediction models to </a:t>
            </a:r>
            <a:r>
              <a:rPr lang="en-MY" b="1" dirty="0"/>
              <a:t>spot suspicious activity</a:t>
            </a:r>
            <a:r>
              <a:rPr lang="en-MY" dirty="0"/>
              <a:t>, like unusual financial transactions, so they can stop fraud early.</a:t>
            </a:r>
          </a:p>
          <a:p>
            <a:br>
              <a:rPr lang="en-MY" dirty="0"/>
            </a:br>
            <a:endParaRPr lang="en-MY" dirty="0"/>
          </a:p>
          <a:p>
            <a:r>
              <a:rPr lang="en-MY" b="1" dirty="0"/>
              <a:t>2. Targeted Marketing</a:t>
            </a:r>
          </a:p>
          <a:p>
            <a:pPr marL="171450" indent="-171450">
              <a:buFontTx/>
              <a:buChar char="-"/>
            </a:pPr>
            <a:r>
              <a:rPr lang="en-MY" dirty="0"/>
              <a:t>Companies want to send ads to people who are most likely to buy their products.</a:t>
            </a:r>
          </a:p>
          <a:p>
            <a:pPr marL="171450" indent="-171450">
              <a:buFontTx/>
              <a:buChar char="-"/>
            </a:pPr>
            <a:r>
              <a:rPr lang="en-MY" dirty="0"/>
              <a:t>They use prediction models to </a:t>
            </a:r>
            <a:r>
              <a:rPr lang="en-MY" b="1" dirty="0"/>
              <a:t>find the customers who are more likely to respond</a:t>
            </a:r>
            <a:r>
              <a:rPr lang="en-MY" dirty="0"/>
              <a:t> to a certain promotion or offer.</a:t>
            </a:r>
          </a:p>
          <a:p>
            <a:pPr marL="171450" indent="-171450">
              <a:buFontTx/>
              <a:buChar char="-"/>
            </a:pPr>
            <a:r>
              <a:rPr lang="en-MY" dirty="0"/>
              <a:t>This helps them focus their marketing money on the right people.</a:t>
            </a:r>
          </a:p>
          <a:p>
            <a:br>
              <a:rPr lang="en-MY" dirty="0"/>
            </a:br>
            <a:endParaRPr lang="en-MY" dirty="0"/>
          </a:p>
          <a:p>
            <a:r>
              <a:rPr lang="en-MY" b="1" dirty="0"/>
              <a:t>3. Financial Risk</a:t>
            </a:r>
          </a:p>
          <a:p>
            <a:pPr marL="171450" indent="-171450">
              <a:buFontTx/>
              <a:buChar char="-"/>
            </a:pPr>
            <a:r>
              <a:rPr lang="en-MY" dirty="0"/>
              <a:t>Banks and financial companies want to know if a customer might </a:t>
            </a:r>
            <a:r>
              <a:rPr lang="en-MY" b="1" dirty="0"/>
              <a:t>miss loan payments</a:t>
            </a:r>
            <a:r>
              <a:rPr lang="en-MY" dirty="0"/>
              <a:t>, </a:t>
            </a:r>
            <a:r>
              <a:rPr lang="en-MY" b="1" dirty="0"/>
              <a:t>default</a:t>
            </a:r>
            <a:r>
              <a:rPr lang="en-MY" dirty="0"/>
              <a:t>, or </a:t>
            </a:r>
            <a:r>
              <a:rPr lang="en-MY" b="1" dirty="0"/>
              <a:t>file insurance claims</a:t>
            </a:r>
            <a:r>
              <a:rPr lang="en-MY" dirty="0"/>
              <a:t>.</a:t>
            </a:r>
          </a:p>
          <a:p>
            <a:pPr marL="171450" indent="-171450">
              <a:buFontTx/>
              <a:buChar char="-"/>
            </a:pPr>
            <a:r>
              <a:rPr lang="en-MY" dirty="0"/>
              <a:t>Prediction models help them estimate these risks so they can make safer financial decisions.</a:t>
            </a:r>
          </a:p>
          <a:p>
            <a:br>
              <a:rPr lang="en-MY" dirty="0"/>
            </a:br>
            <a:endParaRPr lang="en-MY" dirty="0"/>
          </a:p>
          <a:p>
            <a:r>
              <a:rPr lang="en-MY" b="1" dirty="0"/>
              <a:t>4. Customer Churn</a:t>
            </a:r>
          </a:p>
          <a:p>
            <a:pPr marL="171450" indent="-171450">
              <a:buFontTx/>
              <a:buChar char="-"/>
            </a:pPr>
            <a:r>
              <a:rPr lang="en-MY" b="1" dirty="0"/>
              <a:t>Customer churn</a:t>
            </a:r>
            <a:r>
              <a:rPr lang="en-MY" dirty="0"/>
              <a:t> means customers stop using a company’s service or leave for a competitor.</a:t>
            </a:r>
          </a:p>
          <a:p>
            <a:pPr marL="171450" indent="-171450">
              <a:buFontTx/>
              <a:buChar char="-"/>
            </a:pPr>
            <a:r>
              <a:rPr lang="en-MY" dirty="0"/>
              <a:t>Getting new customers is more expensive than keeping existing ones.</a:t>
            </a:r>
          </a:p>
          <a:p>
            <a:pPr marL="171450" indent="-171450">
              <a:buFontTx/>
              <a:buChar char="-"/>
            </a:pPr>
            <a:r>
              <a:rPr lang="en-MY" dirty="0"/>
              <a:t>Companies use prediction models to </a:t>
            </a:r>
            <a:r>
              <a:rPr lang="en-MY" b="1" dirty="0"/>
              <a:t>find customers who might leave soon</a:t>
            </a:r>
            <a:r>
              <a:rPr lang="en-MY" dirty="0"/>
              <a:t>, so they can take action to keep them.</a:t>
            </a:r>
          </a:p>
          <a:p>
            <a:br>
              <a:rPr lang="en-MY" dirty="0"/>
            </a:br>
            <a:endParaRPr lang="en-MY" dirty="0"/>
          </a:p>
          <a:p>
            <a:r>
              <a:rPr lang="en-MY" b="1" dirty="0"/>
              <a:t>Summary</a:t>
            </a:r>
          </a:p>
          <a:p>
            <a:r>
              <a:rPr lang="en-MY" dirty="0"/>
              <a:t>- Prediction-based decision making helps companies:</a:t>
            </a:r>
          </a:p>
          <a:p>
            <a:pPr marL="628650" lvl="1" indent="-171450">
              <a:buFont typeface="Arial" panose="020B0604020202020204" pitchFamily="34" charset="0"/>
              <a:buChar char="•"/>
            </a:pPr>
            <a:r>
              <a:rPr lang="en-MY" dirty="0"/>
              <a:t>Detect fraud</a:t>
            </a:r>
          </a:p>
          <a:p>
            <a:pPr marL="628650" lvl="1" indent="-171450">
              <a:buFont typeface="Arial" panose="020B0604020202020204" pitchFamily="34" charset="0"/>
              <a:buChar char="•"/>
            </a:pPr>
            <a:r>
              <a:rPr lang="en-MY" dirty="0"/>
              <a:t>Target the right customers</a:t>
            </a:r>
          </a:p>
          <a:p>
            <a:pPr marL="628650" lvl="1" indent="-171450">
              <a:buFont typeface="Arial" panose="020B0604020202020204" pitchFamily="34" charset="0"/>
              <a:buChar char="•"/>
            </a:pPr>
            <a:r>
              <a:rPr lang="en-MY" dirty="0"/>
              <a:t>Manage financial risks</a:t>
            </a:r>
          </a:p>
          <a:p>
            <a:pPr marL="628650" lvl="1" indent="-171450">
              <a:buFont typeface="Arial" panose="020B0604020202020204" pitchFamily="34" charset="0"/>
              <a:buChar char="•"/>
            </a:pPr>
            <a:r>
              <a:rPr lang="en-MY" dirty="0"/>
              <a:t>Reduce customer loss (churn)</a:t>
            </a:r>
          </a:p>
          <a:p>
            <a:r>
              <a:rPr lang="en-MY" dirty="0"/>
              <a:t>- These applications save money, improve efficiency, and help companies make smarter decisions.</a:t>
            </a:r>
          </a:p>
        </p:txBody>
      </p:sp>
    </p:spTree>
    <p:extLst>
      <p:ext uri="{BB962C8B-B14F-4D97-AF65-F5344CB8AC3E}">
        <p14:creationId xmlns:p14="http://schemas.microsoft.com/office/powerpoint/2010/main" val="27882936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normAutofit fontScale="40000" lnSpcReduction="20000"/>
          </a:bodyPr>
          <a:lstStyle/>
          <a:p>
            <a:r>
              <a:rPr lang="en-MY" dirty="0"/>
              <a:t>These are </a:t>
            </a:r>
            <a:r>
              <a:rPr lang="en-MY" b="1" dirty="0"/>
              <a:t>other ways</a:t>
            </a:r>
            <a:r>
              <a:rPr lang="en-MY" dirty="0"/>
              <a:t> businesses use </a:t>
            </a:r>
            <a:r>
              <a:rPr lang="en-MY" b="1" dirty="0"/>
              <a:t>prediction-based decision making</a:t>
            </a:r>
            <a:r>
              <a:rPr lang="en-MY" dirty="0"/>
              <a:t> (using data to guess what might happen next):</a:t>
            </a:r>
          </a:p>
          <a:p>
            <a:br>
              <a:rPr lang="en-MY" dirty="0"/>
            </a:br>
            <a:endParaRPr lang="en-MY" dirty="0"/>
          </a:p>
          <a:p>
            <a:r>
              <a:rPr lang="en-MY" b="1" dirty="0"/>
              <a:t>1. Database Marketing</a:t>
            </a:r>
          </a:p>
          <a:p>
            <a:r>
              <a:rPr lang="en-MY" dirty="0"/>
              <a:t>- Companies use data to decide:</a:t>
            </a:r>
          </a:p>
          <a:p>
            <a:pPr marL="628650" lvl="1" indent="-171450">
              <a:buFont typeface="Arial" panose="020B0604020202020204" pitchFamily="34" charset="0"/>
              <a:buChar char="•"/>
            </a:pPr>
            <a:r>
              <a:rPr lang="en-MY" dirty="0"/>
              <a:t>Who will respond to an offer</a:t>
            </a:r>
          </a:p>
          <a:p>
            <a:pPr marL="628650" lvl="1" indent="-171450">
              <a:buFont typeface="Arial" panose="020B0604020202020204" pitchFamily="34" charset="0"/>
              <a:buChar char="•"/>
            </a:pPr>
            <a:r>
              <a:rPr lang="en-MY" dirty="0"/>
              <a:t>Who might buy more</a:t>
            </a:r>
          </a:p>
          <a:p>
            <a:pPr marL="628650" lvl="1" indent="-171450">
              <a:buFont typeface="Arial" panose="020B0604020202020204" pitchFamily="34" charset="0"/>
              <a:buChar char="•"/>
            </a:pPr>
            <a:r>
              <a:rPr lang="en-MY" dirty="0"/>
              <a:t>Who might stop using the service</a:t>
            </a:r>
          </a:p>
          <a:p>
            <a:pPr marL="0" lvl="0" indent="0">
              <a:buFont typeface="Arial" panose="020B0604020202020204" pitchFamily="34" charset="0"/>
              <a:buNone/>
            </a:pPr>
            <a:r>
              <a:rPr lang="en-MY" dirty="0"/>
              <a:t>- This helps them send the </a:t>
            </a:r>
            <a:r>
              <a:rPr lang="en-MY" b="1" dirty="0"/>
              <a:t>right marketing message</a:t>
            </a:r>
            <a:r>
              <a:rPr lang="en-MY" dirty="0"/>
              <a:t> to the </a:t>
            </a:r>
            <a:r>
              <a:rPr lang="en-MY" b="1" dirty="0"/>
              <a:t>right people</a:t>
            </a:r>
            <a:r>
              <a:rPr lang="en-MY" dirty="0"/>
              <a:t>.</a:t>
            </a:r>
          </a:p>
          <a:p>
            <a:br>
              <a:rPr lang="en-MY" dirty="0"/>
            </a:br>
            <a:endParaRPr lang="en-MY" dirty="0"/>
          </a:p>
          <a:p>
            <a:r>
              <a:rPr lang="en-MY" b="1" dirty="0"/>
              <a:t>2. Process Monitoring</a:t>
            </a:r>
          </a:p>
          <a:p>
            <a:pPr marL="171450" indent="-171450">
              <a:buFontTx/>
              <a:buChar char="-"/>
            </a:pPr>
            <a:r>
              <a:rPr lang="en-MY" dirty="0"/>
              <a:t>Businesses watch their operations (like factories or financial systems) for </a:t>
            </a:r>
            <a:r>
              <a:rPr lang="en-MY" b="1" dirty="0"/>
              <a:t>unusual changes</a:t>
            </a:r>
            <a:r>
              <a:rPr lang="en-MY" dirty="0"/>
              <a:t>.</a:t>
            </a:r>
          </a:p>
          <a:p>
            <a:pPr marL="171450" indent="-171450">
              <a:buFontTx/>
              <a:buChar char="-"/>
            </a:pPr>
            <a:r>
              <a:rPr lang="en-MY" dirty="0"/>
              <a:t>Prediction models help detect problems early, such as:</a:t>
            </a:r>
          </a:p>
          <a:p>
            <a:pPr marL="628650" lvl="1" indent="-171450">
              <a:buFont typeface="Arial" panose="020B0604020202020204" pitchFamily="34" charset="0"/>
              <a:buChar char="•"/>
            </a:pPr>
            <a:r>
              <a:rPr lang="en-MY" dirty="0"/>
              <a:t>Machine failures</a:t>
            </a:r>
          </a:p>
          <a:p>
            <a:pPr marL="628650" lvl="1" indent="-171450">
              <a:buFont typeface="Arial" panose="020B0604020202020204" pitchFamily="34" charset="0"/>
              <a:buChar char="•"/>
            </a:pPr>
            <a:r>
              <a:rPr lang="en-MY" dirty="0"/>
              <a:t>Fraud</a:t>
            </a:r>
          </a:p>
          <a:p>
            <a:pPr marL="628650" lvl="1" indent="-171450">
              <a:buFont typeface="Arial" panose="020B0604020202020204" pitchFamily="34" charset="0"/>
              <a:buChar char="•"/>
            </a:pPr>
            <a:r>
              <a:rPr lang="en-MY" dirty="0"/>
              <a:t>Security issues</a:t>
            </a:r>
          </a:p>
          <a:p>
            <a:br>
              <a:rPr lang="en-MY" dirty="0"/>
            </a:br>
            <a:endParaRPr lang="en-MY" dirty="0"/>
          </a:p>
          <a:p>
            <a:r>
              <a:rPr lang="en-MY" b="1" dirty="0"/>
              <a:t>3. Pattern Detection</a:t>
            </a:r>
          </a:p>
          <a:p>
            <a:r>
              <a:rPr lang="en-MY" dirty="0"/>
              <a:t>- Computers look for </a:t>
            </a:r>
            <a:r>
              <a:rPr lang="en-MY" b="1" dirty="0"/>
              <a:t>patterns</a:t>
            </a:r>
            <a:r>
              <a:rPr lang="en-MY" dirty="0"/>
              <a:t> in data, such as:</a:t>
            </a:r>
          </a:p>
          <a:p>
            <a:pPr marL="628650" lvl="1" indent="-171450">
              <a:buFont typeface="Arial" panose="020B0604020202020204" pitchFamily="34" charset="0"/>
              <a:buChar char="•"/>
            </a:pPr>
            <a:r>
              <a:rPr lang="en-MY" dirty="0"/>
              <a:t>Someone’s handwriting style</a:t>
            </a:r>
          </a:p>
          <a:p>
            <a:pPr marL="628650" lvl="1" indent="-171450">
              <a:buFont typeface="Arial" panose="020B0604020202020204" pitchFamily="34" charset="0"/>
              <a:buChar char="•"/>
            </a:pPr>
            <a:r>
              <a:rPr lang="en-MY" dirty="0"/>
              <a:t>Medical images that reveal diseases</a:t>
            </a:r>
          </a:p>
          <a:p>
            <a:r>
              <a:rPr lang="en-MY" dirty="0"/>
              <a:t>- This helps identify important things humans might miss.</a:t>
            </a:r>
          </a:p>
          <a:p>
            <a:br>
              <a:rPr lang="en-MY" dirty="0"/>
            </a:br>
            <a:endParaRPr lang="en-MY" dirty="0"/>
          </a:p>
          <a:p>
            <a:r>
              <a:rPr lang="en-MY" b="1" dirty="0"/>
              <a:t>4. Recommendation Systems</a:t>
            </a:r>
          </a:p>
          <a:p>
            <a:r>
              <a:rPr lang="en-MY" dirty="0"/>
              <a:t>- Websites like Netflix, YouTube, or Amazon use models to guess:</a:t>
            </a:r>
          </a:p>
          <a:p>
            <a:pPr marL="628650" lvl="1" indent="-171450">
              <a:buFont typeface="Arial" panose="020B0604020202020204" pitchFamily="34" charset="0"/>
              <a:buChar char="•"/>
            </a:pPr>
            <a:r>
              <a:rPr lang="en-MY" dirty="0"/>
              <a:t>What you want to watch</a:t>
            </a:r>
          </a:p>
          <a:p>
            <a:pPr marL="628650" lvl="1" indent="-171450">
              <a:buFont typeface="Arial" panose="020B0604020202020204" pitchFamily="34" charset="0"/>
              <a:buChar char="•"/>
            </a:pPr>
            <a:r>
              <a:rPr lang="en-MY" dirty="0"/>
              <a:t>What you want to buy</a:t>
            </a:r>
          </a:p>
          <a:p>
            <a:pPr marL="628650" lvl="1" indent="-171450">
              <a:buFont typeface="Arial" panose="020B0604020202020204" pitchFamily="34" charset="0"/>
              <a:buChar char="•"/>
            </a:pPr>
            <a:r>
              <a:rPr lang="en-MY" dirty="0"/>
              <a:t>What products you may like</a:t>
            </a:r>
          </a:p>
          <a:p>
            <a:pPr marL="0" lvl="0" indent="0">
              <a:buFont typeface="Arial" panose="020B0604020202020204" pitchFamily="34" charset="0"/>
              <a:buNone/>
            </a:pPr>
            <a:r>
              <a:rPr lang="en-MY" dirty="0"/>
              <a:t>- They make recommendations based on your past choices.</a:t>
            </a:r>
          </a:p>
          <a:p>
            <a:br>
              <a:rPr lang="en-MY" dirty="0"/>
            </a:br>
            <a:endParaRPr lang="en-MY" dirty="0"/>
          </a:p>
          <a:p>
            <a:r>
              <a:rPr lang="en-MY" b="1" dirty="0"/>
              <a:t>5. Text Mining</a:t>
            </a:r>
          </a:p>
          <a:p>
            <a:r>
              <a:rPr lang="en-MY" dirty="0"/>
              <a:t>- Computers read and understand text to find:</a:t>
            </a:r>
          </a:p>
          <a:p>
            <a:pPr marL="628650" lvl="1" indent="-171450">
              <a:buFont typeface="Arial" panose="020B0604020202020204" pitchFamily="34" charset="0"/>
              <a:buChar char="•"/>
            </a:pPr>
            <a:r>
              <a:rPr lang="en-MY" dirty="0"/>
              <a:t>Customer opinions in comments</a:t>
            </a:r>
          </a:p>
          <a:p>
            <a:pPr marL="628650" lvl="1" indent="-171450">
              <a:buFont typeface="Arial" panose="020B0604020202020204" pitchFamily="34" charset="0"/>
              <a:buChar char="•"/>
            </a:pPr>
            <a:r>
              <a:rPr lang="en-MY" dirty="0"/>
              <a:t>The topic of a document</a:t>
            </a:r>
          </a:p>
          <a:p>
            <a:pPr marL="628650" lvl="1" indent="-171450">
              <a:buFont typeface="Arial" panose="020B0604020202020204" pitchFamily="34" charset="0"/>
              <a:buChar char="•"/>
            </a:pPr>
            <a:r>
              <a:rPr lang="en-MY" dirty="0"/>
              <a:t>Who wrote a document</a:t>
            </a:r>
          </a:p>
          <a:p>
            <a:r>
              <a:rPr lang="en-MY" dirty="0"/>
              <a:t>- This helps businesses understand customer feedback or sort documents automatically.</a:t>
            </a:r>
          </a:p>
          <a:p>
            <a:br>
              <a:rPr lang="en-MY" dirty="0"/>
            </a:br>
            <a:endParaRPr lang="en-MY" dirty="0"/>
          </a:p>
          <a:p>
            <a:r>
              <a:rPr lang="en-MY" b="1" dirty="0"/>
              <a:t>6. Predictive Asset Maintenance</a:t>
            </a:r>
          </a:p>
          <a:p>
            <a:r>
              <a:rPr lang="en-MY" dirty="0"/>
              <a:t>- Companies use prediction to know:</a:t>
            </a:r>
          </a:p>
          <a:p>
            <a:pPr marL="628650" lvl="1" indent="-171450">
              <a:buFont typeface="Arial" panose="020B0604020202020204" pitchFamily="34" charset="0"/>
              <a:buChar char="•"/>
            </a:pPr>
            <a:r>
              <a:rPr lang="en-MY" dirty="0"/>
              <a:t>When equipment will break</a:t>
            </a:r>
          </a:p>
          <a:p>
            <a:pPr marL="628650" lvl="1" indent="-171450">
              <a:buFont typeface="Arial" panose="020B0604020202020204" pitchFamily="34" charset="0"/>
              <a:buChar char="•"/>
            </a:pPr>
            <a:r>
              <a:rPr lang="en-MY" dirty="0"/>
              <a:t>When machines need repair</a:t>
            </a:r>
          </a:p>
          <a:p>
            <a:r>
              <a:rPr lang="en-MY" dirty="0"/>
              <a:t>- This prevents costly breakdowns and helps plan maintenance.</a:t>
            </a:r>
          </a:p>
          <a:p>
            <a:br>
              <a:rPr lang="en-MY" dirty="0"/>
            </a:br>
            <a:endParaRPr lang="en-MY" dirty="0"/>
          </a:p>
          <a:p>
            <a:r>
              <a:rPr lang="en-MY" b="1" dirty="0"/>
              <a:t>7. Network Management &amp; Optimization</a:t>
            </a:r>
          </a:p>
          <a:p>
            <a:r>
              <a:rPr lang="en-MY" dirty="0"/>
              <a:t>- Used by telecoms and internet providers to:</a:t>
            </a:r>
          </a:p>
          <a:p>
            <a:pPr marL="628650" lvl="1" indent="-171450">
              <a:buFont typeface="Arial" panose="020B0604020202020204" pitchFamily="34" charset="0"/>
              <a:buChar char="•"/>
            </a:pPr>
            <a:r>
              <a:rPr lang="en-MY" dirty="0"/>
              <a:t>Predict where network traffic will increase</a:t>
            </a:r>
          </a:p>
          <a:p>
            <a:pPr marL="628650" lvl="1" indent="-171450">
              <a:buFont typeface="Arial" panose="020B0604020202020204" pitchFamily="34" charset="0"/>
              <a:buChar char="•"/>
            </a:pPr>
            <a:r>
              <a:rPr lang="en-MY" dirty="0"/>
              <a:t>Prevent slowdowns and bottlenecks</a:t>
            </a:r>
          </a:p>
          <a:p>
            <a:pPr marL="628650" lvl="1" indent="-171450">
              <a:buFont typeface="Arial" panose="020B0604020202020204" pitchFamily="34" charset="0"/>
              <a:buChar char="•"/>
            </a:pPr>
            <a:r>
              <a:rPr lang="en-MY" dirty="0"/>
              <a:t>Decide where to add new network equipment</a:t>
            </a:r>
          </a:p>
          <a:p>
            <a:pPr marL="628650" lvl="1" indent="-171450">
              <a:buFont typeface="Arial" panose="020B0604020202020204" pitchFamily="34" charset="0"/>
              <a:buChar char="•"/>
            </a:pPr>
            <a:r>
              <a:rPr lang="en-MY" dirty="0"/>
              <a:t>Make sure customers get good service</a:t>
            </a:r>
          </a:p>
          <a:p>
            <a:r>
              <a:rPr lang="en-MY" dirty="0"/>
              <a:t>- They use prediction to keep networks fast, stable, and efficient.</a:t>
            </a:r>
          </a:p>
          <a:p>
            <a:endParaRPr lang="en-MY" dirty="0"/>
          </a:p>
        </p:txBody>
      </p:sp>
    </p:spTree>
    <p:extLst>
      <p:ext uri="{BB962C8B-B14F-4D97-AF65-F5344CB8AC3E}">
        <p14:creationId xmlns:p14="http://schemas.microsoft.com/office/powerpoint/2010/main" val="12479681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pPr marL="171450" indent="-171450">
              <a:buFontTx/>
              <a:buChar char="-"/>
            </a:pPr>
            <a:r>
              <a:rPr lang="en-MY" dirty="0"/>
              <a:t>The </a:t>
            </a:r>
            <a:r>
              <a:rPr lang="en-MY" b="1" dirty="0" err="1"/>
              <a:t>commsdata</a:t>
            </a:r>
            <a:r>
              <a:rPr lang="en-MY" dirty="0"/>
              <a:t> data set contains information about customers of a telecommunications company and how they use its services.</a:t>
            </a:r>
          </a:p>
          <a:p>
            <a:pPr marL="171450" indent="-171450">
              <a:buFontTx/>
              <a:buChar char="-"/>
            </a:pPr>
            <a:endParaRPr lang="en-MY" dirty="0"/>
          </a:p>
          <a:p>
            <a:pPr marL="171450" indent="-171450">
              <a:buFontTx/>
              <a:buChar char="-"/>
            </a:pPr>
            <a:r>
              <a:rPr lang="en-MY" dirty="0"/>
              <a:t>It includes many kinds of input information, such as:</a:t>
            </a:r>
          </a:p>
          <a:p>
            <a:pPr marL="628650" lvl="1" indent="-171450">
              <a:buFont typeface="Arial" panose="020B0604020202020204" pitchFamily="34" charset="0"/>
              <a:buChar char="•"/>
            </a:pPr>
            <a:r>
              <a:rPr lang="en-MY" b="1" dirty="0"/>
              <a:t>Demographic data</a:t>
            </a:r>
            <a:r>
              <a:rPr lang="en-MY" dirty="0"/>
              <a:t> (age, gender, etc.)</a:t>
            </a:r>
          </a:p>
          <a:p>
            <a:pPr marL="628650" lvl="1" indent="-171450">
              <a:buFont typeface="Arial" panose="020B0604020202020204" pitchFamily="34" charset="0"/>
              <a:buChar char="•"/>
            </a:pPr>
            <a:r>
              <a:rPr lang="en-MY" b="1" dirty="0"/>
              <a:t>Product usage and type</a:t>
            </a:r>
            <a:r>
              <a:rPr lang="en-MY" dirty="0"/>
              <a:t> (what services the customer uses)</a:t>
            </a:r>
          </a:p>
          <a:p>
            <a:pPr marL="628650" lvl="1" indent="-171450">
              <a:buFont typeface="Arial" panose="020B0604020202020204" pitchFamily="34" charset="0"/>
              <a:buChar char="•"/>
            </a:pPr>
            <a:r>
              <a:rPr lang="en-MY" b="1" dirty="0"/>
              <a:t>Billing data</a:t>
            </a:r>
            <a:r>
              <a:rPr lang="en-MY" dirty="0"/>
              <a:t> (payment history, bills)</a:t>
            </a:r>
          </a:p>
          <a:p>
            <a:pPr marL="628650" lvl="1" indent="-171450">
              <a:buFont typeface="Arial" panose="020B0604020202020204" pitchFamily="34" charset="0"/>
              <a:buChar char="•"/>
            </a:pPr>
            <a:r>
              <a:rPr lang="en-MY" b="1" dirty="0"/>
              <a:t>Customer service and call-</a:t>
            </a:r>
            <a:r>
              <a:rPr lang="en-MY" b="1" dirty="0" err="1"/>
              <a:t>center</a:t>
            </a:r>
            <a:r>
              <a:rPr lang="en-MY" b="1" dirty="0"/>
              <a:t> information</a:t>
            </a:r>
            <a:r>
              <a:rPr lang="en-MY" dirty="0"/>
              <a:t> (interactions with support)</a:t>
            </a:r>
          </a:p>
          <a:p>
            <a:endParaRPr lang="en-MY" dirty="0"/>
          </a:p>
          <a:p>
            <a:pPr marL="171450" indent="-171450">
              <a:buFontTx/>
              <a:buChar char="-"/>
            </a:pPr>
            <a:r>
              <a:rPr lang="en-MY" dirty="0"/>
              <a:t>The main purpose of this data set is to </a:t>
            </a:r>
            <a:r>
              <a:rPr lang="en-MY" b="1" dirty="0"/>
              <a:t>use these input variables to train machine learning models</a:t>
            </a:r>
            <a:r>
              <a:rPr lang="en-MY" dirty="0"/>
              <a:t> that can </a:t>
            </a:r>
            <a:r>
              <a:rPr lang="en-MY" b="1" dirty="0"/>
              <a:t>predict whether a customer will churn</a:t>
            </a:r>
            <a:r>
              <a:rPr lang="en-MY" dirty="0"/>
              <a:t> (stop using the service).</a:t>
            </a:r>
          </a:p>
          <a:p>
            <a:pPr marL="0" indent="0">
              <a:buFontTx/>
              <a:buNone/>
            </a:pPr>
            <a:endParaRPr lang="en-MY" dirty="0"/>
          </a:p>
        </p:txBody>
      </p:sp>
    </p:spTree>
    <p:extLst>
      <p:ext uri="{BB962C8B-B14F-4D97-AF65-F5344CB8AC3E}">
        <p14:creationId xmlns:p14="http://schemas.microsoft.com/office/powerpoint/2010/main" val="27519605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normAutofit fontScale="77500" lnSpcReduction="20000"/>
          </a:bodyPr>
          <a:lstStyle/>
          <a:p>
            <a:pPr marL="171450" indent="-171450">
              <a:buFontTx/>
              <a:buChar char="-"/>
            </a:pPr>
            <a:r>
              <a:rPr lang="en-MY" dirty="0"/>
              <a:t>This slide shows the </a:t>
            </a:r>
            <a:r>
              <a:rPr lang="en-MY" b="1" dirty="0"/>
              <a:t>SAS Viya Applications Menu</a:t>
            </a:r>
            <a:r>
              <a:rPr lang="en-MY" dirty="0"/>
              <a:t>.</a:t>
            </a:r>
          </a:p>
          <a:p>
            <a:pPr marL="171450" indent="-171450">
              <a:buFontTx/>
              <a:buChar char="-"/>
            </a:pPr>
            <a:r>
              <a:rPr lang="en-MY" dirty="0"/>
              <a:t>It explains </a:t>
            </a:r>
            <a:r>
              <a:rPr lang="en-MY" b="1" dirty="0"/>
              <a:t>which SAS tool you should use for different tasks</a:t>
            </a:r>
            <a:r>
              <a:rPr lang="en-MY" dirty="0"/>
              <a:t> in the analytics life cycle:</a:t>
            </a:r>
          </a:p>
          <a:p>
            <a:br>
              <a:rPr lang="en-MY" dirty="0"/>
            </a:br>
            <a:endParaRPr lang="en-MY" dirty="0"/>
          </a:p>
          <a:p>
            <a:r>
              <a:rPr lang="en-MY" b="1" dirty="0"/>
              <a:t>1. Data Tasks</a:t>
            </a:r>
          </a:p>
          <a:p>
            <a:r>
              <a:rPr lang="en-MY" dirty="0"/>
              <a:t>- These are tasks where you work with data:</a:t>
            </a:r>
          </a:p>
          <a:p>
            <a:pPr marL="171450" lvl="0" indent="-171450">
              <a:buFont typeface="Arial" panose="020B0604020202020204" pitchFamily="34" charset="0"/>
              <a:buChar char="•"/>
            </a:pPr>
            <a:r>
              <a:rPr lang="en-MY" b="1" dirty="0"/>
              <a:t>What you want to do = Tool you should use</a:t>
            </a:r>
          </a:p>
          <a:p>
            <a:pPr marL="628650" lvl="1" indent="-171450">
              <a:buFont typeface="Arial" panose="020B0604020202020204" pitchFamily="34" charset="0"/>
              <a:buChar char="•"/>
            </a:pPr>
            <a:r>
              <a:rPr lang="en-MY" dirty="0"/>
              <a:t>Write code or build flows = </a:t>
            </a:r>
            <a:r>
              <a:rPr lang="en-MY" b="1" dirty="0"/>
              <a:t>SAS Studio</a:t>
            </a:r>
          </a:p>
          <a:p>
            <a:pPr marL="628650" lvl="1" indent="-171450">
              <a:buFont typeface="Arial" panose="020B0604020202020204" pitchFamily="34" charset="0"/>
              <a:buChar char="•"/>
            </a:pPr>
            <a:r>
              <a:rPr lang="en-MY" dirty="0"/>
              <a:t>Manage and organize data = </a:t>
            </a:r>
            <a:r>
              <a:rPr lang="en-MY" b="1" dirty="0"/>
              <a:t>Data Explorer</a:t>
            </a:r>
          </a:p>
          <a:p>
            <a:pPr marL="628650" lvl="1" indent="-171450">
              <a:buFont typeface="Arial" panose="020B0604020202020204" pitchFamily="34" charset="0"/>
              <a:buChar char="•"/>
            </a:pPr>
            <a:r>
              <a:rPr lang="en-MY" dirty="0"/>
              <a:t>Prepare/clean your data = </a:t>
            </a:r>
            <a:r>
              <a:rPr lang="en-MY" b="1" dirty="0"/>
              <a:t>Data Studio</a:t>
            </a:r>
          </a:p>
          <a:p>
            <a:pPr marL="628650" lvl="1" indent="-171450">
              <a:buFont typeface="Arial" panose="020B0604020202020204" pitchFamily="34" charset="0"/>
              <a:buChar char="•"/>
            </a:pPr>
            <a:r>
              <a:rPr lang="en-MY" dirty="0"/>
              <a:t>Explore and visualize data = </a:t>
            </a:r>
            <a:r>
              <a:rPr lang="en-MY" b="1" dirty="0"/>
              <a:t>SAS Visual Analytics</a:t>
            </a:r>
            <a:endParaRPr lang="en-MY" dirty="0"/>
          </a:p>
          <a:p>
            <a:br>
              <a:rPr lang="en-MY" dirty="0"/>
            </a:br>
            <a:endParaRPr lang="en-MY" dirty="0"/>
          </a:p>
          <a:p>
            <a:r>
              <a:rPr lang="en-MY" b="1" dirty="0"/>
              <a:t>2. Build Models</a:t>
            </a:r>
          </a:p>
          <a:p>
            <a:r>
              <a:rPr lang="en-MY" dirty="0"/>
              <a:t>- These are tasks for machine learning or analytics models:</a:t>
            </a:r>
          </a:p>
          <a:p>
            <a:pPr marL="171450" lvl="0" indent="-171450">
              <a:buFont typeface="Arial" panose="020B0604020202020204" pitchFamily="34" charset="0"/>
              <a:buChar char="•"/>
            </a:pPr>
            <a:r>
              <a:rPr lang="en-MY" b="1" dirty="0"/>
              <a:t>What you want to do = Tool you should use</a:t>
            </a:r>
          </a:p>
          <a:p>
            <a:pPr marL="628650" lvl="1" indent="-171450">
              <a:buFont typeface="Arial" panose="020B0604020202020204" pitchFamily="34" charset="0"/>
              <a:buChar char="•"/>
            </a:pPr>
            <a:r>
              <a:rPr lang="en-MY" dirty="0"/>
              <a:t>Manage models = </a:t>
            </a:r>
            <a:r>
              <a:rPr lang="en-MY" b="1" dirty="0"/>
              <a:t>SAS Model Manager</a:t>
            </a:r>
          </a:p>
          <a:p>
            <a:pPr marL="628650" lvl="1" indent="-171450">
              <a:buFont typeface="Arial" panose="020B0604020202020204" pitchFamily="34" charset="0"/>
              <a:buChar char="•"/>
            </a:pPr>
            <a:r>
              <a:rPr lang="en-MY" dirty="0"/>
              <a:t>Manage decisions = </a:t>
            </a:r>
            <a:r>
              <a:rPr lang="en-MY" b="1" dirty="0"/>
              <a:t>SAS Decision Manager</a:t>
            </a:r>
          </a:p>
          <a:p>
            <a:pPr marL="628650" lvl="1" indent="-171450">
              <a:buFont typeface="Arial" panose="020B0604020202020204" pitchFamily="34" charset="0"/>
              <a:buChar char="•"/>
            </a:pPr>
            <a:r>
              <a:rPr lang="en-MY" dirty="0"/>
              <a:t>Explore data lineage (where data comes from) = </a:t>
            </a:r>
            <a:r>
              <a:rPr lang="en-MY" b="1" dirty="0"/>
              <a:t>SAS Lineage Viewer</a:t>
            </a:r>
          </a:p>
          <a:p>
            <a:pPr marL="628650" lvl="1" indent="-171450">
              <a:buFont typeface="Arial" panose="020B0604020202020204" pitchFamily="34" charset="0"/>
              <a:buChar char="•"/>
            </a:pPr>
            <a:r>
              <a:rPr lang="en-MY" dirty="0"/>
              <a:t>Build graphs = </a:t>
            </a:r>
            <a:r>
              <a:rPr lang="en-MY" b="1" dirty="0"/>
              <a:t>SAS Graph Builder</a:t>
            </a:r>
          </a:p>
          <a:p>
            <a:pPr marL="628650" lvl="1" indent="-171450">
              <a:buFont typeface="Arial" panose="020B0604020202020204" pitchFamily="34" charset="0"/>
              <a:buChar char="•"/>
            </a:pPr>
            <a:r>
              <a:rPr lang="en-MY" dirty="0"/>
              <a:t>Manage workflows = </a:t>
            </a:r>
            <a:r>
              <a:rPr lang="en-MY" b="1" dirty="0"/>
              <a:t>SAS Workflow Manager</a:t>
            </a:r>
            <a:endParaRPr lang="en-MY" dirty="0"/>
          </a:p>
          <a:p>
            <a:br>
              <a:rPr lang="en-MY" dirty="0"/>
            </a:br>
            <a:endParaRPr lang="en-MY" dirty="0"/>
          </a:p>
          <a:p>
            <a:r>
              <a:rPr lang="en-MY" b="1" dirty="0"/>
              <a:t>In Simple Words</a:t>
            </a:r>
          </a:p>
          <a:p>
            <a:r>
              <a:rPr lang="en-MY" dirty="0"/>
              <a:t>- SAS Viya provides different applications for different jobs:</a:t>
            </a:r>
          </a:p>
          <a:p>
            <a:pPr marL="628650" lvl="1" indent="-171450">
              <a:buFont typeface="Arial" panose="020B0604020202020204" pitchFamily="34" charset="0"/>
              <a:buChar char="•"/>
            </a:pPr>
            <a:r>
              <a:rPr lang="en-MY" b="1" dirty="0"/>
              <a:t>SAS Studio</a:t>
            </a:r>
            <a:r>
              <a:rPr lang="en-MY" dirty="0"/>
              <a:t> → write code</a:t>
            </a:r>
          </a:p>
          <a:p>
            <a:pPr marL="628650" lvl="1" indent="-171450">
              <a:buFont typeface="Arial" panose="020B0604020202020204" pitchFamily="34" charset="0"/>
              <a:buChar char="•"/>
            </a:pPr>
            <a:r>
              <a:rPr lang="en-MY" b="1" dirty="0"/>
              <a:t>Data Explorer</a:t>
            </a:r>
            <a:r>
              <a:rPr lang="en-MY" dirty="0"/>
              <a:t> → look at data</a:t>
            </a:r>
          </a:p>
          <a:p>
            <a:pPr marL="628650" lvl="1" indent="-171450">
              <a:buFont typeface="Arial" panose="020B0604020202020204" pitchFamily="34" charset="0"/>
              <a:buChar char="•"/>
            </a:pPr>
            <a:r>
              <a:rPr lang="en-MY" b="1" dirty="0"/>
              <a:t>Data Studio</a:t>
            </a:r>
            <a:r>
              <a:rPr lang="en-MY" dirty="0"/>
              <a:t> → clean data</a:t>
            </a:r>
          </a:p>
          <a:p>
            <a:pPr marL="628650" lvl="1" indent="-171450">
              <a:buFont typeface="Arial" panose="020B0604020202020204" pitchFamily="34" charset="0"/>
              <a:buChar char="•"/>
            </a:pPr>
            <a:r>
              <a:rPr lang="en-MY" b="1" dirty="0"/>
              <a:t>Visual Analytics</a:t>
            </a:r>
            <a:r>
              <a:rPr lang="en-MY" dirty="0"/>
              <a:t> → create charts and dashboards</a:t>
            </a:r>
          </a:p>
          <a:p>
            <a:pPr marL="628650" lvl="1" indent="-171450">
              <a:buFont typeface="Arial" panose="020B0604020202020204" pitchFamily="34" charset="0"/>
              <a:buChar char="•"/>
            </a:pPr>
            <a:r>
              <a:rPr lang="en-MY" b="1" dirty="0"/>
              <a:t>Model Manager</a:t>
            </a:r>
            <a:r>
              <a:rPr lang="en-MY" dirty="0"/>
              <a:t> → organize your machine learning models</a:t>
            </a:r>
          </a:p>
          <a:p>
            <a:pPr marL="628650" lvl="1" indent="-171450">
              <a:buFont typeface="Arial" panose="020B0604020202020204" pitchFamily="34" charset="0"/>
              <a:buChar char="•"/>
            </a:pPr>
            <a:r>
              <a:rPr lang="en-MY" b="1" dirty="0"/>
              <a:t>Decision Manager</a:t>
            </a:r>
            <a:r>
              <a:rPr lang="en-MY" dirty="0"/>
              <a:t> → manage business rules and decisions</a:t>
            </a:r>
          </a:p>
          <a:p>
            <a:pPr marL="628650" lvl="1" indent="-171450">
              <a:buFont typeface="Arial" panose="020B0604020202020204" pitchFamily="34" charset="0"/>
              <a:buChar char="•"/>
            </a:pPr>
            <a:r>
              <a:rPr lang="en-MY" b="1" dirty="0"/>
              <a:t>Lineage Viewer</a:t>
            </a:r>
            <a:r>
              <a:rPr lang="en-MY" dirty="0"/>
              <a:t> → track data sources</a:t>
            </a:r>
          </a:p>
          <a:p>
            <a:pPr marL="628650" lvl="1" indent="-171450">
              <a:buFont typeface="Arial" panose="020B0604020202020204" pitchFamily="34" charset="0"/>
              <a:buChar char="•"/>
            </a:pPr>
            <a:r>
              <a:rPr lang="en-MY" b="1" dirty="0"/>
              <a:t>Graph Builder</a:t>
            </a:r>
            <a:r>
              <a:rPr lang="en-MY" dirty="0"/>
              <a:t> → create custom graphs</a:t>
            </a:r>
          </a:p>
          <a:p>
            <a:pPr marL="628650" lvl="1" indent="-171450">
              <a:buFont typeface="Arial" panose="020B0604020202020204" pitchFamily="34" charset="0"/>
              <a:buChar char="•"/>
            </a:pPr>
            <a:r>
              <a:rPr lang="en-MY" b="1" dirty="0"/>
              <a:t>Workflow Manager</a:t>
            </a:r>
            <a:r>
              <a:rPr lang="en-MY" dirty="0"/>
              <a:t> → manage business workflows</a:t>
            </a:r>
          </a:p>
          <a:p>
            <a:r>
              <a:rPr lang="en-MY" dirty="0"/>
              <a:t>- Each tool supports a different part of the </a:t>
            </a:r>
            <a:r>
              <a:rPr lang="en-MY" b="1" dirty="0"/>
              <a:t>Data → Discovery → Deployment</a:t>
            </a:r>
            <a:r>
              <a:rPr lang="en-MY" dirty="0"/>
              <a:t> life cycle.</a:t>
            </a:r>
          </a:p>
        </p:txBody>
      </p:sp>
    </p:spTree>
    <p:extLst>
      <p:ext uri="{BB962C8B-B14F-4D97-AF65-F5344CB8AC3E}">
        <p14:creationId xmlns:p14="http://schemas.microsoft.com/office/powerpoint/2010/main" val="189675214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4525" y="1162050"/>
            <a:ext cx="5572125" cy="3135313"/>
          </a:xfrm>
          <a:prstGeom prst="rect">
            <a:avLst/>
          </a:prstGeom>
        </p:spPr>
      </p:sp>
      <p:sp>
        <p:nvSpPr>
          <p:cNvPr id="3" name="Notes Placeholder 2"/>
          <p:cNvSpPr>
            <a:spLocks noGrp="1"/>
          </p:cNvSpPr>
          <p:nvPr>
            <p:ph type="body" idx="1"/>
          </p:nvPr>
        </p:nvSpPr>
        <p:spPr>
          <a:xfrm>
            <a:off x="635508" y="4471416"/>
            <a:ext cx="5586984" cy="4105656"/>
          </a:xfrm>
          <a:prstGeom prst="rect">
            <a:avLst/>
          </a:prstGeom>
        </p:spPr>
        <p:txBody>
          <a:bodyPr/>
          <a:lstStyle/>
          <a:p>
            <a:pPr marL="171450" indent="-171450">
              <a:buFontTx/>
              <a:buChar char="-"/>
            </a:pPr>
            <a:r>
              <a:rPr lang="en-MY" dirty="0"/>
              <a:t>SAS Viya is a platform that provides many software tools for </a:t>
            </a:r>
            <a:r>
              <a:rPr lang="en-MY" b="1" dirty="0"/>
              <a:t>data mining</a:t>
            </a:r>
            <a:r>
              <a:rPr lang="en-MY" dirty="0"/>
              <a:t> and </a:t>
            </a:r>
            <a:r>
              <a:rPr lang="en-MY" b="1" dirty="0"/>
              <a:t>machine learning</a:t>
            </a:r>
            <a:r>
              <a:rPr lang="en-MY" dirty="0"/>
              <a:t>.</a:t>
            </a:r>
          </a:p>
          <a:p>
            <a:pPr marL="171450" indent="-171450">
              <a:buFontTx/>
              <a:buChar char="-"/>
            </a:pPr>
            <a:r>
              <a:rPr lang="en-MY" dirty="0"/>
              <a:t>These tools help you explore data, prepare it, build models, and use those models to make predictions.</a:t>
            </a:r>
          </a:p>
          <a:p>
            <a:pPr marL="171450" indent="-171450">
              <a:buFontTx/>
              <a:buChar char="-"/>
            </a:pPr>
            <a:endParaRPr lang="en-MY" dirty="0"/>
          </a:p>
          <a:p>
            <a:pPr marL="171450" indent="-171450">
              <a:buFontTx/>
              <a:buChar char="-"/>
            </a:pPr>
            <a:r>
              <a:rPr lang="en-MY" dirty="0"/>
              <a:t>In this course, you will learn how to use the </a:t>
            </a:r>
            <a:r>
              <a:rPr lang="en-MY" b="1" dirty="0"/>
              <a:t>machine learning tools</a:t>
            </a:r>
            <a:r>
              <a:rPr lang="en-MY" dirty="0"/>
              <a:t> inside SAS Viya.</a:t>
            </a:r>
          </a:p>
          <a:p>
            <a:pPr marL="171450" indent="-171450">
              <a:buFontTx/>
              <a:buChar char="-"/>
            </a:pPr>
            <a:r>
              <a:rPr lang="en-MY" dirty="0"/>
              <a:t>These tools work together and use the power of SAS Viya’s cloud system so you can build predictive models and put them into real use.</a:t>
            </a:r>
          </a:p>
        </p:txBody>
      </p:sp>
    </p:spTree>
    <p:extLst>
      <p:ext uri="{BB962C8B-B14F-4D97-AF65-F5344CB8AC3E}">
        <p14:creationId xmlns:p14="http://schemas.microsoft.com/office/powerpoint/2010/main" val="21516510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4525" y="1162050"/>
            <a:ext cx="5572125" cy="3135313"/>
          </a:xfrm>
          <a:prstGeom prst="rect">
            <a:avLst/>
          </a:prstGeom>
        </p:spPr>
      </p:sp>
      <p:sp>
        <p:nvSpPr>
          <p:cNvPr id="3" name="Notes Placeholder 2"/>
          <p:cNvSpPr>
            <a:spLocks noGrp="1"/>
          </p:cNvSpPr>
          <p:nvPr>
            <p:ph type="body" idx="1"/>
          </p:nvPr>
        </p:nvSpPr>
        <p:spPr>
          <a:xfrm>
            <a:off x="635508" y="4471416"/>
            <a:ext cx="5586984" cy="4105656"/>
          </a:xfrm>
          <a:prstGeom prst="rect">
            <a:avLst/>
          </a:prstGeom>
        </p:spPr>
        <p:txBody>
          <a:bodyPr/>
          <a:lstStyle/>
          <a:p>
            <a:pPr marL="171450" indent="-171450">
              <a:buFontTx/>
              <a:buChar char="-"/>
            </a:pPr>
            <a:r>
              <a:rPr lang="en-MY" dirty="0"/>
              <a:t>SAS Drive is the main webpage where you start when using SAS Viya.</a:t>
            </a:r>
          </a:p>
          <a:p>
            <a:pPr marL="171450" indent="-171450">
              <a:buFontTx/>
              <a:buChar char="-"/>
            </a:pPr>
            <a:r>
              <a:rPr lang="en-MY" dirty="0"/>
              <a:t>It is the </a:t>
            </a:r>
            <a:r>
              <a:rPr lang="en-MY" b="1" dirty="0"/>
              <a:t>single place</a:t>
            </a:r>
            <a:r>
              <a:rPr lang="en-MY" dirty="0"/>
              <a:t> where you can access all SAS Viya tools.</a:t>
            </a:r>
          </a:p>
          <a:p>
            <a:pPr marL="171450" indent="-171450">
              <a:buFontTx/>
              <a:buChar char="-"/>
            </a:pPr>
            <a:endParaRPr lang="en-MY" dirty="0"/>
          </a:p>
          <a:p>
            <a:pPr marL="171450" indent="-171450">
              <a:buFontTx/>
              <a:buChar char="-"/>
            </a:pPr>
            <a:r>
              <a:rPr lang="en-MY" dirty="0"/>
              <a:t>From SAS Drive, you can open </a:t>
            </a:r>
            <a:r>
              <a:rPr lang="en-MY" b="1" dirty="0"/>
              <a:t>Model Studio</a:t>
            </a:r>
            <a:r>
              <a:rPr lang="en-MY" dirty="0"/>
              <a:t>, which lets you use the features of </a:t>
            </a:r>
            <a:r>
              <a:rPr lang="en-MY" b="1" dirty="0"/>
              <a:t>SAS Machine Learning</a:t>
            </a:r>
            <a:r>
              <a:rPr lang="en-MY" dirty="0"/>
              <a:t> through an easy-to-use, web-based interface.</a:t>
            </a:r>
          </a:p>
          <a:p>
            <a:pPr marL="171450" indent="-171450">
              <a:buFontTx/>
              <a:buChar char="-"/>
            </a:pPr>
            <a:endParaRPr lang="en-MY" dirty="0"/>
          </a:p>
          <a:p>
            <a:pPr marL="171450" indent="-171450">
              <a:buFontTx/>
              <a:buChar char="-"/>
            </a:pPr>
            <a:r>
              <a:rPr lang="en-MY" dirty="0"/>
              <a:t>Model Studio also works as the interface for two other SAS Viya tools:</a:t>
            </a:r>
          </a:p>
          <a:p>
            <a:pPr marL="628650" lvl="1" indent="-171450">
              <a:buFont typeface="Arial" panose="020B0604020202020204" pitchFamily="34" charset="0"/>
              <a:buChar char="•"/>
            </a:pPr>
            <a:r>
              <a:rPr lang="en-MY" b="1" dirty="0"/>
              <a:t>SAS Visual Text Analytics</a:t>
            </a:r>
            <a:endParaRPr lang="en-MY" dirty="0"/>
          </a:p>
          <a:p>
            <a:pPr marL="628650" lvl="1" indent="-171450">
              <a:buFont typeface="Arial" panose="020B0604020202020204" pitchFamily="34" charset="0"/>
              <a:buChar char="•"/>
            </a:pPr>
            <a:r>
              <a:rPr lang="en-MY" b="1" dirty="0"/>
              <a:t>SAS Visual Forecasting</a:t>
            </a:r>
            <a:endParaRPr lang="en-MY" dirty="0"/>
          </a:p>
          <a:p>
            <a:endParaRPr lang="en-MY" dirty="0"/>
          </a:p>
          <a:p>
            <a:pPr marL="171450" indent="-171450">
              <a:buFontTx/>
              <a:buChar char="-"/>
            </a:pPr>
            <a:r>
              <a:rPr lang="en-MY" dirty="0"/>
              <a:t>Which tools you can access depends on your </a:t>
            </a:r>
            <a:r>
              <a:rPr lang="en-MY" b="1" dirty="0"/>
              <a:t>license agreement</a:t>
            </a:r>
            <a:r>
              <a:rPr lang="en-MY" dirty="0"/>
              <a:t>—meaning what your organization has paid for.</a:t>
            </a:r>
          </a:p>
          <a:p>
            <a:pPr marL="171450" indent="-171450">
              <a:buFontTx/>
              <a:buChar char="-"/>
            </a:pPr>
            <a:r>
              <a:rPr lang="en-MY" dirty="0"/>
              <a:t>So, SAS Drive = </a:t>
            </a:r>
            <a:r>
              <a:rPr lang="en-MY" b="1" dirty="0"/>
              <a:t>hub</a:t>
            </a:r>
            <a:r>
              <a:rPr lang="en-MY" dirty="0"/>
              <a:t>, and Model Studio = </a:t>
            </a:r>
            <a:r>
              <a:rPr lang="en-MY" b="1" dirty="0"/>
              <a:t>interface</a:t>
            </a:r>
            <a:r>
              <a:rPr lang="en-MY" dirty="0"/>
              <a:t> for different machine learning and analytic solutions.</a:t>
            </a:r>
          </a:p>
        </p:txBody>
      </p:sp>
    </p:spTree>
    <p:extLst>
      <p:ext uri="{BB962C8B-B14F-4D97-AF65-F5344CB8AC3E}">
        <p14:creationId xmlns:p14="http://schemas.microsoft.com/office/powerpoint/2010/main" val="25205301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4525" y="1162050"/>
            <a:ext cx="5572125" cy="3135313"/>
          </a:xfrm>
          <a:prstGeom prst="rect">
            <a:avLst/>
          </a:prstGeom>
        </p:spPr>
      </p:sp>
      <p:sp>
        <p:nvSpPr>
          <p:cNvPr id="3" name="Notes Placeholder 2"/>
          <p:cNvSpPr>
            <a:spLocks noGrp="1"/>
          </p:cNvSpPr>
          <p:nvPr>
            <p:ph type="body" idx="1"/>
          </p:nvPr>
        </p:nvSpPr>
        <p:spPr>
          <a:xfrm>
            <a:off x="635508" y="4471416"/>
            <a:ext cx="5586984" cy="4105656"/>
          </a:xfrm>
          <a:prstGeom prst="rect">
            <a:avLst/>
          </a:prstGeom>
        </p:spPr>
        <p:txBody>
          <a:bodyPr/>
          <a:lstStyle/>
          <a:p>
            <a:pPr marL="171450" indent="-171450">
              <a:buFontTx/>
              <a:buChar char="-"/>
            </a:pPr>
            <a:r>
              <a:rPr lang="en-MY" dirty="0"/>
              <a:t>In Model Studio, all your analytic work is organized inside something called a </a:t>
            </a:r>
            <a:r>
              <a:rPr lang="en-MY" b="1" dirty="0"/>
              <a:t>project</a:t>
            </a:r>
            <a:r>
              <a:rPr lang="en-MY" dirty="0"/>
              <a:t>.</a:t>
            </a:r>
          </a:p>
          <a:p>
            <a:pPr marL="171450" indent="-171450">
              <a:buFontTx/>
              <a:buChar char="-"/>
            </a:pPr>
            <a:r>
              <a:rPr lang="en-MY" dirty="0"/>
              <a:t>A project is like a folder that keeps everything for your machine-learning work in one place.</a:t>
            </a:r>
          </a:p>
          <a:p>
            <a:pPr marL="171450" indent="-171450">
              <a:buFontTx/>
              <a:buChar char="-"/>
            </a:pPr>
            <a:endParaRPr lang="en-MY" dirty="0"/>
          </a:p>
          <a:p>
            <a:pPr marL="171450" indent="-171450">
              <a:buFontTx/>
              <a:buChar char="-"/>
            </a:pPr>
            <a:r>
              <a:rPr lang="en-MY" dirty="0"/>
              <a:t>A basic project includes three main parts:</a:t>
            </a:r>
          </a:p>
          <a:p>
            <a:pPr marL="628650" lvl="1" indent="-171450">
              <a:buFont typeface="Arial" panose="020B0604020202020204" pitchFamily="34" charset="0"/>
              <a:buChar char="•"/>
            </a:pPr>
            <a:r>
              <a:rPr lang="en-MY" b="1" dirty="0"/>
              <a:t>Data Source</a:t>
            </a:r>
            <a:r>
              <a:rPr lang="en-MY" dirty="0"/>
              <a:t> – the data you will use for your analysis.</a:t>
            </a:r>
          </a:p>
          <a:p>
            <a:pPr marL="628650" lvl="1" indent="-171450">
              <a:buFont typeface="Arial" panose="020B0604020202020204" pitchFamily="34" charset="0"/>
              <a:buChar char="•"/>
            </a:pPr>
            <a:r>
              <a:rPr lang="en-MY" b="1" dirty="0"/>
              <a:t>Pipeline</a:t>
            </a:r>
            <a:r>
              <a:rPr lang="en-MY" dirty="0"/>
              <a:t> – the workflow you build.</a:t>
            </a:r>
            <a:br>
              <a:rPr lang="en-MY" dirty="0"/>
            </a:br>
            <a:r>
              <a:rPr lang="en-MY" dirty="0"/>
              <a:t>A pipeline is a step-by-step process that shows how the data is prepared, </a:t>
            </a:r>
            <a:r>
              <a:rPr lang="en-MY" dirty="0" err="1"/>
              <a:t>modeled</a:t>
            </a:r>
            <a:r>
              <a:rPr lang="en-MY" dirty="0"/>
              <a:t>, and </a:t>
            </a:r>
            <a:r>
              <a:rPr lang="en-MY" dirty="0" err="1"/>
              <a:t>analyzed</a:t>
            </a:r>
            <a:r>
              <a:rPr lang="en-MY" dirty="0"/>
              <a:t>.</a:t>
            </a:r>
          </a:p>
          <a:p>
            <a:pPr marL="628650" lvl="1" indent="-171450">
              <a:buFont typeface="Arial" panose="020B0604020202020204" pitchFamily="34" charset="0"/>
              <a:buChar char="•"/>
            </a:pPr>
            <a:r>
              <a:rPr lang="en-MY" b="1" dirty="0"/>
              <a:t>Metadata</a:t>
            </a:r>
            <a:r>
              <a:rPr lang="en-MY" dirty="0"/>
              <a:t> – extra information that describes the project.</a:t>
            </a:r>
          </a:p>
          <a:p>
            <a:endParaRPr lang="en-MY" dirty="0"/>
          </a:p>
          <a:p>
            <a:pPr marL="171450" indent="-171450">
              <a:buFontTx/>
              <a:buChar char="-"/>
            </a:pPr>
            <a:r>
              <a:rPr lang="en-MY" dirty="0"/>
              <a:t>The pipeline is shown as a </a:t>
            </a:r>
            <a:r>
              <a:rPr lang="en-MY" b="1" dirty="0"/>
              <a:t>diagram</a:t>
            </a:r>
            <a:r>
              <a:rPr lang="en-MY" dirty="0"/>
              <a:t>, where each </a:t>
            </a:r>
            <a:r>
              <a:rPr lang="en-MY" b="1" dirty="0"/>
              <a:t>node</a:t>
            </a:r>
            <a:r>
              <a:rPr lang="en-MY" dirty="0"/>
              <a:t> (box or circle) represents one analytic step (such as preparing data, training a model, scoring, etc.).</a:t>
            </a:r>
          </a:p>
          <a:p>
            <a:pPr marL="171450" indent="-171450">
              <a:buFontTx/>
              <a:buChar char="-"/>
            </a:pPr>
            <a:r>
              <a:rPr lang="en-MY" dirty="0"/>
              <a:t>You build your full analysis by connecting these nodes together.</a:t>
            </a:r>
          </a:p>
        </p:txBody>
      </p:sp>
    </p:spTree>
    <p:extLst>
      <p:ext uri="{BB962C8B-B14F-4D97-AF65-F5344CB8AC3E}">
        <p14:creationId xmlns:p14="http://schemas.microsoft.com/office/powerpoint/2010/main" val="27095083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4525" y="1162050"/>
            <a:ext cx="5572125" cy="3135313"/>
          </a:xfrm>
          <a:prstGeom prst="rect">
            <a:avLst/>
          </a:prstGeom>
        </p:spPr>
      </p:sp>
      <p:sp>
        <p:nvSpPr>
          <p:cNvPr id="3" name="Notes Placeholder 2"/>
          <p:cNvSpPr>
            <a:spLocks noGrp="1"/>
          </p:cNvSpPr>
          <p:nvPr>
            <p:ph type="body" idx="1"/>
          </p:nvPr>
        </p:nvSpPr>
        <p:spPr>
          <a:xfrm>
            <a:off x="635508" y="4471416"/>
            <a:ext cx="5586984" cy="4105656"/>
          </a:xfrm>
          <a:prstGeom prst="rect">
            <a:avLst/>
          </a:prstGeom>
        </p:spPr>
        <p:txBody>
          <a:bodyPr/>
          <a:lstStyle/>
          <a:p>
            <a:pPr marL="171450" indent="-171450">
              <a:buFontTx/>
              <a:buChar char="-"/>
            </a:pPr>
            <a:r>
              <a:rPr lang="en-MY" dirty="0"/>
              <a:t>In a Model Studio project, there is information stored </a:t>
            </a:r>
            <a:r>
              <a:rPr lang="en-MY" i="1" dirty="0"/>
              <a:t>about the project itself</a:t>
            </a:r>
            <a:r>
              <a:rPr lang="en-MY" dirty="0"/>
              <a:t>.</a:t>
            </a:r>
          </a:p>
          <a:p>
            <a:pPr marL="171450" indent="-171450">
              <a:buFontTx/>
              <a:buChar char="-"/>
            </a:pPr>
            <a:r>
              <a:rPr lang="en-MY" dirty="0"/>
              <a:t>This information is called </a:t>
            </a:r>
            <a:r>
              <a:rPr lang="en-MY" b="1" dirty="0"/>
              <a:t>metadata</a:t>
            </a:r>
            <a:r>
              <a:rPr lang="en-MY" dirty="0"/>
              <a:t>.</a:t>
            </a:r>
          </a:p>
          <a:p>
            <a:pPr marL="171450" indent="-171450">
              <a:buFontTx/>
              <a:buChar char="-"/>
            </a:pPr>
            <a:endParaRPr lang="en-MY" dirty="0"/>
          </a:p>
          <a:p>
            <a:pPr marL="171450" indent="-171450">
              <a:buFontTx/>
              <a:buChar char="-"/>
            </a:pPr>
            <a:r>
              <a:rPr lang="en-MY" dirty="0"/>
              <a:t>Some examples of project metadata are:</a:t>
            </a:r>
          </a:p>
          <a:p>
            <a:pPr marL="628650" lvl="1" indent="-171450">
              <a:buFont typeface="Arial" panose="020B0604020202020204" pitchFamily="34" charset="0"/>
              <a:buChar char="•"/>
            </a:pPr>
            <a:r>
              <a:rPr lang="en-MY" b="1" dirty="0"/>
              <a:t>Project type</a:t>
            </a:r>
            <a:r>
              <a:rPr lang="en-MY" dirty="0"/>
              <a:t> – what kind of project it is</a:t>
            </a:r>
          </a:p>
          <a:p>
            <a:pPr marL="628650" lvl="1" indent="-171450">
              <a:buFont typeface="Arial" panose="020B0604020202020204" pitchFamily="34" charset="0"/>
              <a:buChar char="•"/>
            </a:pPr>
            <a:r>
              <a:rPr lang="en-MY" b="1" dirty="0"/>
              <a:t>Project creator</a:t>
            </a:r>
            <a:r>
              <a:rPr lang="en-MY" dirty="0"/>
              <a:t> – who created the project</a:t>
            </a:r>
          </a:p>
          <a:p>
            <a:pPr marL="628650" lvl="1" indent="-171450">
              <a:buFont typeface="Arial" panose="020B0604020202020204" pitchFamily="34" charset="0"/>
              <a:buChar char="•"/>
            </a:pPr>
            <a:r>
              <a:rPr lang="en-MY" b="1" dirty="0"/>
              <a:t>Creation date</a:t>
            </a:r>
            <a:r>
              <a:rPr lang="en-MY" dirty="0"/>
              <a:t> – when the project was created</a:t>
            </a:r>
          </a:p>
          <a:p>
            <a:pPr marL="628650" lvl="1" indent="-171450">
              <a:buFont typeface="Arial" panose="020B0604020202020204" pitchFamily="34" charset="0"/>
              <a:buChar char="•"/>
            </a:pPr>
            <a:r>
              <a:rPr lang="en-MY" b="1" dirty="0"/>
              <a:t>Last update</a:t>
            </a:r>
            <a:r>
              <a:rPr lang="en-MY" dirty="0"/>
              <a:t> – the most recent time the project was changed</a:t>
            </a:r>
          </a:p>
          <a:p>
            <a:endParaRPr lang="en-MY" dirty="0"/>
          </a:p>
          <a:p>
            <a:pPr marL="171450" indent="-171450">
              <a:buFontTx/>
              <a:buChar char="-"/>
            </a:pPr>
            <a:r>
              <a:rPr lang="en-MY" dirty="0"/>
              <a:t>This metadata helps you understand and manage your project inside SAS Viya.</a:t>
            </a:r>
          </a:p>
          <a:p>
            <a:pPr marL="0" indent="0">
              <a:buFontTx/>
              <a:buNone/>
            </a:pPr>
            <a:endParaRPr lang="en-MY" dirty="0"/>
          </a:p>
          <a:p>
            <a:pPr marL="0" indent="0">
              <a:buFontTx/>
              <a:buNone/>
            </a:pPr>
            <a:endParaRPr lang="en-MY" dirty="0"/>
          </a:p>
        </p:txBody>
      </p:sp>
    </p:spTree>
    <p:extLst>
      <p:ext uri="{BB962C8B-B14F-4D97-AF65-F5344CB8AC3E}">
        <p14:creationId xmlns:p14="http://schemas.microsoft.com/office/powerpoint/2010/main" val="15740779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4525" y="1162050"/>
            <a:ext cx="5572125" cy="3135313"/>
          </a:xfrm>
          <a:prstGeom prst="rect">
            <a:avLst/>
          </a:prstGeom>
        </p:spPr>
      </p:sp>
      <p:sp>
        <p:nvSpPr>
          <p:cNvPr id="3" name="Notes Placeholder 2"/>
          <p:cNvSpPr>
            <a:spLocks noGrp="1"/>
          </p:cNvSpPr>
          <p:nvPr>
            <p:ph type="body" idx="1"/>
          </p:nvPr>
        </p:nvSpPr>
        <p:spPr>
          <a:xfrm>
            <a:off x="635508" y="4471416"/>
            <a:ext cx="5586984" cy="4105656"/>
          </a:xfrm>
          <a:prstGeom prst="rect">
            <a:avLst/>
          </a:prstGeom>
        </p:spPr>
        <p:txBody>
          <a:bodyPr/>
          <a:lstStyle/>
          <a:p>
            <a:pPr marL="171450" indent="-171450">
              <a:buFontTx/>
              <a:buChar char="-"/>
            </a:pPr>
            <a:r>
              <a:rPr lang="en-MY" dirty="0"/>
              <a:t>In SAS Model Studio, one project can contain </a:t>
            </a:r>
            <a:r>
              <a:rPr lang="en-MY" b="1" dirty="0"/>
              <a:t>more than one pipeline</a:t>
            </a:r>
            <a:r>
              <a:rPr lang="en-MY" dirty="0"/>
              <a:t>.</a:t>
            </a:r>
          </a:p>
          <a:p>
            <a:pPr marL="171450" indent="-171450">
              <a:buFontTx/>
              <a:buChar char="-"/>
            </a:pPr>
            <a:r>
              <a:rPr lang="en-MY" dirty="0"/>
              <a:t>A </a:t>
            </a:r>
            <a:r>
              <a:rPr lang="en-MY" b="1" dirty="0"/>
              <a:t>pipeline</a:t>
            </a:r>
            <a:r>
              <a:rPr lang="en-MY" dirty="0"/>
              <a:t> is just a step-by-step workflow that builds a machine learning model.</a:t>
            </a:r>
          </a:p>
          <a:p>
            <a:pPr marL="171450" indent="-171450">
              <a:buFontTx/>
              <a:buChar char="-"/>
            </a:pPr>
            <a:endParaRPr lang="en-MY" dirty="0"/>
          </a:p>
          <a:p>
            <a:pPr marL="171450" indent="-171450">
              <a:buFontTx/>
              <a:buChar char="-"/>
            </a:pPr>
            <a:endParaRPr lang="en-MY" dirty="0"/>
          </a:p>
          <a:p>
            <a:pPr marL="171450" indent="-171450">
              <a:buFontTx/>
              <a:buChar char="-"/>
            </a:pPr>
            <a:r>
              <a:rPr lang="en-MY" dirty="0"/>
              <a:t>Because a project can have many pipelines, you might want to </a:t>
            </a:r>
            <a:r>
              <a:rPr lang="en-MY" b="1" dirty="0"/>
              <a:t>compare them</a:t>
            </a:r>
            <a:r>
              <a:rPr lang="en-MY" dirty="0"/>
              <a:t> to see which pipeline gives the best results.</a:t>
            </a:r>
          </a:p>
          <a:p>
            <a:pPr marL="171450" indent="-171450">
              <a:buFontTx/>
              <a:buChar char="-"/>
            </a:pPr>
            <a:r>
              <a:rPr lang="en-MY" dirty="0"/>
              <a:t>SAS Model Studio can create a </a:t>
            </a:r>
            <a:r>
              <a:rPr lang="en-MY" b="1" dirty="0"/>
              <a:t>pipeline comparison</a:t>
            </a:r>
            <a:r>
              <a:rPr lang="en-MY" dirty="0"/>
              <a:t> so you can easily see which model performs best.</a:t>
            </a:r>
          </a:p>
          <a:p>
            <a:br>
              <a:rPr lang="en-MY" dirty="0"/>
            </a:br>
            <a:endParaRPr lang="en-MY" dirty="0"/>
          </a:p>
          <a:p>
            <a:pPr marL="171450" indent="-171450">
              <a:buFontTx/>
              <a:buChar char="-"/>
            </a:pPr>
            <a:r>
              <a:rPr lang="en-MY" b="1" dirty="0"/>
              <a:t>Even Simpler Version</a:t>
            </a:r>
          </a:p>
          <a:p>
            <a:pPr marL="628650" lvl="1" indent="-171450">
              <a:buFont typeface="Arial" panose="020B0604020202020204" pitchFamily="34" charset="0"/>
              <a:buChar char="•"/>
            </a:pPr>
            <a:r>
              <a:rPr lang="en-MY" dirty="0"/>
              <a:t>A project can include several pipelines.</a:t>
            </a:r>
          </a:p>
          <a:p>
            <a:pPr marL="628650" lvl="1" indent="-171450">
              <a:buFont typeface="Arial" panose="020B0604020202020204" pitchFamily="34" charset="0"/>
              <a:buChar char="•"/>
            </a:pPr>
            <a:r>
              <a:rPr lang="en-MY" dirty="0"/>
              <a:t>Each pipeline builds a different model.</a:t>
            </a:r>
          </a:p>
          <a:p>
            <a:pPr marL="628650" lvl="1" indent="-171450">
              <a:buFont typeface="Arial" panose="020B0604020202020204" pitchFamily="34" charset="0"/>
              <a:buChar char="•"/>
            </a:pPr>
            <a:r>
              <a:rPr lang="en-MY" dirty="0"/>
              <a:t>You can compare these pipelines to choose the best model.</a:t>
            </a:r>
          </a:p>
        </p:txBody>
      </p:sp>
    </p:spTree>
    <p:extLst>
      <p:ext uri="{BB962C8B-B14F-4D97-AF65-F5344CB8AC3E}">
        <p14:creationId xmlns:p14="http://schemas.microsoft.com/office/powerpoint/2010/main" val="14093632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dirty="0" err="1"/>
              <a:t>TAG_MovieNum</a:t>
            </a:r>
            <a:r>
              <a:rPr lang="en-US" dirty="0"/>
              <a:t>:</a:t>
            </a:r>
          </a:p>
          <a:p>
            <a:r>
              <a:rPr lang="en-US" dirty="0"/>
              <a:t>ecpml4101_1_g</a:t>
            </a:r>
          </a:p>
          <a:p>
            <a:endParaRPr lang="en-US" dirty="0"/>
          </a:p>
        </p:txBody>
      </p:sp>
    </p:spTree>
    <p:extLst>
      <p:ext uri="{BB962C8B-B14F-4D97-AF65-F5344CB8AC3E}">
        <p14:creationId xmlns:p14="http://schemas.microsoft.com/office/powerpoint/2010/main" val="216348281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a:t>TAG_MovieNum: ecpml4101_1_hdemo</a:t>
            </a:r>
          </a:p>
        </p:txBody>
      </p:sp>
    </p:spTree>
    <p:extLst>
      <p:ext uri="{BB962C8B-B14F-4D97-AF65-F5344CB8AC3E}">
        <p14:creationId xmlns:p14="http://schemas.microsoft.com/office/powerpoint/2010/main" val="253841816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a:t>TAG_MovieNum: </a:t>
            </a:r>
            <a:r>
              <a:rPr lang="en-US" b="0" i="0">
                <a:solidFill>
                  <a:srgbClr val="636F80"/>
                </a:solidFill>
                <a:effectLst/>
                <a:latin typeface="Arial" panose="020B0604020202020204" pitchFamily="34" charset="0"/>
              </a:rPr>
              <a:t>ecpml4101_1_q1</a:t>
            </a:r>
            <a:endParaRPr lang="en-US"/>
          </a:p>
          <a:p>
            <a:r>
              <a:rPr lang="en-US" b="0" i="0">
                <a:solidFill>
                  <a:srgbClr val="000000"/>
                </a:solidFill>
                <a:effectLst/>
                <a:latin typeface="Arial" panose="020B0604020202020204" pitchFamily="34" charset="0"/>
              </a:rPr>
              <a:t>CA: True</a:t>
            </a:r>
          </a:p>
          <a:p>
            <a:r>
              <a:rPr lang="en-US" b="0" i="0">
                <a:solidFill>
                  <a:srgbClr val="000000"/>
                </a:solidFill>
                <a:effectLst/>
                <a:latin typeface="Arial" panose="020B0604020202020204" pitchFamily="34" charset="0"/>
              </a:rPr>
              <a:t>FB: Model Studio can be used with SAS Machine Learning in SAS Viya and two other visual tools: SAS Visual Text Analytics and SAS Visual Forecasting.</a:t>
            </a:r>
            <a:endParaRPr lang="en-US"/>
          </a:p>
          <a:p>
            <a:endParaRPr lang="en-US"/>
          </a:p>
        </p:txBody>
      </p:sp>
    </p:spTree>
    <p:extLst>
      <p:ext uri="{BB962C8B-B14F-4D97-AF65-F5344CB8AC3E}">
        <p14:creationId xmlns:p14="http://schemas.microsoft.com/office/powerpoint/2010/main" val="22923485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41350" y="1162050"/>
            <a:ext cx="5575300" cy="3135313"/>
          </a:xfrm>
        </p:spPr>
      </p:sp>
      <p:sp>
        <p:nvSpPr>
          <p:cNvPr id="3" name="Notes Placeholder 2"/>
          <p:cNvSpPr>
            <a:spLocks noGrp="1"/>
          </p:cNvSpPr>
          <p:nvPr>
            <p:ph type="body" idx="1"/>
          </p:nvPr>
        </p:nvSpPr>
        <p:spPr/>
        <p:txBody>
          <a:bodyPr/>
          <a:lstStyle/>
          <a:p>
            <a:r>
              <a:rPr lang="en-US" dirty="0" err="1"/>
              <a:t>TAG_MovieNum</a:t>
            </a:r>
            <a:r>
              <a:rPr lang="en-US" dirty="0"/>
              <a:t>: </a:t>
            </a:r>
            <a:r>
              <a:rPr lang="en-US" b="0" i="0" dirty="0">
                <a:solidFill>
                  <a:srgbClr val="636F80"/>
                </a:solidFill>
                <a:effectLst/>
                <a:latin typeface="Arial" panose="020B0604020202020204" pitchFamily="34" charset="0"/>
              </a:rPr>
              <a:t>ecpml4101_1_q1</a:t>
            </a:r>
            <a:endParaRPr lang="en-US" dirty="0"/>
          </a:p>
          <a:p>
            <a:r>
              <a:rPr lang="en-US" b="0" i="0" dirty="0">
                <a:solidFill>
                  <a:srgbClr val="000000"/>
                </a:solidFill>
                <a:effectLst/>
                <a:latin typeface="Arial" panose="020B0604020202020204" pitchFamily="34" charset="0"/>
              </a:rPr>
              <a:t>CA: True</a:t>
            </a:r>
          </a:p>
          <a:p>
            <a:r>
              <a:rPr lang="en-US" b="0" i="0" dirty="0">
                <a:solidFill>
                  <a:srgbClr val="000000"/>
                </a:solidFill>
                <a:effectLst/>
                <a:latin typeface="Arial" panose="020B0604020202020204" pitchFamily="34" charset="0"/>
              </a:rPr>
              <a:t>FB: Model Studio can be used with SAS Machine Learning in SAS Viya and two other visual tools: SAS Visual Text Analytics and SAS Visual Forecasting.</a:t>
            </a:r>
            <a:endParaRPr lang="en-US" dirty="0"/>
          </a:p>
          <a:p>
            <a:endParaRPr lang="en-US" dirty="0"/>
          </a:p>
        </p:txBody>
      </p:sp>
    </p:spTree>
    <p:extLst>
      <p:ext uri="{BB962C8B-B14F-4D97-AF65-F5344CB8AC3E}">
        <p14:creationId xmlns:p14="http://schemas.microsoft.com/office/powerpoint/2010/main" val="27282313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1.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2.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3.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Master" Target="../slideMasters/slideMaster2.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Layouts/_rels/slideLayout35.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svg"/><Relationship Id="rId7" Type="http://schemas.openxmlformats.org/officeDocument/2006/relationships/image" Target="../media/image16.svg"/><Relationship Id="rId2" Type="http://schemas.openxmlformats.org/officeDocument/2006/relationships/image" Target="../media/image11.png"/><Relationship Id="rId1" Type="http://schemas.openxmlformats.org/officeDocument/2006/relationships/slideMaster" Target="../slideMasters/slideMaster2.xml"/><Relationship Id="rId6" Type="http://schemas.openxmlformats.org/officeDocument/2006/relationships/image" Target="../media/image15.png"/><Relationship Id="rId11" Type="http://schemas.openxmlformats.org/officeDocument/2006/relationships/image" Target="../media/image20.svg"/><Relationship Id="rId5" Type="http://schemas.openxmlformats.org/officeDocument/2006/relationships/image" Target="../media/image14.svg"/><Relationship Id="rId10" Type="http://schemas.openxmlformats.org/officeDocument/2006/relationships/image" Target="../media/image19.svg"/><Relationship Id="rId4" Type="http://schemas.openxmlformats.org/officeDocument/2006/relationships/image" Target="../media/image13.png"/><Relationship Id="rId9" Type="http://schemas.openxmlformats.org/officeDocument/2006/relationships/image" Target="../media/image18.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26.sv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2.svg"/><Relationship Id="rId2" Type="http://schemas.openxmlformats.org/officeDocument/2006/relationships/image" Target="../media/image27.png"/><Relationship Id="rId1" Type="http://schemas.openxmlformats.org/officeDocument/2006/relationships/slideMaster" Target="../slideMasters/slideMaster2.xml"/><Relationship Id="rId6" Type="http://schemas.openxmlformats.org/officeDocument/2006/relationships/image" Target="../media/image31.png"/><Relationship Id="rId5" Type="http://schemas.openxmlformats.org/officeDocument/2006/relationships/image" Target="../media/image30.svg"/><Relationship Id="rId4" Type="http://schemas.openxmlformats.org/officeDocument/2006/relationships/image" Target="../media/image29.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2.xml"/><Relationship Id="rId5" Type="http://schemas.openxmlformats.org/officeDocument/2006/relationships/image" Target="../media/image36.svg"/><Relationship Id="rId4" Type="http://schemas.openxmlformats.org/officeDocument/2006/relationships/image" Target="../media/image3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528898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ext Placeholder 6">
            <a:extLst>
              <a:ext uri="{FF2B5EF4-FFF2-40B4-BE49-F238E27FC236}">
                <a16:creationId xmlns:a16="http://schemas.microsoft.com/office/drawing/2014/main" id="{636C9EBB-1B82-46D9-9621-1A2DC77110FF}"/>
              </a:ext>
            </a:extLst>
          </p:cNvPr>
          <p:cNvSpPr>
            <a:spLocks noGrp="1"/>
          </p:cNvSpPr>
          <p:nvPr>
            <p:ph idx="1"/>
          </p:nvPr>
        </p:nvSpPr>
        <p:spPr>
          <a:xfrm>
            <a:off x="628650" y="804672"/>
            <a:ext cx="7886700" cy="3639312"/>
          </a:xfrm>
          <a:prstGeom prst="rect">
            <a:avLst/>
          </a:prstGeom>
        </p:spPr>
        <p:txBody>
          <a:bodyPr vert="horz" lIns="0" tIns="0" rIns="0" bIns="0" rtlCol="0">
            <a:normAutofit/>
          </a:bodyPr>
          <a:lstStyle>
            <a:lvl1pPr>
              <a:defRPr sz="2000"/>
            </a:lvl1pPr>
            <a:lvl2pPr marL="0" indent="0">
              <a:buNone/>
              <a:defRPr sz="2000"/>
            </a:lvl2pPr>
            <a:lvl3pPr marL="0" indent="0">
              <a:buNone/>
              <a:defRPr sz="2000"/>
            </a:lvl3pPr>
            <a:lvl4pPr marL="0" indent="0">
              <a:buNone/>
              <a:defRPr sz="2000"/>
            </a:lvl4pPr>
            <a:lvl5pPr marL="0" indent="0">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1260859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with Bullets">
    <p:spTree>
      <p:nvGrpSpPr>
        <p:cNvPr id="1" name=""/>
        <p:cNvGrpSpPr/>
        <p:nvPr/>
      </p:nvGrpSpPr>
      <p:grpSpPr>
        <a:xfrm>
          <a:off x="0" y="0"/>
          <a:ext cx="0" cy="0"/>
          <a:chOff x="0" y="0"/>
          <a:chExt cx="0" cy="0"/>
        </a:xfrm>
      </p:grpSpPr>
      <p:sp>
        <p:nvSpPr>
          <p:cNvPr id="5" name="Text Placeholder 6">
            <a:extLst>
              <a:ext uri="{FF2B5EF4-FFF2-40B4-BE49-F238E27FC236}">
                <a16:creationId xmlns:a16="http://schemas.microsoft.com/office/drawing/2014/main" id="{F9A82B89-259D-4981-8525-D432BF2F03E8}"/>
              </a:ext>
            </a:extLst>
          </p:cNvPr>
          <p:cNvSpPr>
            <a:spLocks noGrp="1"/>
          </p:cNvSpPr>
          <p:nvPr>
            <p:ph idx="1"/>
          </p:nvPr>
        </p:nvSpPr>
        <p:spPr>
          <a:xfrm>
            <a:off x="628650" y="804672"/>
            <a:ext cx="7886700" cy="3639312"/>
          </a:xfrm>
          <a:prstGeom prst="rect">
            <a:avLst/>
          </a:prstGeom>
        </p:spPr>
        <p:txBody>
          <a:bodyPr vert="horz" lIns="0" tIns="0" rIns="0" bIns="0" rtlCol="0">
            <a:normAutofit/>
          </a:bodyPr>
          <a:lstStyle>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6499856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6364" y="192024"/>
            <a:ext cx="7891272" cy="457200"/>
          </a:xfrm>
          <a:prstGeom prst="rect">
            <a:avLst/>
          </a:prstGeom>
        </p:spPr>
        <p:txBody>
          <a:bodyPr anchor="t" anchorCtr="0">
            <a:noAutofit/>
          </a:bodyPr>
          <a:lstStyle>
            <a:lvl1pPr algn="ctr">
              <a:defRPr baseline="0">
                <a:solidFill>
                  <a:schemeClr val="tx2"/>
                </a:solidFill>
              </a:defRPr>
            </a:lvl1pPr>
          </a:lstStyle>
          <a:p>
            <a:r>
              <a:rPr lang="en-US"/>
              <a:t>Click to Edit Title</a:t>
            </a:r>
          </a:p>
        </p:txBody>
      </p:sp>
    </p:spTree>
    <p:extLst>
      <p:ext uri="{BB962C8B-B14F-4D97-AF65-F5344CB8AC3E}">
        <p14:creationId xmlns:p14="http://schemas.microsoft.com/office/powerpoint/2010/main" val="428731948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Subhead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6364" y="192024"/>
            <a:ext cx="7891272" cy="457200"/>
          </a:xfrm>
          <a:prstGeom prst="rect">
            <a:avLst/>
          </a:prstGeom>
        </p:spPr>
        <p:txBody>
          <a:bodyPr anchor="t" anchorCtr="0">
            <a:noAutofit/>
          </a:bodyPr>
          <a:lstStyle>
            <a:lvl1pPr algn="ctr">
              <a:defRPr baseline="0">
                <a:solidFill>
                  <a:schemeClr val="tx2"/>
                </a:solidFill>
              </a:defRPr>
            </a:lvl1pPr>
          </a:lstStyle>
          <a:p>
            <a:r>
              <a:rPr lang="en-US"/>
              <a:t>Click to Edit Title</a:t>
            </a:r>
          </a:p>
        </p:txBody>
      </p:sp>
      <p:sp>
        <p:nvSpPr>
          <p:cNvPr id="5" name="Text Placeholder 2"/>
          <p:cNvSpPr>
            <a:spLocks noGrp="1"/>
          </p:cNvSpPr>
          <p:nvPr>
            <p:ph type="body" sz="quarter" idx="11" hasCustomPrompt="1"/>
          </p:nvPr>
        </p:nvSpPr>
        <p:spPr>
          <a:xfrm flipH="1">
            <a:off x="626364" y="640080"/>
            <a:ext cx="7891272" cy="274320"/>
          </a:xfrm>
          <a:prstGeom prst="rect">
            <a:avLst/>
          </a:prstGeom>
        </p:spPr>
        <p:txBody>
          <a:bodyPr wrap="square" anchor="t" anchorCtr="0">
            <a:noAutofit/>
          </a:bodyPr>
          <a:lstStyle>
            <a:lvl1pPr marL="0" indent="0" algn="ctr">
              <a:lnSpc>
                <a:spcPct val="100000"/>
              </a:lnSpc>
              <a:spcBef>
                <a:spcPts val="0"/>
              </a:spcBef>
              <a:buFont typeface="Arial" pitchFamily="34" charset="0"/>
              <a:buNone/>
              <a:defRPr sz="2200" b="0" cap="none" baseline="0">
                <a:solidFill>
                  <a:schemeClr val="accent1"/>
                </a:solidFill>
                <a:latin typeface="+mj-lt"/>
              </a:defRPr>
            </a:lvl1pPr>
          </a:lstStyle>
          <a:p>
            <a:pPr lvl="0"/>
            <a:r>
              <a:rPr lang="en-US"/>
              <a:t>Click to edit subtitle</a:t>
            </a:r>
          </a:p>
        </p:txBody>
      </p:sp>
    </p:spTree>
    <p:extLst>
      <p:ext uri="{BB962C8B-B14F-4D97-AF65-F5344CB8AC3E}">
        <p14:creationId xmlns:p14="http://schemas.microsoft.com/office/powerpoint/2010/main" val="1272183766"/>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91610-4075-4AB8-A236-5CBD84948BE7}"/>
              </a:ext>
            </a:extLst>
          </p:cNvPr>
          <p:cNvSpPr>
            <a:spLocks noGrp="1"/>
          </p:cNvSpPr>
          <p:nvPr>
            <p:ph type="title"/>
          </p:nvPr>
        </p:nvSpPr>
        <p:spPr/>
        <p:txBody>
          <a:bodyPr/>
          <a:lstStyle/>
          <a:p>
            <a:r>
              <a:rPr lang="en-US"/>
              <a:t>Click to edit Master title style</a:t>
            </a:r>
          </a:p>
        </p:txBody>
      </p:sp>
      <p:sp>
        <p:nvSpPr>
          <p:cNvPr id="4" name="Text Placeholder 6">
            <a:extLst>
              <a:ext uri="{FF2B5EF4-FFF2-40B4-BE49-F238E27FC236}">
                <a16:creationId xmlns:a16="http://schemas.microsoft.com/office/drawing/2014/main" id="{3DA7D718-44C6-4F0F-9058-A2E90B120706}"/>
              </a:ext>
            </a:extLst>
          </p:cNvPr>
          <p:cNvSpPr>
            <a:spLocks noGrp="1"/>
          </p:cNvSpPr>
          <p:nvPr>
            <p:ph idx="1"/>
          </p:nvPr>
        </p:nvSpPr>
        <p:spPr>
          <a:xfrm>
            <a:off x="628650" y="804672"/>
            <a:ext cx="7886700" cy="3639312"/>
          </a:xfrm>
          <a:prstGeom prst="rect">
            <a:avLst/>
          </a:prstGeom>
        </p:spPr>
        <p:txBody>
          <a:bodyPr vert="horz" lIns="0" tIns="0" rIns="0" bIns="0" rtlCol="0">
            <a:normAutofit/>
          </a:bodyPr>
          <a:lstStyle>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4769667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6364" y="192024"/>
            <a:ext cx="7891272" cy="457200"/>
          </a:xfrm>
          <a:prstGeom prst="rect">
            <a:avLst/>
          </a:prstGeom>
        </p:spPr>
        <p:txBody>
          <a:bodyPr anchor="t" anchorCtr="0">
            <a:noAutofit/>
          </a:bodyPr>
          <a:lstStyle>
            <a:lvl1pPr algn="ctr">
              <a:defRPr>
                <a:solidFill>
                  <a:schemeClr val="tx2"/>
                </a:solidFill>
              </a:defRPr>
            </a:lvl1pPr>
          </a:lstStyle>
          <a:p>
            <a:r>
              <a:rPr lang="en-US"/>
              <a:t>Click to Edit Title</a:t>
            </a:r>
          </a:p>
        </p:txBody>
      </p:sp>
      <p:sp>
        <p:nvSpPr>
          <p:cNvPr id="6" name="Text Placeholder 2"/>
          <p:cNvSpPr>
            <a:spLocks noGrp="1"/>
          </p:cNvSpPr>
          <p:nvPr>
            <p:ph type="body" sz="quarter" idx="12" hasCustomPrompt="1"/>
          </p:nvPr>
        </p:nvSpPr>
        <p:spPr>
          <a:xfrm flipH="1">
            <a:off x="626364" y="640080"/>
            <a:ext cx="7891272" cy="274320"/>
          </a:xfrm>
          <a:prstGeom prst="rect">
            <a:avLst/>
          </a:prstGeom>
        </p:spPr>
        <p:txBody>
          <a:bodyPr wrap="square" anchor="t" anchorCtr="0">
            <a:noAutofit/>
          </a:bodyPr>
          <a:lstStyle>
            <a:lvl1pPr marL="0" indent="0" algn="ctr">
              <a:lnSpc>
                <a:spcPct val="100000"/>
              </a:lnSpc>
              <a:spcBef>
                <a:spcPts val="0"/>
              </a:spcBef>
              <a:buFont typeface="Arial" pitchFamily="34" charset="0"/>
              <a:buNone/>
              <a:defRPr sz="2200" b="0" cap="none" baseline="0">
                <a:solidFill>
                  <a:schemeClr val="accent1"/>
                </a:solidFill>
                <a:latin typeface="+mj-lt"/>
              </a:defRPr>
            </a:lvl1pPr>
          </a:lstStyle>
          <a:p>
            <a:pPr lvl="0"/>
            <a:r>
              <a:rPr lang="en-US"/>
              <a:t>Click to edit subtitle</a:t>
            </a:r>
          </a:p>
        </p:txBody>
      </p:sp>
      <p:sp>
        <p:nvSpPr>
          <p:cNvPr id="8" name="Text Placeholder 6">
            <a:extLst>
              <a:ext uri="{FF2B5EF4-FFF2-40B4-BE49-F238E27FC236}">
                <a16:creationId xmlns:a16="http://schemas.microsoft.com/office/drawing/2014/main" id="{F9210F4E-3676-4001-9240-5EAF2DA3BE50}"/>
              </a:ext>
            </a:extLst>
          </p:cNvPr>
          <p:cNvSpPr>
            <a:spLocks noGrp="1"/>
          </p:cNvSpPr>
          <p:nvPr>
            <p:ph idx="1"/>
          </p:nvPr>
        </p:nvSpPr>
        <p:spPr>
          <a:xfrm>
            <a:off x="628650" y="1040130"/>
            <a:ext cx="7886700" cy="363931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015604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626364" y="172974"/>
            <a:ext cx="7891272" cy="457200"/>
          </a:xfrm>
          <a:prstGeom prst="rect">
            <a:avLst/>
          </a:prstGeom>
        </p:spPr>
        <p:txBody>
          <a:bodyPr>
            <a:noAutofit/>
          </a:bodyPr>
          <a:lstStyle>
            <a:lvl1pPr algn="ctr">
              <a:defRPr baseline="0">
                <a:solidFill>
                  <a:schemeClr val="tx2"/>
                </a:solidFill>
              </a:defRPr>
            </a:lvl1pPr>
          </a:lstStyle>
          <a:p>
            <a:r>
              <a:rPr lang="en-US"/>
              <a:t>Click to Edit Title</a:t>
            </a:r>
          </a:p>
        </p:txBody>
      </p:sp>
      <p:sp>
        <p:nvSpPr>
          <p:cNvPr id="5" name="Text Placeholder 2"/>
          <p:cNvSpPr>
            <a:spLocks noGrp="1"/>
          </p:cNvSpPr>
          <p:nvPr>
            <p:ph type="body" sz="quarter" idx="3" hasCustomPrompt="1"/>
          </p:nvPr>
        </p:nvSpPr>
        <p:spPr>
          <a:xfrm>
            <a:off x="627641" y="640080"/>
            <a:ext cx="7891272" cy="274320"/>
          </a:xfrm>
          <a:prstGeom prst="rect">
            <a:avLst/>
          </a:prstGeom>
        </p:spPr>
        <p:txBody>
          <a:bodyPr wrap="square" anchor="t" anchorCtr="0">
            <a:noAutofit/>
          </a:bodyPr>
          <a:lstStyle>
            <a:lvl1pPr marL="0" indent="0" algn="ctr">
              <a:lnSpc>
                <a:spcPct val="100000"/>
              </a:lnSpc>
              <a:spcBef>
                <a:spcPts val="0"/>
              </a:spcBef>
              <a:buFont typeface="Arial" pitchFamily="34" charset="0"/>
              <a:buNone/>
              <a:defRPr sz="2200" b="0" cap="none" baseline="0">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subtitle</a:t>
            </a:r>
          </a:p>
        </p:txBody>
      </p:sp>
      <p:sp>
        <p:nvSpPr>
          <p:cNvPr id="14" name="Content Placeholder 13">
            <a:extLst>
              <a:ext uri="{FF2B5EF4-FFF2-40B4-BE49-F238E27FC236}">
                <a16:creationId xmlns:a16="http://schemas.microsoft.com/office/drawing/2014/main" id="{C831DC11-7F42-42C2-9928-F4287DCAC5D1}"/>
              </a:ext>
            </a:extLst>
          </p:cNvPr>
          <p:cNvSpPr>
            <a:spLocks noGrp="1"/>
          </p:cNvSpPr>
          <p:nvPr>
            <p:ph sz="quarter" idx="20"/>
          </p:nvPr>
        </p:nvSpPr>
        <p:spPr>
          <a:xfrm>
            <a:off x="4632713" y="1039019"/>
            <a:ext cx="3886200" cy="3640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0418B806-EFEA-4A27-85D5-9FC21AF6E098}"/>
              </a:ext>
            </a:extLst>
          </p:cNvPr>
          <p:cNvSpPr>
            <a:spLocks noGrp="1"/>
          </p:cNvSpPr>
          <p:nvPr>
            <p:ph sz="quarter" idx="21"/>
          </p:nvPr>
        </p:nvSpPr>
        <p:spPr>
          <a:xfrm>
            <a:off x="625087" y="1039019"/>
            <a:ext cx="3886200" cy="36401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529362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ection Header">
    <p:bg>
      <p:bgPr>
        <a:gradFill>
          <a:gsLst>
            <a:gs pos="0">
              <a:srgbClr val="00517E"/>
            </a:gs>
            <a:gs pos="100000">
              <a:srgbClr val="04304B"/>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802998"/>
            <a:ext cx="9144000" cy="584775"/>
          </a:xfrm>
          <a:prstGeom prst="rect">
            <a:avLst/>
          </a:prstGeom>
        </p:spPr>
        <p:txBody>
          <a:bodyPr anchor="b" anchorCtr="0">
            <a:spAutoFit/>
          </a:bodyPr>
          <a:lstStyle>
            <a:lvl1pPr algn="ctr">
              <a:defRPr sz="3200" baseline="0">
                <a:solidFill>
                  <a:schemeClr val="bg1"/>
                </a:solidFill>
                <a:latin typeface="+mj-lt"/>
              </a:defRPr>
            </a:lvl1pPr>
          </a:lstStyle>
          <a:p>
            <a:r>
              <a:rPr lang="en-US"/>
              <a:t>Click to Edit Title</a:t>
            </a:r>
          </a:p>
        </p:txBody>
      </p:sp>
      <p:sp>
        <p:nvSpPr>
          <p:cNvPr id="4" name="Text Placeholder 2"/>
          <p:cNvSpPr>
            <a:spLocks noGrp="1"/>
          </p:cNvSpPr>
          <p:nvPr>
            <p:ph type="body" sz="quarter" idx="10" hasCustomPrompt="1"/>
          </p:nvPr>
        </p:nvSpPr>
        <p:spPr>
          <a:xfrm>
            <a:off x="0" y="2383824"/>
            <a:ext cx="9144000" cy="353943"/>
          </a:xfrm>
          <a:prstGeom prst="rect">
            <a:avLst/>
          </a:prstGeom>
        </p:spPr>
        <p:txBody>
          <a:bodyPr anchor="t">
            <a:spAutoFit/>
          </a:bodyPr>
          <a:lstStyle>
            <a:lvl1pPr marL="0" indent="-182880" algn="ctr">
              <a:lnSpc>
                <a:spcPct val="85000"/>
              </a:lnSpc>
              <a:spcBef>
                <a:spcPts val="800"/>
              </a:spcBef>
              <a:buFont typeface="Arial" pitchFamily="34" charset="0"/>
              <a:buNone/>
              <a:defRPr sz="2000" b="0" i="0" cap="none" baseline="0">
                <a:solidFill>
                  <a:schemeClr val="bg1"/>
                </a:solidFill>
                <a:latin typeface="+mn-lt"/>
              </a:defRPr>
            </a:lvl1pPr>
          </a:lstStyle>
          <a:p>
            <a:pPr lvl="0"/>
            <a:r>
              <a:rPr lang="en-US"/>
              <a:t>Click to edit subtitle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6352" y="0"/>
            <a:ext cx="2111297" cy="1101684"/>
          </a:xfrm>
          <a:prstGeom prst="rect">
            <a:avLst/>
          </a:prstGeom>
        </p:spPr>
      </p:pic>
    </p:spTree>
    <p:extLst>
      <p:ext uri="{BB962C8B-B14F-4D97-AF65-F5344CB8AC3E}">
        <p14:creationId xmlns:p14="http://schemas.microsoft.com/office/powerpoint/2010/main" val="525974912"/>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Green_Section Header">
    <p:bg>
      <p:bgPr>
        <a:gradFill>
          <a:gsLst>
            <a:gs pos="0">
              <a:srgbClr val="90B328"/>
            </a:gs>
            <a:gs pos="100000">
              <a:srgbClr val="4B7C1A"/>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800894"/>
            <a:ext cx="9144000" cy="584775"/>
          </a:xfrm>
          <a:prstGeom prst="rect">
            <a:avLst/>
          </a:prstGeom>
        </p:spPr>
        <p:txBody>
          <a:bodyPr anchor="b" anchorCtr="0">
            <a:spAutoFit/>
          </a:bodyPr>
          <a:lstStyle>
            <a:lvl1pPr algn="ctr">
              <a:defRPr sz="3200" baseline="0">
                <a:solidFill>
                  <a:schemeClr val="bg1"/>
                </a:solidFill>
                <a:latin typeface="+mj-lt"/>
              </a:defRPr>
            </a:lvl1pPr>
          </a:lstStyle>
          <a:p>
            <a:r>
              <a:rPr lang="en-US"/>
              <a:t>Click to Edit Title</a:t>
            </a:r>
          </a:p>
        </p:txBody>
      </p:sp>
      <p:sp>
        <p:nvSpPr>
          <p:cNvPr id="4" name="Text Placeholder 2"/>
          <p:cNvSpPr>
            <a:spLocks noGrp="1"/>
          </p:cNvSpPr>
          <p:nvPr>
            <p:ph type="body" sz="quarter" idx="10" hasCustomPrompt="1"/>
          </p:nvPr>
        </p:nvSpPr>
        <p:spPr>
          <a:xfrm>
            <a:off x="0" y="2383824"/>
            <a:ext cx="9144000" cy="353943"/>
          </a:xfrm>
          <a:prstGeom prst="rect">
            <a:avLst/>
          </a:prstGeom>
        </p:spPr>
        <p:txBody>
          <a:bodyPr anchor="t">
            <a:spAutoFit/>
          </a:bodyPr>
          <a:lstStyle>
            <a:lvl1pPr marL="0" indent="-182880" algn="ctr">
              <a:lnSpc>
                <a:spcPct val="85000"/>
              </a:lnSpc>
              <a:buFont typeface="Arial" pitchFamily="34" charset="0"/>
              <a:buNone/>
              <a:defRPr sz="2000" b="0" i="0" cap="none" baseline="0">
                <a:solidFill>
                  <a:schemeClr val="bg1"/>
                </a:solidFill>
                <a:latin typeface="+mn-lt"/>
              </a:defRPr>
            </a:lvl1pPr>
          </a:lstStyle>
          <a:p>
            <a:pPr lvl="0"/>
            <a:r>
              <a:rPr lang="en-US"/>
              <a:t>Click to edit subtitle</a:t>
            </a:r>
          </a:p>
        </p:txBody>
      </p:sp>
      <p:pic>
        <p:nvPicPr>
          <p:cNvPr id="11"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6352" y="0"/>
            <a:ext cx="2111297" cy="1101684"/>
          </a:xfrm>
          <a:prstGeom prst="rect">
            <a:avLst/>
          </a:prstGeom>
        </p:spPr>
      </p:pic>
    </p:spTree>
    <p:extLst>
      <p:ext uri="{BB962C8B-B14F-4D97-AF65-F5344CB8AC3E}">
        <p14:creationId xmlns:p14="http://schemas.microsoft.com/office/powerpoint/2010/main" val="25578587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Aquamarine_Section Header">
    <p:bg>
      <p:bgPr>
        <a:gradFill>
          <a:gsLst>
            <a:gs pos="0">
              <a:srgbClr val="00B08D"/>
            </a:gs>
            <a:gs pos="100000">
              <a:srgbClr val="018566"/>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800894"/>
            <a:ext cx="9144000" cy="584775"/>
          </a:xfrm>
          <a:prstGeom prst="rect">
            <a:avLst/>
          </a:prstGeom>
        </p:spPr>
        <p:txBody>
          <a:bodyPr anchor="b" anchorCtr="0">
            <a:spAutoFit/>
          </a:bodyPr>
          <a:lstStyle>
            <a:lvl1pPr algn="ctr">
              <a:defRPr sz="3200" baseline="0">
                <a:solidFill>
                  <a:schemeClr val="bg1"/>
                </a:solidFill>
                <a:latin typeface="+mj-lt"/>
              </a:defRPr>
            </a:lvl1pPr>
          </a:lstStyle>
          <a:p>
            <a:r>
              <a:rPr lang="en-US"/>
              <a:t>Click to Edit Title</a:t>
            </a:r>
          </a:p>
        </p:txBody>
      </p:sp>
      <p:sp>
        <p:nvSpPr>
          <p:cNvPr id="4" name="Text Placeholder 2"/>
          <p:cNvSpPr>
            <a:spLocks noGrp="1"/>
          </p:cNvSpPr>
          <p:nvPr>
            <p:ph type="body" sz="quarter" idx="10" hasCustomPrompt="1"/>
          </p:nvPr>
        </p:nvSpPr>
        <p:spPr>
          <a:xfrm>
            <a:off x="0" y="2383824"/>
            <a:ext cx="9144000" cy="353943"/>
          </a:xfrm>
          <a:prstGeom prst="rect">
            <a:avLst/>
          </a:prstGeom>
        </p:spPr>
        <p:txBody>
          <a:bodyPr anchor="t">
            <a:spAutoFit/>
          </a:bodyPr>
          <a:lstStyle>
            <a:lvl1pPr marL="0" indent="-182880" algn="ctr">
              <a:lnSpc>
                <a:spcPct val="85000"/>
              </a:lnSpc>
              <a:buFont typeface="Arial" pitchFamily="34" charset="0"/>
              <a:buNone/>
              <a:defRPr sz="2000" b="0" i="0" cap="none" baseline="0">
                <a:solidFill>
                  <a:schemeClr val="bg1"/>
                </a:solidFill>
                <a:latin typeface="+mn-lt"/>
              </a:defRPr>
            </a:lvl1pPr>
          </a:lstStyle>
          <a:p>
            <a:pPr lvl="0"/>
            <a:r>
              <a:rPr lang="en-US"/>
              <a:t>Click to edit subtitle</a:t>
            </a:r>
          </a:p>
        </p:txBody>
      </p:sp>
      <p:pic>
        <p:nvPicPr>
          <p:cNvPr id="11"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6352" y="0"/>
            <a:ext cx="2111297" cy="1101684"/>
          </a:xfrm>
          <a:prstGeom prst="rect">
            <a:avLst/>
          </a:prstGeom>
        </p:spPr>
      </p:pic>
    </p:spTree>
    <p:extLst>
      <p:ext uri="{BB962C8B-B14F-4D97-AF65-F5344CB8AC3E}">
        <p14:creationId xmlns:p14="http://schemas.microsoft.com/office/powerpoint/2010/main" val="1815052536"/>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Blue_Section Header">
    <p:bg>
      <p:bgPr>
        <a:gradFill>
          <a:gsLst>
            <a:gs pos="0">
              <a:srgbClr val="61BAE9"/>
            </a:gs>
            <a:gs pos="100000">
              <a:srgbClr val="006A9F"/>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800894"/>
            <a:ext cx="9144000" cy="584775"/>
          </a:xfrm>
          <a:prstGeom prst="rect">
            <a:avLst/>
          </a:prstGeom>
        </p:spPr>
        <p:txBody>
          <a:bodyPr anchor="b" anchorCtr="0">
            <a:spAutoFit/>
          </a:bodyPr>
          <a:lstStyle>
            <a:lvl1pPr algn="ctr">
              <a:defRPr sz="3200" baseline="0">
                <a:solidFill>
                  <a:schemeClr val="bg1"/>
                </a:solidFill>
                <a:latin typeface="+mj-lt"/>
              </a:defRPr>
            </a:lvl1pPr>
          </a:lstStyle>
          <a:p>
            <a:r>
              <a:rPr lang="en-US"/>
              <a:t>Click to Edit Title</a:t>
            </a:r>
          </a:p>
        </p:txBody>
      </p:sp>
      <p:sp>
        <p:nvSpPr>
          <p:cNvPr id="4" name="Text Placeholder 2"/>
          <p:cNvSpPr>
            <a:spLocks noGrp="1"/>
          </p:cNvSpPr>
          <p:nvPr>
            <p:ph type="body" sz="quarter" idx="10" hasCustomPrompt="1"/>
          </p:nvPr>
        </p:nvSpPr>
        <p:spPr>
          <a:xfrm>
            <a:off x="0" y="2383824"/>
            <a:ext cx="9144000" cy="353943"/>
          </a:xfrm>
          <a:prstGeom prst="rect">
            <a:avLst/>
          </a:prstGeom>
        </p:spPr>
        <p:txBody>
          <a:bodyPr anchor="t">
            <a:spAutoFit/>
          </a:bodyPr>
          <a:lstStyle>
            <a:lvl1pPr marL="0" indent="-182880" algn="ctr">
              <a:lnSpc>
                <a:spcPct val="85000"/>
              </a:lnSpc>
              <a:buFont typeface="Arial" pitchFamily="34" charset="0"/>
              <a:buNone/>
              <a:defRPr sz="2000" b="0" i="0" cap="none" baseline="0">
                <a:solidFill>
                  <a:schemeClr val="bg1"/>
                </a:solidFill>
                <a:latin typeface="+mn-lt"/>
              </a:defRPr>
            </a:lvl1pPr>
          </a:lstStyle>
          <a:p>
            <a:pPr lvl="0"/>
            <a:r>
              <a:rPr lang="en-US"/>
              <a:t>Click to edit subtitle</a:t>
            </a:r>
          </a:p>
        </p:txBody>
      </p:sp>
      <p:pic>
        <p:nvPicPr>
          <p:cNvPr id="11"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6352" y="0"/>
            <a:ext cx="2111297" cy="1101684"/>
          </a:xfrm>
          <a:prstGeom prst="rect">
            <a:avLst/>
          </a:prstGeom>
        </p:spPr>
      </p:pic>
    </p:spTree>
    <p:extLst>
      <p:ext uri="{BB962C8B-B14F-4D97-AF65-F5344CB8AC3E}">
        <p14:creationId xmlns:p14="http://schemas.microsoft.com/office/powerpoint/2010/main" val="224344829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Violet_Section Header">
    <p:bg>
      <p:bgPr>
        <a:gradFill>
          <a:gsLst>
            <a:gs pos="0">
              <a:srgbClr val="3D5AAE"/>
            </a:gs>
            <a:gs pos="100000">
              <a:srgbClr val="2C367C"/>
            </a:gs>
          </a:gsLst>
          <a:path path="circle">
            <a:fillToRect l="50000" t="50000" r="50000" b="50000"/>
          </a:path>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1800894"/>
            <a:ext cx="9144000" cy="584775"/>
          </a:xfrm>
          <a:prstGeom prst="rect">
            <a:avLst/>
          </a:prstGeom>
        </p:spPr>
        <p:txBody>
          <a:bodyPr anchor="b" anchorCtr="0">
            <a:spAutoFit/>
          </a:bodyPr>
          <a:lstStyle>
            <a:lvl1pPr algn="ctr">
              <a:defRPr sz="3200" baseline="0">
                <a:solidFill>
                  <a:schemeClr val="bg1"/>
                </a:solidFill>
                <a:latin typeface="+mj-lt"/>
              </a:defRPr>
            </a:lvl1pPr>
          </a:lstStyle>
          <a:p>
            <a:r>
              <a:rPr lang="en-US"/>
              <a:t>Click to Edit Title</a:t>
            </a:r>
          </a:p>
        </p:txBody>
      </p:sp>
      <p:sp>
        <p:nvSpPr>
          <p:cNvPr id="4" name="Text Placeholder 2"/>
          <p:cNvSpPr>
            <a:spLocks noGrp="1"/>
          </p:cNvSpPr>
          <p:nvPr>
            <p:ph type="body" sz="quarter" idx="10" hasCustomPrompt="1"/>
          </p:nvPr>
        </p:nvSpPr>
        <p:spPr>
          <a:xfrm>
            <a:off x="0" y="2383824"/>
            <a:ext cx="9144000" cy="353943"/>
          </a:xfrm>
          <a:prstGeom prst="rect">
            <a:avLst/>
          </a:prstGeom>
        </p:spPr>
        <p:txBody>
          <a:bodyPr anchor="t">
            <a:spAutoFit/>
          </a:bodyPr>
          <a:lstStyle>
            <a:lvl1pPr marL="0" indent="-182880" algn="ctr">
              <a:lnSpc>
                <a:spcPct val="85000"/>
              </a:lnSpc>
              <a:buFont typeface="Arial" pitchFamily="34" charset="0"/>
              <a:buNone/>
              <a:defRPr sz="2000" b="0" i="0" cap="none" baseline="0">
                <a:solidFill>
                  <a:schemeClr val="bg1"/>
                </a:solidFill>
                <a:latin typeface="+mn-lt"/>
              </a:defRPr>
            </a:lvl1pPr>
          </a:lstStyle>
          <a:p>
            <a:pPr lvl="0"/>
            <a:r>
              <a:rPr lang="en-US"/>
              <a:t>Click to edit subtitle</a:t>
            </a:r>
          </a:p>
        </p:txBody>
      </p:sp>
      <p:pic>
        <p:nvPicPr>
          <p:cNvPr id="11"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16352" y="0"/>
            <a:ext cx="2111297" cy="1101684"/>
          </a:xfrm>
          <a:prstGeom prst="rect">
            <a:avLst/>
          </a:prstGeom>
        </p:spPr>
      </p:pic>
    </p:spTree>
    <p:extLst>
      <p:ext uri="{BB962C8B-B14F-4D97-AF65-F5344CB8AC3E}">
        <p14:creationId xmlns:p14="http://schemas.microsoft.com/office/powerpoint/2010/main" val="2445079280"/>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1152144" y="1799049"/>
            <a:ext cx="6611112" cy="584775"/>
          </a:xfrm>
          <a:prstGeom prst="rect">
            <a:avLst/>
          </a:prstGeom>
        </p:spPr>
        <p:txBody>
          <a:bodyPr anchor="b" anchorCtr="0">
            <a:noAutofit/>
          </a:bodyPr>
          <a:lstStyle>
            <a:lvl1pPr algn="l">
              <a:defRPr sz="3200" cap="none" baseline="0">
                <a:solidFill>
                  <a:schemeClr val="bg1"/>
                </a:solidFill>
              </a:defRPr>
            </a:lvl1pPr>
          </a:lstStyle>
          <a:p>
            <a:r>
              <a:rPr lang="en-US"/>
              <a:t>Click to Edit Title</a:t>
            </a:r>
          </a:p>
        </p:txBody>
      </p:sp>
      <p:sp>
        <p:nvSpPr>
          <p:cNvPr id="8" name="Subtitle 2"/>
          <p:cNvSpPr>
            <a:spLocks noGrp="1"/>
          </p:cNvSpPr>
          <p:nvPr>
            <p:ph type="body" sz="quarter" idx="13" hasCustomPrompt="1"/>
          </p:nvPr>
        </p:nvSpPr>
        <p:spPr>
          <a:xfrm>
            <a:off x="1152144" y="2383824"/>
            <a:ext cx="6611112" cy="353943"/>
          </a:xfrm>
          <a:prstGeom prst="rect">
            <a:avLst/>
          </a:prstGeom>
        </p:spPr>
        <p:txBody>
          <a:bodyPr wrap="square" anchor="t">
            <a:noAutofit/>
          </a:bodyPr>
          <a:lstStyle>
            <a:lvl1pPr marL="0" indent="-182880" algn="l">
              <a:lnSpc>
                <a:spcPct val="85000"/>
              </a:lnSpc>
              <a:spcBef>
                <a:spcPts val="800"/>
              </a:spcBef>
              <a:buFont typeface="Arial" pitchFamily="34" charset="0"/>
              <a:buNone/>
              <a:defRPr sz="2000" b="0" cap="none" baseline="0">
                <a:solidFill>
                  <a:schemeClr val="bg1"/>
                </a:solidFill>
                <a:latin typeface="+mn-lt"/>
              </a:defRPr>
            </a:lvl1pPr>
          </a:lstStyle>
          <a:p>
            <a:pPr lvl="0"/>
            <a:r>
              <a:rPr lang="en-US"/>
              <a:t>Click to edit subtitle</a:t>
            </a:r>
          </a:p>
        </p:txBody>
      </p:sp>
      <p:pic>
        <p:nvPicPr>
          <p:cNvPr id="9"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920804" cy="1806509"/>
          </a:xfrm>
          <a:prstGeom prst="rect">
            <a:avLst/>
          </a:prstGeom>
        </p:spPr>
      </p:pic>
    </p:spTree>
    <p:extLst>
      <p:ext uri="{BB962C8B-B14F-4D97-AF65-F5344CB8AC3E}">
        <p14:creationId xmlns:p14="http://schemas.microsoft.com/office/powerpoint/2010/main" val="1711835224"/>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SAS Closing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0" y="2120427"/>
            <a:ext cx="9144000" cy="584775"/>
          </a:xfrm>
          <a:prstGeom prst="rect">
            <a:avLst/>
          </a:prstGeom>
        </p:spPr>
        <p:txBody>
          <a:bodyPr anchor="ctr" anchorCtr="0">
            <a:spAutoFit/>
          </a:bodyPr>
          <a:lstStyle>
            <a:lvl1pPr algn="ctr">
              <a:defRPr sz="3200" baseline="0">
                <a:solidFill>
                  <a:schemeClr val="bg1"/>
                </a:solidFill>
                <a:latin typeface="+mj-lt"/>
              </a:defRPr>
            </a:lvl1pPr>
          </a:lstStyle>
          <a:p>
            <a:r>
              <a:rPr lang="en-US"/>
              <a:t>Click to Edit Title</a:t>
            </a:r>
          </a:p>
        </p:txBody>
      </p:sp>
      <p:pic>
        <p:nvPicPr>
          <p:cNvPr id="4"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920804" cy="1806509"/>
          </a:xfrm>
          <a:prstGeom prst="rect">
            <a:avLst/>
          </a:prstGeom>
        </p:spPr>
      </p:pic>
    </p:spTree>
    <p:extLst>
      <p:ext uri="{BB962C8B-B14F-4D97-AF65-F5344CB8AC3E}">
        <p14:creationId xmlns:p14="http://schemas.microsoft.com/office/powerpoint/2010/main" val="619883090"/>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Black Background">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31660178"/>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White Background">
    <p:spTree>
      <p:nvGrpSpPr>
        <p:cNvPr id="1" name=""/>
        <p:cNvGrpSpPr/>
        <p:nvPr/>
      </p:nvGrpSpPr>
      <p:grpSpPr>
        <a:xfrm>
          <a:off x="0" y="0"/>
          <a:ext cx="0" cy="0"/>
          <a:chOff x="0" y="0"/>
          <a:chExt cx="0" cy="0"/>
        </a:xfrm>
      </p:grpSpPr>
    </p:spTree>
    <p:extLst>
      <p:ext uri="{BB962C8B-B14F-4D97-AF65-F5344CB8AC3E}">
        <p14:creationId xmlns:p14="http://schemas.microsoft.com/office/powerpoint/2010/main" val="89112359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userDrawn="1">
  <p:cSld name="Blue Background">
    <p:bg>
      <p:bgPr>
        <a:gradFill>
          <a:gsLst>
            <a:gs pos="0">
              <a:srgbClr val="00517E"/>
            </a:gs>
            <a:gs pos="100000">
              <a:srgbClr val="04304B"/>
            </a:gs>
          </a:gsLst>
          <a:path path="circle">
            <a:fillToRect l="50000" t="50000" r="50000" b="50000"/>
          </a:path>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5859504"/>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AS - Title">
    <p:bg>
      <p:bgPr>
        <a:solidFill>
          <a:schemeClr val="bg2"/>
        </a:solidFill>
        <a:effectLst/>
      </p:bgPr>
    </p:bg>
    <p:spTree>
      <p:nvGrpSpPr>
        <p:cNvPr id="1" name=""/>
        <p:cNvGrpSpPr/>
        <p:nvPr/>
      </p:nvGrpSpPr>
      <p:grpSpPr>
        <a:xfrm>
          <a:off x="0" y="0"/>
          <a:ext cx="0" cy="0"/>
          <a:chOff x="0" y="0"/>
          <a:chExt cx="0" cy="0"/>
        </a:xfrm>
      </p:grpSpPr>
      <p:sp>
        <p:nvSpPr>
          <p:cNvPr id="4" name="Text Placeholder 13">
            <a:extLst>
              <a:ext uri="{FF2B5EF4-FFF2-40B4-BE49-F238E27FC236}">
                <a16:creationId xmlns:a16="http://schemas.microsoft.com/office/drawing/2014/main" id="{3B082A2B-1B9A-99ED-80BB-4296F00FFD4B}"/>
              </a:ext>
            </a:extLst>
          </p:cNvPr>
          <p:cNvSpPr>
            <a:spLocks noGrp="1"/>
          </p:cNvSpPr>
          <p:nvPr>
            <p:ph type="body" sz="quarter" idx="12" hasCustomPrompt="1"/>
          </p:nvPr>
        </p:nvSpPr>
        <p:spPr>
          <a:xfrm>
            <a:off x="626216" y="2110085"/>
            <a:ext cx="7889135" cy="461665"/>
          </a:xfrm>
        </p:spPr>
        <p:txBody>
          <a:bodyPr wrap="square">
            <a:noAutofit/>
          </a:bodyPr>
          <a:lstStyle>
            <a:lvl1pPr marL="0" indent="0">
              <a:lnSpc>
                <a:spcPct val="100000"/>
              </a:lnSpc>
              <a:spcBef>
                <a:spcPts val="300"/>
              </a:spcBef>
              <a:buNone/>
              <a:defRPr sz="2400">
                <a:solidFill>
                  <a:schemeClr val="bg1"/>
                </a:solidFill>
              </a:defRPr>
            </a:lvl1pPr>
            <a:lvl2pPr marL="182880" indent="0">
              <a:buNone/>
              <a:defRPr>
                <a:solidFill>
                  <a:schemeClr val="accent3"/>
                </a:solidFill>
              </a:defRPr>
            </a:lvl2pPr>
            <a:lvl3pPr marL="365760" indent="0">
              <a:buNone/>
              <a:defRPr>
                <a:solidFill>
                  <a:schemeClr val="accent3"/>
                </a:solidFill>
              </a:defRPr>
            </a:lvl3pPr>
            <a:lvl4pPr marL="1028700" indent="0">
              <a:buNone/>
              <a:defRPr>
                <a:solidFill>
                  <a:schemeClr val="accent3"/>
                </a:solidFill>
              </a:defRPr>
            </a:lvl4pPr>
            <a:lvl5pPr marL="1371600" indent="0">
              <a:buNone/>
              <a:defRPr>
                <a:solidFill>
                  <a:schemeClr val="accent3"/>
                </a:solidFill>
              </a:defRPr>
            </a:lvl5pPr>
          </a:lstStyle>
          <a:p>
            <a:pPr lvl="0"/>
            <a:r>
              <a:rPr lang="en-US"/>
              <a:t>Click to Add Subtitle</a:t>
            </a:r>
          </a:p>
        </p:txBody>
      </p:sp>
      <p:sp>
        <p:nvSpPr>
          <p:cNvPr id="5" name="Text Placeholder 15">
            <a:extLst>
              <a:ext uri="{FF2B5EF4-FFF2-40B4-BE49-F238E27FC236}">
                <a16:creationId xmlns:a16="http://schemas.microsoft.com/office/drawing/2014/main" id="{06292D5B-1A9C-2780-7FA9-3E258E42C699}"/>
              </a:ext>
            </a:extLst>
          </p:cNvPr>
          <p:cNvSpPr>
            <a:spLocks noGrp="1"/>
          </p:cNvSpPr>
          <p:nvPr>
            <p:ph type="body" sz="quarter" idx="11" hasCustomPrompt="1"/>
          </p:nvPr>
        </p:nvSpPr>
        <p:spPr>
          <a:xfrm>
            <a:off x="626216" y="4138489"/>
            <a:ext cx="6061861" cy="528761"/>
          </a:xfrm>
        </p:spPr>
        <p:txBody>
          <a:bodyPr wrap="square" anchor="ctr" anchorCtr="0">
            <a:noAutofit/>
          </a:bodyPr>
          <a:lstStyle>
            <a:lvl1pPr marL="0" indent="0">
              <a:lnSpc>
                <a:spcPct val="100000"/>
              </a:lnSpc>
              <a:spcBef>
                <a:spcPts val="300"/>
              </a:spcBef>
              <a:buNone/>
              <a:defRPr sz="1400">
                <a:solidFill>
                  <a:schemeClr val="bg1"/>
                </a:solidFill>
              </a:defRPr>
            </a:lvl1pPr>
            <a:lvl2pPr marL="182880" indent="0">
              <a:buNone/>
              <a:defRPr sz="1100">
                <a:solidFill>
                  <a:schemeClr val="accent3"/>
                </a:solidFill>
              </a:defRPr>
            </a:lvl2pPr>
            <a:lvl3pPr marL="365760" indent="0">
              <a:buNone/>
              <a:defRPr sz="1050">
                <a:solidFill>
                  <a:schemeClr val="accent3"/>
                </a:solidFill>
              </a:defRPr>
            </a:lvl3pPr>
            <a:lvl4pPr marL="1028700" indent="0">
              <a:buNone/>
              <a:defRPr sz="1000">
                <a:solidFill>
                  <a:schemeClr val="accent3"/>
                </a:solidFill>
              </a:defRPr>
            </a:lvl4pPr>
            <a:lvl5pPr marL="1371600" indent="0">
              <a:buNone/>
              <a:defRPr sz="1000">
                <a:solidFill>
                  <a:schemeClr val="accent3"/>
                </a:solidFill>
              </a:defRPr>
            </a:lvl5pPr>
          </a:lstStyle>
          <a:p>
            <a:pPr lvl="0"/>
            <a:r>
              <a:rPr lang="en-US"/>
              <a:t>Click to Add Presenter Info</a:t>
            </a:r>
          </a:p>
        </p:txBody>
      </p:sp>
      <p:sp>
        <p:nvSpPr>
          <p:cNvPr id="9" name="Title Placeholder 1">
            <a:extLst>
              <a:ext uri="{FF2B5EF4-FFF2-40B4-BE49-F238E27FC236}">
                <a16:creationId xmlns:a16="http://schemas.microsoft.com/office/drawing/2014/main" id="{7E4C1F9F-DA2F-A109-A6D9-F0F5676F19D7}"/>
              </a:ext>
            </a:extLst>
          </p:cNvPr>
          <p:cNvSpPr>
            <a:spLocks noGrp="1"/>
          </p:cNvSpPr>
          <p:nvPr>
            <p:ph type="title" hasCustomPrompt="1"/>
          </p:nvPr>
        </p:nvSpPr>
        <p:spPr>
          <a:xfrm>
            <a:off x="626216" y="1371421"/>
            <a:ext cx="7889135" cy="738664"/>
          </a:xfrm>
          <a:prstGeom prst="rect">
            <a:avLst/>
          </a:prstGeom>
        </p:spPr>
        <p:txBody>
          <a:bodyPr vert="horz" wrap="square" lIns="0" tIns="0" rIns="0" bIns="182880" rtlCol="0" anchor="b" anchorCtr="0">
            <a:spAutoFit/>
          </a:bodyPr>
          <a:lstStyle>
            <a:lvl1pPr>
              <a:lnSpc>
                <a:spcPct val="100000"/>
              </a:lnSpc>
              <a:spcBef>
                <a:spcPts val="300"/>
              </a:spcBef>
              <a:defRPr sz="3600" b="0">
                <a:solidFill>
                  <a:schemeClr val="bg1"/>
                </a:solidFill>
              </a:defRPr>
            </a:lvl1pPr>
          </a:lstStyle>
          <a:p>
            <a:r>
              <a:rPr lang="en-US"/>
              <a:t>Click to Add Title</a:t>
            </a:r>
          </a:p>
        </p:txBody>
      </p:sp>
    </p:spTree>
    <p:custDataLst>
      <p:tags r:id="rId1"/>
    </p:custDataLst>
    <p:extLst>
      <p:ext uri="{BB962C8B-B14F-4D97-AF65-F5344CB8AC3E}">
        <p14:creationId xmlns:p14="http://schemas.microsoft.com/office/powerpoint/2010/main" val="1080289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AS - Section">
    <p:bg>
      <p:bgPr>
        <a:solidFill>
          <a:schemeClr val="accent5"/>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626216" y="1925242"/>
            <a:ext cx="7730975" cy="677108"/>
          </a:xfrm>
          <a:prstGeom prst="rect">
            <a:avLst/>
          </a:prstGeom>
        </p:spPr>
        <p:txBody>
          <a:bodyPr vert="horz" wrap="square" lIns="0" tIns="0" rIns="0" bIns="182880" rtlCol="0" anchor="b" anchorCtr="0">
            <a:spAutoFit/>
          </a:bodyPr>
          <a:lstStyle>
            <a:lvl1pPr>
              <a:lnSpc>
                <a:spcPct val="100000"/>
              </a:lnSpc>
              <a:spcBef>
                <a:spcPts val="300"/>
              </a:spcBef>
              <a:defRPr sz="3200" b="0">
                <a:solidFill>
                  <a:schemeClr val="bg1"/>
                </a:solidFill>
              </a:defRPr>
            </a:lvl1pPr>
          </a:lstStyle>
          <a:p>
            <a:r>
              <a:rPr lang="en-US"/>
              <a:t>Click to Add Section Title</a:t>
            </a:r>
          </a:p>
        </p:txBody>
      </p:sp>
      <p:sp>
        <p:nvSpPr>
          <p:cNvPr id="14" name="Text Placeholder 13">
            <a:extLst>
              <a:ext uri="{FF2B5EF4-FFF2-40B4-BE49-F238E27FC236}">
                <a16:creationId xmlns:a16="http://schemas.microsoft.com/office/drawing/2014/main" id="{2A390F57-72E5-BAC5-624C-175BE96B8516}"/>
              </a:ext>
            </a:extLst>
          </p:cNvPr>
          <p:cNvSpPr>
            <a:spLocks noGrp="1"/>
          </p:cNvSpPr>
          <p:nvPr>
            <p:ph type="body" sz="quarter" idx="10" hasCustomPrompt="1"/>
          </p:nvPr>
        </p:nvSpPr>
        <p:spPr>
          <a:xfrm>
            <a:off x="626216" y="2671377"/>
            <a:ext cx="7730975" cy="461665"/>
          </a:xfrm>
          <a:prstGeom prst="rect">
            <a:avLst/>
          </a:prstGeom>
        </p:spPr>
        <p:txBody>
          <a:bodyPr wrap="square" anchor="t" anchorCtr="0">
            <a:noAutofit/>
          </a:bodyPr>
          <a:lstStyle>
            <a:lvl1pPr marL="0" indent="0">
              <a:lnSpc>
                <a:spcPct val="100000"/>
              </a:lnSpc>
              <a:spcBef>
                <a:spcPts val="300"/>
              </a:spcBef>
              <a:buNone/>
              <a:defRPr sz="2000">
                <a:solidFill>
                  <a:schemeClr val="bg1"/>
                </a:solidFill>
              </a:defRPr>
            </a:lvl1pPr>
            <a:lvl2pPr marL="182880" indent="0">
              <a:buNone/>
              <a:defRPr>
                <a:solidFill>
                  <a:schemeClr val="accent3"/>
                </a:solidFill>
              </a:defRPr>
            </a:lvl2pPr>
            <a:lvl3pPr marL="365760" indent="0">
              <a:buNone/>
              <a:defRPr>
                <a:solidFill>
                  <a:schemeClr val="accent3"/>
                </a:solidFill>
              </a:defRPr>
            </a:lvl3pPr>
            <a:lvl4pPr marL="1028700" indent="0">
              <a:buNone/>
              <a:defRPr>
                <a:solidFill>
                  <a:schemeClr val="accent3"/>
                </a:solidFill>
              </a:defRPr>
            </a:lvl4pPr>
            <a:lvl5pPr marL="1371600" indent="0">
              <a:buNone/>
              <a:defRPr>
                <a:solidFill>
                  <a:schemeClr val="accent3"/>
                </a:solidFill>
              </a:defRPr>
            </a:lvl5pPr>
          </a:lstStyle>
          <a:p>
            <a:pPr lvl="0"/>
            <a:r>
              <a:rPr lang="en-US"/>
              <a:t>Click to Add Section Subtitle</a:t>
            </a:r>
          </a:p>
        </p:txBody>
      </p:sp>
    </p:spTree>
    <p:custDataLst>
      <p:tags r:id="rId1"/>
    </p:custDataLst>
    <p:extLst>
      <p:ext uri="{BB962C8B-B14F-4D97-AF65-F5344CB8AC3E}">
        <p14:creationId xmlns:p14="http://schemas.microsoft.com/office/powerpoint/2010/main" val="3218121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AS - Title Only">
    <p:spTree>
      <p:nvGrpSpPr>
        <p:cNvPr id="1" name=""/>
        <p:cNvGrpSpPr/>
        <p:nvPr/>
      </p:nvGrpSpPr>
      <p:grpSpPr>
        <a:xfrm>
          <a:off x="0" y="0"/>
          <a:ext cx="0" cy="0"/>
          <a:chOff x="0" y="0"/>
          <a:chExt cx="0" cy="0"/>
        </a:xfrm>
      </p:grpSpPr>
      <p:sp>
        <p:nvSpPr>
          <p:cNvPr id="12" name="Title Placeholder 1">
            <a:extLst>
              <a:ext uri="{FF2B5EF4-FFF2-40B4-BE49-F238E27FC236}">
                <a16:creationId xmlns:a16="http://schemas.microsoft.com/office/drawing/2014/main" id="{6F060396-EEE3-A20F-EF3B-666AF65526C8}"/>
              </a:ext>
            </a:extLst>
          </p:cNvPr>
          <p:cNvSpPr>
            <a:spLocks noGrp="1"/>
          </p:cNvSpPr>
          <p:nvPr>
            <p:ph type="title" hasCustomPrompt="1"/>
          </p:nvPr>
        </p:nvSpPr>
        <p:spPr>
          <a:xfrm>
            <a:off x="628650" y="356615"/>
            <a:ext cx="7886700" cy="301752"/>
          </a:xfrm>
          <a:prstGeom prst="rect">
            <a:avLst/>
          </a:prstGeom>
        </p:spPr>
        <p:txBody>
          <a:bodyPr vert="horz" lIns="0" tIns="0" rIns="0" bIns="0" rtlCol="0" anchor="ctr">
            <a:noAutofit/>
          </a:bodyPr>
          <a:lstStyle>
            <a:lvl1pPr>
              <a:defRPr b="0"/>
            </a:lvl1pPr>
          </a:lstStyle>
          <a:p>
            <a:r>
              <a:rPr lang="en-US"/>
              <a:t>Click to Add Slide Title</a:t>
            </a:r>
          </a:p>
        </p:txBody>
      </p:sp>
    </p:spTree>
    <p:custDataLst>
      <p:tags r:id="rId1"/>
    </p:custDataLst>
    <p:extLst>
      <p:ext uri="{BB962C8B-B14F-4D97-AF65-F5344CB8AC3E}">
        <p14:creationId xmlns:p14="http://schemas.microsoft.com/office/powerpoint/2010/main" val="1707277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AS - Title &amp;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lgn="l">
              <a:defRPr b="0">
                <a:solidFill>
                  <a:schemeClr val="accent5">
                    <a:lumMod val="75000"/>
                  </a:schemeClr>
                </a:solidFill>
              </a:defRPr>
            </a:lvl1pPr>
          </a:lstStyle>
          <a:p>
            <a:r>
              <a:rPr lang="en-US"/>
              <a:t>Click to Add Slide Title</a:t>
            </a:r>
          </a:p>
        </p:txBody>
      </p:sp>
      <p:sp>
        <p:nvSpPr>
          <p:cNvPr id="5" name="Text Placeholder 4">
            <a:extLst>
              <a:ext uri="{FF2B5EF4-FFF2-40B4-BE49-F238E27FC236}">
                <a16:creationId xmlns:a16="http://schemas.microsoft.com/office/drawing/2014/main" id="{0040EF35-062A-4CF7-B99A-D6EF688F370B}"/>
              </a:ext>
            </a:extLst>
          </p:cNvPr>
          <p:cNvSpPr>
            <a:spLocks noGrp="1"/>
          </p:cNvSpPr>
          <p:nvPr>
            <p:ph type="body" sz="quarter" idx="10" hasCustomPrompt="1"/>
          </p:nvPr>
        </p:nvSpPr>
        <p:spPr>
          <a:xfrm>
            <a:off x="628650" y="781050"/>
            <a:ext cx="7886700" cy="274691"/>
          </a:xfrm>
          <a:prstGeom prst="rect">
            <a:avLst/>
          </a:prstGeom>
        </p:spPr>
        <p:txBody>
          <a:bodyPr anchor="t">
            <a:normAutofit/>
          </a:bodyPr>
          <a:lstStyle>
            <a:lvl1pPr marL="0" indent="0" algn="l">
              <a:buNone/>
              <a:defRPr>
                <a:solidFill>
                  <a:schemeClr val="bg2"/>
                </a:solidFill>
              </a:defRPr>
            </a:lvl1pPr>
            <a:lvl2pPr marL="182880" indent="0">
              <a:buNone/>
              <a:defRPr/>
            </a:lvl2pPr>
            <a:lvl3pPr marL="365760" indent="0">
              <a:buNone/>
              <a:defRPr/>
            </a:lvl3pPr>
            <a:lvl4pPr marL="1028700" indent="0">
              <a:buNone/>
              <a:defRPr/>
            </a:lvl4pPr>
            <a:lvl5pPr marL="13716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1204742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AS -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EE602-8CF0-8D58-B739-A4801ED580E0}"/>
              </a:ext>
            </a:extLst>
          </p:cNvPr>
          <p:cNvSpPr>
            <a:spLocks noGrp="1"/>
          </p:cNvSpPr>
          <p:nvPr>
            <p:ph type="title" hasCustomPrompt="1"/>
          </p:nvPr>
        </p:nvSpPr>
        <p:spPr/>
        <p:txBody>
          <a:bodyPr/>
          <a:lstStyle>
            <a:lvl1pPr>
              <a:defRPr b="0"/>
            </a:lvl1pPr>
          </a:lstStyle>
          <a:p>
            <a:r>
              <a:rPr lang="en-US"/>
              <a:t>Click to Add Slide Title</a:t>
            </a:r>
          </a:p>
        </p:txBody>
      </p:sp>
      <p:sp>
        <p:nvSpPr>
          <p:cNvPr id="5" name="Text Placeholder 4">
            <a:extLst>
              <a:ext uri="{FF2B5EF4-FFF2-40B4-BE49-F238E27FC236}">
                <a16:creationId xmlns:a16="http://schemas.microsoft.com/office/drawing/2014/main" id="{E60BBFDD-4B42-A371-0639-CB75499DE773}"/>
              </a:ext>
            </a:extLst>
          </p:cNvPr>
          <p:cNvSpPr>
            <a:spLocks noGrp="1"/>
          </p:cNvSpPr>
          <p:nvPr>
            <p:ph type="body" sz="quarter" idx="10" hasCustomPrompt="1"/>
          </p:nvPr>
        </p:nvSpPr>
        <p:spPr>
          <a:xfrm>
            <a:off x="628649" y="822960"/>
            <a:ext cx="7891272" cy="3840480"/>
          </a:xfrm>
        </p:spPr>
        <p:txBody>
          <a:bodyPr/>
          <a:lstStyle>
            <a:lvl1pPr>
              <a:defRPr/>
            </a:lvl1pPr>
            <a:lvl2pPr>
              <a:defRPr sz="1600"/>
            </a:lvl2pPr>
            <a:lvl3pPr>
              <a:defRPr sz="1600"/>
            </a:lvl3pPr>
          </a:lstStyle>
          <a:p>
            <a:pPr lvl="0"/>
            <a:r>
              <a:rPr lang="en-US"/>
              <a:t>Click to Edit Text</a:t>
            </a:r>
          </a:p>
          <a:p>
            <a:pPr lvl="1"/>
            <a:r>
              <a:rPr lang="en-US"/>
              <a:t>Second level</a:t>
            </a:r>
          </a:p>
          <a:p>
            <a:pPr lvl="2"/>
            <a:r>
              <a:rPr lang="en-US"/>
              <a:t>Third level</a:t>
            </a:r>
          </a:p>
        </p:txBody>
      </p:sp>
    </p:spTree>
    <p:extLst>
      <p:ext uri="{BB962C8B-B14F-4D97-AF65-F5344CB8AC3E}">
        <p14:creationId xmlns:p14="http://schemas.microsoft.com/office/powerpoint/2010/main" val="2656754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AS - Subtitile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b="0">
                <a:solidFill>
                  <a:schemeClr val="accent5">
                    <a:lumMod val="75000"/>
                  </a:schemeClr>
                </a:solidFill>
              </a:defRPr>
            </a:lvl1pPr>
          </a:lstStyle>
          <a:p>
            <a:r>
              <a:rPr lang="en-US"/>
              <a:t>Click to Add Slide Title</a:t>
            </a:r>
          </a:p>
        </p:txBody>
      </p:sp>
      <p:sp>
        <p:nvSpPr>
          <p:cNvPr id="4" name="Text Placeholder 2">
            <a:extLst>
              <a:ext uri="{FF2B5EF4-FFF2-40B4-BE49-F238E27FC236}">
                <a16:creationId xmlns:a16="http://schemas.microsoft.com/office/drawing/2014/main" id="{94E85CBA-188F-58DF-65B2-BD90C57AB500}"/>
              </a:ext>
            </a:extLst>
          </p:cNvPr>
          <p:cNvSpPr>
            <a:spLocks noGrp="1"/>
          </p:cNvSpPr>
          <p:nvPr>
            <p:ph idx="1"/>
          </p:nvPr>
        </p:nvSpPr>
        <p:spPr>
          <a:xfrm>
            <a:off x="628650" y="1200149"/>
            <a:ext cx="7886700" cy="3474720"/>
          </a:xfrm>
          <a:prstGeom prst="rect">
            <a:avLst/>
          </a:prstGeom>
        </p:spPr>
        <p:txBody>
          <a:bodyPr vert="horz" lIns="0" tIns="0" rIns="0" bIns="0" rtlCol="0">
            <a:normAutofit/>
          </a:bodyPr>
          <a:lstStyle>
            <a:lvl1pPr>
              <a:defRPr sz="1800"/>
            </a:lvl1pPr>
            <a:lvl2pPr>
              <a:defRPr sz="1600"/>
            </a:lvl2pPr>
            <a:lvl3pPr>
              <a:defRPr sz="1600">
                <a:latin typeface="+mn-lt"/>
              </a:defRPr>
            </a:lvl3pPr>
          </a:lstStyle>
          <a:p>
            <a:pPr lvl="0"/>
            <a:r>
              <a:rPr lang="en-US"/>
              <a:t>Click to edit Master text styles</a:t>
            </a:r>
          </a:p>
          <a:p>
            <a:pPr lvl="1"/>
            <a:r>
              <a:rPr lang="en-US"/>
              <a:t>Second level</a:t>
            </a:r>
          </a:p>
          <a:p>
            <a:pPr lvl="2"/>
            <a:r>
              <a:rPr lang="en-US"/>
              <a:t>Third level</a:t>
            </a:r>
          </a:p>
        </p:txBody>
      </p:sp>
      <p:sp>
        <p:nvSpPr>
          <p:cNvPr id="8" name="Text Placeholder 4">
            <a:extLst>
              <a:ext uri="{FF2B5EF4-FFF2-40B4-BE49-F238E27FC236}">
                <a16:creationId xmlns:a16="http://schemas.microsoft.com/office/drawing/2014/main" id="{9A71ABFD-7D9E-8B81-8F10-AD3B259CD532}"/>
              </a:ext>
            </a:extLst>
          </p:cNvPr>
          <p:cNvSpPr>
            <a:spLocks noGrp="1"/>
          </p:cNvSpPr>
          <p:nvPr>
            <p:ph type="body" sz="quarter" idx="10" hasCustomPrompt="1"/>
          </p:nvPr>
        </p:nvSpPr>
        <p:spPr>
          <a:xfrm>
            <a:off x="628650" y="781050"/>
            <a:ext cx="7886700" cy="274691"/>
          </a:xfrm>
          <a:prstGeom prst="rect">
            <a:avLst/>
          </a:prstGeom>
        </p:spPr>
        <p:txBody>
          <a:bodyPr anchor="t">
            <a:normAutofit/>
          </a:bodyPr>
          <a:lstStyle>
            <a:lvl1pPr marL="0" indent="0" algn="l">
              <a:buNone/>
              <a:defRPr>
                <a:solidFill>
                  <a:schemeClr val="bg2"/>
                </a:solidFill>
              </a:defRPr>
            </a:lvl1pPr>
            <a:lvl2pPr marL="182880" indent="0">
              <a:buNone/>
              <a:defRPr/>
            </a:lvl2pPr>
            <a:lvl3pPr marL="365760" indent="0">
              <a:buNone/>
              <a:defRPr/>
            </a:lvl3pPr>
            <a:lvl4pPr marL="1028700" indent="0">
              <a:buNone/>
              <a:defRPr/>
            </a:lvl4pPr>
            <a:lvl5pPr marL="13716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7070315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AS - 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b="0">
                <a:solidFill>
                  <a:schemeClr val="accent5">
                    <a:lumMod val="75000"/>
                  </a:schemeClr>
                </a:solidFill>
              </a:defRPr>
            </a:lvl1pPr>
          </a:lstStyle>
          <a:p>
            <a:r>
              <a:rPr lang="en-US"/>
              <a:t>Click to Add Slide Title</a:t>
            </a:r>
          </a:p>
        </p:txBody>
      </p:sp>
      <p:sp>
        <p:nvSpPr>
          <p:cNvPr id="5" name="Text Placeholder 2">
            <a:extLst>
              <a:ext uri="{FF2B5EF4-FFF2-40B4-BE49-F238E27FC236}">
                <a16:creationId xmlns:a16="http://schemas.microsoft.com/office/drawing/2014/main" id="{B37A3D09-8DDB-0D78-49A3-63D553286BAA}"/>
              </a:ext>
            </a:extLst>
          </p:cNvPr>
          <p:cNvSpPr>
            <a:spLocks noGrp="1"/>
          </p:cNvSpPr>
          <p:nvPr>
            <p:ph idx="1"/>
          </p:nvPr>
        </p:nvSpPr>
        <p:spPr>
          <a:xfrm>
            <a:off x="628650" y="1200149"/>
            <a:ext cx="3870923" cy="3474720"/>
          </a:xfrm>
          <a:prstGeom prst="rect">
            <a:avLst/>
          </a:prstGeom>
        </p:spPr>
        <p:txBody>
          <a:bodyPr vert="horz" lIns="0" tIns="0" rIns="0" bIns="0" rtlCol="0">
            <a:normAutofit/>
          </a:bodyPr>
          <a:lstStyle>
            <a:lvl1pPr>
              <a:defRPr sz="1800"/>
            </a:lvl1pPr>
            <a:lvl2pPr>
              <a:defRPr sz="1600">
                <a:latin typeface="+mn-lt"/>
              </a:defRPr>
            </a:lvl2pPr>
            <a:lvl3pPr>
              <a:defRPr sz="1600">
                <a:latin typeface="+mn-lt"/>
              </a:defRPr>
            </a:lvl3pPr>
          </a:lstStyle>
          <a:p>
            <a:pPr lvl="0"/>
            <a:r>
              <a:rPr lang="en-US"/>
              <a:t>Click to edit Master text styles</a:t>
            </a:r>
          </a:p>
          <a:p>
            <a:pPr lvl="1"/>
            <a:r>
              <a:rPr lang="en-US"/>
              <a:t>Second level</a:t>
            </a:r>
          </a:p>
          <a:p>
            <a:pPr lvl="2"/>
            <a:r>
              <a:rPr lang="en-US"/>
              <a:t>Third level</a:t>
            </a:r>
          </a:p>
        </p:txBody>
      </p:sp>
      <p:sp>
        <p:nvSpPr>
          <p:cNvPr id="7" name="Text Placeholder 2">
            <a:extLst>
              <a:ext uri="{FF2B5EF4-FFF2-40B4-BE49-F238E27FC236}">
                <a16:creationId xmlns:a16="http://schemas.microsoft.com/office/drawing/2014/main" id="{9EB0C531-8D77-DB91-D733-89B75593C437}"/>
              </a:ext>
            </a:extLst>
          </p:cNvPr>
          <p:cNvSpPr>
            <a:spLocks noGrp="1"/>
          </p:cNvSpPr>
          <p:nvPr>
            <p:ph idx="11"/>
          </p:nvPr>
        </p:nvSpPr>
        <p:spPr>
          <a:xfrm>
            <a:off x="4644428" y="1200149"/>
            <a:ext cx="3870924" cy="3474720"/>
          </a:xfrm>
          <a:prstGeom prst="rect">
            <a:avLst/>
          </a:prstGeom>
        </p:spPr>
        <p:txBody>
          <a:bodyPr vert="horz" lIns="0" tIns="0" rIns="0" bIns="0" rtlCol="0">
            <a:normAutofit/>
          </a:bodyPr>
          <a:lstStyle>
            <a:lvl1pPr>
              <a:defRPr sz="1800"/>
            </a:lvl1pPr>
            <a:lvl2pPr>
              <a:defRPr sz="1600">
                <a:latin typeface="+mn-lt"/>
              </a:defRPr>
            </a:lvl2pPr>
            <a:lvl3pPr>
              <a:defRPr sz="1600">
                <a:latin typeface="+mn-lt"/>
              </a:defRPr>
            </a:lvl3pPr>
          </a:lstStyle>
          <a:p>
            <a:pPr lvl="0"/>
            <a:r>
              <a:rPr lang="en-US"/>
              <a:t>Click to edit Master text styles</a:t>
            </a:r>
          </a:p>
          <a:p>
            <a:pPr lvl="1"/>
            <a:r>
              <a:rPr lang="en-US"/>
              <a:t>Second level</a:t>
            </a:r>
          </a:p>
          <a:p>
            <a:pPr lvl="2"/>
            <a:r>
              <a:rPr lang="en-US"/>
              <a:t>Third level</a:t>
            </a:r>
          </a:p>
        </p:txBody>
      </p:sp>
      <p:sp>
        <p:nvSpPr>
          <p:cNvPr id="9" name="Text Placeholder 4">
            <a:extLst>
              <a:ext uri="{FF2B5EF4-FFF2-40B4-BE49-F238E27FC236}">
                <a16:creationId xmlns:a16="http://schemas.microsoft.com/office/drawing/2014/main" id="{528E5A1D-0F7C-C89E-926C-359A1E6C4B96}"/>
              </a:ext>
            </a:extLst>
          </p:cNvPr>
          <p:cNvSpPr>
            <a:spLocks noGrp="1"/>
          </p:cNvSpPr>
          <p:nvPr>
            <p:ph type="body" sz="quarter" idx="10" hasCustomPrompt="1"/>
          </p:nvPr>
        </p:nvSpPr>
        <p:spPr>
          <a:xfrm>
            <a:off x="628650" y="781050"/>
            <a:ext cx="7886700" cy="274691"/>
          </a:xfrm>
          <a:prstGeom prst="rect">
            <a:avLst/>
          </a:prstGeom>
        </p:spPr>
        <p:txBody>
          <a:bodyPr anchor="t">
            <a:normAutofit/>
          </a:bodyPr>
          <a:lstStyle>
            <a:lvl1pPr marL="0" indent="0" algn="l">
              <a:buNone/>
              <a:defRPr>
                <a:solidFill>
                  <a:schemeClr val="bg2"/>
                </a:solidFill>
              </a:defRPr>
            </a:lvl1pPr>
            <a:lvl2pPr marL="182880" indent="0">
              <a:buNone/>
              <a:defRPr/>
            </a:lvl2pPr>
            <a:lvl3pPr marL="365760" indent="0">
              <a:buNone/>
              <a:defRPr/>
            </a:lvl3pPr>
            <a:lvl4pPr marL="1028700" indent="0">
              <a:buNone/>
              <a:defRPr/>
            </a:lvl4pPr>
            <a:lvl5pPr marL="1371600" indent="0">
              <a:buNone/>
              <a:defRPr/>
            </a:lvl5pPr>
          </a:lstStyle>
          <a:p>
            <a:pPr lvl="0"/>
            <a:r>
              <a:rPr lang="en-US"/>
              <a:t>Click to Add Subtitle</a:t>
            </a:r>
          </a:p>
        </p:txBody>
      </p:sp>
    </p:spTree>
    <p:custDataLst>
      <p:tags r:id="rId1"/>
    </p:custDataLst>
    <p:extLst>
      <p:ext uri="{BB962C8B-B14F-4D97-AF65-F5344CB8AC3E}">
        <p14:creationId xmlns:p14="http://schemas.microsoft.com/office/powerpoint/2010/main" val="3304331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AS - Title Only Right">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932B69-D114-4F04-8825-FD80DE780B3F}"/>
              </a:ext>
            </a:extLst>
          </p:cNvPr>
          <p:cNvSpPr>
            <a:spLocks noGrp="1"/>
          </p:cNvSpPr>
          <p:nvPr>
            <p:ph type="title" hasCustomPrompt="1"/>
          </p:nvPr>
        </p:nvSpPr>
        <p:spPr>
          <a:xfrm>
            <a:off x="628649" y="2433250"/>
            <a:ext cx="7900989" cy="276999"/>
          </a:xfrm>
          <a:prstGeom prst="rect">
            <a:avLst/>
          </a:prstGeom>
        </p:spPr>
        <p:txBody>
          <a:bodyPr vert="horz" wrap="square" lIns="0" tIns="0" rIns="0" bIns="0" rtlCol="0" anchor="ctr">
            <a:spAutoFit/>
          </a:bodyPr>
          <a:lstStyle>
            <a:lvl1pPr>
              <a:defRPr b="0"/>
            </a:lvl1pPr>
          </a:lstStyle>
          <a:p>
            <a:r>
              <a:rPr lang="en-US"/>
              <a:t>Click to Add Slide Title</a:t>
            </a:r>
          </a:p>
        </p:txBody>
      </p:sp>
    </p:spTree>
    <p:custDataLst>
      <p:tags r:id="rId1"/>
    </p:custDataLst>
    <p:extLst>
      <p:ext uri="{BB962C8B-B14F-4D97-AF65-F5344CB8AC3E}">
        <p14:creationId xmlns:p14="http://schemas.microsoft.com/office/powerpoint/2010/main" val="2949871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AS - Title &amp; Subtitle Right">
    <p:bg>
      <p:bgPr>
        <a:solidFill>
          <a:schemeClr val="bg1"/>
        </a:solid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DCB0DC36-25B4-46CA-542D-A6308DDA0A46}"/>
              </a:ext>
            </a:extLst>
          </p:cNvPr>
          <p:cNvSpPr>
            <a:spLocks noGrp="1"/>
          </p:cNvSpPr>
          <p:nvPr>
            <p:ph type="body" sz="quarter" idx="10" hasCustomPrompt="1"/>
          </p:nvPr>
        </p:nvSpPr>
        <p:spPr>
          <a:xfrm>
            <a:off x="626216" y="2824762"/>
            <a:ext cx="7912570" cy="274691"/>
          </a:xfrm>
          <a:prstGeom prst="rect">
            <a:avLst/>
          </a:prstGeom>
        </p:spPr>
        <p:txBody>
          <a:bodyPr wrap="square" anchor="t">
            <a:noAutofit/>
          </a:bodyPr>
          <a:lstStyle>
            <a:lvl1pPr marL="0" indent="0" algn="l">
              <a:buNone/>
              <a:defRPr>
                <a:solidFill>
                  <a:schemeClr val="bg2"/>
                </a:solidFill>
              </a:defRPr>
            </a:lvl1pPr>
            <a:lvl2pPr marL="182880" indent="0">
              <a:buNone/>
              <a:defRPr/>
            </a:lvl2pPr>
            <a:lvl3pPr marL="365760" indent="0">
              <a:buNone/>
              <a:defRPr/>
            </a:lvl3pPr>
            <a:lvl4pPr marL="1028700" indent="0">
              <a:buNone/>
              <a:defRPr/>
            </a:lvl4pPr>
            <a:lvl5pPr marL="1371600" indent="0">
              <a:buNone/>
              <a:defRPr/>
            </a:lvl5pPr>
          </a:lstStyle>
          <a:p>
            <a:pPr lvl="0"/>
            <a:r>
              <a:rPr lang="en-US"/>
              <a:t>Click to Add Subtitle</a:t>
            </a:r>
          </a:p>
        </p:txBody>
      </p:sp>
      <p:sp>
        <p:nvSpPr>
          <p:cNvPr id="3" name="Title 2">
            <a:extLst>
              <a:ext uri="{FF2B5EF4-FFF2-40B4-BE49-F238E27FC236}">
                <a16:creationId xmlns:a16="http://schemas.microsoft.com/office/drawing/2014/main" id="{E84AF2B1-1A71-31A3-C679-D3E1148BD910}"/>
              </a:ext>
            </a:extLst>
          </p:cNvPr>
          <p:cNvSpPr>
            <a:spLocks noGrp="1"/>
          </p:cNvSpPr>
          <p:nvPr>
            <p:ph type="title" hasCustomPrompt="1"/>
          </p:nvPr>
        </p:nvSpPr>
        <p:spPr>
          <a:xfrm>
            <a:off x="626216" y="2432304"/>
            <a:ext cx="7900416" cy="276999"/>
          </a:xfrm>
        </p:spPr>
        <p:txBody>
          <a:bodyPr vert="horz" wrap="square" lIns="0" tIns="0" rIns="0" bIns="0" rtlCol="0" anchor="b" anchorCtr="0">
            <a:spAutoFit/>
          </a:bodyPr>
          <a:lstStyle>
            <a:lvl1pPr>
              <a:defRPr lang="en-US" b="0"/>
            </a:lvl1pPr>
          </a:lstStyle>
          <a:p>
            <a:pPr marL="0" lvl="0">
              <a:lnSpc>
                <a:spcPct val="90000"/>
              </a:lnSpc>
              <a:spcBef>
                <a:spcPct val="0"/>
              </a:spcBef>
              <a:buNone/>
            </a:pPr>
            <a:r>
              <a:rPr lang="en-US"/>
              <a:t>Click to Add Slide Title</a:t>
            </a:r>
          </a:p>
        </p:txBody>
      </p:sp>
    </p:spTree>
    <p:custDataLst>
      <p:tags r:id="rId1"/>
    </p:custDataLst>
    <p:extLst>
      <p:ext uri="{BB962C8B-B14F-4D97-AF65-F5344CB8AC3E}">
        <p14:creationId xmlns:p14="http://schemas.microsoft.com/office/powerpoint/2010/main" val="233067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AS - Closing">
    <p:bg>
      <p:bgPr>
        <a:solidFill>
          <a:schemeClr val="bg2"/>
        </a:solidFill>
        <a:effectLst/>
      </p:bgPr>
    </p:bg>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B679E91-B2F1-7013-ED34-D7763B653081}"/>
              </a:ext>
            </a:extLst>
          </p:cNvPr>
          <p:cNvSpPr>
            <a:spLocks noGrp="1"/>
          </p:cNvSpPr>
          <p:nvPr>
            <p:ph type="title" hasCustomPrompt="1"/>
          </p:nvPr>
        </p:nvSpPr>
        <p:spPr>
          <a:xfrm>
            <a:off x="626216" y="2279923"/>
            <a:ext cx="6531567" cy="738664"/>
          </a:xfrm>
          <a:prstGeom prst="rect">
            <a:avLst/>
          </a:prstGeom>
        </p:spPr>
        <p:txBody>
          <a:bodyPr vert="horz" wrap="square" lIns="0" tIns="0" rIns="0" bIns="182880" rtlCol="0" anchor="ctr" anchorCtr="0">
            <a:spAutoFit/>
          </a:bodyPr>
          <a:lstStyle>
            <a:lvl1pPr>
              <a:lnSpc>
                <a:spcPct val="100000"/>
              </a:lnSpc>
              <a:spcBef>
                <a:spcPts val="300"/>
              </a:spcBef>
              <a:defRPr sz="3600" b="0">
                <a:solidFill>
                  <a:schemeClr val="bg1"/>
                </a:solidFill>
              </a:defRPr>
            </a:lvl1pPr>
          </a:lstStyle>
          <a:p>
            <a:r>
              <a:rPr lang="en-US"/>
              <a:t>Click to Add Slideshow Closing</a:t>
            </a:r>
          </a:p>
        </p:txBody>
      </p:sp>
      <p:sp>
        <p:nvSpPr>
          <p:cNvPr id="2" name="Text Placeholder 15">
            <a:extLst>
              <a:ext uri="{FF2B5EF4-FFF2-40B4-BE49-F238E27FC236}">
                <a16:creationId xmlns:a16="http://schemas.microsoft.com/office/drawing/2014/main" id="{514B8423-CFFD-1921-7480-8BEC78F05FFD}"/>
              </a:ext>
            </a:extLst>
          </p:cNvPr>
          <p:cNvSpPr>
            <a:spLocks noGrp="1"/>
          </p:cNvSpPr>
          <p:nvPr>
            <p:ph type="body" sz="quarter" idx="11" hasCustomPrompt="1"/>
          </p:nvPr>
        </p:nvSpPr>
        <p:spPr>
          <a:xfrm>
            <a:off x="626216" y="4138489"/>
            <a:ext cx="6061861" cy="528761"/>
          </a:xfrm>
          <a:prstGeom prst="rect">
            <a:avLst/>
          </a:prstGeom>
        </p:spPr>
        <p:txBody>
          <a:bodyPr wrap="square" anchor="ctr" anchorCtr="0">
            <a:noAutofit/>
          </a:bodyPr>
          <a:lstStyle>
            <a:lvl1pPr marL="0" indent="0">
              <a:lnSpc>
                <a:spcPct val="100000"/>
              </a:lnSpc>
              <a:spcBef>
                <a:spcPts val="300"/>
              </a:spcBef>
              <a:buNone/>
              <a:defRPr sz="1400">
                <a:solidFill>
                  <a:schemeClr val="bg1"/>
                </a:solidFill>
              </a:defRPr>
            </a:lvl1pPr>
            <a:lvl2pPr marL="182880" indent="0">
              <a:buNone/>
              <a:defRPr sz="1100">
                <a:solidFill>
                  <a:schemeClr val="accent3"/>
                </a:solidFill>
              </a:defRPr>
            </a:lvl2pPr>
            <a:lvl3pPr marL="365760" indent="0">
              <a:buNone/>
              <a:defRPr sz="1050">
                <a:solidFill>
                  <a:schemeClr val="accent3"/>
                </a:solidFill>
              </a:defRPr>
            </a:lvl3pPr>
            <a:lvl4pPr marL="1028700" indent="0">
              <a:buNone/>
              <a:defRPr sz="1000">
                <a:solidFill>
                  <a:schemeClr val="accent3"/>
                </a:solidFill>
              </a:defRPr>
            </a:lvl4pPr>
            <a:lvl5pPr marL="1371600" indent="0">
              <a:buNone/>
              <a:defRPr sz="1000">
                <a:solidFill>
                  <a:schemeClr val="accent3"/>
                </a:solidFill>
              </a:defRPr>
            </a:lvl5pPr>
          </a:lstStyle>
          <a:p>
            <a:pPr lvl="0"/>
            <a:r>
              <a:rPr lang="en-US"/>
              <a:t>Click to add a website or email</a:t>
            </a:r>
          </a:p>
        </p:txBody>
      </p:sp>
    </p:spTree>
    <p:custDataLst>
      <p:tags r:id="rId1"/>
    </p:custDataLst>
    <p:extLst>
      <p:ext uri="{BB962C8B-B14F-4D97-AF65-F5344CB8AC3E}">
        <p14:creationId xmlns:p14="http://schemas.microsoft.com/office/powerpoint/2010/main" val="3146329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AS - Blank Blue">
    <p:bg>
      <p:bgPr>
        <a:solidFill>
          <a:schemeClr val="bg2"/>
        </a:solidFill>
        <a:effectLst/>
      </p:bgPr>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944881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AS - Blank -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214DE9-CDD2-3C22-E128-264FF9EB0EA3}"/>
              </a:ext>
            </a:extLst>
          </p:cNvPr>
          <p:cNvSpPr/>
          <p:nvPr userDrawn="1"/>
        </p:nvSpPr>
        <p:spPr>
          <a:xfrm>
            <a:off x="170688" y="-1"/>
            <a:ext cx="499872" cy="1459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0" i="0">
              <a:latin typeface="Anova Light" panose="020B0403020203020204" pitchFamily="34" charset="0"/>
            </a:endParaRPr>
          </a:p>
        </p:txBody>
      </p:sp>
    </p:spTree>
    <p:custDataLst>
      <p:tags r:id="rId1"/>
    </p:custDataLst>
    <p:extLst>
      <p:ext uri="{BB962C8B-B14F-4D97-AF65-F5344CB8AC3E}">
        <p14:creationId xmlns:p14="http://schemas.microsoft.com/office/powerpoint/2010/main" val="392580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6="http://schemas.microsoft.com/office/drawing/2014/main"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SAS - Video Only">
    <p:bg>
      <p:bgPr>
        <a:solidFill>
          <a:schemeClr val="tx1"/>
        </a:solidFill>
        <a:effectLst/>
      </p:bgPr>
    </p:bg>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3166190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ractice">
    <p:bg>
      <p:bgPr>
        <a:solidFill>
          <a:schemeClr val="bg2">
            <a:lumMod val="50000"/>
          </a:schemeClr>
        </a:solidFill>
        <a:effectLst/>
      </p:bgPr>
    </p:bg>
    <p:spTree>
      <p:nvGrpSpPr>
        <p:cNvPr id="1" name=""/>
        <p:cNvGrpSpPr/>
        <p:nvPr/>
      </p:nvGrpSpPr>
      <p:grpSpPr>
        <a:xfrm>
          <a:off x="0" y="0"/>
          <a:ext cx="0" cy="0"/>
          <a:chOff x="0" y="0"/>
          <a:chExt cx="0" cy="0"/>
        </a:xfrm>
      </p:grpSpPr>
      <p:sp>
        <p:nvSpPr>
          <p:cNvPr id="97" name="Rectangle: Rounded Corners 96">
            <a:extLst>
              <a:ext uri="{FF2B5EF4-FFF2-40B4-BE49-F238E27FC236}">
                <a16:creationId xmlns:a16="http://schemas.microsoft.com/office/drawing/2014/main" id="{6BE99F92-E630-A630-7FB5-C807830ED434}"/>
              </a:ext>
            </a:extLst>
          </p:cNvPr>
          <p:cNvSpPr/>
          <p:nvPr userDrawn="1"/>
        </p:nvSpPr>
        <p:spPr>
          <a:xfrm>
            <a:off x="7839075" y="4503351"/>
            <a:ext cx="1304925" cy="640080"/>
          </a:xfrm>
          <a:prstGeom prst="roundRect">
            <a:avLst>
              <a:gd name="adj" fmla="val 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8" name="Group 97">
            <a:extLst>
              <a:ext uri="{FF2B5EF4-FFF2-40B4-BE49-F238E27FC236}">
                <a16:creationId xmlns:a16="http://schemas.microsoft.com/office/drawing/2014/main" id="{B0C6BC8E-3564-C2C7-44CB-AD6ACB5C65A2}"/>
              </a:ext>
            </a:extLst>
          </p:cNvPr>
          <p:cNvGrpSpPr/>
          <p:nvPr userDrawn="1"/>
        </p:nvGrpSpPr>
        <p:grpSpPr>
          <a:xfrm>
            <a:off x="3045672" y="4503351"/>
            <a:ext cx="2316023" cy="640080"/>
            <a:chOff x="3057205" y="4509701"/>
            <a:chExt cx="2316023" cy="640080"/>
          </a:xfrm>
        </p:grpSpPr>
        <p:sp>
          <p:nvSpPr>
            <p:cNvPr id="108" name="Rectangle: Rounded Corners 107">
              <a:extLst>
                <a:ext uri="{FF2B5EF4-FFF2-40B4-BE49-F238E27FC236}">
                  <a16:creationId xmlns:a16="http://schemas.microsoft.com/office/drawing/2014/main" id="{30636DD3-536A-E31E-EB32-65F642F64CC6}"/>
                </a:ext>
              </a:extLst>
            </p:cNvPr>
            <p:cNvSpPr/>
            <p:nvPr userDrawn="1"/>
          </p:nvSpPr>
          <p:spPr>
            <a:xfrm>
              <a:off x="3057205" y="4509701"/>
              <a:ext cx="2293192" cy="6400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6F0B4BD-52EB-8361-1F20-213DF1F47FC8}"/>
                </a:ext>
              </a:extLst>
            </p:cNvPr>
            <p:cNvSpPr>
              <a:spLocks noChangeAspect="1"/>
            </p:cNvSpPr>
            <p:nvPr userDrawn="1"/>
          </p:nvSpPr>
          <p:spPr>
            <a:xfrm>
              <a:off x="4733148" y="4509701"/>
              <a:ext cx="640080" cy="64008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9" name="Rectangle: Rounded Corners 98">
            <a:extLst>
              <a:ext uri="{FF2B5EF4-FFF2-40B4-BE49-F238E27FC236}">
                <a16:creationId xmlns:a16="http://schemas.microsoft.com/office/drawing/2014/main" id="{B480A420-2995-3834-0193-22D8DF885469}"/>
              </a:ext>
            </a:extLst>
          </p:cNvPr>
          <p:cNvSpPr/>
          <p:nvPr userDrawn="1"/>
        </p:nvSpPr>
        <p:spPr>
          <a:xfrm>
            <a:off x="6009976" y="4503351"/>
            <a:ext cx="1504387" cy="6400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F586C8B-B36E-1092-C171-8D9B691841C4}"/>
              </a:ext>
            </a:extLst>
          </p:cNvPr>
          <p:cNvSpPr>
            <a:spLocks noChangeAspect="1"/>
          </p:cNvSpPr>
          <p:nvPr userDrawn="1"/>
        </p:nvSpPr>
        <p:spPr>
          <a:xfrm>
            <a:off x="5369896" y="4503351"/>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1" name="Group 100">
            <a:extLst>
              <a:ext uri="{FF2B5EF4-FFF2-40B4-BE49-F238E27FC236}">
                <a16:creationId xmlns:a16="http://schemas.microsoft.com/office/drawing/2014/main" id="{E3F99193-DA0C-AC88-A2F0-CD26CF3D070C}"/>
              </a:ext>
            </a:extLst>
          </p:cNvPr>
          <p:cNvGrpSpPr/>
          <p:nvPr userDrawn="1"/>
        </p:nvGrpSpPr>
        <p:grpSpPr>
          <a:xfrm>
            <a:off x="1530997" y="4503351"/>
            <a:ext cx="2295278" cy="640080"/>
            <a:chOff x="1550731" y="4509701"/>
            <a:chExt cx="2295278" cy="640080"/>
          </a:xfrm>
        </p:grpSpPr>
        <p:sp>
          <p:nvSpPr>
            <p:cNvPr id="106" name="Rectangle: Rounded Corners 105">
              <a:extLst>
                <a:ext uri="{FF2B5EF4-FFF2-40B4-BE49-F238E27FC236}">
                  <a16:creationId xmlns:a16="http://schemas.microsoft.com/office/drawing/2014/main" id="{23FEF4E8-F0F4-F99E-9839-EF56B0D5CF44}"/>
                </a:ext>
              </a:extLst>
            </p:cNvPr>
            <p:cNvSpPr/>
            <p:nvPr userDrawn="1"/>
          </p:nvSpPr>
          <p:spPr>
            <a:xfrm>
              <a:off x="1550731" y="4509701"/>
              <a:ext cx="2295278" cy="640080"/>
            </a:xfrm>
            <a:prstGeom prst="roundRect">
              <a:avLst>
                <a:gd name="adj" fmla="val 5000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9B6DEF49-1B6C-963C-EC59-42676D20C66B}"/>
                </a:ext>
              </a:extLst>
            </p:cNvPr>
            <p:cNvSpPr>
              <a:spLocks noChangeAspect="1"/>
            </p:cNvSpPr>
            <p:nvPr userDrawn="1"/>
          </p:nvSpPr>
          <p:spPr>
            <a:xfrm>
              <a:off x="1988028" y="4509701"/>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Rounded Corners 103">
            <a:extLst>
              <a:ext uri="{FF2B5EF4-FFF2-40B4-BE49-F238E27FC236}">
                <a16:creationId xmlns:a16="http://schemas.microsoft.com/office/drawing/2014/main" id="{9E59E30E-2FED-7A87-03DF-92630BCDBBC8}"/>
              </a:ext>
            </a:extLst>
          </p:cNvPr>
          <p:cNvSpPr/>
          <p:nvPr userDrawn="1"/>
        </p:nvSpPr>
        <p:spPr>
          <a:xfrm>
            <a:off x="1" y="4503351"/>
            <a:ext cx="1204912" cy="640080"/>
          </a:xfrm>
          <a:prstGeom prst="roundRect">
            <a:avLst>
              <a:gd name="adj" fmla="val 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3C70FBC3-A535-28F1-38D8-8E03C6FAD7BF}"/>
              </a:ext>
            </a:extLst>
          </p:cNvPr>
          <p:cNvSpPr>
            <a:spLocks noChangeAspect="1"/>
          </p:cNvSpPr>
          <p:nvPr userDrawn="1"/>
        </p:nvSpPr>
        <p:spPr>
          <a:xfrm>
            <a:off x="882716" y="4503351"/>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13">
            <a:extLst>
              <a:ext uri="{FF2B5EF4-FFF2-40B4-BE49-F238E27FC236}">
                <a16:creationId xmlns:a16="http://schemas.microsoft.com/office/drawing/2014/main" id="{D098D5D3-5E3B-363E-F15C-48E5B8675BF3}"/>
              </a:ext>
            </a:extLst>
          </p:cNvPr>
          <p:cNvSpPr>
            <a:spLocks noGrp="1"/>
          </p:cNvSpPr>
          <p:nvPr userDrawn="1">
            <p:ph type="body" sz="quarter" idx="10" hasCustomPrompt="1"/>
          </p:nvPr>
        </p:nvSpPr>
        <p:spPr>
          <a:xfrm>
            <a:off x="626216" y="2671377"/>
            <a:ext cx="7730975" cy="461665"/>
          </a:xfrm>
          <a:prstGeom prst="rect">
            <a:avLst/>
          </a:prstGeom>
        </p:spPr>
        <p:txBody>
          <a:bodyPr wrap="square" anchor="t" anchorCtr="0">
            <a:noAutofit/>
          </a:bodyPr>
          <a:lstStyle>
            <a:lvl1pPr marL="0" indent="0">
              <a:lnSpc>
                <a:spcPct val="100000"/>
              </a:lnSpc>
              <a:spcBef>
                <a:spcPts val="300"/>
              </a:spcBef>
              <a:buNone/>
              <a:defRPr sz="2000">
                <a:solidFill>
                  <a:schemeClr val="bg1"/>
                </a:solidFill>
              </a:defRPr>
            </a:lvl1pPr>
            <a:lvl2pPr marL="182880" indent="0">
              <a:buNone/>
              <a:defRPr>
                <a:solidFill>
                  <a:schemeClr val="accent3"/>
                </a:solidFill>
              </a:defRPr>
            </a:lvl2pPr>
            <a:lvl3pPr marL="365760" indent="0">
              <a:buNone/>
              <a:defRPr>
                <a:solidFill>
                  <a:schemeClr val="accent3"/>
                </a:solidFill>
              </a:defRPr>
            </a:lvl3pPr>
            <a:lvl4pPr marL="1028700" indent="0">
              <a:buNone/>
              <a:defRPr>
                <a:solidFill>
                  <a:schemeClr val="accent3"/>
                </a:solidFill>
              </a:defRPr>
            </a:lvl4pPr>
            <a:lvl5pPr marL="1371600" indent="0">
              <a:buNone/>
              <a:defRPr>
                <a:solidFill>
                  <a:schemeClr val="accent3"/>
                </a:solidFill>
              </a:defRPr>
            </a:lvl5pPr>
          </a:lstStyle>
          <a:p>
            <a:pPr lvl="0"/>
            <a:r>
              <a:rPr lang="en-US"/>
              <a:t>Click to Add Practice Title</a:t>
            </a:r>
          </a:p>
        </p:txBody>
      </p:sp>
      <p:sp>
        <p:nvSpPr>
          <p:cNvPr id="125" name="Oval 124">
            <a:extLst>
              <a:ext uri="{FF2B5EF4-FFF2-40B4-BE49-F238E27FC236}">
                <a16:creationId xmlns:a16="http://schemas.microsoft.com/office/drawing/2014/main" id="{690A4B5D-B031-C9D3-EBE5-97F13EE76357}"/>
              </a:ext>
            </a:extLst>
          </p:cNvPr>
          <p:cNvSpPr>
            <a:spLocks noChangeAspect="1"/>
          </p:cNvSpPr>
          <p:nvPr userDrawn="1"/>
        </p:nvSpPr>
        <p:spPr>
          <a:xfrm>
            <a:off x="7518155" y="4503351"/>
            <a:ext cx="640080" cy="64008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B10325-FD70-B91E-28CB-6B69995D0B33}"/>
              </a:ext>
            </a:extLst>
          </p:cNvPr>
          <p:cNvSpPr txBox="1"/>
          <p:nvPr userDrawn="1"/>
        </p:nvSpPr>
        <p:spPr>
          <a:xfrm>
            <a:off x="630936" y="1929384"/>
            <a:ext cx="7735824" cy="676656"/>
          </a:xfrm>
          <a:prstGeom prst="rect">
            <a:avLst/>
          </a:prstGeom>
          <a:noFill/>
        </p:spPr>
        <p:txBody>
          <a:bodyPr wrap="square" lIns="0" tIns="0" rIns="0" bIns="0" rtlCol="0">
            <a:spAutoFit/>
          </a:bodyPr>
          <a:lstStyle/>
          <a:p>
            <a:pPr algn="l"/>
            <a:r>
              <a:rPr kumimoji="0" lang="en-US" sz="3200" b="0" i="0" u="none" strike="noStrike" kern="1200" cap="none" spc="0" normalizeH="0" baseline="0" noProof="0">
                <a:ln>
                  <a:noFill/>
                </a:ln>
                <a:solidFill>
                  <a:schemeClr val="bg1"/>
                </a:solidFill>
                <a:effectLst/>
                <a:uLnTx/>
                <a:uFillTx/>
                <a:latin typeface="Anova Bold" panose="020B0503020203020204" pitchFamily="34" charset="0"/>
                <a:ea typeface="+mj-ea"/>
                <a:cs typeface="+mj-cs"/>
              </a:rPr>
              <a:t>Practice</a:t>
            </a:r>
            <a:endParaRPr lang="en-US" sz="2800" dirty="0">
              <a:solidFill>
                <a:schemeClr val="bg1"/>
              </a:solidFill>
            </a:endParaRPr>
          </a:p>
        </p:txBody>
      </p:sp>
    </p:spTree>
    <p:extLst>
      <p:ext uri="{BB962C8B-B14F-4D97-AF65-F5344CB8AC3E}">
        <p14:creationId xmlns:p14="http://schemas.microsoft.com/office/powerpoint/2010/main" val="3994146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Practice - Timed">
    <p:bg>
      <p:bgPr>
        <a:solidFill>
          <a:schemeClr val="bg2">
            <a:lumMod val="50000"/>
          </a:schemeClr>
        </a:solidFill>
        <a:effectLst/>
      </p:bgPr>
    </p:bg>
    <p:spTree>
      <p:nvGrpSpPr>
        <p:cNvPr id="1" name=""/>
        <p:cNvGrpSpPr/>
        <p:nvPr/>
      </p:nvGrpSpPr>
      <p:grpSpPr>
        <a:xfrm>
          <a:off x="0" y="0"/>
          <a:ext cx="0" cy="0"/>
          <a:chOff x="0" y="0"/>
          <a:chExt cx="0" cy="0"/>
        </a:xfrm>
      </p:grpSpPr>
      <p:sp>
        <p:nvSpPr>
          <p:cNvPr id="97" name="Rectangle: Rounded Corners 96">
            <a:extLst>
              <a:ext uri="{FF2B5EF4-FFF2-40B4-BE49-F238E27FC236}">
                <a16:creationId xmlns:a16="http://schemas.microsoft.com/office/drawing/2014/main" id="{6BE99F92-E630-A630-7FB5-C807830ED434}"/>
              </a:ext>
            </a:extLst>
          </p:cNvPr>
          <p:cNvSpPr/>
          <p:nvPr userDrawn="1"/>
        </p:nvSpPr>
        <p:spPr>
          <a:xfrm>
            <a:off x="7839075" y="4503351"/>
            <a:ext cx="1304925" cy="640080"/>
          </a:xfrm>
          <a:prstGeom prst="roundRect">
            <a:avLst>
              <a:gd name="adj" fmla="val 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8" name="Group 97">
            <a:extLst>
              <a:ext uri="{FF2B5EF4-FFF2-40B4-BE49-F238E27FC236}">
                <a16:creationId xmlns:a16="http://schemas.microsoft.com/office/drawing/2014/main" id="{B0C6BC8E-3564-C2C7-44CB-AD6ACB5C65A2}"/>
              </a:ext>
            </a:extLst>
          </p:cNvPr>
          <p:cNvGrpSpPr/>
          <p:nvPr userDrawn="1"/>
        </p:nvGrpSpPr>
        <p:grpSpPr>
          <a:xfrm>
            <a:off x="3045672" y="4503351"/>
            <a:ext cx="2316023" cy="640080"/>
            <a:chOff x="3057205" y="4509701"/>
            <a:chExt cx="2316023" cy="640080"/>
          </a:xfrm>
        </p:grpSpPr>
        <p:sp>
          <p:nvSpPr>
            <p:cNvPr id="108" name="Rectangle: Rounded Corners 107">
              <a:extLst>
                <a:ext uri="{FF2B5EF4-FFF2-40B4-BE49-F238E27FC236}">
                  <a16:creationId xmlns:a16="http://schemas.microsoft.com/office/drawing/2014/main" id="{30636DD3-536A-E31E-EB32-65F642F64CC6}"/>
                </a:ext>
              </a:extLst>
            </p:cNvPr>
            <p:cNvSpPr/>
            <p:nvPr userDrawn="1"/>
          </p:nvSpPr>
          <p:spPr>
            <a:xfrm>
              <a:off x="3057205" y="4509701"/>
              <a:ext cx="2293192" cy="6400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16F0B4BD-52EB-8361-1F20-213DF1F47FC8}"/>
                </a:ext>
              </a:extLst>
            </p:cNvPr>
            <p:cNvSpPr>
              <a:spLocks noChangeAspect="1"/>
            </p:cNvSpPr>
            <p:nvPr userDrawn="1"/>
          </p:nvSpPr>
          <p:spPr>
            <a:xfrm>
              <a:off x="4733148" y="4509701"/>
              <a:ext cx="640080" cy="64008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9" name="Rectangle: Rounded Corners 98">
            <a:extLst>
              <a:ext uri="{FF2B5EF4-FFF2-40B4-BE49-F238E27FC236}">
                <a16:creationId xmlns:a16="http://schemas.microsoft.com/office/drawing/2014/main" id="{B480A420-2995-3834-0193-22D8DF885469}"/>
              </a:ext>
            </a:extLst>
          </p:cNvPr>
          <p:cNvSpPr/>
          <p:nvPr userDrawn="1"/>
        </p:nvSpPr>
        <p:spPr>
          <a:xfrm>
            <a:off x="6009976" y="4503351"/>
            <a:ext cx="1504387" cy="6400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FF586C8B-B36E-1092-C171-8D9B691841C4}"/>
              </a:ext>
            </a:extLst>
          </p:cNvPr>
          <p:cNvSpPr>
            <a:spLocks noChangeAspect="1"/>
          </p:cNvSpPr>
          <p:nvPr userDrawn="1"/>
        </p:nvSpPr>
        <p:spPr>
          <a:xfrm>
            <a:off x="5369896" y="4503351"/>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1" name="Group 100">
            <a:extLst>
              <a:ext uri="{FF2B5EF4-FFF2-40B4-BE49-F238E27FC236}">
                <a16:creationId xmlns:a16="http://schemas.microsoft.com/office/drawing/2014/main" id="{E3F99193-DA0C-AC88-A2F0-CD26CF3D070C}"/>
              </a:ext>
            </a:extLst>
          </p:cNvPr>
          <p:cNvGrpSpPr/>
          <p:nvPr userDrawn="1"/>
        </p:nvGrpSpPr>
        <p:grpSpPr>
          <a:xfrm>
            <a:off x="1530997" y="4503351"/>
            <a:ext cx="2295278" cy="640080"/>
            <a:chOff x="1550731" y="4509701"/>
            <a:chExt cx="2295278" cy="640080"/>
          </a:xfrm>
        </p:grpSpPr>
        <p:sp>
          <p:nvSpPr>
            <p:cNvPr id="106" name="Rectangle: Rounded Corners 105">
              <a:extLst>
                <a:ext uri="{FF2B5EF4-FFF2-40B4-BE49-F238E27FC236}">
                  <a16:creationId xmlns:a16="http://schemas.microsoft.com/office/drawing/2014/main" id="{23FEF4E8-F0F4-F99E-9839-EF56B0D5CF44}"/>
                </a:ext>
              </a:extLst>
            </p:cNvPr>
            <p:cNvSpPr/>
            <p:nvPr userDrawn="1"/>
          </p:nvSpPr>
          <p:spPr>
            <a:xfrm>
              <a:off x="1550731" y="4509701"/>
              <a:ext cx="2295278" cy="640080"/>
            </a:xfrm>
            <a:prstGeom prst="roundRect">
              <a:avLst>
                <a:gd name="adj" fmla="val 5000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Oval 106">
              <a:extLst>
                <a:ext uri="{FF2B5EF4-FFF2-40B4-BE49-F238E27FC236}">
                  <a16:creationId xmlns:a16="http://schemas.microsoft.com/office/drawing/2014/main" id="{9B6DEF49-1B6C-963C-EC59-42676D20C66B}"/>
                </a:ext>
              </a:extLst>
            </p:cNvPr>
            <p:cNvSpPr>
              <a:spLocks noChangeAspect="1"/>
            </p:cNvSpPr>
            <p:nvPr userDrawn="1"/>
          </p:nvSpPr>
          <p:spPr>
            <a:xfrm>
              <a:off x="1988028" y="4509701"/>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4" name="Rectangle: Rounded Corners 103">
            <a:extLst>
              <a:ext uri="{FF2B5EF4-FFF2-40B4-BE49-F238E27FC236}">
                <a16:creationId xmlns:a16="http://schemas.microsoft.com/office/drawing/2014/main" id="{9E59E30E-2FED-7A87-03DF-92630BCDBBC8}"/>
              </a:ext>
            </a:extLst>
          </p:cNvPr>
          <p:cNvSpPr/>
          <p:nvPr userDrawn="1"/>
        </p:nvSpPr>
        <p:spPr>
          <a:xfrm>
            <a:off x="1" y="4503351"/>
            <a:ext cx="1204912" cy="640080"/>
          </a:xfrm>
          <a:prstGeom prst="roundRect">
            <a:avLst>
              <a:gd name="adj" fmla="val 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Oval 104">
            <a:extLst>
              <a:ext uri="{FF2B5EF4-FFF2-40B4-BE49-F238E27FC236}">
                <a16:creationId xmlns:a16="http://schemas.microsoft.com/office/drawing/2014/main" id="{3C70FBC3-A535-28F1-38D8-8E03C6FAD7BF}"/>
              </a:ext>
            </a:extLst>
          </p:cNvPr>
          <p:cNvSpPr>
            <a:spLocks noChangeAspect="1"/>
          </p:cNvSpPr>
          <p:nvPr userDrawn="1"/>
        </p:nvSpPr>
        <p:spPr>
          <a:xfrm>
            <a:off x="882716" y="4503351"/>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13">
            <a:extLst>
              <a:ext uri="{FF2B5EF4-FFF2-40B4-BE49-F238E27FC236}">
                <a16:creationId xmlns:a16="http://schemas.microsoft.com/office/drawing/2014/main" id="{D098D5D3-5E3B-363E-F15C-48E5B8675BF3}"/>
              </a:ext>
            </a:extLst>
          </p:cNvPr>
          <p:cNvSpPr>
            <a:spLocks noGrp="1"/>
          </p:cNvSpPr>
          <p:nvPr userDrawn="1">
            <p:ph type="body" sz="quarter" idx="10" hasCustomPrompt="1"/>
          </p:nvPr>
        </p:nvSpPr>
        <p:spPr>
          <a:xfrm>
            <a:off x="626216" y="2671377"/>
            <a:ext cx="7730975" cy="461665"/>
          </a:xfrm>
          <a:prstGeom prst="rect">
            <a:avLst/>
          </a:prstGeom>
        </p:spPr>
        <p:txBody>
          <a:bodyPr wrap="square" anchor="t" anchorCtr="0">
            <a:noAutofit/>
          </a:bodyPr>
          <a:lstStyle>
            <a:lvl1pPr marL="0" indent="0">
              <a:lnSpc>
                <a:spcPct val="100000"/>
              </a:lnSpc>
              <a:spcBef>
                <a:spcPts val="300"/>
              </a:spcBef>
              <a:buNone/>
              <a:defRPr sz="2000">
                <a:solidFill>
                  <a:schemeClr val="bg1"/>
                </a:solidFill>
              </a:defRPr>
            </a:lvl1pPr>
            <a:lvl2pPr marL="182880" indent="0">
              <a:buNone/>
              <a:defRPr>
                <a:solidFill>
                  <a:schemeClr val="accent3"/>
                </a:solidFill>
              </a:defRPr>
            </a:lvl2pPr>
            <a:lvl3pPr marL="365760" indent="0">
              <a:buNone/>
              <a:defRPr>
                <a:solidFill>
                  <a:schemeClr val="accent3"/>
                </a:solidFill>
              </a:defRPr>
            </a:lvl3pPr>
            <a:lvl4pPr marL="1028700" indent="0">
              <a:buNone/>
              <a:defRPr>
                <a:solidFill>
                  <a:schemeClr val="accent3"/>
                </a:solidFill>
              </a:defRPr>
            </a:lvl4pPr>
            <a:lvl5pPr marL="1371600" indent="0">
              <a:buNone/>
              <a:defRPr>
                <a:solidFill>
                  <a:schemeClr val="accent3"/>
                </a:solidFill>
              </a:defRPr>
            </a:lvl5pPr>
          </a:lstStyle>
          <a:p>
            <a:pPr lvl="0"/>
            <a:r>
              <a:rPr lang="en-US"/>
              <a:t>Click to Add Practice Title</a:t>
            </a:r>
          </a:p>
        </p:txBody>
      </p:sp>
      <p:sp>
        <p:nvSpPr>
          <p:cNvPr id="125" name="Oval 124">
            <a:extLst>
              <a:ext uri="{FF2B5EF4-FFF2-40B4-BE49-F238E27FC236}">
                <a16:creationId xmlns:a16="http://schemas.microsoft.com/office/drawing/2014/main" id="{690A4B5D-B031-C9D3-EBE5-97F13EE76357}"/>
              </a:ext>
            </a:extLst>
          </p:cNvPr>
          <p:cNvSpPr>
            <a:spLocks noChangeAspect="1"/>
          </p:cNvSpPr>
          <p:nvPr userDrawn="1"/>
        </p:nvSpPr>
        <p:spPr>
          <a:xfrm>
            <a:off x="7518155" y="4503351"/>
            <a:ext cx="640080" cy="64008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5B10325-FD70-B91E-28CB-6B69995D0B33}"/>
              </a:ext>
            </a:extLst>
          </p:cNvPr>
          <p:cNvSpPr txBox="1"/>
          <p:nvPr userDrawn="1"/>
        </p:nvSpPr>
        <p:spPr>
          <a:xfrm>
            <a:off x="630936" y="1929384"/>
            <a:ext cx="7735824" cy="676656"/>
          </a:xfrm>
          <a:prstGeom prst="rect">
            <a:avLst/>
          </a:prstGeom>
          <a:noFill/>
        </p:spPr>
        <p:txBody>
          <a:bodyPr wrap="square" lIns="0" tIns="0" rIns="0" bIns="0" rtlCol="0">
            <a:spAutoFit/>
          </a:bodyPr>
          <a:lstStyle/>
          <a:p>
            <a:pPr algn="l"/>
            <a:r>
              <a:rPr kumimoji="0" lang="en-US" sz="3200" b="0" i="0" u="none" strike="noStrike" kern="1200" cap="none" spc="0" normalizeH="0" baseline="0" noProof="0">
                <a:ln>
                  <a:noFill/>
                </a:ln>
                <a:solidFill>
                  <a:schemeClr val="bg1"/>
                </a:solidFill>
                <a:effectLst/>
                <a:uLnTx/>
                <a:uFillTx/>
                <a:latin typeface="Anova Bold" panose="020B0503020203020204" pitchFamily="34" charset="0"/>
                <a:ea typeface="+mj-ea"/>
                <a:cs typeface="+mj-cs"/>
              </a:rPr>
              <a:t>Practice</a:t>
            </a:r>
            <a:endParaRPr lang="en-US" sz="2800" dirty="0">
              <a:solidFill>
                <a:schemeClr val="bg1"/>
              </a:solidFill>
            </a:endParaRPr>
          </a:p>
        </p:txBody>
      </p:sp>
      <p:grpSp>
        <p:nvGrpSpPr>
          <p:cNvPr id="2" name="Group 1">
            <a:extLst>
              <a:ext uri="{FF2B5EF4-FFF2-40B4-BE49-F238E27FC236}">
                <a16:creationId xmlns:a16="http://schemas.microsoft.com/office/drawing/2014/main" id="{69CBCA10-E89A-E7B5-9D24-30EB1DAD4608}"/>
              </a:ext>
            </a:extLst>
          </p:cNvPr>
          <p:cNvGrpSpPr/>
          <p:nvPr userDrawn="1"/>
        </p:nvGrpSpPr>
        <p:grpSpPr>
          <a:xfrm>
            <a:off x="7287338" y="111505"/>
            <a:ext cx="1607820" cy="1607820"/>
            <a:chOff x="5359478" y="30601"/>
            <a:chExt cx="1714500" cy="1714500"/>
          </a:xfrm>
        </p:grpSpPr>
        <p:pic>
          <p:nvPicPr>
            <p:cNvPr id="3" name="Picture 2" descr="A white line drawing of a stopwatch&#10;&#10;Description automatically generated">
              <a:extLst>
                <a:ext uri="{FF2B5EF4-FFF2-40B4-BE49-F238E27FC236}">
                  <a16:creationId xmlns:a16="http://schemas.microsoft.com/office/drawing/2014/main" id="{15E6DD5D-32DD-9AE4-DE0A-E900657A6B8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59478" y="30601"/>
              <a:ext cx="1714500" cy="1714500"/>
            </a:xfrm>
            <a:prstGeom prst="rect">
              <a:avLst/>
            </a:prstGeom>
          </p:spPr>
        </p:pic>
        <p:sp>
          <p:nvSpPr>
            <p:cNvPr id="6" name="TextBox 5">
              <a:extLst>
                <a:ext uri="{FF2B5EF4-FFF2-40B4-BE49-F238E27FC236}">
                  <a16:creationId xmlns:a16="http://schemas.microsoft.com/office/drawing/2014/main" id="{57ED9D6F-3A28-BF09-BC1D-D8395C560944}"/>
                </a:ext>
              </a:extLst>
            </p:cNvPr>
            <p:cNvSpPr txBox="1"/>
            <p:nvPr/>
          </p:nvSpPr>
          <p:spPr>
            <a:xfrm>
              <a:off x="5881033" y="1067060"/>
              <a:ext cx="1074420" cy="196919"/>
            </a:xfrm>
            <a:prstGeom prst="rect">
              <a:avLst/>
            </a:prstGeom>
            <a:noFill/>
          </p:spPr>
          <p:txBody>
            <a:bodyPr wrap="square" lIns="0" tIns="0" rIns="0" bIns="0" rtlCol="0">
              <a:spAutoFit/>
            </a:bodyPr>
            <a:lstStyle/>
            <a:p>
              <a:pPr algn="ctr"/>
              <a:r>
                <a:rPr lang="en-US" sz="1200">
                  <a:solidFill>
                    <a:schemeClr val="bg1"/>
                  </a:solidFill>
                  <a:latin typeface="+mj-lt"/>
                </a:rPr>
                <a:t>minutes</a:t>
              </a:r>
              <a:endParaRPr lang="en-US" dirty="0">
                <a:solidFill>
                  <a:schemeClr val="bg1"/>
                </a:solidFill>
                <a:latin typeface="+mj-lt"/>
              </a:endParaRPr>
            </a:p>
          </p:txBody>
        </p:sp>
      </p:grpSp>
      <p:sp>
        <p:nvSpPr>
          <p:cNvPr id="10" name="Text Placeholder 13">
            <a:extLst>
              <a:ext uri="{FF2B5EF4-FFF2-40B4-BE49-F238E27FC236}">
                <a16:creationId xmlns:a16="http://schemas.microsoft.com/office/drawing/2014/main" id="{E53AC0EA-2192-F32E-8F1B-8D3B13DB447E}"/>
              </a:ext>
            </a:extLst>
          </p:cNvPr>
          <p:cNvSpPr>
            <a:spLocks noGrp="1"/>
          </p:cNvSpPr>
          <p:nvPr>
            <p:ph type="body" sz="quarter" idx="11" hasCustomPrompt="1"/>
          </p:nvPr>
        </p:nvSpPr>
        <p:spPr>
          <a:xfrm>
            <a:off x="7879934" y="719678"/>
            <a:ext cx="800580" cy="456486"/>
          </a:xfrm>
          <a:prstGeom prst="rect">
            <a:avLst/>
          </a:prstGeom>
        </p:spPr>
        <p:txBody>
          <a:bodyPr wrap="square" anchor="t" anchorCtr="0">
            <a:noAutofit/>
          </a:bodyPr>
          <a:lstStyle>
            <a:lvl1pPr marL="0" indent="0" algn="ctr">
              <a:lnSpc>
                <a:spcPct val="100000"/>
              </a:lnSpc>
              <a:spcBef>
                <a:spcPts val="300"/>
              </a:spcBef>
              <a:buNone/>
              <a:defRPr sz="2400">
                <a:solidFill>
                  <a:schemeClr val="bg1"/>
                </a:solidFill>
                <a:latin typeface="+mj-lt"/>
              </a:defRPr>
            </a:lvl1pPr>
            <a:lvl2pPr marL="182880" indent="0">
              <a:buNone/>
              <a:defRPr>
                <a:solidFill>
                  <a:schemeClr val="accent3"/>
                </a:solidFill>
              </a:defRPr>
            </a:lvl2pPr>
            <a:lvl3pPr marL="365760" indent="0">
              <a:buNone/>
              <a:defRPr>
                <a:solidFill>
                  <a:schemeClr val="accent3"/>
                </a:solidFill>
              </a:defRPr>
            </a:lvl3pPr>
            <a:lvl4pPr marL="1028700" indent="0">
              <a:buNone/>
              <a:defRPr>
                <a:solidFill>
                  <a:schemeClr val="accent3"/>
                </a:solidFill>
              </a:defRPr>
            </a:lvl4pPr>
            <a:lvl5pPr marL="1371600" indent="0">
              <a:buNone/>
              <a:defRPr>
                <a:solidFill>
                  <a:schemeClr val="accent3"/>
                </a:solidFill>
              </a:defRPr>
            </a:lvl5pPr>
          </a:lstStyle>
          <a:p>
            <a:pPr lvl="0"/>
            <a:r>
              <a:rPr lang="en-US"/>
              <a:t>10</a:t>
            </a:r>
          </a:p>
        </p:txBody>
      </p:sp>
    </p:spTree>
    <p:extLst>
      <p:ext uri="{BB962C8B-B14F-4D97-AF65-F5344CB8AC3E}">
        <p14:creationId xmlns:p14="http://schemas.microsoft.com/office/powerpoint/2010/main" val="2661307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emonstration">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5C996B-BCEF-F90C-197E-88EB9DDBBDEC}"/>
              </a:ext>
            </a:extLst>
          </p:cNvPr>
          <p:cNvSpPr>
            <a:spLocks noGrp="1"/>
          </p:cNvSpPr>
          <p:nvPr>
            <p:ph type="title" hasCustomPrompt="1"/>
          </p:nvPr>
        </p:nvSpPr>
        <p:spPr>
          <a:xfrm>
            <a:off x="626216" y="1925242"/>
            <a:ext cx="7730975" cy="677108"/>
          </a:xfrm>
          <a:prstGeom prst="rect">
            <a:avLst/>
          </a:prstGeom>
        </p:spPr>
        <p:txBody>
          <a:bodyPr vert="horz" wrap="square" lIns="0" tIns="0" rIns="0" bIns="182880" rtlCol="0" anchor="b" anchorCtr="0">
            <a:spAutoFit/>
          </a:bodyPr>
          <a:lstStyle>
            <a:lvl1pPr>
              <a:lnSpc>
                <a:spcPct val="100000"/>
              </a:lnSpc>
              <a:spcBef>
                <a:spcPts val="300"/>
              </a:spcBef>
              <a:defRPr sz="3200" b="0">
                <a:solidFill>
                  <a:schemeClr val="bg1"/>
                </a:solidFill>
              </a:defRPr>
            </a:lvl1pPr>
          </a:lstStyle>
          <a:p>
            <a:r>
              <a:rPr lang="en-US"/>
              <a:t>Click to Add Demonstration Title</a:t>
            </a:r>
          </a:p>
        </p:txBody>
      </p:sp>
      <p:sp>
        <p:nvSpPr>
          <p:cNvPr id="3" name="Text Placeholder 13">
            <a:extLst>
              <a:ext uri="{FF2B5EF4-FFF2-40B4-BE49-F238E27FC236}">
                <a16:creationId xmlns:a16="http://schemas.microsoft.com/office/drawing/2014/main" id="{74FEF01F-12FE-6DE6-F2CA-D03A3CC783F6}"/>
              </a:ext>
            </a:extLst>
          </p:cNvPr>
          <p:cNvSpPr>
            <a:spLocks noGrp="1"/>
          </p:cNvSpPr>
          <p:nvPr>
            <p:ph type="body" sz="quarter" idx="10" hasCustomPrompt="1"/>
          </p:nvPr>
        </p:nvSpPr>
        <p:spPr>
          <a:xfrm>
            <a:off x="626216" y="2671377"/>
            <a:ext cx="7730975" cy="461665"/>
          </a:xfrm>
          <a:prstGeom prst="rect">
            <a:avLst/>
          </a:prstGeom>
        </p:spPr>
        <p:txBody>
          <a:bodyPr wrap="square" anchor="t" anchorCtr="0">
            <a:noAutofit/>
          </a:bodyPr>
          <a:lstStyle>
            <a:lvl1pPr marL="0" indent="0">
              <a:lnSpc>
                <a:spcPct val="100000"/>
              </a:lnSpc>
              <a:spcBef>
                <a:spcPts val="300"/>
              </a:spcBef>
              <a:buNone/>
              <a:defRPr sz="2000">
                <a:solidFill>
                  <a:schemeClr val="bg1"/>
                </a:solidFill>
              </a:defRPr>
            </a:lvl1pPr>
            <a:lvl2pPr marL="182880" indent="0">
              <a:buNone/>
              <a:defRPr>
                <a:solidFill>
                  <a:schemeClr val="accent3"/>
                </a:solidFill>
              </a:defRPr>
            </a:lvl2pPr>
            <a:lvl3pPr marL="365760" indent="0">
              <a:buNone/>
              <a:defRPr>
                <a:solidFill>
                  <a:schemeClr val="accent3"/>
                </a:solidFill>
              </a:defRPr>
            </a:lvl3pPr>
            <a:lvl4pPr marL="1028700" indent="0">
              <a:buNone/>
              <a:defRPr>
                <a:solidFill>
                  <a:schemeClr val="accent3"/>
                </a:solidFill>
              </a:defRPr>
            </a:lvl4pPr>
            <a:lvl5pPr marL="1371600" indent="0">
              <a:buNone/>
              <a:defRPr>
                <a:solidFill>
                  <a:schemeClr val="accent3"/>
                </a:solidFill>
              </a:defRPr>
            </a:lvl5pPr>
          </a:lstStyle>
          <a:p>
            <a:pPr lvl="0"/>
            <a:r>
              <a:rPr lang="en-US"/>
              <a:t>Click to Add Demonstration Description</a:t>
            </a:r>
          </a:p>
        </p:txBody>
      </p:sp>
      <p:pic>
        <p:nvPicPr>
          <p:cNvPr id="5" name="Graphic 4">
            <a:extLst>
              <a:ext uri="{FF2B5EF4-FFF2-40B4-BE49-F238E27FC236}">
                <a16:creationId xmlns:a16="http://schemas.microsoft.com/office/drawing/2014/main" id="{086BE712-16D6-2F47-CE1B-B0EC9B9C18E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4469" y="4626769"/>
            <a:ext cx="1028700" cy="514350"/>
          </a:xfrm>
          <a:prstGeom prst="rect">
            <a:avLst/>
          </a:prstGeom>
        </p:spPr>
      </p:pic>
      <p:pic>
        <p:nvPicPr>
          <p:cNvPr id="11" name="Graphic 10">
            <a:extLst>
              <a:ext uri="{FF2B5EF4-FFF2-40B4-BE49-F238E27FC236}">
                <a16:creationId xmlns:a16="http://schemas.microsoft.com/office/drawing/2014/main" id="{DE757228-82C6-54BA-03AE-6CC4D007B3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62964" y="4626769"/>
            <a:ext cx="1028700" cy="514350"/>
          </a:xfrm>
          <a:prstGeom prst="rect">
            <a:avLst/>
          </a:prstGeom>
        </p:spPr>
      </p:pic>
      <p:pic>
        <p:nvPicPr>
          <p:cNvPr id="12" name="Graphic 11">
            <a:extLst>
              <a:ext uri="{FF2B5EF4-FFF2-40B4-BE49-F238E27FC236}">
                <a16:creationId xmlns:a16="http://schemas.microsoft.com/office/drawing/2014/main" id="{5F63D7F1-69A1-1268-1D81-D2B7B665177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202070" y="4429126"/>
            <a:ext cx="711993" cy="711993"/>
          </a:xfrm>
          <a:prstGeom prst="rect">
            <a:avLst/>
          </a:prstGeom>
        </p:spPr>
      </p:pic>
      <p:pic>
        <p:nvPicPr>
          <p:cNvPr id="13" name="Graphic 12">
            <a:extLst>
              <a:ext uri="{FF2B5EF4-FFF2-40B4-BE49-F238E27FC236}">
                <a16:creationId xmlns:a16="http://schemas.microsoft.com/office/drawing/2014/main" id="{81629451-EAA8-001E-B7A9-523ECF2E2C5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18166" y="4626769"/>
            <a:ext cx="1028700" cy="514350"/>
          </a:xfrm>
          <a:prstGeom prst="rect">
            <a:avLst/>
          </a:prstGeom>
        </p:spPr>
      </p:pic>
      <p:pic>
        <p:nvPicPr>
          <p:cNvPr id="14" name="Graphic 13">
            <a:extLst>
              <a:ext uri="{FF2B5EF4-FFF2-40B4-BE49-F238E27FC236}">
                <a16:creationId xmlns:a16="http://schemas.microsoft.com/office/drawing/2014/main" id="{CF1786B3-E776-E1A4-55D8-7090849DBDB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403524" y="4112419"/>
            <a:ext cx="1028700" cy="1028700"/>
          </a:xfrm>
          <a:prstGeom prst="rect">
            <a:avLst/>
          </a:prstGeom>
        </p:spPr>
      </p:pic>
      <p:pic>
        <p:nvPicPr>
          <p:cNvPr id="15" name="Graphic 14">
            <a:extLst>
              <a:ext uri="{FF2B5EF4-FFF2-40B4-BE49-F238E27FC236}">
                <a16:creationId xmlns:a16="http://schemas.microsoft.com/office/drawing/2014/main" id="{EC27B41F-B103-AE7D-5366-CDF56F6AB6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24897" y="4626769"/>
            <a:ext cx="1028700" cy="514350"/>
          </a:xfrm>
          <a:prstGeom prst="rect">
            <a:avLst/>
          </a:prstGeom>
        </p:spPr>
      </p:pic>
      <p:pic>
        <p:nvPicPr>
          <p:cNvPr id="16" name="Graphic 15">
            <a:extLst>
              <a:ext uri="{FF2B5EF4-FFF2-40B4-BE49-F238E27FC236}">
                <a16:creationId xmlns:a16="http://schemas.microsoft.com/office/drawing/2014/main" id="{8DC0546C-5F5E-FF62-570B-F230292538E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606347" y="4551303"/>
            <a:ext cx="589816" cy="589816"/>
          </a:xfrm>
          <a:prstGeom prst="rect">
            <a:avLst/>
          </a:prstGeom>
        </p:spPr>
      </p:pic>
      <p:pic>
        <p:nvPicPr>
          <p:cNvPr id="18" name="Graphic 17">
            <a:extLst>
              <a:ext uri="{FF2B5EF4-FFF2-40B4-BE49-F238E27FC236}">
                <a16:creationId xmlns:a16="http://schemas.microsoft.com/office/drawing/2014/main" id="{B3BF46CA-9CAC-93FA-308E-8231540EE8E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160695" y="3617832"/>
            <a:ext cx="811294" cy="811294"/>
          </a:xfrm>
          <a:prstGeom prst="rect">
            <a:avLst/>
          </a:prstGeom>
        </p:spPr>
      </p:pic>
      <p:pic>
        <p:nvPicPr>
          <p:cNvPr id="19" name="Graphic 18">
            <a:extLst>
              <a:ext uri="{FF2B5EF4-FFF2-40B4-BE49-F238E27FC236}">
                <a16:creationId xmlns:a16="http://schemas.microsoft.com/office/drawing/2014/main" id="{A9F86468-E8F5-DA9F-AA94-34F2F58116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429625" y="2929894"/>
            <a:ext cx="952500" cy="476250"/>
          </a:xfrm>
          <a:prstGeom prst="rect">
            <a:avLst/>
          </a:prstGeom>
        </p:spPr>
      </p:pic>
      <p:pic>
        <p:nvPicPr>
          <p:cNvPr id="20" name="Graphic 19">
            <a:extLst>
              <a:ext uri="{FF2B5EF4-FFF2-40B4-BE49-F238E27FC236}">
                <a16:creationId xmlns:a16="http://schemas.microsoft.com/office/drawing/2014/main" id="{CF99AD64-5BB1-D521-87EC-1656EE6CE28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231" y="4114800"/>
            <a:ext cx="1028700" cy="1028700"/>
          </a:xfrm>
          <a:prstGeom prst="rect">
            <a:avLst/>
          </a:prstGeom>
        </p:spPr>
      </p:pic>
    </p:spTree>
    <p:extLst>
      <p:ext uri="{BB962C8B-B14F-4D97-AF65-F5344CB8AC3E}">
        <p14:creationId xmlns:p14="http://schemas.microsoft.com/office/powerpoint/2010/main" val="1456540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dea Exchange">
    <p:bg>
      <p:bgPr>
        <a:solidFill>
          <a:schemeClr val="accent2">
            <a:lumMod val="40000"/>
            <a:lumOff val="60000"/>
          </a:schemeClr>
        </a:solidFill>
        <a:effectLst/>
      </p:bgPr>
    </p:bg>
    <p:spTree>
      <p:nvGrpSpPr>
        <p:cNvPr id="1" name=""/>
        <p:cNvGrpSpPr/>
        <p:nvPr/>
      </p:nvGrpSpPr>
      <p:grpSpPr>
        <a:xfrm>
          <a:off x="0" y="0"/>
          <a:ext cx="0" cy="0"/>
          <a:chOff x="0" y="0"/>
          <a:chExt cx="0" cy="0"/>
        </a:xfrm>
      </p:grpSpPr>
      <p:pic>
        <p:nvPicPr>
          <p:cNvPr id="99" name="Graphic 98">
            <a:extLst>
              <a:ext uri="{FF2B5EF4-FFF2-40B4-BE49-F238E27FC236}">
                <a16:creationId xmlns:a16="http://schemas.microsoft.com/office/drawing/2014/main" id="{4051C2E8-2C36-6FD4-362A-3156F1F534D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3842189" y="4659737"/>
            <a:ext cx="967526" cy="483763"/>
          </a:xfrm>
          <a:prstGeom prst="rect">
            <a:avLst/>
          </a:prstGeom>
        </p:spPr>
      </p:pic>
      <p:pic>
        <p:nvPicPr>
          <p:cNvPr id="107" name="Graphic 106">
            <a:extLst>
              <a:ext uri="{FF2B5EF4-FFF2-40B4-BE49-F238E27FC236}">
                <a16:creationId xmlns:a16="http://schemas.microsoft.com/office/drawing/2014/main" id="{7550D88C-5FC8-7ABA-F4A7-A10FE87350F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336370" y="4175974"/>
            <a:ext cx="967526" cy="967526"/>
          </a:xfrm>
          <a:prstGeom prst="rect">
            <a:avLst/>
          </a:prstGeom>
        </p:spPr>
      </p:pic>
      <p:pic>
        <p:nvPicPr>
          <p:cNvPr id="106" name="Graphic 105">
            <a:extLst>
              <a:ext uri="{FF2B5EF4-FFF2-40B4-BE49-F238E27FC236}">
                <a16:creationId xmlns:a16="http://schemas.microsoft.com/office/drawing/2014/main" id="{0182C8F7-065D-9CF4-E3B8-B10BB3FEA64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842188" y="4175974"/>
            <a:ext cx="967526" cy="967526"/>
          </a:xfrm>
          <a:prstGeom prst="rect">
            <a:avLst/>
          </a:prstGeom>
        </p:spPr>
      </p:pic>
      <p:pic>
        <p:nvPicPr>
          <p:cNvPr id="92" name="Graphic 91">
            <a:extLst>
              <a:ext uri="{FF2B5EF4-FFF2-40B4-BE49-F238E27FC236}">
                <a16:creationId xmlns:a16="http://schemas.microsoft.com/office/drawing/2014/main" id="{BBE71FAE-254D-0C02-33FA-6519BFF4E0CC}"/>
              </a:ext>
            </a:extLst>
          </p:cNvPr>
          <p:cNvPicPr>
            <a:picLocks noChangeAspect="1"/>
          </p:cNvPicPr>
          <p:nvPr userDrawn="1"/>
        </p:nvPicPr>
        <p:blipFill>
          <a:blip r:embed="rId2">
            <a:extLst>
              <a:ext uri="{96DAC541-7B7A-43D3-8B79-37D633B846F1}">
                <asvg:svgBlip xmlns:asvg="http://schemas.microsoft.com/office/drawing/2016/SVG/main" r:embed="rId8"/>
              </a:ext>
            </a:extLst>
          </a:blip>
          <a:stretch>
            <a:fillRect/>
          </a:stretch>
        </p:blipFill>
        <p:spPr>
          <a:xfrm>
            <a:off x="4325202" y="4173056"/>
            <a:ext cx="967526" cy="483763"/>
          </a:xfrm>
          <a:prstGeom prst="rect">
            <a:avLst/>
          </a:prstGeom>
        </p:spPr>
      </p:pic>
      <p:pic>
        <p:nvPicPr>
          <p:cNvPr id="98" name="Graphic 97">
            <a:extLst>
              <a:ext uri="{FF2B5EF4-FFF2-40B4-BE49-F238E27FC236}">
                <a16:creationId xmlns:a16="http://schemas.microsoft.com/office/drawing/2014/main" id="{FD41AA37-545E-53F5-BE73-4386E91D4AFA}"/>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956555" y="4175974"/>
            <a:ext cx="967526" cy="967526"/>
          </a:xfrm>
          <a:prstGeom prst="rect">
            <a:avLst/>
          </a:prstGeom>
        </p:spPr>
      </p:pic>
      <p:pic>
        <p:nvPicPr>
          <p:cNvPr id="100" name="Graphic 99">
            <a:extLst>
              <a:ext uri="{FF2B5EF4-FFF2-40B4-BE49-F238E27FC236}">
                <a16:creationId xmlns:a16="http://schemas.microsoft.com/office/drawing/2014/main" id="{29F801DB-6B40-17FB-0B6C-3C1500D26ED1}"/>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913109" y="4175974"/>
            <a:ext cx="967526" cy="967526"/>
          </a:xfrm>
          <a:prstGeom prst="rect">
            <a:avLst/>
          </a:prstGeom>
        </p:spPr>
      </p:pic>
      <p:pic>
        <p:nvPicPr>
          <p:cNvPr id="101" name="Graphic 100">
            <a:extLst>
              <a:ext uri="{FF2B5EF4-FFF2-40B4-BE49-F238E27FC236}">
                <a16:creationId xmlns:a16="http://schemas.microsoft.com/office/drawing/2014/main" id="{340F814E-7361-00A7-C79D-3CC07208388E}"/>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2869662" y="4175974"/>
            <a:ext cx="967526" cy="967526"/>
          </a:xfrm>
          <a:prstGeom prst="rect">
            <a:avLst/>
          </a:prstGeom>
        </p:spPr>
      </p:pic>
      <p:pic>
        <p:nvPicPr>
          <p:cNvPr id="103" name="Graphic 102">
            <a:extLst>
              <a:ext uri="{FF2B5EF4-FFF2-40B4-BE49-F238E27FC236}">
                <a16:creationId xmlns:a16="http://schemas.microsoft.com/office/drawing/2014/main" id="{43D4C317-BB73-8363-870A-408860BFC8B6}"/>
              </a:ext>
            </a:extLst>
          </p:cNvPr>
          <p:cNvPicPr>
            <a:picLocks noChangeAspect="1"/>
          </p:cNvPicPr>
          <p:nvPr userDrawn="1"/>
        </p:nvPicPr>
        <p:blipFill>
          <a:blip r:embed="rId4">
            <a:extLst>
              <a:ext uri="{96DAC541-7B7A-43D3-8B79-37D633B846F1}">
                <asvg:svgBlip xmlns:asvg="http://schemas.microsoft.com/office/drawing/2016/SVG/main" r:embed="rId11"/>
              </a:ext>
            </a:extLst>
          </a:blip>
          <a:stretch>
            <a:fillRect/>
          </a:stretch>
        </p:blipFill>
        <p:spPr>
          <a:xfrm>
            <a:off x="5283062" y="4175974"/>
            <a:ext cx="967526" cy="967526"/>
          </a:xfrm>
          <a:prstGeom prst="rect">
            <a:avLst/>
          </a:prstGeom>
        </p:spPr>
      </p:pic>
      <p:pic>
        <p:nvPicPr>
          <p:cNvPr id="104" name="Graphic 103">
            <a:extLst>
              <a:ext uri="{FF2B5EF4-FFF2-40B4-BE49-F238E27FC236}">
                <a16:creationId xmlns:a16="http://schemas.microsoft.com/office/drawing/2014/main" id="{707D89B6-0064-B661-B42C-7ED51987645A}"/>
              </a:ext>
            </a:extLst>
          </p:cNvPr>
          <p:cNvPicPr>
            <a:picLocks noChangeAspect="1"/>
          </p:cNvPicPr>
          <p:nvPr userDrawn="1"/>
        </p:nvPicPr>
        <p:blipFill>
          <a:blip r:embed="rId4">
            <a:extLst>
              <a:ext uri="{96DAC541-7B7A-43D3-8B79-37D633B846F1}">
                <asvg:svgBlip xmlns:asvg="http://schemas.microsoft.com/office/drawing/2016/SVG/main" r:embed="rId11"/>
              </a:ext>
            </a:extLst>
          </a:blip>
          <a:stretch>
            <a:fillRect/>
          </a:stretch>
        </p:blipFill>
        <p:spPr>
          <a:xfrm>
            <a:off x="6247533" y="4175974"/>
            <a:ext cx="967526" cy="967526"/>
          </a:xfrm>
          <a:prstGeom prst="rect">
            <a:avLst/>
          </a:prstGeom>
        </p:spPr>
      </p:pic>
      <p:pic>
        <p:nvPicPr>
          <p:cNvPr id="105" name="Graphic 104">
            <a:extLst>
              <a:ext uri="{FF2B5EF4-FFF2-40B4-BE49-F238E27FC236}">
                <a16:creationId xmlns:a16="http://schemas.microsoft.com/office/drawing/2014/main" id="{6C6B3084-F633-7842-0DEE-4840107F5FB3}"/>
              </a:ext>
            </a:extLst>
          </p:cNvPr>
          <p:cNvPicPr>
            <a:picLocks noChangeAspect="1"/>
          </p:cNvPicPr>
          <p:nvPr userDrawn="1"/>
        </p:nvPicPr>
        <p:blipFill>
          <a:blip r:embed="rId4">
            <a:extLst>
              <a:ext uri="{96DAC541-7B7A-43D3-8B79-37D633B846F1}">
                <asvg:svgBlip xmlns:asvg="http://schemas.microsoft.com/office/drawing/2016/SVG/main" r:embed="rId11"/>
              </a:ext>
            </a:extLst>
          </a:blip>
          <a:stretch>
            <a:fillRect/>
          </a:stretch>
        </p:blipFill>
        <p:spPr>
          <a:xfrm>
            <a:off x="7212004" y="4175974"/>
            <a:ext cx="967526" cy="967526"/>
          </a:xfrm>
          <a:prstGeom prst="rect">
            <a:avLst/>
          </a:prstGeom>
        </p:spPr>
      </p:pic>
      <p:pic>
        <p:nvPicPr>
          <p:cNvPr id="108" name="Graphic 107">
            <a:extLst>
              <a:ext uri="{FF2B5EF4-FFF2-40B4-BE49-F238E27FC236}">
                <a16:creationId xmlns:a16="http://schemas.microsoft.com/office/drawing/2014/main" id="{4035C416-333A-1B1A-9596-CBBEB9B9D77B}"/>
              </a:ext>
            </a:extLst>
          </p:cNvPr>
          <p:cNvPicPr>
            <a:picLocks noChangeAspect="1"/>
          </p:cNvPicPr>
          <p:nvPr userDrawn="1"/>
        </p:nvPicPr>
        <p:blipFill>
          <a:blip r:embed="rId4">
            <a:extLst>
              <a:ext uri="{96DAC541-7B7A-43D3-8B79-37D633B846F1}">
                <asvg:svgBlip xmlns:asvg="http://schemas.microsoft.com/office/drawing/2016/SVG/main" r:embed="rId11"/>
              </a:ext>
            </a:extLst>
          </a:blip>
          <a:stretch>
            <a:fillRect/>
          </a:stretch>
        </p:blipFill>
        <p:spPr>
          <a:xfrm>
            <a:off x="8176475" y="4175974"/>
            <a:ext cx="967526" cy="967526"/>
          </a:xfrm>
          <a:prstGeom prst="rect">
            <a:avLst/>
          </a:prstGeom>
        </p:spPr>
      </p:pic>
      <p:pic>
        <p:nvPicPr>
          <p:cNvPr id="110" name="Graphic 109">
            <a:extLst>
              <a:ext uri="{FF2B5EF4-FFF2-40B4-BE49-F238E27FC236}">
                <a16:creationId xmlns:a16="http://schemas.microsoft.com/office/drawing/2014/main" id="{549FA3DF-9537-2637-F601-490D4575FDC0}"/>
              </a:ext>
            </a:extLst>
          </p:cNvPr>
          <p:cNvPicPr>
            <a:picLocks noChangeAspect="1"/>
          </p:cNvPicPr>
          <p:nvPr userDrawn="1"/>
        </p:nvPicPr>
        <p:blipFill>
          <a:blip r:embed="rId9">
            <a:extLst>
              <a:ext uri="{96DAC541-7B7A-43D3-8B79-37D633B846F1}">
                <asvg:svgBlip xmlns:asvg="http://schemas.microsoft.com/office/drawing/2016/SVG/main" r:embed="rId10"/>
              </a:ext>
            </a:extLst>
          </a:blip>
          <a:stretch>
            <a:fillRect/>
          </a:stretch>
        </p:blipFill>
        <p:spPr>
          <a:xfrm>
            <a:off x="1" y="4175974"/>
            <a:ext cx="967526" cy="967526"/>
          </a:xfrm>
          <a:prstGeom prst="rect">
            <a:avLst/>
          </a:prstGeom>
        </p:spPr>
      </p:pic>
      <p:sp>
        <p:nvSpPr>
          <p:cNvPr id="2" name="Title Placeholder 1">
            <a:extLst>
              <a:ext uri="{FF2B5EF4-FFF2-40B4-BE49-F238E27FC236}">
                <a16:creationId xmlns:a16="http://schemas.microsoft.com/office/drawing/2014/main" id="{917A6256-DE39-2F81-2A13-AF39EAB751CE}"/>
              </a:ext>
            </a:extLst>
          </p:cNvPr>
          <p:cNvSpPr>
            <a:spLocks noGrp="1"/>
          </p:cNvSpPr>
          <p:nvPr userDrawn="1">
            <p:ph type="title" hasCustomPrompt="1"/>
          </p:nvPr>
        </p:nvSpPr>
        <p:spPr>
          <a:xfrm>
            <a:off x="626216" y="1925242"/>
            <a:ext cx="7730975" cy="677108"/>
          </a:xfrm>
          <a:prstGeom prst="rect">
            <a:avLst/>
          </a:prstGeom>
        </p:spPr>
        <p:txBody>
          <a:bodyPr vert="horz" wrap="square" lIns="0" tIns="0" rIns="0" bIns="182880" rtlCol="0" anchor="b" anchorCtr="0">
            <a:spAutoFit/>
          </a:bodyPr>
          <a:lstStyle>
            <a:lvl1pPr>
              <a:lnSpc>
                <a:spcPct val="100000"/>
              </a:lnSpc>
              <a:spcBef>
                <a:spcPts val="300"/>
              </a:spcBef>
              <a:defRPr sz="3200" b="0">
                <a:solidFill>
                  <a:schemeClr val="tx2"/>
                </a:solidFill>
              </a:defRPr>
            </a:lvl1pPr>
          </a:lstStyle>
          <a:p>
            <a:r>
              <a:rPr lang="en-US"/>
              <a:t>Idea Exchange</a:t>
            </a:r>
          </a:p>
        </p:txBody>
      </p:sp>
      <p:sp>
        <p:nvSpPr>
          <p:cNvPr id="3" name="Text Placeholder 13">
            <a:extLst>
              <a:ext uri="{FF2B5EF4-FFF2-40B4-BE49-F238E27FC236}">
                <a16:creationId xmlns:a16="http://schemas.microsoft.com/office/drawing/2014/main" id="{6086DA1B-2974-18F7-4DA2-CEE2679C4F20}"/>
              </a:ext>
            </a:extLst>
          </p:cNvPr>
          <p:cNvSpPr>
            <a:spLocks noGrp="1"/>
          </p:cNvSpPr>
          <p:nvPr userDrawn="1">
            <p:ph type="body" sz="quarter" idx="10" hasCustomPrompt="1"/>
          </p:nvPr>
        </p:nvSpPr>
        <p:spPr>
          <a:xfrm>
            <a:off x="626216" y="2671377"/>
            <a:ext cx="7730975" cy="461665"/>
          </a:xfrm>
          <a:prstGeom prst="rect">
            <a:avLst/>
          </a:prstGeom>
        </p:spPr>
        <p:txBody>
          <a:bodyPr wrap="square" anchor="t" anchorCtr="0">
            <a:noAutofit/>
          </a:bodyPr>
          <a:lstStyle>
            <a:lvl1pPr marL="0" indent="0">
              <a:lnSpc>
                <a:spcPct val="100000"/>
              </a:lnSpc>
              <a:spcBef>
                <a:spcPts val="300"/>
              </a:spcBef>
              <a:buNone/>
              <a:defRPr sz="2000">
                <a:solidFill>
                  <a:schemeClr val="tx2"/>
                </a:solidFill>
              </a:defRPr>
            </a:lvl1pPr>
            <a:lvl2pPr marL="182880" indent="0">
              <a:buNone/>
              <a:defRPr>
                <a:solidFill>
                  <a:schemeClr val="accent3"/>
                </a:solidFill>
              </a:defRPr>
            </a:lvl2pPr>
            <a:lvl3pPr marL="365760" indent="0">
              <a:buNone/>
              <a:defRPr>
                <a:solidFill>
                  <a:schemeClr val="accent3"/>
                </a:solidFill>
              </a:defRPr>
            </a:lvl3pPr>
            <a:lvl4pPr marL="1028700" indent="0">
              <a:buNone/>
              <a:defRPr>
                <a:solidFill>
                  <a:schemeClr val="accent3"/>
                </a:solidFill>
              </a:defRPr>
            </a:lvl4pPr>
            <a:lvl5pPr marL="1371600" indent="0">
              <a:buNone/>
              <a:defRPr>
                <a:solidFill>
                  <a:schemeClr val="accent3"/>
                </a:solidFill>
              </a:defRPr>
            </a:lvl5pPr>
          </a:lstStyle>
          <a:p>
            <a:pPr lvl="0"/>
            <a:r>
              <a:rPr lang="en-US"/>
              <a:t>Click to Add Description</a:t>
            </a:r>
          </a:p>
        </p:txBody>
      </p:sp>
    </p:spTree>
    <p:extLst>
      <p:ext uri="{BB962C8B-B14F-4D97-AF65-F5344CB8AC3E}">
        <p14:creationId xmlns:p14="http://schemas.microsoft.com/office/powerpoint/2010/main" val="104879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scussion">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95C996B-BCEF-F90C-197E-88EB9DDBBDEC}"/>
              </a:ext>
            </a:extLst>
          </p:cNvPr>
          <p:cNvSpPr>
            <a:spLocks noGrp="1"/>
          </p:cNvSpPr>
          <p:nvPr>
            <p:ph type="title" hasCustomPrompt="1"/>
          </p:nvPr>
        </p:nvSpPr>
        <p:spPr>
          <a:xfrm>
            <a:off x="0" y="1863686"/>
            <a:ext cx="9144000" cy="738664"/>
          </a:xfrm>
          <a:prstGeom prst="rect">
            <a:avLst/>
          </a:prstGeom>
        </p:spPr>
        <p:txBody>
          <a:bodyPr vert="horz" wrap="square" lIns="0" tIns="0" rIns="0" bIns="182880" rtlCol="0" anchor="b" anchorCtr="0">
            <a:spAutoFit/>
          </a:bodyPr>
          <a:lstStyle>
            <a:lvl1pPr algn="ctr">
              <a:lnSpc>
                <a:spcPct val="100000"/>
              </a:lnSpc>
              <a:spcBef>
                <a:spcPts val="300"/>
              </a:spcBef>
              <a:defRPr sz="3600" b="0">
                <a:solidFill>
                  <a:schemeClr val="bg1"/>
                </a:solidFill>
              </a:defRPr>
            </a:lvl1pPr>
          </a:lstStyle>
          <a:p>
            <a:r>
              <a:rPr lang="en-US"/>
              <a:t>Discussion</a:t>
            </a:r>
          </a:p>
        </p:txBody>
      </p:sp>
      <p:pic>
        <p:nvPicPr>
          <p:cNvPr id="24" name="Graphic 23">
            <a:extLst>
              <a:ext uri="{FF2B5EF4-FFF2-40B4-BE49-F238E27FC236}">
                <a16:creationId xmlns:a16="http://schemas.microsoft.com/office/drawing/2014/main" id="{EAB41A2B-7D2F-8538-D297-3CDCDF349F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24469" y="4626769"/>
            <a:ext cx="1028700" cy="514350"/>
          </a:xfrm>
          <a:prstGeom prst="rect">
            <a:avLst/>
          </a:prstGeom>
        </p:spPr>
      </p:pic>
      <p:pic>
        <p:nvPicPr>
          <p:cNvPr id="25" name="Graphic 24">
            <a:extLst>
              <a:ext uri="{FF2B5EF4-FFF2-40B4-BE49-F238E27FC236}">
                <a16:creationId xmlns:a16="http://schemas.microsoft.com/office/drawing/2014/main" id="{67DA88BB-BA82-A9C2-B62E-E36844DB21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062964" y="4626769"/>
            <a:ext cx="1028700" cy="514350"/>
          </a:xfrm>
          <a:prstGeom prst="rect">
            <a:avLst/>
          </a:prstGeom>
        </p:spPr>
      </p:pic>
      <p:pic>
        <p:nvPicPr>
          <p:cNvPr id="26" name="Graphic 25">
            <a:extLst>
              <a:ext uri="{FF2B5EF4-FFF2-40B4-BE49-F238E27FC236}">
                <a16:creationId xmlns:a16="http://schemas.microsoft.com/office/drawing/2014/main" id="{0B9F9425-264A-9845-6C3A-B1F1E77D003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202070" y="4429126"/>
            <a:ext cx="711993" cy="711993"/>
          </a:xfrm>
          <a:prstGeom prst="rect">
            <a:avLst/>
          </a:prstGeom>
        </p:spPr>
      </p:pic>
      <p:pic>
        <p:nvPicPr>
          <p:cNvPr id="27" name="Graphic 26">
            <a:extLst>
              <a:ext uri="{FF2B5EF4-FFF2-40B4-BE49-F238E27FC236}">
                <a16:creationId xmlns:a16="http://schemas.microsoft.com/office/drawing/2014/main" id="{4D48F77E-295D-444C-B3C0-4E0F3708228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418166" y="4626769"/>
            <a:ext cx="1028700" cy="514350"/>
          </a:xfrm>
          <a:prstGeom prst="rect">
            <a:avLst/>
          </a:prstGeom>
        </p:spPr>
      </p:pic>
      <p:pic>
        <p:nvPicPr>
          <p:cNvPr id="28" name="Graphic 27">
            <a:extLst>
              <a:ext uri="{FF2B5EF4-FFF2-40B4-BE49-F238E27FC236}">
                <a16:creationId xmlns:a16="http://schemas.microsoft.com/office/drawing/2014/main" id="{44624C24-1DDF-B9AF-DFBF-39F70849B43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403524" y="4112419"/>
            <a:ext cx="1028700" cy="1028700"/>
          </a:xfrm>
          <a:prstGeom prst="rect">
            <a:avLst/>
          </a:prstGeom>
        </p:spPr>
      </p:pic>
      <p:pic>
        <p:nvPicPr>
          <p:cNvPr id="29" name="Graphic 28">
            <a:extLst>
              <a:ext uri="{FF2B5EF4-FFF2-40B4-BE49-F238E27FC236}">
                <a16:creationId xmlns:a16="http://schemas.microsoft.com/office/drawing/2014/main" id="{43E86D87-E253-2605-7153-87376E1BB0E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24897" y="4626769"/>
            <a:ext cx="1028700" cy="514350"/>
          </a:xfrm>
          <a:prstGeom prst="rect">
            <a:avLst/>
          </a:prstGeom>
        </p:spPr>
      </p:pic>
      <p:pic>
        <p:nvPicPr>
          <p:cNvPr id="30" name="Graphic 29">
            <a:extLst>
              <a:ext uri="{FF2B5EF4-FFF2-40B4-BE49-F238E27FC236}">
                <a16:creationId xmlns:a16="http://schemas.microsoft.com/office/drawing/2014/main" id="{273D3030-A626-F723-6AFC-9770CAF129A9}"/>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606347" y="4551303"/>
            <a:ext cx="589816" cy="589816"/>
          </a:xfrm>
          <a:prstGeom prst="rect">
            <a:avLst/>
          </a:prstGeom>
        </p:spPr>
      </p:pic>
      <p:pic>
        <p:nvPicPr>
          <p:cNvPr id="31" name="Graphic 30">
            <a:extLst>
              <a:ext uri="{FF2B5EF4-FFF2-40B4-BE49-F238E27FC236}">
                <a16:creationId xmlns:a16="http://schemas.microsoft.com/office/drawing/2014/main" id="{14B599BE-05DD-AA9A-7FB0-1DC831C8A06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8160695" y="3617832"/>
            <a:ext cx="811294" cy="811294"/>
          </a:xfrm>
          <a:prstGeom prst="rect">
            <a:avLst/>
          </a:prstGeom>
        </p:spPr>
      </p:pic>
      <p:pic>
        <p:nvPicPr>
          <p:cNvPr id="32" name="Graphic 31">
            <a:extLst>
              <a:ext uri="{FF2B5EF4-FFF2-40B4-BE49-F238E27FC236}">
                <a16:creationId xmlns:a16="http://schemas.microsoft.com/office/drawing/2014/main" id="{83FD1741-059C-666B-6E5E-4D52245DA8F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8429625" y="2929894"/>
            <a:ext cx="952500" cy="476250"/>
          </a:xfrm>
          <a:prstGeom prst="rect">
            <a:avLst/>
          </a:prstGeom>
        </p:spPr>
      </p:pic>
      <p:pic>
        <p:nvPicPr>
          <p:cNvPr id="33" name="Graphic 32">
            <a:extLst>
              <a:ext uri="{FF2B5EF4-FFF2-40B4-BE49-F238E27FC236}">
                <a16:creationId xmlns:a16="http://schemas.microsoft.com/office/drawing/2014/main" id="{8C2EEF2B-62DE-C615-37F3-56A8ECBFC625}"/>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4231" y="4114800"/>
            <a:ext cx="1028700" cy="1028700"/>
          </a:xfrm>
          <a:prstGeom prst="rect">
            <a:avLst/>
          </a:prstGeom>
        </p:spPr>
      </p:pic>
    </p:spTree>
    <p:extLst>
      <p:ext uri="{BB962C8B-B14F-4D97-AF65-F5344CB8AC3E}">
        <p14:creationId xmlns:p14="http://schemas.microsoft.com/office/powerpoint/2010/main" val="42889164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ractice Review">
    <p:bg>
      <p:bgPr>
        <a:solidFill>
          <a:schemeClr val="bg2">
            <a:lumMod val="50000"/>
          </a:schemeClr>
        </a:solidFill>
        <a:effectLst/>
      </p:bgPr>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5D5B4C91-9602-1C8C-586E-449DD733A31B}"/>
              </a:ext>
            </a:extLst>
          </p:cNvPr>
          <p:cNvGrpSpPr/>
          <p:nvPr userDrawn="1"/>
        </p:nvGrpSpPr>
        <p:grpSpPr>
          <a:xfrm>
            <a:off x="1" y="4503420"/>
            <a:ext cx="9143999" cy="640080"/>
            <a:chOff x="1" y="3674676"/>
            <a:chExt cx="9143999" cy="640080"/>
          </a:xfrm>
        </p:grpSpPr>
        <p:sp>
          <p:nvSpPr>
            <p:cNvPr id="24" name="Rectangle: Rounded Corners 23">
              <a:extLst>
                <a:ext uri="{FF2B5EF4-FFF2-40B4-BE49-F238E27FC236}">
                  <a16:creationId xmlns:a16="http://schemas.microsoft.com/office/drawing/2014/main" id="{29205A83-D7A7-BD63-91F1-E53DA35D247E}"/>
                </a:ext>
              </a:extLst>
            </p:cNvPr>
            <p:cNvSpPr/>
            <p:nvPr userDrawn="1"/>
          </p:nvSpPr>
          <p:spPr>
            <a:xfrm>
              <a:off x="7839075" y="3674676"/>
              <a:ext cx="1304925" cy="640080"/>
            </a:xfrm>
            <a:prstGeom prst="roundRect">
              <a:avLst>
                <a:gd name="adj" fmla="val 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1BE60518-15D9-8879-5089-652CFF2495A9}"/>
                </a:ext>
              </a:extLst>
            </p:cNvPr>
            <p:cNvGrpSpPr/>
            <p:nvPr userDrawn="1"/>
          </p:nvGrpSpPr>
          <p:grpSpPr>
            <a:xfrm>
              <a:off x="3045672" y="3674676"/>
              <a:ext cx="2316023" cy="640080"/>
              <a:chOff x="3057205" y="4509701"/>
              <a:chExt cx="2316023" cy="640080"/>
            </a:xfrm>
          </p:grpSpPr>
          <p:sp>
            <p:nvSpPr>
              <p:cNvPr id="26" name="Rectangle: Rounded Corners 25">
                <a:extLst>
                  <a:ext uri="{FF2B5EF4-FFF2-40B4-BE49-F238E27FC236}">
                    <a16:creationId xmlns:a16="http://schemas.microsoft.com/office/drawing/2014/main" id="{904B809E-DA31-1482-56DD-4C8FF873673B}"/>
                  </a:ext>
                </a:extLst>
              </p:cNvPr>
              <p:cNvSpPr/>
              <p:nvPr userDrawn="1"/>
            </p:nvSpPr>
            <p:spPr>
              <a:xfrm>
                <a:off x="3057205" y="4509701"/>
                <a:ext cx="2293192" cy="6400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1E96F53-27B1-3548-9A19-5B407CE41D66}"/>
                  </a:ext>
                </a:extLst>
              </p:cNvPr>
              <p:cNvSpPr>
                <a:spLocks noChangeAspect="1"/>
              </p:cNvSpPr>
              <p:nvPr userDrawn="1"/>
            </p:nvSpPr>
            <p:spPr>
              <a:xfrm>
                <a:off x="4733148" y="4509701"/>
                <a:ext cx="640080" cy="64008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 name="Rectangle: Rounded Corners 27">
              <a:extLst>
                <a:ext uri="{FF2B5EF4-FFF2-40B4-BE49-F238E27FC236}">
                  <a16:creationId xmlns:a16="http://schemas.microsoft.com/office/drawing/2014/main" id="{B61C9A90-CA2E-83E0-0FC1-7C07CCF48940}"/>
                </a:ext>
              </a:extLst>
            </p:cNvPr>
            <p:cNvSpPr/>
            <p:nvPr userDrawn="1"/>
          </p:nvSpPr>
          <p:spPr>
            <a:xfrm>
              <a:off x="6009976" y="3674676"/>
              <a:ext cx="1504387" cy="640080"/>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C0B7DE68-DB88-B557-159F-F5320BDC23B5}"/>
                </a:ext>
              </a:extLst>
            </p:cNvPr>
            <p:cNvSpPr>
              <a:spLocks noChangeAspect="1"/>
            </p:cNvSpPr>
            <p:nvPr userDrawn="1"/>
          </p:nvSpPr>
          <p:spPr>
            <a:xfrm>
              <a:off x="5369896" y="3674676"/>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0" name="Group 29">
              <a:extLst>
                <a:ext uri="{FF2B5EF4-FFF2-40B4-BE49-F238E27FC236}">
                  <a16:creationId xmlns:a16="http://schemas.microsoft.com/office/drawing/2014/main" id="{AB469482-E781-7E03-138B-C2BDEF5C9239}"/>
                </a:ext>
              </a:extLst>
            </p:cNvPr>
            <p:cNvGrpSpPr/>
            <p:nvPr userDrawn="1"/>
          </p:nvGrpSpPr>
          <p:grpSpPr>
            <a:xfrm>
              <a:off x="1530997" y="3674676"/>
              <a:ext cx="2295278" cy="640080"/>
              <a:chOff x="1550731" y="4509701"/>
              <a:chExt cx="2295278" cy="640080"/>
            </a:xfrm>
          </p:grpSpPr>
          <p:sp>
            <p:nvSpPr>
              <p:cNvPr id="31" name="Rectangle: Rounded Corners 30">
                <a:extLst>
                  <a:ext uri="{FF2B5EF4-FFF2-40B4-BE49-F238E27FC236}">
                    <a16:creationId xmlns:a16="http://schemas.microsoft.com/office/drawing/2014/main" id="{160DE305-030D-8EDA-7AE6-E9E18B7FCE64}"/>
                  </a:ext>
                </a:extLst>
              </p:cNvPr>
              <p:cNvSpPr/>
              <p:nvPr userDrawn="1"/>
            </p:nvSpPr>
            <p:spPr>
              <a:xfrm>
                <a:off x="1550731" y="4509701"/>
                <a:ext cx="2295278" cy="640080"/>
              </a:xfrm>
              <a:prstGeom prst="roundRect">
                <a:avLst>
                  <a:gd name="adj" fmla="val 5000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1E15D241-78CC-E980-30BD-E030C00FC5FB}"/>
                  </a:ext>
                </a:extLst>
              </p:cNvPr>
              <p:cNvSpPr>
                <a:spLocks noChangeAspect="1"/>
              </p:cNvSpPr>
              <p:nvPr userDrawn="1"/>
            </p:nvSpPr>
            <p:spPr>
              <a:xfrm>
                <a:off x="1988028" y="4509701"/>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Rectangle: Rounded Corners 32">
              <a:extLst>
                <a:ext uri="{FF2B5EF4-FFF2-40B4-BE49-F238E27FC236}">
                  <a16:creationId xmlns:a16="http://schemas.microsoft.com/office/drawing/2014/main" id="{4D456709-173C-DEAF-A2BE-57FD1B039F5B}"/>
                </a:ext>
              </a:extLst>
            </p:cNvPr>
            <p:cNvSpPr/>
            <p:nvPr userDrawn="1"/>
          </p:nvSpPr>
          <p:spPr>
            <a:xfrm>
              <a:off x="1" y="3674676"/>
              <a:ext cx="1204912" cy="640080"/>
            </a:xfrm>
            <a:prstGeom prst="roundRect">
              <a:avLst>
                <a:gd name="adj" fmla="val 0"/>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9778CF47-BADA-2E4D-52D0-524DE03C1253}"/>
                </a:ext>
              </a:extLst>
            </p:cNvPr>
            <p:cNvSpPr>
              <a:spLocks noChangeAspect="1"/>
            </p:cNvSpPr>
            <p:nvPr userDrawn="1"/>
          </p:nvSpPr>
          <p:spPr>
            <a:xfrm>
              <a:off x="882716" y="3674676"/>
              <a:ext cx="640080" cy="6400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E523F98-8D62-492C-E827-C9FF97A3022E}"/>
                </a:ext>
              </a:extLst>
            </p:cNvPr>
            <p:cNvSpPr>
              <a:spLocks noChangeAspect="1"/>
            </p:cNvSpPr>
            <p:nvPr userDrawn="1"/>
          </p:nvSpPr>
          <p:spPr>
            <a:xfrm>
              <a:off x="7518155" y="3674676"/>
              <a:ext cx="640080" cy="640080"/>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Title Placeholder 1">
            <a:extLst>
              <a:ext uri="{FF2B5EF4-FFF2-40B4-BE49-F238E27FC236}">
                <a16:creationId xmlns:a16="http://schemas.microsoft.com/office/drawing/2014/main" id="{3A0ED05D-5FDF-8BC5-5539-AE1FEF7AB2A6}"/>
              </a:ext>
            </a:extLst>
          </p:cNvPr>
          <p:cNvSpPr>
            <a:spLocks noGrp="1"/>
          </p:cNvSpPr>
          <p:nvPr userDrawn="1">
            <p:ph type="title" hasCustomPrompt="1"/>
          </p:nvPr>
        </p:nvSpPr>
        <p:spPr>
          <a:xfrm>
            <a:off x="1" y="1833086"/>
            <a:ext cx="9144000" cy="738664"/>
          </a:xfrm>
          <a:prstGeom prst="rect">
            <a:avLst/>
          </a:prstGeom>
        </p:spPr>
        <p:txBody>
          <a:bodyPr vert="horz" wrap="square" lIns="0" tIns="0" rIns="0" bIns="182880" rtlCol="0" anchor="b" anchorCtr="0">
            <a:spAutoFit/>
          </a:bodyPr>
          <a:lstStyle>
            <a:lvl1pPr algn="ctr">
              <a:lnSpc>
                <a:spcPct val="100000"/>
              </a:lnSpc>
              <a:spcBef>
                <a:spcPts val="300"/>
              </a:spcBef>
              <a:defRPr sz="3600" b="0">
                <a:solidFill>
                  <a:schemeClr val="bg1"/>
                </a:solidFill>
              </a:defRPr>
            </a:lvl1pPr>
          </a:lstStyle>
          <a:p>
            <a:r>
              <a:rPr lang="en-US"/>
              <a:t>Practice Review</a:t>
            </a:r>
          </a:p>
        </p:txBody>
      </p:sp>
    </p:spTree>
    <p:extLst>
      <p:ext uri="{BB962C8B-B14F-4D97-AF65-F5344CB8AC3E}">
        <p14:creationId xmlns:p14="http://schemas.microsoft.com/office/powerpoint/2010/main" val="1092407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Lesson Review">
    <p:bg>
      <p:bgPr>
        <a:solidFill>
          <a:schemeClr val="accent5">
            <a:lumMod val="60000"/>
            <a:lumOff val="40000"/>
          </a:schemeClr>
        </a:solidFill>
        <a:effectLst/>
      </p:bgPr>
    </p:bg>
    <p:spTree>
      <p:nvGrpSpPr>
        <p:cNvPr id="1" name=""/>
        <p:cNvGrpSpPr/>
        <p:nvPr/>
      </p:nvGrpSpPr>
      <p:grpSpPr>
        <a:xfrm>
          <a:off x="0" y="0"/>
          <a:ext cx="0" cy="0"/>
          <a:chOff x="0" y="0"/>
          <a:chExt cx="0" cy="0"/>
        </a:xfrm>
      </p:grpSpPr>
      <p:pic>
        <p:nvPicPr>
          <p:cNvPr id="68" name="Graphic 67">
            <a:extLst>
              <a:ext uri="{FF2B5EF4-FFF2-40B4-BE49-F238E27FC236}">
                <a16:creationId xmlns:a16="http://schemas.microsoft.com/office/drawing/2014/main" id="{AFCFC22E-E562-1C7C-EE81-9980C03B190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7500098" y="3499599"/>
            <a:ext cx="1644651" cy="1643151"/>
          </a:xfrm>
          <a:prstGeom prst="rect">
            <a:avLst/>
          </a:prstGeom>
        </p:spPr>
      </p:pic>
      <p:sp>
        <p:nvSpPr>
          <p:cNvPr id="2" name="Title Placeholder 1">
            <a:extLst>
              <a:ext uri="{FF2B5EF4-FFF2-40B4-BE49-F238E27FC236}">
                <a16:creationId xmlns:a16="http://schemas.microsoft.com/office/drawing/2014/main" id="{51113F56-6E98-EE49-A6D4-1D4756B20F4B}"/>
              </a:ext>
            </a:extLst>
          </p:cNvPr>
          <p:cNvSpPr>
            <a:spLocks noGrp="1"/>
          </p:cNvSpPr>
          <p:nvPr>
            <p:ph type="title" hasCustomPrompt="1"/>
          </p:nvPr>
        </p:nvSpPr>
        <p:spPr>
          <a:xfrm>
            <a:off x="0" y="1863686"/>
            <a:ext cx="9144000" cy="738664"/>
          </a:xfrm>
          <a:prstGeom prst="rect">
            <a:avLst/>
          </a:prstGeom>
        </p:spPr>
        <p:txBody>
          <a:bodyPr vert="horz" wrap="square" lIns="0" tIns="0" rIns="0" bIns="182880" rtlCol="0" anchor="b" anchorCtr="0">
            <a:spAutoFit/>
          </a:bodyPr>
          <a:lstStyle>
            <a:lvl1pPr algn="ctr">
              <a:lnSpc>
                <a:spcPct val="100000"/>
              </a:lnSpc>
              <a:spcBef>
                <a:spcPts val="300"/>
              </a:spcBef>
              <a:defRPr sz="3600" b="0">
                <a:solidFill>
                  <a:schemeClr val="accent5">
                    <a:lumMod val="50000"/>
                  </a:schemeClr>
                </a:solidFill>
              </a:defRPr>
            </a:lvl1pPr>
          </a:lstStyle>
          <a:p>
            <a:r>
              <a:rPr lang="en-US"/>
              <a:t>Lesson Review</a:t>
            </a:r>
          </a:p>
        </p:txBody>
      </p:sp>
      <p:grpSp>
        <p:nvGrpSpPr>
          <p:cNvPr id="71" name="Group 70">
            <a:extLst>
              <a:ext uri="{FF2B5EF4-FFF2-40B4-BE49-F238E27FC236}">
                <a16:creationId xmlns:a16="http://schemas.microsoft.com/office/drawing/2014/main" id="{25B99A0E-7C85-9B17-CD7B-28312C5E1CEB}"/>
              </a:ext>
            </a:extLst>
          </p:cNvPr>
          <p:cNvGrpSpPr/>
          <p:nvPr userDrawn="1"/>
        </p:nvGrpSpPr>
        <p:grpSpPr>
          <a:xfrm>
            <a:off x="-1406" y="3483156"/>
            <a:ext cx="1655582" cy="1655582"/>
            <a:chOff x="-1407" y="3418069"/>
            <a:chExt cx="1720669" cy="1720669"/>
          </a:xfrm>
        </p:grpSpPr>
        <p:pic>
          <p:nvPicPr>
            <p:cNvPr id="20" name="Graphic 19">
              <a:extLst>
                <a:ext uri="{FF2B5EF4-FFF2-40B4-BE49-F238E27FC236}">
                  <a16:creationId xmlns:a16="http://schemas.microsoft.com/office/drawing/2014/main" id="{E6C29400-BE6A-47F1-392D-1043986609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07" y="3418069"/>
              <a:ext cx="1720669" cy="1720669"/>
            </a:xfrm>
            <a:prstGeom prst="rect">
              <a:avLst/>
            </a:prstGeom>
          </p:spPr>
        </p:pic>
        <p:pic>
          <p:nvPicPr>
            <p:cNvPr id="22" name="Graphic 21">
              <a:extLst>
                <a:ext uri="{FF2B5EF4-FFF2-40B4-BE49-F238E27FC236}">
                  <a16:creationId xmlns:a16="http://schemas.microsoft.com/office/drawing/2014/main" id="{BF8EA1F4-4CE2-580D-3038-441FCC910C2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14337" y="4102071"/>
              <a:ext cx="1036667" cy="1036667"/>
            </a:xfrm>
            <a:prstGeom prst="rect">
              <a:avLst/>
            </a:prstGeom>
          </p:spPr>
        </p:pic>
      </p:grpSp>
      <p:pic>
        <p:nvPicPr>
          <p:cNvPr id="30" name="Graphic 29">
            <a:extLst>
              <a:ext uri="{FF2B5EF4-FFF2-40B4-BE49-F238E27FC236}">
                <a16:creationId xmlns:a16="http://schemas.microsoft.com/office/drawing/2014/main" id="{9660AB6A-D3B8-4975-2F39-3DA5B553C67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16870" y="3910490"/>
            <a:ext cx="1233010" cy="1233010"/>
          </a:xfrm>
          <a:prstGeom prst="rect">
            <a:avLst/>
          </a:prstGeom>
        </p:spPr>
      </p:pic>
      <p:pic>
        <p:nvPicPr>
          <p:cNvPr id="32" name="Graphic 31">
            <a:extLst>
              <a:ext uri="{FF2B5EF4-FFF2-40B4-BE49-F238E27FC236}">
                <a16:creationId xmlns:a16="http://schemas.microsoft.com/office/drawing/2014/main" id="{60C90F3D-281D-610A-DFF8-0E9526EC86E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2612080" y="4476750"/>
            <a:ext cx="666750" cy="666750"/>
          </a:xfrm>
          <a:prstGeom prst="rect">
            <a:avLst/>
          </a:prstGeom>
        </p:spPr>
      </p:pic>
      <p:pic>
        <p:nvPicPr>
          <p:cNvPr id="35" name="Graphic 34">
            <a:extLst>
              <a:ext uri="{FF2B5EF4-FFF2-40B4-BE49-F238E27FC236}">
                <a16:creationId xmlns:a16="http://schemas.microsoft.com/office/drawing/2014/main" id="{FB3270EC-B0DA-78C4-4E5B-4DDE5CB835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3297058" y="4321634"/>
            <a:ext cx="821866" cy="821866"/>
          </a:xfrm>
          <a:prstGeom prst="rect">
            <a:avLst/>
          </a:prstGeom>
        </p:spPr>
      </p:pic>
      <p:pic>
        <p:nvPicPr>
          <p:cNvPr id="37" name="Graphic 36">
            <a:extLst>
              <a:ext uri="{FF2B5EF4-FFF2-40B4-BE49-F238E27FC236}">
                <a16:creationId xmlns:a16="http://schemas.microsoft.com/office/drawing/2014/main" id="{2282E4C7-13A5-4DCA-FAF0-57CE0C60084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4137152" y="4321634"/>
            <a:ext cx="821866" cy="821866"/>
          </a:xfrm>
          <a:prstGeom prst="rect">
            <a:avLst/>
          </a:prstGeom>
        </p:spPr>
      </p:pic>
      <p:pic>
        <p:nvPicPr>
          <p:cNvPr id="40" name="Graphic 39">
            <a:extLst>
              <a:ext uri="{FF2B5EF4-FFF2-40B4-BE49-F238E27FC236}">
                <a16:creationId xmlns:a16="http://schemas.microsoft.com/office/drawing/2014/main" id="{7A278F60-65B8-5737-628A-23E747D8BA9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4977247" y="3887586"/>
            <a:ext cx="1255914" cy="1255914"/>
          </a:xfrm>
          <a:prstGeom prst="rect">
            <a:avLst/>
          </a:prstGeom>
        </p:spPr>
      </p:pic>
      <p:pic>
        <p:nvPicPr>
          <p:cNvPr id="42" name="Graphic 41">
            <a:extLst>
              <a:ext uri="{FF2B5EF4-FFF2-40B4-BE49-F238E27FC236}">
                <a16:creationId xmlns:a16="http://schemas.microsoft.com/office/drawing/2014/main" id="{E40B6547-432F-30CA-169A-2F5D91A8221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972458" y="4476750"/>
            <a:ext cx="666750" cy="666750"/>
          </a:xfrm>
          <a:prstGeom prst="rect">
            <a:avLst/>
          </a:prstGeom>
        </p:spPr>
      </p:pic>
      <p:pic>
        <p:nvPicPr>
          <p:cNvPr id="50" name="Graphic 49">
            <a:extLst>
              <a:ext uri="{FF2B5EF4-FFF2-40B4-BE49-F238E27FC236}">
                <a16:creationId xmlns:a16="http://schemas.microsoft.com/office/drawing/2014/main" id="{0AC19C58-76E5-F403-85A1-19E6EA2AD67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657437" y="3883756"/>
            <a:ext cx="1259743" cy="1259743"/>
          </a:xfrm>
          <a:prstGeom prst="rect">
            <a:avLst/>
          </a:prstGeom>
        </p:spPr>
      </p:pic>
    </p:spTree>
    <p:extLst>
      <p:ext uri="{BB962C8B-B14F-4D97-AF65-F5344CB8AC3E}">
        <p14:creationId xmlns:p14="http://schemas.microsoft.com/office/powerpoint/2010/main" val="1285167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460">
          <p15:clr>
            <a:srgbClr val="FBAE40"/>
          </p15:clr>
        </p15:guide>
        <p15:guide id="2" orient="horz" pos="2820">
          <p15:clr>
            <a:srgbClr val="FBAE40"/>
          </p15:clr>
        </p15:guide>
        <p15:guide id="3" orient="horz" pos="2028">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accent4">
            <a:lumMod val="50000"/>
            <a:lumOff val="5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D2338-F5F7-9500-18BF-9B649F47EC9F}"/>
              </a:ext>
            </a:extLst>
          </p:cNvPr>
          <p:cNvSpPr>
            <a:spLocks noGrp="1"/>
          </p:cNvSpPr>
          <p:nvPr>
            <p:ph type="title" hasCustomPrompt="1"/>
          </p:nvPr>
        </p:nvSpPr>
        <p:spPr>
          <a:xfrm>
            <a:off x="0" y="2263973"/>
            <a:ext cx="9144000" cy="738664"/>
          </a:xfrm>
          <a:prstGeom prst="rect">
            <a:avLst/>
          </a:prstGeom>
        </p:spPr>
        <p:txBody>
          <a:bodyPr vert="horz" wrap="square" lIns="0" tIns="0" rIns="0" bIns="182880" rtlCol="0" anchor="b" anchorCtr="0">
            <a:spAutoFit/>
          </a:bodyPr>
          <a:lstStyle>
            <a:lvl1pPr algn="ctr">
              <a:lnSpc>
                <a:spcPct val="100000"/>
              </a:lnSpc>
              <a:spcBef>
                <a:spcPts val="300"/>
              </a:spcBef>
              <a:defRPr sz="3600" b="0">
                <a:solidFill>
                  <a:schemeClr val="tx2"/>
                </a:solidFill>
              </a:defRPr>
            </a:lvl1pPr>
          </a:lstStyle>
          <a:p>
            <a:r>
              <a:rPr lang="en-US"/>
              <a:t>Break</a:t>
            </a:r>
          </a:p>
        </p:txBody>
      </p:sp>
      <p:pic>
        <p:nvPicPr>
          <p:cNvPr id="79" name="Graphic 78">
            <a:extLst>
              <a:ext uri="{FF2B5EF4-FFF2-40B4-BE49-F238E27FC236}">
                <a16:creationId xmlns:a16="http://schemas.microsoft.com/office/drawing/2014/main" id="{D4663A7B-7860-659B-3B8B-E35BB54A017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09743" y="358382"/>
            <a:ext cx="514350" cy="1028700"/>
          </a:xfrm>
          <a:prstGeom prst="rect">
            <a:avLst/>
          </a:prstGeom>
        </p:spPr>
      </p:pic>
      <p:pic>
        <p:nvPicPr>
          <p:cNvPr id="142" name="Graphic 141">
            <a:extLst>
              <a:ext uri="{FF2B5EF4-FFF2-40B4-BE49-F238E27FC236}">
                <a16:creationId xmlns:a16="http://schemas.microsoft.com/office/drawing/2014/main" id="{824EAEF5-ABAA-3E4D-859F-5EF3C98E00E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09743" y="3698482"/>
            <a:ext cx="514350" cy="1028700"/>
          </a:xfrm>
          <a:prstGeom prst="rect">
            <a:avLst/>
          </a:prstGeom>
        </p:spPr>
      </p:pic>
      <p:pic>
        <p:nvPicPr>
          <p:cNvPr id="146" name="Graphic 145">
            <a:extLst>
              <a:ext uri="{FF2B5EF4-FFF2-40B4-BE49-F238E27FC236}">
                <a16:creationId xmlns:a16="http://schemas.microsoft.com/office/drawing/2014/main" id="{C136FA49-9231-2DD2-2BC6-8FAE3064756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5980257" y="2057399"/>
            <a:ext cx="514350" cy="1028700"/>
          </a:xfrm>
          <a:prstGeom prst="rect">
            <a:avLst/>
          </a:prstGeom>
        </p:spPr>
      </p:pic>
      <p:pic>
        <p:nvPicPr>
          <p:cNvPr id="145" name="Graphic 144">
            <a:extLst>
              <a:ext uri="{FF2B5EF4-FFF2-40B4-BE49-F238E27FC236}">
                <a16:creationId xmlns:a16="http://schemas.microsoft.com/office/drawing/2014/main" id="{BF3DDC70-14CA-056B-B438-FCC7198D5AF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6200000">
            <a:off x="2640157" y="2057399"/>
            <a:ext cx="514350" cy="1028700"/>
          </a:xfrm>
          <a:prstGeom prst="rect">
            <a:avLst/>
          </a:prstGeom>
        </p:spPr>
      </p:pic>
      <p:pic>
        <p:nvPicPr>
          <p:cNvPr id="148" name="Graphic 147">
            <a:extLst>
              <a:ext uri="{FF2B5EF4-FFF2-40B4-BE49-F238E27FC236}">
                <a16:creationId xmlns:a16="http://schemas.microsoft.com/office/drawing/2014/main" id="{5B4E4FDE-3D22-7F54-6EB1-6089824950D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8900000">
            <a:off x="3142003" y="847528"/>
            <a:ext cx="514350" cy="1028700"/>
          </a:xfrm>
          <a:prstGeom prst="rect">
            <a:avLst/>
          </a:prstGeom>
        </p:spPr>
      </p:pic>
      <p:pic>
        <p:nvPicPr>
          <p:cNvPr id="149" name="Graphic 148">
            <a:extLst>
              <a:ext uri="{FF2B5EF4-FFF2-40B4-BE49-F238E27FC236}">
                <a16:creationId xmlns:a16="http://schemas.microsoft.com/office/drawing/2014/main" id="{329F59F5-201B-EFD3-F6A6-4EAB1AC583C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8900000">
            <a:off x="5503811" y="3209336"/>
            <a:ext cx="514350" cy="1028700"/>
          </a:xfrm>
          <a:prstGeom prst="rect">
            <a:avLst/>
          </a:prstGeom>
        </p:spPr>
      </p:pic>
      <p:pic>
        <p:nvPicPr>
          <p:cNvPr id="151" name="Graphic 150">
            <a:extLst>
              <a:ext uri="{FF2B5EF4-FFF2-40B4-BE49-F238E27FC236}">
                <a16:creationId xmlns:a16="http://schemas.microsoft.com/office/drawing/2014/main" id="{ED2FB07E-BDE2-8AB3-ED4B-471A555281F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0000">
            <a:off x="5491111" y="847528"/>
            <a:ext cx="514350" cy="1028700"/>
          </a:xfrm>
          <a:prstGeom prst="rect">
            <a:avLst/>
          </a:prstGeom>
        </p:spPr>
      </p:pic>
      <p:pic>
        <p:nvPicPr>
          <p:cNvPr id="152" name="Graphic 151">
            <a:extLst>
              <a:ext uri="{FF2B5EF4-FFF2-40B4-BE49-F238E27FC236}">
                <a16:creationId xmlns:a16="http://schemas.microsoft.com/office/drawing/2014/main" id="{034E56A1-910C-3E14-4ED8-3FFF4DBCA02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700000">
            <a:off x="3129303" y="3209336"/>
            <a:ext cx="514350" cy="1028700"/>
          </a:xfrm>
          <a:prstGeom prst="rect">
            <a:avLst/>
          </a:prstGeom>
        </p:spPr>
      </p:pic>
      <p:pic>
        <p:nvPicPr>
          <p:cNvPr id="156" name="Graphic 155">
            <a:extLst>
              <a:ext uri="{FF2B5EF4-FFF2-40B4-BE49-F238E27FC236}">
                <a16:creationId xmlns:a16="http://schemas.microsoft.com/office/drawing/2014/main" id="{BAE192CD-2089-4C82-5B87-465A8E4925A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8900000">
            <a:off x="5656599" y="2315717"/>
            <a:ext cx="512064" cy="512064"/>
          </a:xfrm>
          <a:prstGeom prst="rect">
            <a:avLst/>
          </a:prstGeom>
        </p:spPr>
      </p:pic>
      <p:pic>
        <p:nvPicPr>
          <p:cNvPr id="157" name="Graphic 156">
            <a:extLst>
              <a:ext uri="{FF2B5EF4-FFF2-40B4-BE49-F238E27FC236}">
                <a16:creationId xmlns:a16="http://schemas.microsoft.com/office/drawing/2014/main" id="{89DD3710-2981-84DE-56A6-8DFC156BF52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6200000">
            <a:off x="5272900" y="1325680"/>
            <a:ext cx="512064" cy="512064"/>
          </a:xfrm>
          <a:prstGeom prst="rect">
            <a:avLst/>
          </a:prstGeom>
        </p:spPr>
      </p:pic>
      <p:pic>
        <p:nvPicPr>
          <p:cNvPr id="159" name="Graphic 158">
            <a:extLst>
              <a:ext uri="{FF2B5EF4-FFF2-40B4-BE49-F238E27FC236}">
                <a16:creationId xmlns:a16="http://schemas.microsoft.com/office/drawing/2014/main" id="{F5F82647-6887-E5CD-61B9-3ED153B50BE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5303063" y="3261158"/>
            <a:ext cx="512064" cy="512064"/>
          </a:xfrm>
          <a:prstGeom prst="rect">
            <a:avLst/>
          </a:prstGeom>
        </p:spPr>
      </p:pic>
      <p:pic>
        <p:nvPicPr>
          <p:cNvPr id="160" name="Graphic 159">
            <a:extLst>
              <a:ext uri="{FF2B5EF4-FFF2-40B4-BE49-F238E27FC236}">
                <a16:creationId xmlns:a16="http://schemas.microsoft.com/office/drawing/2014/main" id="{923701C5-E19E-86BD-A9EA-3CA2BC1919F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8100000">
            <a:off x="2952336" y="2315717"/>
            <a:ext cx="512064" cy="512064"/>
          </a:xfrm>
          <a:prstGeom prst="rect">
            <a:avLst/>
          </a:prstGeom>
        </p:spPr>
      </p:pic>
      <p:pic>
        <p:nvPicPr>
          <p:cNvPr id="161" name="Graphic 160">
            <a:extLst>
              <a:ext uri="{FF2B5EF4-FFF2-40B4-BE49-F238E27FC236}">
                <a16:creationId xmlns:a16="http://schemas.microsoft.com/office/drawing/2014/main" id="{36E7B26A-617C-7F5D-31B0-7298BBA483A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5400000">
            <a:off x="3343656" y="3249802"/>
            <a:ext cx="512064" cy="512064"/>
          </a:xfrm>
          <a:prstGeom prst="rect">
            <a:avLst/>
          </a:prstGeom>
        </p:spPr>
      </p:pic>
      <p:pic>
        <p:nvPicPr>
          <p:cNvPr id="162" name="Graphic 161">
            <a:extLst>
              <a:ext uri="{FF2B5EF4-FFF2-40B4-BE49-F238E27FC236}">
                <a16:creationId xmlns:a16="http://schemas.microsoft.com/office/drawing/2014/main" id="{F2B2BF7E-D3C4-989B-F155-41E72DA9CFA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0800000">
            <a:off x="3368103" y="1328294"/>
            <a:ext cx="512064" cy="512064"/>
          </a:xfrm>
          <a:prstGeom prst="rect">
            <a:avLst/>
          </a:prstGeom>
        </p:spPr>
      </p:pic>
      <p:pic>
        <p:nvPicPr>
          <p:cNvPr id="164" name="Graphic 163">
            <a:extLst>
              <a:ext uri="{FF2B5EF4-FFF2-40B4-BE49-F238E27FC236}">
                <a16:creationId xmlns:a16="http://schemas.microsoft.com/office/drawing/2014/main" id="{A54C845C-BF87-A2DC-8B2C-973CB442FA1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2772098">
            <a:off x="4310886" y="3675295"/>
            <a:ext cx="512064" cy="512064"/>
          </a:xfrm>
          <a:prstGeom prst="rect">
            <a:avLst/>
          </a:prstGeom>
        </p:spPr>
      </p:pic>
      <p:pic>
        <p:nvPicPr>
          <p:cNvPr id="165" name="Graphic 164">
            <a:extLst>
              <a:ext uri="{FF2B5EF4-FFF2-40B4-BE49-F238E27FC236}">
                <a16:creationId xmlns:a16="http://schemas.microsoft.com/office/drawing/2014/main" id="{D4AE9F63-ED67-FEAE-0485-214F41BFEEE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3572098">
            <a:off x="4310886" y="933281"/>
            <a:ext cx="512064" cy="512064"/>
          </a:xfrm>
          <a:prstGeom prst="rect">
            <a:avLst/>
          </a:prstGeom>
        </p:spPr>
      </p:pic>
    </p:spTree>
    <p:extLst>
      <p:ext uri="{BB962C8B-B14F-4D97-AF65-F5344CB8AC3E}">
        <p14:creationId xmlns:p14="http://schemas.microsoft.com/office/powerpoint/2010/main" val="1107537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slideLayout" Target="../slideLayouts/slideLayout36.xml"/><Relationship Id="rId3" Type="http://schemas.openxmlformats.org/officeDocument/2006/relationships/slideLayout" Target="../slideLayouts/slideLayout21.xml"/><Relationship Id="rId21" Type="http://schemas.openxmlformats.org/officeDocument/2006/relationships/slideLayout" Target="../slideLayouts/slideLayout39.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slideLayout" Target="../slideLayouts/slideLayout35.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20" Type="http://schemas.openxmlformats.org/officeDocument/2006/relationships/slideLayout" Target="../slideLayouts/slideLayout38.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23" Type="http://schemas.openxmlformats.org/officeDocument/2006/relationships/tags" Target="../tags/tag2.xml"/><Relationship Id="rId10" Type="http://schemas.openxmlformats.org/officeDocument/2006/relationships/slideLayout" Target="../slideLayouts/slideLayout28.xml"/><Relationship Id="rId19" Type="http://schemas.openxmlformats.org/officeDocument/2006/relationships/slideLayout" Target="../slideLayouts/slideLayout37.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 Id="rId2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Title Placeholder 5">
            <a:extLst>
              <a:ext uri="{FF2B5EF4-FFF2-40B4-BE49-F238E27FC236}">
                <a16:creationId xmlns:a16="http://schemas.microsoft.com/office/drawing/2014/main" id="{147DB315-64CF-465B-BB32-5C62CAC724D0}"/>
              </a:ext>
            </a:extLst>
          </p:cNvPr>
          <p:cNvSpPr>
            <a:spLocks noGrp="1"/>
          </p:cNvSpPr>
          <p:nvPr>
            <p:ph type="title"/>
          </p:nvPr>
        </p:nvSpPr>
        <p:spPr>
          <a:xfrm>
            <a:off x="628650" y="192024"/>
            <a:ext cx="7886700" cy="457200"/>
          </a:xfrm>
          <a:prstGeom prst="rect">
            <a:avLst/>
          </a:prstGeom>
        </p:spPr>
        <p:txBody>
          <a:bodyPr vert="horz" lIns="0" tIns="0" rIns="0" bIns="0" rtlCol="0" anchor="ctr">
            <a:normAutofit/>
          </a:bodyPr>
          <a:lstStyle/>
          <a:p>
            <a:r>
              <a:rPr lang="en-US"/>
              <a:t>Click to edit Master title style</a:t>
            </a:r>
          </a:p>
        </p:txBody>
      </p:sp>
      <p:sp>
        <p:nvSpPr>
          <p:cNvPr id="7" name="Text Placeholder 6">
            <a:extLst>
              <a:ext uri="{FF2B5EF4-FFF2-40B4-BE49-F238E27FC236}">
                <a16:creationId xmlns:a16="http://schemas.microsoft.com/office/drawing/2014/main" id="{DF836835-93D0-4146-AD6E-120C6B6CE86C}"/>
              </a:ext>
            </a:extLst>
          </p:cNvPr>
          <p:cNvSpPr>
            <a:spLocks noGrp="1"/>
          </p:cNvSpPr>
          <p:nvPr>
            <p:ph type="body" idx="1"/>
          </p:nvPr>
        </p:nvSpPr>
        <p:spPr>
          <a:xfrm>
            <a:off x="628650" y="804672"/>
            <a:ext cx="7886700" cy="3639312"/>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84581526"/>
      </p:ext>
    </p:extLst>
  </p:cSld>
  <p:clrMap bg1="lt1" tx1="dk1" bg2="lt2" tx2="dk2" accent1="accent1" accent2="accent2" accent3="accent3" accent4="accent4" accent5="accent5" accent6="accent6" hlink="hlink" folHlink="folHlink"/>
  <p:sldLayoutIdLst>
    <p:sldLayoutId id="2147487336" r:id="rId1"/>
    <p:sldLayoutId id="2147487337" r:id="rId2"/>
    <p:sldLayoutId id="2147487338" r:id="rId3"/>
    <p:sldLayoutId id="2147487339" r:id="rId4"/>
    <p:sldLayoutId id="2147487340" r:id="rId5"/>
    <p:sldLayoutId id="2147487341" r:id="rId6"/>
    <p:sldLayoutId id="2147487342" r:id="rId7"/>
    <p:sldLayoutId id="2147487343" r:id="rId8"/>
    <p:sldLayoutId id="2147487344" r:id="rId9"/>
    <p:sldLayoutId id="2147487345" r:id="rId10"/>
    <p:sldLayoutId id="2147487346" r:id="rId11"/>
    <p:sldLayoutId id="2147487347" r:id="rId12"/>
    <p:sldLayoutId id="2147487348" r:id="rId13"/>
    <p:sldLayoutId id="2147487349" r:id="rId14"/>
    <p:sldLayoutId id="2147487350" r:id="rId15"/>
    <p:sldLayoutId id="2147487351" r:id="rId16"/>
    <p:sldLayoutId id="2147487353" r:id="rId17"/>
    <p:sldLayoutId id="2147486654" r:id="rId18"/>
  </p:sldLayoutIdLst>
  <p:hf sldNum="0" hdr="0" ftr="0" dt="0"/>
  <p:txStyles>
    <p:titleStyle>
      <a:lvl1pPr algn="ctr" defTabSz="182880" rtl="0" eaLnBrk="1" latinLnBrk="0" hangingPunct="1">
        <a:lnSpc>
          <a:spcPct val="100000"/>
        </a:lnSpc>
        <a:spcBef>
          <a:spcPct val="0"/>
        </a:spcBef>
        <a:buNone/>
        <a:defRPr lang="en-US" sz="2800" b="0" i="0" u="none" kern="1200" cap="none" baseline="0" dirty="0">
          <a:solidFill>
            <a:schemeClr val="tx2"/>
          </a:solidFill>
          <a:latin typeface="+mj-lt"/>
          <a:ea typeface="+mj-ea"/>
          <a:cs typeface="+mj-cs"/>
        </a:defRPr>
      </a:lvl1pPr>
    </p:titleStyle>
    <p:bodyStyle>
      <a:lvl1pPr marL="0" marR="0" indent="0" algn="l" defTabSz="365760" rtl="0" eaLnBrk="1" fontAlgn="auto" latinLnBrk="0" hangingPunct="1">
        <a:lnSpc>
          <a:spcPct val="100000"/>
        </a:lnSpc>
        <a:spcBef>
          <a:spcPts val="600"/>
        </a:spcBef>
        <a:spcAft>
          <a:spcPts val="0"/>
        </a:spcAft>
        <a:buClr>
          <a:srgbClr val="0074BE"/>
        </a:buClr>
        <a:buSzPct val="80000"/>
        <a:buFontTx/>
        <a:buNone/>
        <a:tabLst/>
        <a:defRPr sz="2000" b="0" kern="1200" cap="none" baseline="0">
          <a:solidFill>
            <a:schemeClr val="tx1"/>
          </a:solidFill>
          <a:latin typeface="+mn-lt"/>
          <a:ea typeface="+mn-ea"/>
          <a:cs typeface="+mn-cs"/>
        </a:defRPr>
      </a:lvl1pPr>
      <a:lvl2pPr marL="182563" marR="0" indent="-182563" algn="l" defTabSz="365760" rtl="0" eaLnBrk="1" fontAlgn="auto" latinLnBrk="0" hangingPunct="1">
        <a:lnSpc>
          <a:spcPct val="100000"/>
        </a:lnSpc>
        <a:spcBef>
          <a:spcPts val="600"/>
        </a:spcBef>
        <a:spcAft>
          <a:spcPts val="0"/>
        </a:spcAft>
        <a:buClr>
          <a:srgbClr val="0074BE"/>
        </a:buClr>
        <a:buSzPct val="80000"/>
        <a:buFont typeface="Arial" pitchFamily="34" charset="0"/>
        <a:buChar char="•"/>
        <a:tabLst/>
        <a:defRPr sz="2000" b="0" i="0" u="none" kern="1200" baseline="0">
          <a:solidFill>
            <a:schemeClr val="tx1"/>
          </a:solidFill>
          <a:latin typeface="+mn-lt"/>
          <a:ea typeface="+mn-ea"/>
          <a:cs typeface="+mn-cs"/>
        </a:defRPr>
      </a:lvl2pPr>
      <a:lvl3pPr marL="396875" marR="0" indent="-182563" algn="l" defTabSz="365760" rtl="0" eaLnBrk="1" fontAlgn="auto" latinLnBrk="0" hangingPunct="1">
        <a:lnSpc>
          <a:spcPct val="100000"/>
        </a:lnSpc>
        <a:spcBef>
          <a:spcPts val="600"/>
        </a:spcBef>
        <a:spcAft>
          <a:spcPts val="0"/>
        </a:spcAft>
        <a:buClr>
          <a:schemeClr val="tx2"/>
        </a:buClr>
        <a:buSzPct val="80000"/>
        <a:buFont typeface="Arial" panose="020B0604020202020204" pitchFamily="34" charset="0"/>
        <a:buChar char="•"/>
        <a:tabLst/>
        <a:defRPr sz="1800" kern="1200" baseline="0">
          <a:solidFill>
            <a:schemeClr val="tx1"/>
          </a:solidFill>
          <a:latin typeface="+mn-lt"/>
          <a:ea typeface="+mn-ea"/>
          <a:cs typeface="+mn-cs"/>
        </a:defRPr>
      </a:lvl3pPr>
      <a:lvl4pPr marL="628650" marR="0" indent="-182563" algn="l" defTabSz="365760" rtl="0" eaLnBrk="1" fontAlgn="auto" latinLnBrk="0" hangingPunct="1">
        <a:lnSpc>
          <a:spcPct val="100000"/>
        </a:lnSpc>
        <a:spcBef>
          <a:spcPts val="600"/>
        </a:spcBef>
        <a:spcAft>
          <a:spcPts val="0"/>
        </a:spcAft>
        <a:buClr>
          <a:srgbClr val="000000">
            <a:lumMod val="65000"/>
            <a:lumOff val="35000"/>
          </a:srgbClr>
        </a:buClr>
        <a:buSzPct val="100000"/>
        <a:buFont typeface="Calibri" panose="020F0502020204030204" pitchFamily="34" charset="0"/>
        <a:buChar char="-"/>
        <a:tabLst/>
        <a:defRPr sz="1600" kern="1200" baseline="0">
          <a:solidFill>
            <a:schemeClr val="tx1"/>
          </a:solidFill>
          <a:latin typeface="+mn-lt"/>
          <a:ea typeface="+mn-ea"/>
          <a:cs typeface="+mn-cs"/>
        </a:defRPr>
      </a:lvl4pPr>
      <a:lvl5pPr marL="914400" indent="-182880" algn="l" defTabSz="365760" rtl="0" eaLnBrk="1" latinLnBrk="0" hangingPunct="1">
        <a:lnSpc>
          <a:spcPct val="120000"/>
        </a:lnSpc>
        <a:spcBef>
          <a:spcPts val="600"/>
        </a:spcBef>
        <a:buClr>
          <a:schemeClr val="tx1">
            <a:lumMod val="65000"/>
            <a:lumOff val="35000"/>
          </a:schemeClr>
        </a:buClr>
        <a:buSzPct val="100000"/>
        <a:buFont typeface="Calibri" panose="020F0502020204030204" pitchFamily="34" charset="0"/>
        <a:buChar char="-"/>
        <a:defRPr sz="1400" kern="1200" baseline="0">
          <a:solidFill>
            <a:schemeClr val="tx1"/>
          </a:solidFill>
          <a:latin typeface="+mn-lt"/>
          <a:ea typeface="+mn-ea"/>
          <a:cs typeface="+mn-cs"/>
        </a:defRPr>
      </a:lvl5pPr>
      <a:lvl6pPr marL="1097280" indent="-182880" algn="l" defTabSz="3657600" rtl="0" eaLnBrk="1" latinLnBrk="0" hangingPunct="1">
        <a:lnSpc>
          <a:spcPct val="120000"/>
        </a:lnSpc>
        <a:spcBef>
          <a:spcPts val="0"/>
        </a:spcBef>
        <a:buClr>
          <a:schemeClr val="accent1"/>
        </a:buClr>
        <a:buSzPct val="80000"/>
        <a:buFont typeface="Arial" pitchFamily="34" charset="0"/>
        <a:buChar char="•"/>
        <a:defRPr sz="1000" kern="1200">
          <a:solidFill>
            <a:schemeClr val="tx2"/>
          </a:solidFill>
          <a:latin typeface="+mn-lt"/>
          <a:ea typeface="+mn-ea"/>
          <a:cs typeface="+mn-cs"/>
        </a:defRPr>
      </a:lvl6pPr>
      <a:lvl7pPr marL="1280160" indent="-182880" algn="l" defTabSz="3657600" rtl="0" eaLnBrk="1" latinLnBrk="0" hangingPunct="1">
        <a:lnSpc>
          <a:spcPct val="120000"/>
        </a:lnSpc>
        <a:spcBef>
          <a:spcPts val="0"/>
        </a:spcBef>
        <a:buClr>
          <a:schemeClr val="accent1"/>
        </a:buClr>
        <a:buSzPct val="80000"/>
        <a:buFont typeface="Arial" pitchFamily="34" charset="0"/>
        <a:buChar char="•"/>
        <a:defRPr sz="1000" kern="1200">
          <a:solidFill>
            <a:schemeClr val="tx2"/>
          </a:solidFill>
          <a:latin typeface="+mn-lt"/>
          <a:ea typeface="+mn-ea"/>
          <a:cs typeface="+mn-cs"/>
        </a:defRPr>
      </a:lvl7pPr>
      <a:lvl8pPr marL="1463040" indent="-182880" algn="l" defTabSz="914400" rtl="0" eaLnBrk="1" latinLnBrk="0" hangingPunct="1">
        <a:lnSpc>
          <a:spcPct val="120000"/>
        </a:lnSpc>
        <a:spcBef>
          <a:spcPts val="0"/>
        </a:spcBef>
        <a:buClr>
          <a:schemeClr val="accent1"/>
        </a:buClr>
        <a:buSzPct val="80000"/>
        <a:buFont typeface="Arial" pitchFamily="34" charset="0"/>
        <a:buChar char="•"/>
        <a:defRPr sz="1000" kern="1200">
          <a:solidFill>
            <a:schemeClr val="tx2"/>
          </a:solidFill>
          <a:latin typeface="+mn-lt"/>
          <a:ea typeface="+mn-ea"/>
          <a:cs typeface="+mn-cs"/>
        </a:defRPr>
      </a:lvl8pPr>
      <a:lvl9pPr marL="1645920" indent="-182880" algn="l" defTabSz="365760" rtl="0" eaLnBrk="1" latinLnBrk="0" hangingPunct="1">
        <a:lnSpc>
          <a:spcPct val="120000"/>
        </a:lnSpc>
        <a:spcBef>
          <a:spcPts val="0"/>
        </a:spcBef>
        <a:buClr>
          <a:schemeClr val="accent1"/>
        </a:buClr>
        <a:buSzPct val="80000"/>
        <a:buFont typeface="Arial" pitchFamily="34" charset="0"/>
        <a:buChar char="•"/>
        <a:defRPr sz="10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8" pos="384" userDrawn="1">
          <p15:clr>
            <a:srgbClr val="F26B43"/>
          </p15:clr>
        </p15:guide>
        <p15:guide id="9" orient="horz" pos="540" userDrawn="1">
          <p15:clr>
            <a:srgbClr val="F26B43"/>
          </p15:clr>
        </p15:guide>
        <p15:guide id="11" orient="horz" pos="276"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822959"/>
            <a:ext cx="7886700" cy="3840480"/>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p:txBody>
      </p:sp>
      <p:sp>
        <p:nvSpPr>
          <p:cNvPr id="2" name="Title Placeholder 1"/>
          <p:cNvSpPr>
            <a:spLocks noGrp="1"/>
          </p:cNvSpPr>
          <p:nvPr>
            <p:ph type="title"/>
          </p:nvPr>
        </p:nvSpPr>
        <p:spPr>
          <a:xfrm>
            <a:off x="628650" y="355152"/>
            <a:ext cx="7886700" cy="302073"/>
          </a:xfrm>
          <a:prstGeom prst="rect">
            <a:avLst/>
          </a:prstGeom>
        </p:spPr>
        <p:txBody>
          <a:bodyPr vert="horz" lIns="0" tIns="0" rIns="0" bIns="0" rtlCol="0" anchor="ctr">
            <a:noAutofit/>
          </a:bodyPr>
          <a:lstStyle/>
          <a:p>
            <a:r>
              <a:rPr lang="en-US"/>
              <a:t>Click to Add Slide Title</a:t>
            </a:r>
          </a:p>
        </p:txBody>
      </p:sp>
    </p:spTree>
    <p:custDataLst>
      <p:tags r:id="rId23"/>
    </p:custDataLst>
    <p:extLst>
      <p:ext uri="{BB962C8B-B14F-4D97-AF65-F5344CB8AC3E}">
        <p14:creationId xmlns:p14="http://schemas.microsoft.com/office/powerpoint/2010/main" val="2504141268"/>
      </p:ext>
    </p:extLst>
  </p:cSld>
  <p:clrMap bg1="lt1" tx1="dk1" bg2="lt2" tx2="dk2" accent1="accent1" accent2="accent2" accent3="accent3" accent4="accent4" accent5="accent5" accent6="accent6" hlink="hlink" folHlink="folHlink"/>
  <p:sldLayoutIdLst>
    <p:sldLayoutId id="2147487362" r:id="rId1"/>
    <p:sldLayoutId id="2147487363" r:id="rId2"/>
    <p:sldLayoutId id="2147487364" r:id="rId3"/>
    <p:sldLayoutId id="2147487365" r:id="rId4"/>
    <p:sldLayoutId id="2147487366" r:id="rId5"/>
    <p:sldLayoutId id="2147487367" r:id="rId6"/>
    <p:sldLayoutId id="2147487368" r:id="rId7"/>
    <p:sldLayoutId id="2147487369" r:id="rId8"/>
    <p:sldLayoutId id="2147487370" r:id="rId9"/>
    <p:sldLayoutId id="2147487371" r:id="rId10"/>
    <p:sldLayoutId id="2147487372" r:id="rId11"/>
    <p:sldLayoutId id="2147487373" r:id="rId12"/>
    <p:sldLayoutId id="2147487374" r:id="rId13"/>
    <p:sldLayoutId id="2147487375" r:id="rId14"/>
    <p:sldLayoutId id="2147487376" r:id="rId15"/>
    <p:sldLayoutId id="2147487377" r:id="rId16"/>
    <p:sldLayoutId id="2147487378" r:id="rId17"/>
    <p:sldLayoutId id="2147487379" r:id="rId18"/>
    <p:sldLayoutId id="2147487380" r:id="rId19"/>
    <p:sldLayoutId id="2147487381" r:id="rId20"/>
    <p:sldLayoutId id="2147487382" r:id="rId21"/>
  </p:sldLayoutIdLst>
  <mc:AlternateContent xmlns:mc="http://schemas.openxmlformats.org/markup-compatibility/2006" xmlns:p14="http://schemas.microsoft.com/office/powerpoint/2010/main">
    <mc:Choice Requires="p14">
      <p:transition spd="med" p14:dur="700">
        <p:fade/>
      </p:transition>
    </mc:Choice>
    <mc:Fallback xmlns:p15="http://schemas.microsoft.com/office/powerpoint/2012/main" xmlns:a16="http://schemas.microsoft.com/office/drawing/2014/main" xmlns="">
      <p:transition spd="med">
        <p:fade/>
      </p:transition>
    </mc:Fallback>
  </mc:AlternateContent>
  <p:txStyles>
    <p:titleStyle>
      <a:lvl1pPr algn="l" defTabSz="685800" rtl="0" eaLnBrk="1" latinLnBrk="0" hangingPunct="1">
        <a:lnSpc>
          <a:spcPct val="90000"/>
        </a:lnSpc>
        <a:spcBef>
          <a:spcPct val="0"/>
        </a:spcBef>
        <a:buNone/>
        <a:defRPr sz="2000" b="0" i="0" kern="1200">
          <a:solidFill>
            <a:schemeClr val="accent5">
              <a:lumMod val="75000"/>
            </a:schemeClr>
          </a:solidFill>
          <a:latin typeface="Anova Bold" panose="020B0503020203020204" pitchFamily="34" charset="0"/>
          <a:ea typeface="+mj-ea"/>
          <a:cs typeface="+mj-cs"/>
        </a:defRPr>
      </a:lvl1pPr>
    </p:titleStyle>
    <p:bodyStyle>
      <a:lvl1pPr marL="0" indent="0" algn="l" defTabSz="685800" rtl="0" eaLnBrk="1" latinLnBrk="0" hangingPunct="1">
        <a:lnSpc>
          <a:spcPct val="100000"/>
        </a:lnSpc>
        <a:spcBef>
          <a:spcPts val="600"/>
        </a:spcBef>
        <a:spcAft>
          <a:spcPts val="300"/>
        </a:spcAft>
        <a:buClr>
          <a:schemeClr val="accent5"/>
        </a:buClr>
        <a:buFont typeface="Anova Light" panose="020B0403020203020204" pitchFamily="34" charset="0"/>
        <a:buNone/>
        <a:defRPr sz="1800" b="0" i="0" kern="1200">
          <a:solidFill>
            <a:schemeClr val="tx1"/>
          </a:solidFill>
          <a:latin typeface="+mn-lt"/>
          <a:ea typeface="+mn-ea"/>
          <a:cs typeface="+mn-cs"/>
        </a:defRPr>
      </a:lvl1pPr>
      <a:lvl2pPr marL="365760" indent="-182880" algn="l" defTabSz="685800" rtl="0" eaLnBrk="1" latinLnBrk="0" hangingPunct="1">
        <a:lnSpc>
          <a:spcPct val="100000"/>
        </a:lnSpc>
        <a:spcBef>
          <a:spcPts val="600"/>
        </a:spcBef>
        <a:spcAft>
          <a:spcPts val="300"/>
        </a:spcAft>
        <a:buClr>
          <a:schemeClr val="accent5"/>
        </a:buClr>
        <a:buFont typeface="Anova Light" panose="020B0403020203020204" pitchFamily="34" charset="0"/>
        <a:buChar char="•"/>
        <a:defRPr sz="1600" b="0" i="0" kern="1200">
          <a:solidFill>
            <a:schemeClr val="tx1"/>
          </a:solidFill>
          <a:latin typeface="+mn-lt"/>
          <a:ea typeface="+mn-ea"/>
          <a:cs typeface="+mn-cs"/>
        </a:defRPr>
      </a:lvl2pPr>
      <a:lvl3pPr marL="548640" indent="-182880" algn="l" defTabSz="685800" rtl="0" eaLnBrk="1" latinLnBrk="0" hangingPunct="1">
        <a:lnSpc>
          <a:spcPct val="100000"/>
        </a:lnSpc>
        <a:spcBef>
          <a:spcPts val="600"/>
        </a:spcBef>
        <a:spcAft>
          <a:spcPts val="300"/>
        </a:spcAft>
        <a:buClr>
          <a:schemeClr val="accent5"/>
        </a:buClr>
        <a:buFont typeface="Anova Light" panose="020B0604020202020204" charset="0"/>
        <a:buChar char="–"/>
        <a:defRPr sz="16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4pPr>
      <a:lvl5pPr marL="15430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0.png"/><Relationship Id="rId4" Type="http://schemas.openxmlformats.org/officeDocument/2006/relationships/image" Target="../media/image39.png"/></Relationships>
</file>

<file path=ppt/slides/_rels/slide4.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41.png"/><Relationship Id="rId7" Type="http://schemas.openxmlformats.org/officeDocument/2006/relationships/image" Target="../media/image42.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42.png"/></Relationships>
</file>

<file path=ppt/slides/_rels/slide6.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42.png"/></Relationships>
</file>

<file path=ppt/slides/_rels/slide7.xml.rels><?xml version="1.0" encoding="UTF-8" standalone="yes"?>
<Relationships xmlns="http://schemas.openxmlformats.org/package/2006/relationships"><Relationship Id="rId3" Type="http://schemas.openxmlformats.org/officeDocument/2006/relationships/hyperlink" Target="https://vfl-040.engage.sas.com/SASModelStudio/"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8.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sv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s>
</file>

<file path=ppt/slides/_rels/slide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1.xml"/><Relationship Id="rId1" Type="http://schemas.openxmlformats.org/officeDocument/2006/relationships/slideLayout" Target="../slideLayouts/slideLayout17.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6.png"/><Relationship Id="rId7" Type="http://schemas.openxmlformats.org/officeDocument/2006/relationships/image" Target="../media/image59.png"/><Relationship Id="rId2" Type="http://schemas.openxmlformats.org/officeDocument/2006/relationships/notesSlide" Target="../notesSlides/notesSlide12.xml"/><Relationship Id="rId1" Type="http://schemas.openxmlformats.org/officeDocument/2006/relationships/slideLayout" Target="../slideLayouts/slideLayout1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xml"/><Relationship Id="rId1" Type="http://schemas.openxmlformats.org/officeDocument/2006/relationships/slideLayout" Target="../slideLayouts/slideLayout17.xml"/><Relationship Id="rId6" Type="http://schemas.openxmlformats.org/officeDocument/2006/relationships/image" Target="../media/image53.png"/><Relationship Id="rId5" Type="http://schemas.openxmlformats.org/officeDocument/2006/relationships/image" Target="../media/image57.png"/><Relationship Id="rId4" Type="http://schemas.openxmlformats.org/officeDocument/2006/relationships/image" Target="../media/image39.png"/></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15.xml"/><Relationship Id="rId1" Type="http://schemas.openxmlformats.org/officeDocument/2006/relationships/slideLayout" Target="../slideLayouts/slideLayout17.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17.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4.png"/><Relationship Id="rId7" Type="http://schemas.openxmlformats.org/officeDocument/2006/relationships/image" Target="../media/image40.png"/><Relationship Id="rId2" Type="http://schemas.openxmlformats.org/officeDocument/2006/relationships/notesSlide" Target="../notesSlides/notesSlide16.xml"/><Relationship Id="rId1" Type="http://schemas.openxmlformats.org/officeDocument/2006/relationships/slideLayout" Target="../slideLayouts/slideLayout17.xml"/><Relationship Id="rId6" Type="http://schemas.openxmlformats.org/officeDocument/2006/relationships/image" Target="../media/image39.png"/><Relationship Id="rId5" Type="http://schemas.openxmlformats.org/officeDocument/2006/relationships/image" Target="../media/image63.png"/><Relationship Id="rId4" Type="http://schemas.openxmlformats.org/officeDocument/2006/relationships/image" Target="../media/image65.png"/><Relationship Id="rId9" Type="http://schemas.openxmlformats.org/officeDocument/2006/relationships/image" Target="../media/image51.png"/></Relationships>
</file>

<file path=ppt/slides/_rels/slide1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17.xml"/><Relationship Id="rId5" Type="http://schemas.openxmlformats.org/officeDocument/2006/relationships/image" Target="../media/image63.png"/><Relationship Id="rId4" Type="http://schemas.openxmlformats.org/officeDocument/2006/relationships/image" Target="../media/image65.pn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8.xml"/><Relationship Id="rId1" Type="http://schemas.openxmlformats.org/officeDocument/2006/relationships/slideLayout" Target="../slideLayouts/slideLayout17.xml"/><Relationship Id="rId5" Type="http://schemas.openxmlformats.org/officeDocument/2006/relationships/image" Target="../media/image63.png"/><Relationship Id="rId4" Type="http://schemas.openxmlformats.org/officeDocument/2006/relationships/image" Target="../media/image65.png"/></Relationships>
</file>

<file path=ppt/slides/_rels/slide2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9.xml"/><Relationship Id="rId1" Type="http://schemas.openxmlformats.org/officeDocument/2006/relationships/slideLayout" Target="../slideLayouts/slideLayout17.xml"/><Relationship Id="rId6" Type="http://schemas.openxmlformats.org/officeDocument/2006/relationships/image" Target="../media/image51.png"/><Relationship Id="rId5" Type="http://schemas.openxmlformats.org/officeDocument/2006/relationships/image" Target="../media/image67.png"/><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2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5.xml"/></Relationships>
</file>

<file path=ppt/slides/_rels/slide2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23.xml"/><Relationship Id="rId1" Type="http://schemas.openxmlformats.org/officeDocument/2006/relationships/slideLayout" Target="../slideLayouts/slideLayout25.xml"/><Relationship Id="rId4" Type="http://schemas.openxmlformats.org/officeDocument/2006/relationships/image" Target="../media/image69.png"/></Relationships>
</file>

<file path=ppt/slides/_rels/slide2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71.png"/></Relationships>
</file>

<file path=ppt/slides/_rels/slide2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6.xml"/><Relationship Id="rId1" Type="http://schemas.openxmlformats.org/officeDocument/2006/relationships/slideLayout" Target="../slideLayouts/slideLayout17.xml"/><Relationship Id="rId4" Type="http://schemas.openxmlformats.org/officeDocument/2006/relationships/image" Target="../media/image72.png"/></Relationships>
</file>

<file path=ppt/slides/_rels/slide2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7.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3.xml"/><Relationship Id="rId4" Type="http://schemas.openxmlformats.org/officeDocument/2006/relationships/image" Target="../media/image10.sv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3.xml"/><Relationship Id="rId1" Type="http://schemas.openxmlformats.org/officeDocument/2006/relationships/tags" Target="../tags/tag15.xml"/><Relationship Id="rId5" Type="http://schemas.openxmlformats.org/officeDocument/2006/relationships/image" Target="../media/image10.sv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F1A7503-FBB9-BB12-3F5A-841E9080C2BF}"/>
              </a:ext>
            </a:extLst>
          </p:cNvPr>
          <p:cNvSpPr>
            <a:spLocks noGrp="1"/>
          </p:cNvSpPr>
          <p:nvPr>
            <p:ph type="body" sz="quarter" idx="12"/>
          </p:nvPr>
        </p:nvSpPr>
        <p:spPr>
          <a:xfrm>
            <a:off x="626216" y="2110085"/>
            <a:ext cx="7889135" cy="461665"/>
          </a:xfrm>
        </p:spPr>
        <p:txBody>
          <a:bodyPr/>
          <a:lstStyle/>
          <a:p>
            <a:r>
              <a:rPr lang="en-US" dirty="0"/>
              <a:t>How to Think About Machine Learning in Business Decision Making</a:t>
            </a:r>
          </a:p>
        </p:txBody>
      </p:sp>
      <p:sp>
        <p:nvSpPr>
          <p:cNvPr id="5" name="Text Placeholder 4">
            <a:extLst>
              <a:ext uri="{FF2B5EF4-FFF2-40B4-BE49-F238E27FC236}">
                <a16:creationId xmlns:a16="http://schemas.microsoft.com/office/drawing/2014/main" id="{A892CD45-7039-90C3-3980-69CF48426317}"/>
              </a:ext>
            </a:extLst>
          </p:cNvPr>
          <p:cNvSpPr>
            <a:spLocks noGrp="1"/>
          </p:cNvSpPr>
          <p:nvPr>
            <p:ph type="body" sz="quarter" idx="11"/>
          </p:nvPr>
        </p:nvSpPr>
        <p:spPr>
          <a:xfrm>
            <a:off x="626216" y="4138489"/>
            <a:ext cx="6061861" cy="528761"/>
          </a:xfrm>
        </p:spPr>
        <p:txBody>
          <a:bodyPr/>
          <a:lstStyle/>
          <a:p>
            <a:r>
              <a:rPr lang="en-US"/>
              <a:t>Lesson 01, Section 01</a:t>
            </a:r>
          </a:p>
        </p:txBody>
      </p:sp>
      <p:sp>
        <p:nvSpPr>
          <p:cNvPr id="4" name="Title 3">
            <a:extLst>
              <a:ext uri="{FF2B5EF4-FFF2-40B4-BE49-F238E27FC236}">
                <a16:creationId xmlns:a16="http://schemas.microsoft.com/office/drawing/2014/main" id="{3C6C4CB8-0D13-6BDD-43D9-30499F2CA661}"/>
              </a:ext>
            </a:extLst>
          </p:cNvPr>
          <p:cNvSpPr>
            <a:spLocks noGrp="1"/>
          </p:cNvSpPr>
          <p:nvPr>
            <p:ph type="title"/>
          </p:nvPr>
        </p:nvSpPr>
        <p:spPr>
          <a:xfrm>
            <a:off x="626216" y="817423"/>
            <a:ext cx="7889135" cy="1292662"/>
          </a:xfrm>
        </p:spPr>
        <p:txBody>
          <a:bodyPr/>
          <a:lstStyle/>
          <a:p>
            <a:r>
              <a:rPr lang="en-US"/>
              <a:t>Machine Learning in Business Decision Making</a:t>
            </a:r>
          </a:p>
        </p:txBody>
      </p:sp>
    </p:spTree>
    <p:extLst>
      <p:ext uri="{BB962C8B-B14F-4D97-AF65-F5344CB8AC3E}">
        <p14:creationId xmlns:p14="http://schemas.microsoft.com/office/powerpoint/2010/main" val="26340810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a:extLst>
              <a:ext uri="{FF2B5EF4-FFF2-40B4-BE49-F238E27FC236}">
                <a16:creationId xmlns:a16="http://schemas.microsoft.com/office/drawing/2014/main" id="{D768A26F-2775-430C-9028-1819680D1553}"/>
              </a:ext>
            </a:extLst>
          </p:cNvPr>
          <p:cNvSpPr txBox="1"/>
          <p:nvPr/>
        </p:nvSpPr>
        <p:spPr>
          <a:xfrm rot="16200000">
            <a:off x="-1059406" y="2605497"/>
            <a:ext cx="2859924" cy="461665"/>
          </a:xfrm>
          <a:prstGeom prst="rect">
            <a:avLst/>
          </a:prstGeom>
          <a:noFill/>
        </p:spPr>
        <p:txBody>
          <a:bodyPr wrap="square" rtlCol="0">
            <a:spAutoFit/>
          </a:bodyPr>
          <a:lstStyle/>
          <a:p>
            <a:pPr algn="ctr"/>
            <a:r>
              <a:rPr lang="en-US" sz="2400" dirty="0">
                <a:solidFill>
                  <a:schemeClr val="accent6">
                    <a:lumMod val="50000"/>
                  </a:schemeClr>
                </a:solidFill>
              </a:rPr>
              <a:t>Artificial Intelligence</a:t>
            </a:r>
          </a:p>
        </p:txBody>
      </p:sp>
      <p:grpSp>
        <p:nvGrpSpPr>
          <p:cNvPr id="25" name="Group 24">
            <a:extLst>
              <a:ext uri="{FF2B5EF4-FFF2-40B4-BE49-F238E27FC236}">
                <a16:creationId xmlns:a16="http://schemas.microsoft.com/office/drawing/2014/main" id="{0B76546B-A662-451F-A017-4D57A8AFF426}"/>
              </a:ext>
            </a:extLst>
          </p:cNvPr>
          <p:cNvGrpSpPr/>
          <p:nvPr/>
        </p:nvGrpSpPr>
        <p:grpSpPr>
          <a:xfrm>
            <a:off x="589178" y="1657350"/>
            <a:ext cx="7805959" cy="2409825"/>
            <a:chOff x="589179" y="1657350"/>
            <a:chExt cx="8554820" cy="2409825"/>
          </a:xfrm>
        </p:grpSpPr>
        <p:sp>
          <p:nvSpPr>
            <p:cNvPr id="26" name="Rectangle 25">
              <a:extLst>
                <a:ext uri="{FF2B5EF4-FFF2-40B4-BE49-F238E27FC236}">
                  <a16:creationId xmlns:a16="http://schemas.microsoft.com/office/drawing/2014/main" id="{86C6B636-D46C-4E7A-9CDB-DBE7FC486BD5}"/>
                </a:ext>
              </a:extLst>
            </p:cNvPr>
            <p:cNvSpPr/>
            <p:nvPr/>
          </p:nvSpPr>
          <p:spPr>
            <a:xfrm>
              <a:off x="1114424" y="1657350"/>
              <a:ext cx="8029575" cy="2409825"/>
            </a:xfrm>
            <a:prstGeom prst="rect">
              <a:avLst/>
            </a:prstGeom>
            <a:solidFill>
              <a:srgbClr val="FFCC32">
                <a:alpha val="25098"/>
              </a:srgb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27" name="Isosceles Triangle 26">
              <a:extLst>
                <a:ext uri="{FF2B5EF4-FFF2-40B4-BE49-F238E27FC236}">
                  <a16:creationId xmlns:a16="http://schemas.microsoft.com/office/drawing/2014/main" id="{06702EC4-4352-4DAB-B62F-8D3B00B06928}"/>
                </a:ext>
              </a:extLst>
            </p:cNvPr>
            <p:cNvSpPr/>
            <p:nvPr/>
          </p:nvSpPr>
          <p:spPr>
            <a:xfrm rot="16200000">
              <a:off x="-325565" y="2600671"/>
              <a:ext cx="2352675" cy="523187"/>
            </a:xfrm>
            <a:prstGeom prst="triangle">
              <a:avLst>
                <a:gd name="adj" fmla="val 50000"/>
              </a:avLst>
            </a:prstGeom>
            <a:solidFill>
              <a:srgbClr val="FFCC32">
                <a:alpha val="25098"/>
              </a:srgb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grpSp>
      <p:sp>
        <p:nvSpPr>
          <p:cNvPr id="20" name="TextBox 19">
            <a:extLst>
              <a:ext uri="{FF2B5EF4-FFF2-40B4-BE49-F238E27FC236}">
                <a16:creationId xmlns:a16="http://schemas.microsoft.com/office/drawing/2014/main" id="{9078AD6B-546E-4435-9A07-465B8A32F57F}"/>
              </a:ext>
            </a:extLst>
          </p:cNvPr>
          <p:cNvSpPr txBox="1"/>
          <p:nvPr/>
        </p:nvSpPr>
        <p:spPr>
          <a:xfrm>
            <a:off x="2333294" y="203989"/>
            <a:ext cx="4203539" cy="461665"/>
          </a:xfrm>
          <a:prstGeom prst="rect">
            <a:avLst/>
          </a:prstGeom>
          <a:noFill/>
        </p:spPr>
        <p:txBody>
          <a:bodyPr wrap="square" rtlCol="0">
            <a:spAutoFit/>
          </a:bodyPr>
          <a:lstStyle/>
          <a:p>
            <a:pPr algn="ctr"/>
            <a:r>
              <a:rPr lang="en-US" sz="2400" b="1" dirty="0">
                <a:solidFill>
                  <a:srgbClr val="FF0000"/>
                </a:solidFill>
              </a:rPr>
              <a:t>What is </a:t>
            </a:r>
            <a:r>
              <a:rPr lang="en-US" sz="2400" b="1" dirty="0"/>
              <a:t>Machine Learning?</a:t>
            </a:r>
          </a:p>
        </p:txBody>
      </p:sp>
      <p:sp>
        <p:nvSpPr>
          <p:cNvPr id="56" name="Rectangle: Rounded Corners 55">
            <a:extLst>
              <a:ext uri="{FF2B5EF4-FFF2-40B4-BE49-F238E27FC236}">
                <a16:creationId xmlns:a16="http://schemas.microsoft.com/office/drawing/2014/main" id="{D9C72563-3CFC-45EB-8D22-C89E5461678D}"/>
              </a:ext>
            </a:extLst>
          </p:cNvPr>
          <p:cNvSpPr/>
          <p:nvPr/>
        </p:nvSpPr>
        <p:spPr>
          <a:xfrm>
            <a:off x="3488998" y="1794038"/>
            <a:ext cx="2171980" cy="1524200"/>
          </a:xfrm>
          <a:prstGeom prst="roundRect">
            <a:avLst/>
          </a:prstGeom>
          <a:solidFill>
            <a:schemeClr val="bg1">
              <a:lumMod val="95000"/>
            </a:schemeClr>
          </a:solidFill>
          <a:ln w="57150" cap="flat" cmpd="sng" algn="ctr">
            <a:solidFill>
              <a:schemeClr val="bg1">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grpSp>
        <p:nvGrpSpPr>
          <p:cNvPr id="23" name="Group 22">
            <a:extLst>
              <a:ext uri="{FF2B5EF4-FFF2-40B4-BE49-F238E27FC236}">
                <a16:creationId xmlns:a16="http://schemas.microsoft.com/office/drawing/2014/main" id="{AE94FEC5-0DD3-4F9D-A0F8-40829C00B2CD}"/>
              </a:ext>
            </a:extLst>
          </p:cNvPr>
          <p:cNvGrpSpPr/>
          <p:nvPr/>
        </p:nvGrpSpPr>
        <p:grpSpPr>
          <a:xfrm>
            <a:off x="4042848" y="1918481"/>
            <a:ext cx="1071962" cy="1229979"/>
            <a:chOff x="4042848" y="1805361"/>
            <a:chExt cx="1071962" cy="1229979"/>
          </a:xfrm>
        </p:grpSpPr>
        <p:sp>
          <p:nvSpPr>
            <p:cNvPr id="57" name="Oval 56">
              <a:extLst>
                <a:ext uri="{FF2B5EF4-FFF2-40B4-BE49-F238E27FC236}">
                  <a16:creationId xmlns:a16="http://schemas.microsoft.com/office/drawing/2014/main" id="{80C7605F-C729-4C1E-AEDD-76DA08EB6B2F}"/>
                </a:ext>
              </a:extLst>
            </p:cNvPr>
            <p:cNvSpPr/>
            <p:nvPr/>
          </p:nvSpPr>
          <p:spPr>
            <a:xfrm>
              <a:off x="4160340" y="189097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58" name="Group 57">
              <a:extLst>
                <a:ext uri="{FF2B5EF4-FFF2-40B4-BE49-F238E27FC236}">
                  <a16:creationId xmlns:a16="http://schemas.microsoft.com/office/drawing/2014/main" id="{E40FF179-B9C3-48DF-A632-F70F90AC022E}"/>
                </a:ext>
              </a:extLst>
            </p:cNvPr>
            <p:cNvGrpSpPr/>
            <p:nvPr/>
          </p:nvGrpSpPr>
          <p:grpSpPr>
            <a:xfrm>
              <a:off x="4042848" y="1805361"/>
              <a:ext cx="1071962" cy="1229979"/>
              <a:chOff x="4868460" y="1940790"/>
              <a:chExt cx="1230587" cy="1411988"/>
            </a:xfrm>
          </p:grpSpPr>
          <p:pic>
            <p:nvPicPr>
              <p:cNvPr id="59" name="Picture 58">
                <a:extLst>
                  <a:ext uri="{FF2B5EF4-FFF2-40B4-BE49-F238E27FC236}">
                    <a16:creationId xmlns:a16="http://schemas.microsoft.com/office/drawing/2014/main" id="{62FBF436-ACC5-4AF2-BE06-8EBFD84714A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60" name="Picture 59">
                <a:extLst>
                  <a:ext uri="{FF2B5EF4-FFF2-40B4-BE49-F238E27FC236}">
                    <a16:creationId xmlns:a16="http://schemas.microsoft.com/office/drawing/2014/main" id="{23EF7864-1831-48A4-871E-D7141879E60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grpSp>
        <p:nvGrpSpPr>
          <p:cNvPr id="13" name="Group 12">
            <a:extLst>
              <a:ext uri="{FF2B5EF4-FFF2-40B4-BE49-F238E27FC236}">
                <a16:creationId xmlns:a16="http://schemas.microsoft.com/office/drawing/2014/main" id="{A9D6985C-E133-43ED-B936-31A98E70BD31}"/>
              </a:ext>
            </a:extLst>
          </p:cNvPr>
          <p:cNvGrpSpPr/>
          <p:nvPr/>
        </p:nvGrpSpPr>
        <p:grpSpPr>
          <a:xfrm>
            <a:off x="1136396" y="1980371"/>
            <a:ext cx="6864605" cy="1199321"/>
            <a:chOff x="1136396" y="1980371"/>
            <a:chExt cx="6864605" cy="1199321"/>
          </a:xfrm>
        </p:grpSpPr>
        <p:pic>
          <p:nvPicPr>
            <p:cNvPr id="14" name="Picture 13">
              <a:extLst>
                <a:ext uri="{FF2B5EF4-FFF2-40B4-BE49-F238E27FC236}">
                  <a16:creationId xmlns:a16="http://schemas.microsoft.com/office/drawing/2014/main" id="{55D04C9F-23E1-4EEE-9797-706520E5315D}"/>
                </a:ext>
              </a:extLst>
            </p:cNvPr>
            <p:cNvPicPr>
              <a:picLocks noChangeAspect="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36396" y="2020748"/>
              <a:ext cx="1082929" cy="1130013"/>
            </a:xfrm>
            <a:prstGeom prst="rect">
              <a:avLst/>
            </a:prstGeom>
          </p:spPr>
        </p:pic>
        <p:sp>
          <p:nvSpPr>
            <p:cNvPr id="15" name="Arrow: Right 14">
              <a:extLst>
                <a:ext uri="{FF2B5EF4-FFF2-40B4-BE49-F238E27FC236}">
                  <a16:creationId xmlns:a16="http://schemas.microsoft.com/office/drawing/2014/main" id="{30A36549-0D55-4690-9398-860325CDDABE}"/>
                </a:ext>
              </a:extLst>
            </p:cNvPr>
            <p:cNvSpPr/>
            <p:nvPr/>
          </p:nvSpPr>
          <p:spPr>
            <a:xfrm>
              <a:off x="2462949" y="2409339"/>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16" name="Picture 15">
              <a:extLst>
                <a:ext uri="{FF2B5EF4-FFF2-40B4-BE49-F238E27FC236}">
                  <a16:creationId xmlns:a16="http://schemas.microsoft.com/office/drawing/2014/main" id="{9D0AB874-BC44-4E4F-8947-B2970B1EF446}"/>
                </a:ext>
              </a:extLst>
            </p:cNvPr>
            <p:cNvPicPr>
              <a:picLocks noChangeAspect="1"/>
            </p:cNvPicPr>
            <p:nvPr/>
          </p:nvPicPr>
          <p:blipFill>
            <a:blip r:embed="rId6"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953250" y="1980371"/>
              <a:ext cx="1047751" cy="1199321"/>
            </a:xfrm>
            <a:prstGeom prst="rect">
              <a:avLst/>
            </a:prstGeom>
          </p:spPr>
        </p:pic>
        <p:sp>
          <p:nvSpPr>
            <p:cNvPr id="17" name="Arrow: Right 16">
              <a:extLst>
                <a:ext uri="{FF2B5EF4-FFF2-40B4-BE49-F238E27FC236}">
                  <a16:creationId xmlns:a16="http://schemas.microsoft.com/office/drawing/2014/main" id="{C918EDA7-9A9B-4614-8CFA-DDEA2C028EFB}"/>
                </a:ext>
              </a:extLst>
            </p:cNvPr>
            <p:cNvSpPr/>
            <p:nvPr/>
          </p:nvSpPr>
          <p:spPr>
            <a:xfrm>
              <a:off x="5910999" y="2409339"/>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grpSp>
      <p:grpSp>
        <p:nvGrpSpPr>
          <p:cNvPr id="18" name="Group 17">
            <a:extLst>
              <a:ext uri="{FF2B5EF4-FFF2-40B4-BE49-F238E27FC236}">
                <a16:creationId xmlns:a16="http://schemas.microsoft.com/office/drawing/2014/main" id="{82DEF584-AA0F-450A-B9BF-14B274E0E9D3}"/>
              </a:ext>
            </a:extLst>
          </p:cNvPr>
          <p:cNvGrpSpPr/>
          <p:nvPr/>
        </p:nvGrpSpPr>
        <p:grpSpPr>
          <a:xfrm>
            <a:off x="4157221" y="579148"/>
            <a:ext cx="829559" cy="1200329"/>
            <a:chOff x="4157221" y="678731"/>
            <a:chExt cx="829559" cy="1200329"/>
          </a:xfrm>
        </p:grpSpPr>
        <p:sp>
          <p:nvSpPr>
            <p:cNvPr id="19" name="Oval 18">
              <a:extLst>
                <a:ext uri="{FF2B5EF4-FFF2-40B4-BE49-F238E27FC236}">
                  <a16:creationId xmlns:a16="http://schemas.microsoft.com/office/drawing/2014/main" id="{3B09F2F0-8DA7-4B4D-B8AE-428068B08FF0}"/>
                </a:ext>
              </a:extLst>
            </p:cNvPr>
            <p:cNvSpPr/>
            <p:nvPr/>
          </p:nvSpPr>
          <p:spPr>
            <a:xfrm>
              <a:off x="4157221" y="857840"/>
              <a:ext cx="829559" cy="829559"/>
            </a:xfrm>
            <a:prstGeom prst="ellipse">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21" name="TextBox 20">
              <a:extLst>
                <a:ext uri="{FF2B5EF4-FFF2-40B4-BE49-F238E27FC236}">
                  <a16:creationId xmlns:a16="http://schemas.microsoft.com/office/drawing/2014/main" id="{5E4E88D7-D44C-410F-BA90-31AFE7E54BFE}"/>
                </a:ext>
              </a:extLst>
            </p:cNvPr>
            <p:cNvSpPr txBox="1"/>
            <p:nvPr/>
          </p:nvSpPr>
          <p:spPr>
            <a:xfrm>
              <a:off x="4279769" y="678731"/>
              <a:ext cx="612742" cy="1200329"/>
            </a:xfrm>
            <a:prstGeom prst="rect">
              <a:avLst/>
            </a:prstGeom>
            <a:noFill/>
          </p:spPr>
          <p:txBody>
            <a:bodyPr wrap="square" rtlCol="0">
              <a:spAutoFit/>
            </a:bodyPr>
            <a:lstStyle/>
            <a:p>
              <a:r>
                <a:rPr lang="en-US" sz="7200" b="1"/>
                <a:t>?</a:t>
              </a:r>
            </a:p>
          </p:txBody>
        </p:sp>
      </p:grpSp>
      <p:sp>
        <p:nvSpPr>
          <p:cNvPr id="3" name="TextBox 2">
            <a:extLst>
              <a:ext uri="{FF2B5EF4-FFF2-40B4-BE49-F238E27FC236}">
                <a16:creationId xmlns:a16="http://schemas.microsoft.com/office/drawing/2014/main" id="{B10D6B8F-8B37-D8E0-228E-04E002CAE373}"/>
              </a:ext>
            </a:extLst>
          </p:cNvPr>
          <p:cNvSpPr txBox="1"/>
          <p:nvPr/>
        </p:nvSpPr>
        <p:spPr>
          <a:xfrm>
            <a:off x="1136396" y="3248083"/>
            <a:ext cx="1196898" cy="369332"/>
          </a:xfrm>
          <a:prstGeom prst="rect">
            <a:avLst/>
          </a:prstGeom>
          <a:noFill/>
        </p:spPr>
        <p:txBody>
          <a:bodyPr wrap="square">
            <a:spAutoFit/>
          </a:bodyPr>
          <a:lstStyle/>
          <a:p>
            <a:r>
              <a:rPr lang="en-US" b="1" dirty="0"/>
              <a:t>Input </a:t>
            </a:r>
            <a:r>
              <a:rPr lang="en-US" b="1" dirty="0">
                <a:solidFill>
                  <a:srgbClr val="FF0000"/>
                </a:solidFill>
              </a:rPr>
              <a:t>Data</a:t>
            </a:r>
          </a:p>
        </p:txBody>
      </p:sp>
      <p:sp>
        <p:nvSpPr>
          <p:cNvPr id="5" name="TextBox 4">
            <a:extLst>
              <a:ext uri="{FF2B5EF4-FFF2-40B4-BE49-F238E27FC236}">
                <a16:creationId xmlns:a16="http://schemas.microsoft.com/office/drawing/2014/main" id="{9DBD4526-2C39-F0AB-FCEC-4766751A2054}"/>
              </a:ext>
            </a:extLst>
          </p:cNvPr>
          <p:cNvSpPr txBox="1"/>
          <p:nvPr/>
        </p:nvSpPr>
        <p:spPr>
          <a:xfrm>
            <a:off x="3435604" y="3366849"/>
            <a:ext cx="2113858" cy="646331"/>
          </a:xfrm>
          <a:prstGeom prst="rect">
            <a:avLst/>
          </a:prstGeom>
          <a:noFill/>
        </p:spPr>
        <p:txBody>
          <a:bodyPr wrap="square">
            <a:spAutoFit/>
          </a:bodyPr>
          <a:lstStyle/>
          <a:p>
            <a:pPr algn="ctr"/>
            <a:r>
              <a:rPr lang="en-US" b="1" dirty="0"/>
              <a:t>Machine Learning </a:t>
            </a:r>
            <a:r>
              <a:rPr lang="en-US" b="1" dirty="0">
                <a:solidFill>
                  <a:srgbClr val="FF0000"/>
                </a:solidFill>
              </a:rPr>
              <a:t>Model</a:t>
            </a:r>
          </a:p>
        </p:txBody>
      </p:sp>
      <p:sp>
        <p:nvSpPr>
          <p:cNvPr id="7" name="TextBox 6">
            <a:extLst>
              <a:ext uri="{FF2B5EF4-FFF2-40B4-BE49-F238E27FC236}">
                <a16:creationId xmlns:a16="http://schemas.microsoft.com/office/drawing/2014/main" id="{03D60A7A-7922-3210-AF79-8BC864C52F98}"/>
              </a:ext>
            </a:extLst>
          </p:cNvPr>
          <p:cNvSpPr txBox="1"/>
          <p:nvPr/>
        </p:nvSpPr>
        <p:spPr>
          <a:xfrm>
            <a:off x="6760063" y="3318238"/>
            <a:ext cx="1457486" cy="646331"/>
          </a:xfrm>
          <a:prstGeom prst="rect">
            <a:avLst/>
          </a:prstGeom>
          <a:noFill/>
        </p:spPr>
        <p:txBody>
          <a:bodyPr wrap="square">
            <a:spAutoFit/>
          </a:bodyPr>
          <a:lstStyle/>
          <a:p>
            <a:pPr algn="ctr"/>
            <a:r>
              <a:rPr lang="en-US" b="1" dirty="0">
                <a:solidFill>
                  <a:srgbClr val="FF0000"/>
                </a:solidFill>
              </a:rPr>
              <a:t>Output</a:t>
            </a:r>
            <a:r>
              <a:rPr lang="en-US" b="1" dirty="0"/>
              <a:t> / Predictions</a:t>
            </a:r>
          </a:p>
        </p:txBody>
      </p:sp>
      <p:graphicFrame>
        <p:nvGraphicFramePr>
          <p:cNvPr id="8" name="Table 7">
            <a:extLst>
              <a:ext uri="{FF2B5EF4-FFF2-40B4-BE49-F238E27FC236}">
                <a16:creationId xmlns:a16="http://schemas.microsoft.com/office/drawing/2014/main" id="{9ED69097-8FC8-1F65-F562-15E3DB1A2259}"/>
              </a:ext>
            </a:extLst>
          </p:cNvPr>
          <p:cNvGraphicFramePr>
            <a:graphicFrameLocks noGrp="1"/>
          </p:cNvGraphicFramePr>
          <p:nvPr/>
        </p:nvGraphicFramePr>
        <p:xfrm>
          <a:off x="628650" y="2441258"/>
          <a:ext cx="7886700" cy="365760"/>
        </p:xfrm>
        <a:graphic>
          <a:graphicData uri="http://schemas.openxmlformats.org/drawingml/2006/table">
            <a:tbl>
              <a:tblPr/>
              <a:tblGrid>
                <a:gridCol w="7886700">
                  <a:extLst>
                    <a:ext uri="{9D8B030D-6E8A-4147-A177-3AD203B41FA5}">
                      <a16:colId xmlns:a16="http://schemas.microsoft.com/office/drawing/2014/main" val="3584083972"/>
                    </a:ext>
                  </a:extLst>
                </a:gridCol>
              </a:tblGrid>
              <a:tr h="0">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2331918459"/>
                  </a:ext>
                </a:extLst>
              </a:tr>
            </a:tbl>
          </a:graphicData>
        </a:graphic>
      </p:graphicFrame>
      <p:graphicFrame>
        <p:nvGraphicFramePr>
          <p:cNvPr id="9" name="Table 8">
            <a:extLst>
              <a:ext uri="{FF2B5EF4-FFF2-40B4-BE49-F238E27FC236}">
                <a16:creationId xmlns:a16="http://schemas.microsoft.com/office/drawing/2014/main" id="{A1BD3EF7-E999-D137-B00D-2AF8BC926D90}"/>
              </a:ext>
            </a:extLst>
          </p:cNvPr>
          <p:cNvGraphicFramePr>
            <a:graphicFrameLocks noGrp="1"/>
          </p:cNvGraphicFramePr>
          <p:nvPr>
            <p:extLst>
              <p:ext uri="{D42A27DB-BD31-4B8C-83A1-F6EECF244321}">
                <p14:modId xmlns:p14="http://schemas.microsoft.com/office/powerpoint/2010/main" val="411131388"/>
              </p:ext>
            </p:extLst>
          </p:nvPr>
        </p:nvGraphicFramePr>
        <p:xfrm>
          <a:off x="1005460" y="3615215"/>
          <a:ext cx="1613060" cy="731520"/>
        </p:xfrm>
        <a:graphic>
          <a:graphicData uri="http://schemas.openxmlformats.org/drawingml/2006/table">
            <a:tbl>
              <a:tblPr/>
              <a:tblGrid>
                <a:gridCol w="1613060">
                  <a:extLst>
                    <a:ext uri="{9D8B030D-6E8A-4147-A177-3AD203B41FA5}">
                      <a16:colId xmlns:a16="http://schemas.microsoft.com/office/drawing/2014/main" val="2506197380"/>
                    </a:ext>
                  </a:extLst>
                </a:gridCol>
              </a:tblGrid>
              <a:tr h="405736">
                <a:tc>
                  <a:txBody>
                    <a:bodyPr/>
                    <a:lstStyle/>
                    <a:p>
                      <a:pPr algn="just">
                        <a:buNone/>
                      </a:pPr>
                      <a:r>
                        <a:rPr lang="en-MY" sz="1400" dirty="0"/>
                        <a:t>Raw data that the ML model learns from</a:t>
                      </a:r>
                    </a:p>
                  </a:txBody>
                  <a:tcPr anchor="ctr">
                    <a:lnL>
                      <a:noFill/>
                    </a:lnL>
                    <a:lnR>
                      <a:noFill/>
                    </a:lnR>
                    <a:lnT>
                      <a:noFill/>
                    </a:lnT>
                    <a:lnB>
                      <a:noFill/>
                    </a:lnB>
                    <a:noFill/>
                  </a:tcPr>
                </a:tc>
                <a:extLst>
                  <a:ext uri="{0D108BD9-81ED-4DB2-BD59-A6C34878D82A}">
                    <a16:rowId xmlns:a16="http://schemas.microsoft.com/office/drawing/2014/main" val="2668999692"/>
                  </a:ext>
                </a:extLst>
              </a:tr>
            </a:tbl>
          </a:graphicData>
        </a:graphic>
      </p:graphicFrame>
      <p:sp>
        <p:nvSpPr>
          <p:cNvPr id="11" name="TextBox 10">
            <a:extLst>
              <a:ext uri="{FF2B5EF4-FFF2-40B4-BE49-F238E27FC236}">
                <a16:creationId xmlns:a16="http://schemas.microsoft.com/office/drawing/2014/main" id="{D76051CE-6808-7314-AC56-6CA4FBDF8021}"/>
              </a:ext>
            </a:extLst>
          </p:cNvPr>
          <p:cNvSpPr txBox="1"/>
          <p:nvPr/>
        </p:nvSpPr>
        <p:spPr>
          <a:xfrm>
            <a:off x="3515653" y="3964569"/>
            <a:ext cx="2225374" cy="738664"/>
          </a:xfrm>
          <a:prstGeom prst="rect">
            <a:avLst/>
          </a:prstGeom>
          <a:noFill/>
        </p:spPr>
        <p:txBody>
          <a:bodyPr wrap="square">
            <a:spAutoFit/>
          </a:bodyPr>
          <a:lstStyle/>
          <a:p>
            <a:pPr algn="just"/>
            <a:r>
              <a:rPr lang="en-MY" sz="1400" dirty="0"/>
              <a:t>Algorithm that finds patterns and learns from the data</a:t>
            </a:r>
            <a:endParaRPr lang="en-US" sz="1400" dirty="0"/>
          </a:p>
        </p:txBody>
      </p:sp>
      <p:graphicFrame>
        <p:nvGraphicFramePr>
          <p:cNvPr id="12" name="Table 11">
            <a:extLst>
              <a:ext uri="{FF2B5EF4-FFF2-40B4-BE49-F238E27FC236}">
                <a16:creationId xmlns:a16="http://schemas.microsoft.com/office/drawing/2014/main" id="{BBA8ADB8-6761-9EEE-09CC-262018193454}"/>
              </a:ext>
            </a:extLst>
          </p:cNvPr>
          <p:cNvGraphicFramePr>
            <a:graphicFrameLocks noGrp="1"/>
          </p:cNvGraphicFramePr>
          <p:nvPr/>
        </p:nvGraphicFramePr>
        <p:xfrm>
          <a:off x="628650" y="2441258"/>
          <a:ext cx="7886700" cy="365760"/>
        </p:xfrm>
        <a:graphic>
          <a:graphicData uri="http://schemas.openxmlformats.org/drawingml/2006/table">
            <a:tbl>
              <a:tblPr/>
              <a:tblGrid>
                <a:gridCol w="7886700">
                  <a:extLst>
                    <a:ext uri="{9D8B030D-6E8A-4147-A177-3AD203B41FA5}">
                      <a16:colId xmlns:a16="http://schemas.microsoft.com/office/drawing/2014/main" val="2246431031"/>
                    </a:ext>
                  </a:extLst>
                </a:gridCol>
              </a:tblGrid>
              <a:tr h="0">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3542520977"/>
                  </a:ext>
                </a:extLst>
              </a:tr>
            </a:tbl>
          </a:graphicData>
        </a:graphic>
      </p:graphicFrame>
      <p:graphicFrame>
        <p:nvGraphicFramePr>
          <p:cNvPr id="22" name="Table 21">
            <a:extLst>
              <a:ext uri="{FF2B5EF4-FFF2-40B4-BE49-F238E27FC236}">
                <a16:creationId xmlns:a16="http://schemas.microsoft.com/office/drawing/2014/main" id="{ED78D31E-9E36-08D0-9A9E-A470C3D117A3}"/>
              </a:ext>
            </a:extLst>
          </p:cNvPr>
          <p:cNvGraphicFramePr>
            <a:graphicFrameLocks noGrp="1"/>
          </p:cNvGraphicFramePr>
          <p:nvPr>
            <p:extLst>
              <p:ext uri="{D42A27DB-BD31-4B8C-83A1-F6EECF244321}">
                <p14:modId xmlns:p14="http://schemas.microsoft.com/office/powerpoint/2010/main" val="1961079753"/>
              </p:ext>
            </p:extLst>
          </p:nvPr>
        </p:nvGraphicFramePr>
        <p:xfrm>
          <a:off x="6674389" y="4013180"/>
          <a:ext cx="1790293" cy="731520"/>
        </p:xfrm>
        <a:graphic>
          <a:graphicData uri="http://schemas.openxmlformats.org/drawingml/2006/table">
            <a:tbl>
              <a:tblPr/>
              <a:tblGrid>
                <a:gridCol w="1790293">
                  <a:extLst>
                    <a:ext uri="{9D8B030D-6E8A-4147-A177-3AD203B41FA5}">
                      <a16:colId xmlns:a16="http://schemas.microsoft.com/office/drawing/2014/main" val="3202734535"/>
                    </a:ext>
                  </a:extLst>
                </a:gridCol>
              </a:tblGrid>
              <a:tr h="0">
                <a:tc>
                  <a:txBody>
                    <a:bodyPr/>
                    <a:lstStyle/>
                    <a:p>
                      <a:pPr algn="just">
                        <a:buNone/>
                      </a:pPr>
                      <a:r>
                        <a:rPr lang="en-MY" sz="1400" dirty="0"/>
                        <a:t>Predictions or decisions generated by the model</a:t>
                      </a:r>
                    </a:p>
                  </a:txBody>
                  <a:tcPr anchor="ctr">
                    <a:lnL>
                      <a:noFill/>
                    </a:lnL>
                    <a:lnR>
                      <a:noFill/>
                    </a:lnR>
                    <a:lnT>
                      <a:noFill/>
                    </a:lnT>
                    <a:lnB>
                      <a:noFill/>
                    </a:lnB>
                    <a:noFill/>
                  </a:tcPr>
                </a:tc>
                <a:extLst>
                  <a:ext uri="{0D108BD9-81ED-4DB2-BD59-A6C34878D82A}">
                    <a16:rowId xmlns:a16="http://schemas.microsoft.com/office/drawing/2014/main" val="3371918828"/>
                  </a:ext>
                </a:extLst>
              </a:tr>
            </a:tbl>
          </a:graphicData>
        </a:graphic>
      </p:graphicFrame>
    </p:spTree>
    <p:extLst>
      <p:ext uri="{BB962C8B-B14F-4D97-AF65-F5344CB8AC3E}">
        <p14:creationId xmlns:p14="http://schemas.microsoft.com/office/powerpoint/2010/main" val="28663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fade">
                                      <p:cBhvr>
                                        <p:cTn id="7" dur="500"/>
                                        <p:tgtEl>
                                          <p:spTgt spid="24"/>
                                        </p:tgtEl>
                                      </p:cBhvr>
                                    </p:animEffect>
                                  </p:childTnLst>
                                </p:cTn>
                              </p:par>
                              <p:par>
                                <p:cTn id="8" presetID="10" presetClass="entr" presetSubtype="0" fill="hold" nodeType="withEffect">
                                  <p:stCondLst>
                                    <p:cond delay="0"/>
                                  </p:stCondLst>
                                  <p:childTnLst>
                                    <p:set>
                                      <p:cBhvr>
                                        <p:cTn id="9" dur="1" fill="hold">
                                          <p:stCondLst>
                                            <p:cond delay="0"/>
                                          </p:stCondLst>
                                        </p:cTn>
                                        <p:tgtEl>
                                          <p:spTgt spid="25"/>
                                        </p:tgtEl>
                                        <p:attrNameLst>
                                          <p:attrName>style.visibility</p:attrName>
                                        </p:attrNameLst>
                                      </p:cBhvr>
                                      <p:to>
                                        <p:strVal val="visible"/>
                                      </p:to>
                                    </p:set>
                                    <p:animEffect transition="in" filter="fade">
                                      <p:cBhvr>
                                        <p:cTn id="10" dur="500"/>
                                        <p:tgtEl>
                                          <p:spTgt spid="25"/>
                                        </p:tgtEl>
                                      </p:cBhvr>
                                    </p:animEffect>
                                  </p:childTnLst>
                                </p:cTn>
                              </p:par>
                              <p:par>
                                <p:cTn id="11" presetID="1" presetClass="exit" presetSubtype="0" fill="hold" nodeType="withEffect">
                                  <p:stCondLst>
                                    <p:cond delay="0"/>
                                  </p:stCondLst>
                                  <p:childTnLst>
                                    <p:set>
                                      <p:cBhvr>
                                        <p:cTn id="12" dur="1" fill="hold">
                                          <p:stCondLst>
                                            <p:cond delay="0"/>
                                          </p:stCondLst>
                                        </p:cTn>
                                        <p:tgtEl>
                                          <p:spTgt spid="1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EFA3D56A-2450-4707-ACF2-0135E19222A2}"/>
              </a:ext>
            </a:extLst>
          </p:cNvPr>
          <p:cNvCxnSpPr>
            <a:cxnSpLocks/>
            <a:stCxn id="2" idx="1"/>
          </p:cNvCxnSpPr>
          <p:nvPr/>
        </p:nvCxnSpPr>
        <p:spPr>
          <a:xfrm>
            <a:off x="1908044" y="1256903"/>
            <a:ext cx="5216656" cy="0"/>
          </a:xfrm>
          <a:prstGeom prst="line">
            <a:avLst/>
          </a:prstGeom>
          <a:ln w="31750">
            <a:solidFill>
              <a:srgbClr val="FFCC32"/>
            </a:solidFill>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12CF9133-E8D1-404C-BCED-5B79DD6DEFD7}"/>
              </a:ext>
            </a:extLst>
          </p:cNvPr>
          <p:cNvSpPr/>
          <p:nvPr/>
        </p:nvSpPr>
        <p:spPr>
          <a:xfrm>
            <a:off x="0" y="1657350"/>
            <a:ext cx="9144000" cy="2409825"/>
          </a:xfrm>
          <a:prstGeom prst="rect">
            <a:avLst/>
          </a:prstGeom>
          <a:solidFill>
            <a:srgbClr val="FFCC32">
              <a:alpha val="25098"/>
            </a:srgb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2" name="Rectangle: Rounded Corners 1">
            <a:extLst>
              <a:ext uri="{FF2B5EF4-FFF2-40B4-BE49-F238E27FC236}">
                <a16:creationId xmlns:a16="http://schemas.microsoft.com/office/drawing/2014/main" id="{6F77E886-7567-4480-9E3E-81E553FDDD9B}"/>
              </a:ext>
            </a:extLst>
          </p:cNvPr>
          <p:cNvSpPr/>
          <p:nvPr/>
        </p:nvSpPr>
        <p:spPr>
          <a:xfrm>
            <a:off x="1908044" y="1011806"/>
            <a:ext cx="1725105" cy="490194"/>
          </a:xfrm>
          <a:prstGeom prst="roundRect">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b="1" dirty="0">
                <a:solidFill>
                  <a:srgbClr val="FF0000"/>
                </a:solidFill>
              </a:rPr>
              <a:t>A</a:t>
            </a:r>
            <a:r>
              <a:rPr lang="en-US" dirty="0">
                <a:solidFill>
                  <a:schemeClr val="tx1"/>
                </a:solidFill>
              </a:rPr>
              <a:t>utomation</a:t>
            </a:r>
          </a:p>
        </p:txBody>
      </p:sp>
      <p:sp>
        <p:nvSpPr>
          <p:cNvPr id="18" name="Rectangle: Rounded Corners 17">
            <a:extLst>
              <a:ext uri="{FF2B5EF4-FFF2-40B4-BE49-F238E27FC236}">
                <a16:creationId xmlns:a16="http://schemas.microsoft.com/office/drawing/2014/main" id="{F01B87A9-58EA-49F7-ACB9-19271024FA5E}"/>
              </a:ext>
            </a:extLst>
          </p:cNvPr>
          <p:cNvSpPr/>
          <p:nvPr/>
        </p:nvSpPr>
        <p:spPr>
          <a:xfrm>
            <a:off x="3718874" y="1011806"/>
            <a:ext cx="1725105" cy="490194"/>
          </a:xfrm>
          <a:prstGeom prst="roundRect">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b="1" dirty="0">
                <a:solidFill>
                  <a:srgbClr val="FF0000"/>
                </a:solidFill>
              </a:rPr>
              <a:t>C</a:t>
            </a:r>
            <a:r>
              <a:rPr lang="en-US" dirty="0">
                <a:solidFill>
                  <a:schemeClr val="tx1"/>
                </a:solidFill>
              </a:rPr>
              <a:t>ustomization</a:t>
            </a:r>
          </a:p>
        </p:txBody>
      </p:sp>
      <p:sp>
        <p:nvSpPr>
          <p:cNvPr id="19" name="Rectangle: Rounded Corners 18">
            <a:extLst>
              <a:ext uri="{FF2B5EF4-FFF2-40B4-BE49-F238E27FC236}">
                <a16:creationId xmlns:a16="http://schemas.microsoft.com/office/drawing/2014/main" id="{C8B06AA1-EB21-49F8-A730-D4DCEFB81097}"/>
              </a:ext>
            </a:extLst>
          </p:cNvPr>
          <p:cNvSpPr/>
          <p:nvPr/>
        </p:nvSpPr>
        <p:spPr>
          <a:xfrm>
            <a:off x="5520179" y="1011806"/>
            <a:ext cx="1725105" cy="490194"/>
          </a:xfrm>
          <a:prstGeom prst="roundRect">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b="1" dirty="0">
                <a:solidFill>
                  <a:srgbClr val="FF0000"/>
                </a:solidFill>
              </a:rPr>
              <a:t>A</a:t>
            </a:r>
            <a:r>
              <a:rPr lang="en-US" dirty="0">
                <a:solidFill>
                  <a:schemeClr val="tx1"/>
                </a:solidFill>
              </a:rPr>
              <a:t>cceleration</a:t>
            </a:r>
          </a:p>
        </p:txBody>
      </p:sp>
      <p:sp>
        <p:nvSpPr>
          <p:cNvPr id="22" name="TextBox 21">
            <a:extLst>
              <a:ext uri="{FF2B5EF4-FFF2-40B4-BE49-F238E27FC236}">
                <a16:creationId xmlns:a16="http://schemas.microsoft.com/office/drawing/2014/main" id="{43C3C2CC-7D5A-45F2-B6E3-A17CA41C715D}"/>
              </a:ext>
            </a:extLst>
          </p:cNvPr>
          <p:cNvSpPr txBox="1"/>
          <p:nvPr/>
        </p:nvSpPr>
        <p:spPr>
          <a:xfrm>
            <a:off x="2088931" y="277133"/>
            <a:ext cx="4864319" cy="461665"/>
          </a:xfrm>
          <a:prstGeom prst="rect">
            <a:avLst/>
          </a:prstGeom>
          <a:noFill/>
        </p:spPr>
        <p:txBody>
          <a:bodyPr wrap="square" rtlCol="0">
            <a:spAutoFit/>
          </a:bodyPr>
          <a:lstStyle/>
          <a:p>
            <a:pPr algn="ctr"/>
            <a:r>
              <a:rPr lang="en-US" sz="2400" b="1" dirty="0"/>
              <a:t>3 Steps of Process Machine Learning</a:t>
            </a:r>
          </a:p>
        </p:txBody>
      </p:sp>
      <p:sp>
        <p:nvSpPr>
          <p:cNvPr id="26" name="Rectangle: Rounded Corners 25">
            <a:extLst>
              <a:ext uri="{FF2B5EF4-FFF2-40B4-BE49-F238E27FC236}">
                <a16:creationId xmlns:a16="http://schemas.microsoft.com/office/drawing/2014/main" id="{8F768CD0-75AA-4AE5-9DF3-C62DA2E5B4BF}"/>
              </a:ext>
            </a:extLst>
          </p:cNvPr>
          <p:cNvSpPr/>
          <p:nvPr/>
        </p:nvSpPr>
        <p:spPr>
          <a:xfrm>
            <a:off x="3488998" y="1794038"/>
            <a:ext cx="2171980" cy="1524200"/>
          </a:xfrm>
          <a:prstGeom prst="roundRect">
            <a:avLst/>
          </a:prstGeom>
          <a:solidFill>
            <a:schemeClr val="bg1">
              <a:lumMod val="95000"/>
            </a:schemeClr>
          </a:solidFill>
          <a:ln w="57150" cap="flat" cmpd="sng" algn="ctr">
            <a:solidFill>
              <a:schemeClr val="bg1">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27" name="Picture 26">
            <a:extLst>
              <a:ext uri="{FF2B5EF4-FFF2-40B4-BE49-F238E27FC236}">
                <a16:creationId xmlns:a16="http://schemas.microsoft.com/office/drawing/2014/main" id="{689C953E-B238-497A-9A9D-C6F1E98CFD8E}"/>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36396" y="2020748"/>
            <a:ext cx="1082929" cy="1130013"/>
          </a:xfrm>
          <a:prstGeom prst="rect">
            <a:avLst/>
          </a:prstGeom>
        </p:spPr>
      </p:pic>
      <p:grpSp>
        <p:nvGrpSpPr>
          <p:cNvPr id="28" name="Group 27">
            <a:extLst>
              <a:ext uri="{FF2B5EF4-FFF2-40B4-BE49-F238E27FC236}">
                <a16:creationId xmlns:a16="http://schemas.microsoft.com/office/drawing/2014/main" id="{3ED1513C-04F7-458B-AC2F-68EAE2B7D2B1}"/>
              </a:ext>
            </a:extLst>
          </p:cNvPr>
          <p:cNvGrpSpPr/>
          <p:nvPr/>
        </p:nvGrpSpPr>
        <p:grpSpPr>
          <a:xfrm>
            <a:off x="4042848" y="1918481"/>
            <a:ext cx="1071962" cy="1229979"/>
            <a:chOff x="4042848" y="1805361"/>
            <a:chExt cx="1071962" cy="1229979"/>
          </a:xfrm>
        </p:grpSpPr>
        <p:sp>
          <p:nvSpPr>
            <p:cNvPr id="29" name="Oval 28">
              <a:extLst>
                <a:ext uri="{FF2B5EF4-FFF2-40B4-BE49-F238E27FC236}">
                  <a16:creationId xmlns:a16="http://schemas.microsoft.com/office/drawing/2014/main" id="{37CC1F44-C0E3-4B09-8D9C-BCA7EA28F317}"/>
                </a:ext>
              </a:extLst>
            </p:cNvPr>
            <p:cNvSpPr/>
            <p:nvPr/>
          </p:nvSpPr>
          <p:spPr>
            <a:xfrm>
              <a:off x="4160340" y="189097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30" name="Group 29">
              <a:extLst>
                <a:ext uri="{FF2B5EF4-FFF2-40B4-BE49-F238E27FC236}">
                  <a16:creationId xmlns:a16="http://schemas.microsoft.com/office/drawing/2014/main" id="{57948D00-FA02-46B3-9C81-2379D4D40ECF}"/>
                </a:ext>
              </a:extLst>
            </p:cNvPr>
            <p:cNvGrpSpPr/>
            <p:nvPr/>
          </p:nvGrpSpPr>
          <p:grpSpPr>
            <a:xfrm>
              <a:off x="4042848" y="1805361"/>
              <a:ext cx="1071962" cy="1229979"/>
              <a:chOff x="4868460" y="1940790"/>
              <a:chExt cx="1230587" cy="1411988"/>
            </a:xfrm>
          </p:grpSpPr>
          <p:pic>
            <p:nvPicPr>
              <p:cNvPr id="31" name="Picture 30">
                <a:extLst>
                  <a:ext uri="{FF2B5EF4-FFF2-40B4-BE49-F238E27FC236}">
                    <a16:creationId xmlns:a16="http://schemas.microsoft.com/office/drawing/2014/main" id="{CB8F80FE-84CD-469E-9098-8A288D1BFE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32" name="Picture 31">
                <a:extLst>
                  <a:ext uri="{FF2B5EF4-FFF2-40B4-BE49-F238E27FC236}">
                    <a16:creationId xmlns:a16="http://schemas.microsoft.com/office/drawing/2014/main" id="{93AB90CE-3416-4E50-B871-9B195939E00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sp>
        <p:nvSpPr>
          <p:cNvPr id="33" name="Arrow: Right 32">
            <a:extLst>
              <a:ext uri="{FF2B5EF4-FFF2-40B4-BE49-F238E27FC236}">
                <a16:creationId xmlns:a16="http://schemas.microsoft.com/office/drawing/2014/main" id="{A52E0023-FBF2-4C21-9BA5-14CE2A15C905}"/>
              </a:ext>
            </a:extLst>
          </p:cNvPr>
          <p:cNvSpPr/>
          <p:nvPr/>
        </p:nvSpPr>
        <p:spPr>
          <a:xfrm>
            <a:off x="2462949" y="2409339"/>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34" name="Picture 33">
            <a:extLst>
              <a:ext uri="{FF2B5EF4-FFF2-40B4-BE49-F238E27FC236}">
                <a16:creationId xmlns:a16="http://schemas.microsoft.com/office/drawing/2014/main" id="{D065AE01-16AD-4DF8-A15F-3950D9A4ED99}"/>
              </a:ext>
            </a:extLst>
          </p:cNvPr>
          <p:cNvPicPr>
            <a:picLocks noChangeAspect="1"/>
          </p:cNvPicPr>
          <p:nvPr/>
        </p:nvPicPr>
        <p:blipFill>
          <a:blip r:embed="rId6"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953250" y="1980371"/>
            <a:ext cx="1047751" cy="1199321"/>
          </a:xfrm>
          <a:prstGeom prst="rect">
            <a:avLst/>
          </a:prstGeom>
        </p:spPr>
      </p:pic>
      <p:sp>
        <p:nvSpPr>
          <p:cNvPr id="35" name="Arrow: Right 34">
            <a:extLst>
              <a:ext uri="{FF2B5EF4-FFF2-40B4-BE49-F238E27FC236}">
                <a16:creationId xmlns:a16="http://schemas.microsoft.com/office/drawing/2014/main" id="{ACA74D06-C944-4AAE-8B6C-D876BA17E16E}"/>
              </a:ext>
            </a:extLst>
          </p:cNvPr>
          <p:cNvSpPr/>
          <p:nvPr/>
        </p:nvSpPr>
        <p:spPr>
          <a:xfrm>
            <a:off x="5910999" y="2409339"/>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3" name="TextBox 2">
            <a:extLst>
              <a:ext uri="{FF2B5EF4-FFF2-40B4-BE49-F238E27FC236}">
                <a16:creationId xmlns:a16="http://schemas.microsoft.com/office/drawing/2014/main" id="{B068B471-7653-D3BF-A36F-1ECB53D7C9DB}"/>
              </a:ext>
            </a:extLst>
          </p:cNvPr>
          <p:cNvSpPr txBox="1"/>
          <p:nvPr/>
        </p:nvSpPr>
        <p:spPr>
          <a:xfrm rot="16200000">
            <a:off x="-1059406" y="2605497"/>
            <a:ext cx="2859924" cy="461665"/>
          </a:xfrm>
          <a:prstGeom prst="rect">
            <a:avLst/>
          </a:prstGeom>
          <a:noFill/>
        </p:spPr>
        <p:txBody>
          <a:bodyPr wrap="square" rtlCol="0">
            <a:spAutoFit/>
          </a:bodyPr>
          <a:lstStyle/>
          <a:p>
            <a:pPr algn="ctr"/>
            <a:r>
              <a:rPr lang="en-US" sz="2400" dirty="0">
                <a:solidFill>
                  <a:schemeClr val="accent6">
                    <a:lumMod val="50000"/>
                  </a:schemeClr>
                </a:solidFill>
              </a:rPr>
              <a:t>Artificial Intelligence</a:t>
            </a:r>
          </a:p>
        </p:txBody>
      </p:sp>
    </p:spTree>
    <p:extLst>
      <p:ext uri="{BB962C8B-B14F-4D97-AF65-F5344CB8AC3E}">
        <p14:creationId xmlns:p14="http://schemas.microsoft.com/office/powerpoint/2010/main" val="40496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DE881E4F-7A15-429B-9AF3-5AFC243899C6}"/>
              </a:ext>
            </a:extLst>
          </p:cNvPr>
          <p:cNvSpPr/>
          <p:nvPr/>
        </p:nvSpPr>
        <p:spPr>
          <a:xfrm>
            <a:off x="0" y="1657350"/>
            <a:ext cx="9144000" cy="2409825"/>
          </a:xfrm>
          <a:prstGeom prst="rect">
            <a:avLst/>
          </a:prstGeom>
          <a:solidFill>
            <a:srgbClr val="FFCC32">
              <a:alpha val="25098"/>
            </a:srgb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22" name="TextBox 21">
            <a:extLst>
              <a:ext uri="{FF2B5EF4-FFF2-40B4-BE49-F238E27FC236}">
                <a16:creationId xmlns:a16="http://schemas.microsoft.com/office/drawing/2014/main" id="{43C3C2CC-7D5A-45F2-B6E3-A17CA41C715D}"/>
              </a:ext>
            </a:extLst>
          </p:cNvPr>
          <p:cNvSpPr txBox="1"/>
          <p:nvPr/>
        </p:nvSpPr>
        <p:spPr>
          <a:xfrm>
            <a:off x="2879428" y="319594"/>
            <a:ext cx="3389394" cy="461665"/>
          </a:xfrm>
          <a:prstGeom prst="rect">
            <a:avLst/>
          </a:prstGeom>
          <a:noFill/>
        </p:spPr>
        <p:txBody>
          <a:bodyPr wrap="square" rtlCol="0">
            <a:spAutoFit/>
          </a:bodyPr>
          <a:lstStyle/>
          <a:p>
            <a:pPr algn="ctr"/>
            <a:r>
              <a:rPr lang="en-US" sz="2400"/>
              <a:t>Machine Learning</a:t>
            </a:r>
          </a:p>
        </p:txBody>
      </p:sp>
      <p:sp>
        <p:nvSpPr>
          <p:cNvPr id="35" name="Rectangle: Rounded Corners 34">
            <a:extLst>
              <a:ext uri="{FF2B5EF4-FFF2-40B4-BE49-F238E27FC236}">
                <a16:creationId xmlns:a16="http://schemas.microsoft.com/office/drawing/2014/main" id="{B7C93A13-2AF8-402F-A1DE-CFFBBD321D0D}"/>
              </a:ext>
            </a:extLst>
          </p:cNvPr>
          <p:cNvSpPr/>
          <p:nvPr/>
        </p:nvSpPr>
        <p:spPr>
          <a:xfrm>
            <a:off x="3488998" y="1794032"/>
            <a:ext cx="2171980" cy="2118085"/>
          </a:xfrm>
          <a:prstGeom prst="roundRect">
            <a:avLst>
              <a:gd name="adj" fmla="val 12661"/>
            </a:avLst>
          </a:prstGeom>
          <a:solidFill>
            <a:schemeClr val="bg1">
              <a:lumMod val="95000"/>
            </a:schemeClr>
          </a:solidFill>
          <a:ln w="57150" cap="flat" cmpd="sng" algn="ctr">
            <a:solidFill>
              <a:schemeClr val="bg1">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19" name="Picture 18">
            <a:extLst>
              <a:ext uri="{FF2B5EF4-FFF2-40B4-BE49-F238E27FC236}">
                <a16:creationId xmlns:a16="http://schemas.microsoft.com/office/drawing/2014/main" id="{62FAF538-11E4-450D-B586-084E245A02A7}"/>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36396" y="2020748"/>
            <a:ext cx="1082929" cy="1130013"/>
          </a:xfrm>
          <a:prstGeom prst="rect">
            <a:avLst/>
          </a:prstGeom>
        </p:spPr>
      </p:pic>
      <p:grpSp>
        <p:nvGrpSpPr>
          <p:cNvPr id="4" name="Group 3">
            <a:extLst>
              <a:ext uri="{FF2B5EF4-FFF2-40B4-BE49-F238E27FC236}">
                <a16:creationId xmlns:a16="http://schemas.microsoft.com/office/drawing/2014/main" id="{85566FE9-ED50-9D65-6DF0-6683A89062B9}"/>
              </a:ext>
            </a:extLst>
          </p:cNvPr>
          <p:cNvGrpSpPr/>
          <p:nvPr/>
        </p:nvGrpSpPr>
        <p:grpSpPr>
          <a:xfrm>
            <a:off x="4157988" y="2011395"/>
            <a:ext cx="841679" cy="841679"/>
            <a:chOff x="5910999" y="4183415"/>
            <a:chExt cx="841679" cy="841679"/>
          </a:xfrm>
        </p:grpSpPr>
        <p:sp>
          <p:nvSpPr>
            <p:cNvPr id="5" name="Oval 4">
              <a:extLst>
                <a:ext uri="{FF2B5EF4-FFF2-40B4-BE49-F238E27FC236}">
                  <a16:creationId xmlns:a16="http://schemas.microsoft.com/office/drawing/2014/main" id="{35A45E34-AD9A-05F1-AFD4-E56334D6C06F}"/>
                </a:ext>
              </a:extLst>
            </p:cNvPr>
            <p:cNvSpPr/>
            <p:nvPr/>
          </p:nvSpPr>
          <p:spPr>
            <a:xfrm>
              <a:off x="5910999" y="4183415"/>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pic>
          <p:nvPicPr>
            <p:cNvPr id="6" name="Picture 5">
              <a:extLst>
                <a:ext uri="{FF2B5EF4-FFF2-40B4-BE49-F238E27FC236}">
                  <a16:creationId xmlns:a16="http://schemas.microsoft.com/office/drawing/2014/main" id="{B94F8645-0D9E-C332-3C6C-FBCFC7685078}"/>
                </a:ext>
              </a:extLst>
            </p:cNvPr>
            <p:cNvPicPr>
              <a:picLocks noChangeAspect="1"/>
            </p:cNvPicPr>
            <p:nvPr/>
          </p:nvPicPr>
          <p:blipFill>
            <a:blip r:embed="rId4"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5967446" y="4387118"/>
              <a:ext cx="600311" cy="514843"/>
            </a:xfrm>
            <a:prstGeom prst="rect">
              <a:avLst/>
            </a:prstGeom>
          </p:spPr>
        </p:pic>
      </p:grpSp>
      <p:sp>
        <p:nvSpPr>
          <p:cNvPr id="25" name="Oval 24">
            <a:extLst>
              <a:ext uri="{FF2B5EF4-FFF2-40B4-BE49-F238E27FC236}">
                <a16:creationId xmlns:a16="http://schemas.microsoft.com/office/drawing/2014/main" id="{22EE7982-AF25-46C4-A239-A01C32458D8A}"/>
              </a:ext>
            </a:extLst>
          </p:cNvPr>
          <p:cNvSpPr/>
          <p:nvPr/>
        </p:nvSpPr>
        <p:spPr>
          <a:xfrm>
            <a:off x="4160340" y="200409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pic>
        <p:nvPicPr>
          <p:cNvPr id="27" name="Picture 26">
            <a:extLst>
              <a:ext uri="{FF2B5EF4-FFF2-40B4-BE49-F238E27FC236}">
                <a16:creationId xmlns:a16="http://schemas.microsoft.com/office/drawing/2014/main" id="{CA50B40F-2DFD-4253-B988-90592C67BD4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276329" y="2189303"/>
            <a:ext cx="559376" cy="579497"/>
          </a:xfrm>
          <a:prstGeom prst="rect">
            <a:avLst/>
          </a:prstGeom>
        </p:spPr>
      </p:pic>
      <p:pic>
        <p:nvPicPr>
          <p:cNvPr id="28" name="Picture 27">
            <a:extLst>
              <a:ext uri="{FF2B5EF4-FFF2-40B4-BE49-F238E27FC236}">
                <a16:creationId xmlns:a16="http://schemas.microsoft.com/office/drawing/2014/main" id="{FB707A75-3E86-49A1-96A5-38E5028AEC7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042847" y="1918481"/>
            <a:ext cx="1071962" cy="1229979"/>
          </a:xfrm>
          <a:prstGeom prst="rect">
            <a:avLst/>
          </a:prstGeom>
        </p:spPr>
      </p:pic>
      <p:sp>
        <p:nvSpPr>
          <p:cNvPr id="29" name="Arrow: Right 28">
            <a:extLst>
              <a:ext uri="{FF2B5EF4-FFF2-40B4-BE49-F238E27FC236}">
                <a16:creationId xmlns:a16="http://schemas.microsoft.com/office/drawing/2014/main" id="{0484E573-E669-4B29-8ACB-5974B87EC3BD}"/>
              </a:ext>
            </a:extLst>
          </p:cNvPr>
          <p:cNvSpPr/>
          <p:nvPr/>
        </p:nvSpPr>
        <p:spPr>
          <a:xfrm>
            <a:off x="2462949" y="2409339"/>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30" name="Picture 29">
            <a:extLst>
              <a:ext uri="{FF2B5EF4-FFF2-40B4-BE49-F238E27FC236}">
                <a16:creationId xmlns:a16="http://schemas.microsoft.com/office/drawing/2014/main" id="{24468266-287B-4ACD-BA7C-E625013F6583}"/>
              </a:ext>
            </a:extLst>
          </p:cNvPr>
          <p:cNvPicPr>
            <a:picLocks noChangeAspect="1"/>
          </p:cNvPicPr>
          <p:nvPr/>
        </p:nvPicPr>
        <p:blipFill>
          <a:blip r:embed="rId7"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953250" y="1980371"/>
            <a:ext cx="1047751" cy="1199321"/>
          </a:xfrm>
          <a:prstGeom prst="rect">
            <a:avLst/>
          </a:prstGeom>
        </p:spPr>
      </p:pic>
      <p:sp>
        <p:nvSpPr>
          <p:cNvPr id="31" name="Arrow: Right 30">
            <a:extLst>
              <a:ext uri="{FF2B5EF4-FFF2-40B4-BE49-F238E27FC236}">
                <a16:creationId xmlns:a16="http://schemas.microsoft.com/office/drawing/2014/main" id="{02580FD0-D6A1-40E7-BB9D-B29290264316}"/>
              </a:ext>
            </a:extLst>
          </p:cNvPr>
          <p:cNvSpPr/>
          <p:nvPr/>
        </p:nvSpPr>
        <p:spPr>
          <a:xfrm>
            <a:off x="5910999" y="2409339"/>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cxnSp>
        <p:nvCxnSpPr>
          <p:cNvPr id="15" name="Straight Connector 14">
            <a:extLst>
              <a:ext uri="{FF2B5EF4-FFF2-40B4-BE49-F238E27FC236}">
                <a16:creationId xmlns:a16="http://schemas.microsoft.com/office/drawing/2014/main" id="{B87E34BD-B1E2-4109-A629-2A433A2E607F}"/>
              </a:ext>
            </a:extLst>
          </p:cNvPr>
          <p:cNvCxnSpPr>
            <a:cxnSpLocks/>
            <a:stCxn id="16" idx="1"/>
          </p:cNvCxnSpPr>
          <p:nvPr/>
        </p:nvCxnSpPr>
        <p:spPr>
          <a:xfrm>
            <a:off x="1908044" y="1256903"/>
            <a:ext cx="5216656" cy="0"/>
          </a:xfrm>
          <a:prstGeom prst="line">
            <a:avLst/>
          </a:prstGeom>
          <a:ln w="31750">
            <a:solidFill>
              <a:srgbClr val="A6A6A6"/>
            </a:solidFill>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FA49016D-FB3A-4B75-9601-8394B0D2882F}"/>
              </a:ext>
            </a:extLst>
          </p:cNvPr>
          <p:cNvSpPr/>
          <p:nvPr/>
        </p:nvSpPr>
        <p:spPr>
          <a:xfrm>
            <a:off x="1908044" y="1011806"/>
            <a:ext cx="1725105" cy="490194"/>
          </a:xfrm>
          <a:prstGeom prst="roundRect">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Automation</a:t>
            </a:r>
          </a:p>
        </p:txBody>
      </p:sp>
      <p:sp>
        <p:nvSpPr>
          <p:cNvPr id="17" name="Rectangle: Rounded Corners 16">
            <a:extLst>
              <a:ext uri="{FF2B5EF4-FFF2-40B4-BE49-F238E27FC236}">
                <a16:creationId xmlns:a16="http://schemas.microsoft.com/office/drawing/2014/main" id="{4D09FB96-BC59-4E7D-9627-CD21AF012A24}"/>
              </a:ext>
            </a:extLst>
          </p:cNvPr>
          <p:cNvSpPr/>
          <p:nvPr/>
        </p:nvSpPr>
        <p:spPr>
          <a:xfrm>
            <a:off x="3718874" y="1011806"/>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lumMod val="65000"/>
                    <a:lumOff val="35000"/>
                  </a:schemeClr>
                </a:solidFill>
              </a:rPr>
              <a:t>Customization</a:t>
            </a:r>
          </a:p>
        </p:txBody>
      </p:sp>
      <p:sp>
        <p:nvSpPr>
          <p:cNvPr id="21" name="Rectangle: Rounded Corners 20">
            <a:extLst>
              <a:ext uri="{FF2B5EF4-FFF2-40B4-BE49-F238E27FC236}">
                <a16:creationId xmlns:a16="http://schemas.microsoft.com/office/drawing/2014/main" id="{06681BF2-2F8B-4243-B70F-9D3A52B916F6}"/>
              </a:ext>
            </a:extLst>
          </p:cNvPr>
          <p:cNvSpPr/>
          <p:nvPr/>
        </p:nvSpPr>
        <p:spPr>
          <a:xfrm>
            <a:off x="5520179" y="1011806"/>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lumMod val="65000"/>
                    <a:lumOff val="35000"/>
                  </a:schemeClr>
                </a:solidFill>
              </a:rPr>
              <a:t>Acceleration</a:t>
            </a:r>
          </a:p>
        </p:txBody>
      </p:sp>
      <p:grpSp>
        <p:nvGrpSpPr>
          <p:cNvPr id="23" name="Group 22">
            <a:extLst>
              <a:ext uri="{FF2B5EF4-FFF2-40B4-BE49-F238E27FC236}">
                <a16:creationId xmlns:a16="http://schemas.microsoft.com/office/drawing/2014/main" id="{FF378650-C21F-4DD8-9D32-3223A768BD54}"/>
              </a:ext>
            </a:extLst>
          </p:cNvPr>
          <p:cNvGrpSpPr/>
          <p:nvPr/>
        </p:nvGrpSpPr>
        <p:grpSpPr>
          <a:xfrm>
            <a:off x="2308634" y="1946495"/>
            <a:ext cx="1068309" cy="1213164"/>
            <a:chOff x="2308634" y="1946495"/>
            <a:chExt cx="1068309" cy="1213164"/>
          </a:xfrm>
        </p:grpSpPr>
        <p:sp>
          <p:nvSpPr>
            <p:cNvPr id="24" name="Rectangle 23">
              <a:extLst>
                <a:ext uri="{FF2B5EF4-FFF2-40B4-BE49-F238E27FC236}">
                  <a16:creationId xmlns:a16="http://schemas.microsoft.com/office/drawing/2014/main" id="{21D8F81F-B5D9-4B02-A66F-0E3EB6AE9AC0}"/>
                </a:ext>
              </a:extLst>
            </p:cNvPr>
            <p:cNvSpPr/>
            <p:nvPr/>
          </p:nvSpPr>
          <p:spPr>
            <a:xfrm>
              <a:off x="2308634" y="1946495"/>
              <a:ext cx="1068309" cy="1213164"/>
            </a:xfrm>
            <a:prstGeom prst="rect">
              <a:avLst/>
            </a:prstGeom>
            <a:solidFill>
              <a:srgbClr val="FFF2CC"/>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solidFill>
                  <a:srgbClr val="000000"/>
                </a:solidFill>
              </a:endParaRPr>
            </a:p>
          </p:txBody>
        </p:sp>
        <p:sp>
          <p:nvSpPr>
            <p:cNvPr id="32" name="Arrow: Right 31">
              <a:extLst>
                <a:ext uri="{FF2B5EF4-FFF2-40B4-BE49-F238E27FC236}">
                  <a16:creationId xmlns:a16="http://schemas.microsoft.com/office/drawing/2014/main" id="{8255EFE5-5496-4963-B201-31475D32A4EA}"/>
                </a:ext>
              </a:extLst>
            </p:cNvPr>
            <p:cNvSpPr/>
            <p:nvPr/>
          </p:nvSpPr>
          <p:spPr>
            <a:xfrm>
              <a:off x="2462949" y="2111608"/>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34" name="Arrow: Right 33">
              <a:extLst>
                <a:ext uri="{FF2B5EF4-FFF2-40B4-BE49-F238E27FC236}">
                  <a16:creationId xmlns:a16="http://schemas.microsoft.com/office/drawing/2014/main" id="{32E689CE-E776-4DB6-8CB5-8D9FBC199018}"/>
                </a:ext>
              </a:extLst>
            </p:cNvPr>
            <p:cNvSpPr/>
            <p:nvPr/>
          </p:nvSpPr>
          <p:spPr>
            <a:xfrm flipH="1">
              <a:off x="2462949" y="2678788"/>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grpSp>
      <p:grpSp>
        <p:nvGrpSpPr>
          <p:cNvPr id="36" name="Group 35">
            <a:extLst>
              <a:ext uri="{FF2B5EF4-FFF2-40B4-BE49-F238E27FC236}">
                <a16:creationId xmlns:a16="http://schemas.microsoft.com/office/drawing/2014/main" id="{7C70A233-59FB-44BE-917C-4FCB7C6EF438}"/>
              </a:ext>
            </a:extLst>
          </p:cNvPr>
          <p:cNvGrpSpPr/>
          <p:nvPr/>
        </p:nvGrpSpPr>
        <p:grpSpPr>
          <a:xfrm>
            <a:off x="4048619" y="2903449"/>
            <a:ext cx="1062281" cy="892362"/>
            <a:chOff x="4048619" y="2903449"/>
            <a:chExt cx="1062281" cy="892362"/>
          </a:xfrm>
        </p:grpSpPr>
        <p:grpSp>
          <p:nvGrpSpPr>
            <p:cNvPr id="37" name="Group 36">
              <a:extLst>
                <a:ext uri="{FF2B5EF4-FFF2-40B4-BE49-F238E27FC236}">
                  <a16:creationId xmlns:a16="http://schemas.microsoft.com/office/drawing/2014/main" id="{D41886A7-804B-4DD1-93F5-2C79F0481A67}"/>
                </a:ext>
              </a:extLst>
            </p:cNvPr>
            <p:cNvGrpSpPr/>
            <p:nvPr/>
          </p:nvGrpSpPr>
          <p:grpSpPr>
            <a:xfrm>
              <a:off x="4048619" y="3382987"/>
              <a:ext cx="1062281" cy="412824"/>
              <a:chOff x="4020338" y="3260449"/>
              <a:chExt cx="1062281" cy="412824"/>
            </a:xfrm>
          </p:grpSpPr>
          <p:pic>
            <p:nvPicPr>
              <p:cNvPr id="40" name="Picture 39">
                <a:extLst>
                  <a:ext uri="{FF2B5EF4-FFF2-40B4-BE49-F238E27FC236}">
                    <a16:creationId xmlns:a16="http://schemas.microsoft.com/office/drawing/2014/main" id="{3196D230-141F-47EB-B990-02E833211D3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020338" y="3260449"/>
                <a:ext cx="485675" cy="412824"/>
              </a:xfrm>
              <a:prstGeom prst="rect">
                <a:avLst/>
              </a:prstGeom>
            </p:spPr>
          </p:pic>
          <p:pic>
            <p:nvPicPr>
              <p:cNvPr id="41" name="Picture 40">
                <a:extLst>
                  <a:ext uri="{FF2B5EF4-FFF2-40B4-BE49-F238E27FC236}">
                    <a16:creationId xmlns:a16="http://schemas.microsoft.com/office/drawing/2014/main" id="{D0F22B09-B6FD-4150-AC3D-C36C39F1C19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596944" y="3260449"/>
                <a:ext cx="485675" cy="412824"/>
              </a:xfrm>
              <a:prstGeom prst="rect">
                <a:avLst/>
              </a:prstGeom>
            </p:spPr>
          </p:pic>
        </p:grpSp>
        <p:cxnSp>
          <p:nvCxnSpPr>
            <p:cNvPr id="38" name="Straight Connector 37">
              <a:extLst>
                <a:ext uri="{FF2B5EF4-FFF2-40B4-BE49-F238E27FC236}">
                  <a16:creationId xmlns:a16="http://schemas.microsoft.com/office/drawing/2014/main" id="{031B0C96-3554-4800-8648-49FF57B22B99}"/>
                </a:ext>
              </a:extLst>
            </p:cNvPr>
            <p:cNvCxnSpPr/>
            <p:nvPr/>
          </p:nvCxnSpPr>
          <p:spPr>
            <a:xfrm>
              <a:off x="4553146" y="2903449"/>
              <a:ext cx="0" cy="452487"/>
            </a:xfrm>
            <a:prstGeom prst="line">
              <a:avLst/>
            </a:prstGeom>
            <a:ln w="38100">
              <a:solidFill>
                <a:schemeClr val="accent4">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6084448D-1918-4EFF-B0B5-9C90E9F1F10B}"/>
                </a:ext>
              </a:extLst>
            </p:cNvPr>
            <p:cNvCxnSpPr>
              <a:cxnSpLocks/>
            </p:cNvCxnSpPr>
            <p:nvPr/>
          </p:nvCxnSpPr>
          <p:spPr>
            <a:xfrm flipH="1">
              <a:off x="4139934" y="3310374"/>
              <a:ext cx="875124" cy="0"/>
            </a:xfrm>
            <a:prstGeom prst="line">
              <a:avLst/>
            </a:prstGeom>
            <a:ln w="38100">
              <a:solidFill>
                <a:schemeClr val="accent4">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7" name="TextBox 6">
            <a:extLst>
              <a:ext uri="{FF2B5EF4-FFF2-40B4-BE49-F238E27FC236}">
                <a16:creationId xmlns:a16="http://schemas.microsoft.com/office/drawing/2014/main" id="{6242A3BE-4E10-17E4-D846-AF815585D0A8}"/>
              </a:ext>
            </a:extLst>
          </p:cNvPr>
          <p:cNvSpPr txBox="1"/>
          <p:nvPr/>
        </p:nvSpPr>
        <p:spPr>
          <a:xfrm>
            <a:off x="316192" y="4139257"/>
            <a:ext cx="2723335" cy="923330"/>
          </a:xfrm>
          <a:prstGeom prst="rect">
            <a:avLst/>
          </a:prstGeom>
          <a:noFill/>
        </p:spPr>
        <p:txBody>
          <a:bodyPr wrap="square" rtlCol="0">
            <a:spAutoFit/>
          </a:bodyPr>
          <a:lstStyle/>
          <a:p>
            <a:pPr algn="ctr"/>
            <a:r>
              <a:rPr lang="en-US"/>
              <a:t>minimizes human intervention in the </a:t>
            </a:r>
            <a:br>
              <a:rPr lang="en-US"/>
            </a:br>
            <a:r>
              <a:rPr lang="en-US"/>
              <a:t>model-building process</a:t>
            </a:r>
          </a:p>
        </p:txBody>
      </p:sp>
      <p:sp>
        <p:nvSpPr>
          <p:cNvPr id="8" name="TextBox 7">
            <a:extLst>
              <a:ext uri="{FF2B5EF4-FFF2-40B4-BE49-F238E27FC236}">
                <a16:creationId xmlns:a16="http://schemas.microsoft.com/office/drawing/2014/main" id="{0636389C-3D5E-3C22-CD67-7C0BC5C94270}"/>
              </a:ext>
            </a:extLst>
          </p:cNvPr>
          <p:cNvSpPr txBox="1"/>
          <p:nvPr/>
        </p:nvSpPr>
        <p:spPr>
          <a:xfrm>
            <a:off x="3645738" y="4301702"/>
            <a:ext cx="1866178" cy="646331"/>
          </a:xfrm>
          <a:prstGeom prst="rect">
            <a:avLst/>
          </a:prstGeom>
          <a:noFill/>
        </p:spPr>
        <p:txBody>
          <a:bodyPr wrap="square" rtlCol="0">
            <a:spAutoFit/>
          </a:bodyPr>
          <a:lstStyle/>
          <a:p>
            <a:pPr algn="ctr"/>
            <a:r>
              <a:rPr lang="en-US"/>
              <a:t>learns iteratively from the data</a:t>
            </a:r>
          </a:p>
        </p:txBody>
      </p:sp>
      <p:sp>
        <p:nvSpPr>
          <p:cNvPr id="9" name="TextBox 8">
            <a:extLst>
              <a:ext uri="{FF2B5EF4-FFF2-40B4-BE49-F238E27FC236}">
                <a16:creationId xmlns:a16="http://schemas.microsoft.com/office/drawing/2014/main" id="{9510CD64-D2A6-D1B7-6B53-C830F8FEC788}"/>
              </a:ext>
            </a:extLst>
          </p:cNvPr>
          <p:cNvSpPr txBox="1"/>
          <p:nvPr/>
        </p:nvSpPr>
        <p:spPr>
          <a:xfrm>
            <a:off x="6497502" y="4191206"/>
            <a:ext cx="1959245" cy="923330"/>
          </a:xfrm>
          <a:prstGeom prst="rect">
            <a:avLst/>
          </a:prstGeom>
          <a:noFill/>
        </p:spPr>
        <p:txBody>
          <a:bodyPr wrap="square" rtlCol="0">
            <a:spAutoFit/>
          </a:bodyPr>
          <a:lstStyle/>
          <a:p>
            <a:pPr algn="ctr"/>
            <a:r>
              <a:rPr lang="en-US"/>
              <a:t>identifies patterns and makes predictions</a:t>
            </a:r>
          </a:p>
        </p:txBody>
      </p:sp>
    </p:spTree>
    <p:extLst>
      <p:ext uri="{BB962C8B-B14F-4D97-AF65-F5344CB8AC3E}">
        <p14:creationId xmlns:p14="http://schemas.microsoft.com/office/powerpoint/2010/main" val="414638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0" presetClass="entr" presetSubtype="0" fill="hold"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500"/>
                                        <p:tgtEl>
                                          <p:spTgt spid="23"/>
                                        </p:tgtEl>
                                      </p:cBhvr>
                                    </p:animEffect>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36"/>
                                        </p:tgtEl>
                                        <p:attrNameLst>
                                          <p:attrName>style.visibility</p:attrName>
                                        </p:attrNameLst>
                                      </p:cBhvr>
                                      <p:to>
                                        <p:strVal val="visible"/>
                                      </p:to>
                                    </p:set>
                                    <p:animEffect transition="in" filter="fade">
                                      <p:cBhvr>
                                        <p:cTn id="14" dur="500"/>
                                        <p:tgtEl>
                                          <p:spTgt spid="36"/>
                                        </p:tgtEl>
                                      </p:cBhvr>
                                    </p:animEffec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par>
                                <p:cTn id="21" presetID="1" presetClass="exit"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8"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ECC80D04-F174-4E42-853D-A55AF02AEF75}"/>
              </a:ext>
            </a:extLst>
          </p:cNvPr>
          <p:cNvSpPr/>
          <p:nvPr/>
        </p:nvSpPr>
        <p:spPr>
          <a:xfrm>
            <a:off x="0" y="1657350"/>
            <a:ext cx="9144000" cy="2409825"/>
          </a:xfrm>
          <a:prstGeom prst="rect">
            <a:avLst/>
          </a:prstGeom>
          <a:solidFill>
            <a:srgbClr val="FFCC32">
              <a:alpha val="25098"/>
            </a:srgb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40" name="Rectangle: Rounded Corners 39">
            <a:extLst>
              <a:ext uri="{FF2B5EF4-FFF2-40B4-BE49-F238E27FC236}">
                <a16:creationId xmlns:a16="http://schemas.microsoft.com/office/drawing/2014/main" id="{9A77E668-32A1-475B-AC28-328B13647149}"/>
              </a:ext>
            </a:extLst>
          </p:cNvPr>
          <p:cNvSpPr/>
          <p:nvPr/>
        </p:nvSpPr>
        <p:spPr>
          <a:xfrm>
            <a:off x="3488998" y="1794032"/>
            <a:ext cx="2171980" cy="2118085"/>
          </a:xfrm>
          <a:prstGeom prst="roundRect">
            <a:avLst>
              <a:gd name="adj" fmla="val 12661"/>
            </a:avLst>
          </a:prstGeom>
          <a:solidFill>
            <a:schemeClr val="bg1">
              <a:lumMod val="95000"/>
            </a:schemeClr>
          </a:solidFill>
          <a:ln w="57150" cap="flat" cmpd="sng" algn="ctr">
            <a:solidFill>
              <a:schemeClr val="bg1">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22" name="TextBox 21">
            <a:extLst>
              <a:ext uri="{FF2B5EF4-FFF2-40B4-BE49-F238E27FC236}">
                <a16:creationId xmlns:a16="http://schemas.microsoft.com/office/drawing/2014/main" id="{43C3C2CC-7D5A-45F2-B6E3-A17CA41C715D}"/>
              </a:ext>
            </a:extLst>
          </p:cNvPr>
          <p:cNvSpPr txBox="1"/>
          <p:nvPr/>
        </p:nvSpPr>
        <p:spPr>
          <a:xfrm>
            <a:off x="2879428" y="319594"/>
            <a:ext cx="3389394" cy="461665"/>
          </a:xfrm>
          <a:prstGeom prst="rect">
            <a:avLst/>
          </a:prstGeom>
          <a:noFill/>
        </p:spPr>
        <p:txBody>
          <a:bodyPr wrap="square" rtlCol="0">
            <a:spAutoFit/>
          </a:bodyPr>
          <a:lstStyle/>
          <a:p>
            <a:pPr algn="ctr"/>
            <a:r>
              <a:rPr lang="en-US" sz="2400"/>
              <a:t>Machine Learning</a:t>
            </a:r>
          </a:p>
        </p:txBody>
      </p:sp>
      <p:pic>
        <p:nvPicPr>
          <p:cNvPr id="27" name="Picture 26">
            <a:extLst>
              <a:ext uri="{FF2B5EF4-FFF2-40B4-BE49-F238E27FC236}">
                <a16:creationId xmlns:a16="http://schemas.microsoft.com/office/drawing/2014/main" id="{5962D7EF-28D1-470C-BC3F-F8C788C1CC57}"/>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36396" y="2020748"/>
            <a:ext cx="1082929" cy="1130013"/>
          </a:xfrm>
          <a:prstGeom prst="rect">
            <a:avLst/>
          </a:prstGeom>
        </p:spPr>
      </p:pic>
      <p:pic>
        <p:nvPicPr>
          <p:cNvPr id="28" name="Picture 27">
            <a:extLst>
              <a:ext uri="{FF2B5EF4-FFF2-40B4-BE49-F238E27FC236}">
                <a16:creationId xmlns:a16="http://schemas.microsoft.com/office/drawing/2014/main" id="{D1AC0162-B226-445D-9AB8-17016BF80E0C}"/>
              </a:ext>
            </a:extLst>
          </p:cNvPr>
          <p:cNvPicPr>
            <a:picLocks noChangeAspect="1"/>
          </p:cNvPicPr>
          <p:nvPr/>
        </p:nvPicPr>
        <p:blipFill>
          <a:blip r:embed="rId4"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953250" y="1980371"/>
            <a:ext cx="1047751" cy="1199321"/>
          </a:xfrm>
          <a:prstGeom prst="rect">
            <a:avLst/>
          </a:prstGeom>
        </p:spPr>
      </p:pic>
      <p:sp>
        <p:nvSpPr>
          <p:cNvPr id="29" name="Arrow: Right 28">
            <a:extLst>
              <a:ext uri="{FF2B5EF4-FFF2-40B4-BE49-F238E27FC236}">
                <a16:creationId xmlns:a16="http://schemas.microsoft.com/office/drawing/2014/main" id="{E66D114E-C966-4E79-A408-F2AFD8E46101}"/>
              </a:ext>
            </a:extLst>
          </p:cNvPr>
          <p:cNvSpPr/>
          <p:nvPr/>
        </p:nvSpPr>
        <p:spPr>
          <a:xfrm>
            <a:off x="5910999" y="2409339"/>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30" name="Arrow: Right 29">
            <a:extLst>
              <a:ext uri="{FF2B5EF4-FFF2-40B4-BE49-F238E27FC236}">
                <a16:creationId xmlns:a16="http://schemas.microsoft.com/office/drawing/2014/main" id="{77665550-21DA-4C4C-A92F-CDCBD85B7890}"/>
              </a:ext>
            </a:extLst>
          </p:cNvPr>
          <p:cNvSpPr/>
          <p:nvPr/>
        </p:nvSpPr>
        <p:spPr>
          <a:xfrm>
            <a:off x="2462949" y="2111608"/>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39" name="Arrow: Right 38">
            <a:extLst>
              <a:ext uri="{FF2B5EF4-FFF2-40B4-BE49-F238E27FC236}">
                <a16:creationId xmlns:a16="http://schemas.microsoft.com/office/drawing/2014/main" id="{BCD1BC40-B3C8-4F4C-9F8A-55B97603E59C}"/>
              </a:ext>
            </a:extLst>
          </p:cNvPr>
          <p:cNvSpPr/>
          <p:nvPr/>
        </p:nvSpPr>
        <p:spPr>
          <a:xfrm flipH="1">
            <a:off x="2462949" y="2678788"/>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grpSp>
        <p:nvGrpSpPr>
          <p:cNvPr id="41" name="Group 40">
            <a:extLst>
              <a:ext uri="{FF2B5EF4-FFF2-40B4-BE49-F238E27FC236}">
                <a16:creationId xmlns:a16="http://schemas.microsoft.com/office/drawing/2014/main" id="{FA70AB89-C962-4B5E-8C65-65FB7BC8F7A8}"/>
              </a:ext>
            </a:extLst>
          </p:cNvPr>
          <p:cNvGrpSpPr/>
          <p:nvPr/>
        </p:nvGrpSpPr>
        <p:grpSpPr>
          <a:xfrm>
            <a:off x="4042848" y="1918476"/>
            <a:ext cx="1071962" cy="1229979"/>
            <a:chOff x="4042848" y="1805361"/>
            <a:chExt cx="1071962" cy="1229979"/>
          </a:xfrm>
        </p:grpSpPr>
        <p:sp>
          <p:nvSpPr>
            <p:cNvPr id="42" name="Oval 41">
              <a:extLst>
                <a:ext uri="{FF2B5EF4-FFF2-40B4-BE49-F238E27FC236}">
                  <a16:creationId xmlns:a16="http://schemas.microsoft.com/office/drawing/2014/main" id="{35627A45-0E57-4425-B641-190AA5A17369}"/>
                </a:ext>
              </a:extLst>
            </p:cNvPr>
            <p:cNvSpPr/>
            <p:nvPr/>
          </p:nvSpPr>
          <p:spPr>
            <a:xfrm>
              <a:off x="4160340" y="189097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44" name="Group 43">
              <a:extLst>
                <a:ext uri="{FF2B5EF4-FFF2-40B4-BE49-F238E27FC236}">
                  <a16:creationId xmlns:a16="http://schemas.microsoft.com/office/drawing/2014/main" id="{E4D98B98-A3E2-4701-8D62-F0DDE72B7FBD}"/>
                </a:ext>
              </a:extLst>
            </p:cNvPr>
            <p:cNvGrpSpPr/>
            <p:nvPr/>
          </p:nvGrpSpPr>
          <p:grpSpPr>
            <a:xfrm>
              <a:off x="4042848" y="1805361"/>
              <a:ext cx="1071962" cy="1229979"/>
              <a:chOff x="4868460" y="1940790"/>
              <a:chExt cx="1230587" cy="1411988"/>
            </a:xfrm>
          </p:grpSpPr>
          <p:pic>
            <p:nvPicPr>
              <p:cNvPr id="45" name="Picture 44">
                <a:extLst>
                  <a:ext uri="{FF2B5EF4-FFF2-40B4-BE49-F238E27FC236}">
                    <a16:creationId xmlns:a16="http://schemas.microsoft.com/office/drawing/2014/main" id="{7A06643F-3C2C-488D-BB2C-3E0D54FB236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46" name="Picture 45">
                <a:extLst>
                  <a:ext uri="{FF2B5EF4-FFF2-40B4-BE49-F238E27FC236}">
                    <a16:creationId xmlns:a16="http://schemas.microsoft.com/office/drawing/2014/main" id="{F6BDEE98-A222-40E9-A97D-88F59ACECA3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cxnSp>
        <p:nvCxnSpPr>
          <p:cNvPr id="16" name="Straight Connector 15">
            <a:extLst>
              <a:ext uri="{FF2B5EF4-FFF2-40B4-BE49-F238E27FC236}">
                <a16:creationId xmlns:a16="http://schemas.microsoft.com/office/drawing/2014/main" id="{7BC8451B-CC15-4777-9934-3085249D2A3C}"/>
              </a:ext>
            </a:extLst>
          </p:cNvPr>
          <p:cNvCxnSpPr>
            <a:cxnSpLocks/>
            <a:stCxn id="17" idx="1"/>
          </p:cNvCxnSpPr>
          <p:nvPr/>
        </p:nvCxnSpPr>
        <p:spPr>
          <a:xfrm>
            <a:off x="1908044" y="1256903"/>
            <a:ext cx="5216656" cy="0"/>
          </a:xfrm>
          <a:prstGeom prst="line">
            <a:avLst/>
          </a:prstGeom>
          <a:ln w="31750">
            <a:solidFill>
              <a:srgbClr val="A6A6A6"/>
            </a:solidFill>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AC87E6D7-65EF-40BD-B14B-AD23018417B7}"/>
              </a:ext>
            </a:extLst>
          </p:cNvPr>
          <p:cNvSpPr/>
          <p:nvPr/>
        </p:nvSpPr>
        <p:spPr>
          <a:xfrm>
            <a:off x="1908044" y="1011806"/>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lumMod val="65000"/>
                    <a:lumOff val="35000"/>
                  </a:schemeClr>
                </a:solidFill>
              </a:rPr>
              <a:t>Automation</a:t>
            </a:r>
          </a:p>
        </p:txBody>
      </p:sp>
      <p:sp>
        <p:nvSpPr>
          <p:cNvPr id="18" name="Rectangle: Rounded Corners 17">
            <a:extLst>
              <a:ext uri="{FF2B5EF4-FFF2-40B4-BE49-F238E27FC236}">
                <a16:creationId xmlns:a16="http://schemas.microsoft.com/office/drawing/2014/main" id="{0D3665FD-093F-4B9E-AD40-8ADB2949842C}"/>
              </a:ext>
            </a:extLst>
          </p:cNvPr>
          <p:cNvSpPr/>
          <p:nvPr/>
        </p:nvSpPr>
        <p:spPr>
          <a:xfrm>
            <a:off x="3718874" y="1011806"/>
            <a:ext cx="1725105" cy="490194"/>
          </a:xfrm>
          <a:prstGeom prst="roundRect">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Customization</a:t>
            </a:r>
          </a:p>
        </p:txBody>
      </p:sp>
      <p:sp>
        <p:nvSpPr>
          <p:cNvPr id="19" name="Rectangle: Rounded Corners 18">
            <a:extLst>
              <a:ext uri="{FF2B5EF4-FFF2-40B4-BE49-F238E27FC236}">
                <a16:creationId xmlns:a16="http://schemas.microsoft.com/office/drawing/2014/main" id="{10CC0581-E81B-4B70-A131-B6901AC91461}"/>
              </a:ext>
            </a:extLst>
          </p:cNvPr>
          <p:cNvSpPr/>
          <p:nvPr/>
        </p:nvSpPr>
        <p:spPr>
          <a:xfrm>
            <a:off x="5520179" y="1011806"/>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lumMod val="65000"/>
                    <a:lumOff val="35000"/>
                  </a:schemeClr>
                </a:solidFill>
              </a:rPr>
              <a:t>Acceleration</a:t>
            </a:r>
          </a:p>
        </p:txBody>
      </p:sp>
      <p:grpSp>
        <p:nvGrpSpPr>
          <p:cNvPr id="20" name="Group 19">
            <a:extLst>
              <a:ext uri="{FF2B5EF4-FFF2-40B4-BE49-F238E27FC236}">
                <a16:creationId xmlns:a16="http://schemas.microsoft.com/office/drawing/2014/main" id="{84F3B81D-4B6F-46B8-AF36-D9FCFB7B2D92}"/>
              </a:ext>
            </a:extLst>
          </p:cNvPr>
          <p:cNvGrpSpPr/>
          <p:nvPr/>
        </p:nvGrpSpPr>
        <p:grpSpPr>
          <a:xfrm>
            <a:off x="3761295" y="2800350"/>
            <a:ext cx="1640264" cy="904384"/>
            <a:chOff x="3761295" y="2800350"/>
            <a:chExt cx="1640264" cy="904384"/>
          </a:xfrm>
        </p:grpSpPr>
        <p:cxnSp>
          <p:nvCxnSpPr>
            <p:cNvPr id="21" name="Straight Arrow Connector 20">
              <a:extLst>
                <a:ext uri="{FF2B5EF4-FFF2-40B4-BE49-F238E27FC236}">
                  <a16:creationId xmlns:a16="http://schemas.microsoft.com/office/drawing/2014/main" id="{2001CC4B-8850-45D5-8097-777ACEF48A54}"/>
                </a:ext>
              </a:extLst>
            </p:cNvPr>
            <p:cNvCxnSpPr>
              <a:cxnSpLocks/>
            </p:cNvCxnSpPr>
            <p:nvPr/>
          </p:nvCxnSpPr>
          <p:spPr>
            <a:xfrm flipH="1">
              <a:off x="3761295" y="3171825"/>
              <a:ext cx="791655" cy="438641"/>
            </a:xfrm>
            <a:prstGeom prst="straightConnector1">
              <a:avLst/>
            </a:prstGeom>
            <a:ln w="76200">
              <a:solidFill>
                <a:schemeClr val="accent6"/>
              </a:solidFill>
              <a:tailEnd type="oval" w="lg" len="lg"/>
            </a:ln>
          </p:spPr>
          <p:style>
            <a:lnRef idx="1">
              <a:schemeClr val="accent6"/>
            </a:lnRef>
            <a:fillRef idx="0">
              <a:schemeClr val="accent6"/>
            </a:fillRef>
            <a:effectRef idx="0">
              <a:schemeClr val="accent6"/>
            </a:effectRef>
            <a:fontRef idx="minor">
              <a:schemeClr val="tx1"/>
            </a:fontRef>
          </p:style>
        </p:cxnSp>
        <p:cxnSp>
          <p:nvCxnSpPr>
            <p:cNvPr id="23" name="Straight Arrow Connector 22">
              <a:extLst>
                <a:ext uri="{FF2B5EF4-FFF2-40B4-BE49-F238E27FC236}">
                  <a16:creationId xmlns:a16="http://schemas.microsoft.com/office/drawing/2014/main" id="{602D8A99-BEF8-43D4-B1BB-4298BF78C43E}"/>
                </a:ext>
              </a:extLst>
            </p:cNvPr>
            <p:cNvCxnSpPr>
              <a:cxnSpLocks/>
            </p:cNvCxnSpPr>
            <p:nvPr/>
          </p:nvCxnSpPr>
          <p:spPr>
            <a:xfrm>
              <a:off x="4601853" y="3178404"/>
              <a:ext cx="799706" cy="432062"/>
            </a:xfrm>
            <a:prstGeom prst="straightConnector1">
              <a:avLst/>
            </a:prstGeom>
            <a:ln w="76200">
              <a:solidFill>
                <a:schemeClr val="accent6"/>
              </a:solidFill>
              <a:tailEnd type="oval" w="lg" len="lg"/>
            </a:ln>
          </p:spPr>
          <p:style>
            <a:lnRef idx="1">
              <a:schemeClr val="accent6"/>
            </a:lnRef>
            <a:fillRef idx="0">
              <a:schemeClr val="accent6"/>
            </a:fillRef>
            <a:effectRef idx="0">
              <a:schemeClr val="accent6"/>
            </a:effectRef>
            <a:fontRef idx="minor">
              <a:schemeClr val="tx1"/>
            </a:fontRef>
          </p:style>
        </p:cxnSp>
        <p:cxnSp>
          <p:nvCxnSpPr>
            <p:cNvPr id="24" name="Straight Arrow Connector 23">
              <a:extLst>
                <a:ext uri="{FF2B5EF4-FFF2-40B4-BE49-F238E27FC236}">
                  <a16:creationId xmlns:a16="http://schemas.microsoft.com/office/drawing/2014/main" id="{0C99A85D-3341-4458-9EDF-75B9161E5CE6}"/>
                </a:ext>
              </a:extLst>
            </p:cNvPr>
            <p:cNvCxnSpPr>
              <a:cxnSpLocks/>
            </p:cNvCxnSpPr>
            <p:nvPr/>
          </p:nvCxnSpPr>
          <p:spPr>
            <a:xfrm>
              <a:off x="4575144" y="2800350"/>
              <a:ext cx="0" cy="904384"/>
            </a:xfrm>
            <a:prstGeom prst="straightConnector1">
              <a:avLst/>
            </a:prstGeom>
            <a:ln w="76200">
              <a:solidFill>
                <a:schemeClr val="accent6"/>
              </a:solidFill>
              <a:headEnd type="triangle" w="med" len="med"/>
              <a:tailEnd type="oval" w="lg" len="lg"/>
            </a:ln>
          </p:spPr>
          <p:style>
            <a:lnRef idx="1">
              <a:schemeClr val="accent6"/>
            </a:lnRef>
            <a:fillRef idx="0">
              <a:schemeClr val="accent6"/>
            </a:fillRef>
            <a:effectRef idx="0">
              <a:schemeClr val="accent6"/>
            </a:effectRef>
            <a:fontRef idx="minor">
              <a:schemeClr val="tx1"/>
            </a:fontRef>
          </p:style>
        </p:cxnSp>
      </p:grpSp>
      <p:grpSp>
        <p:nvGrpSpPr>
          <p:cNvPr id="4" name="Group 3">
            <a:extLst>
              <a:ext uri="{FF2B5EF4-FFF2-40B4-BE49-F238E27FC236}">
                <a16:creationId xmlns:a16="http://schemas.microsoft.com/office/drawing/2014/main" id="{A15281F8-7A3C-D6F4-631F-E1CBBA693D16}"/>
              </a:ext>
            </a:extLst>
          </p:cNvPr>
          <p:cNvGrpSpPr/>
          <p:nvPr/>
        </p:nvGrpSpPr>
        <p:grpSpPr>
          <a:xfrm>
            <a:off x="1421398" y="4023680"/>
            <a:ext cx="6204187" cy="646331"/>
            <a:chOff x="1421398" y="4023680"/>
            <a:chExt cx="6204187" cy="646331"/>
          </a:xfrm>
        </p:grpSpPr>
        <p:sp>
          <p:nvSpPr>
            <p:cNvPr id="31" name="TextBox 30">
              <a:extLst>
                <a:ext uri="{FF2B5EF4-FFF2-40B4-BE49-F238E27FC236}">
                  <a16:creationId xmlns:a16="http://schemas.microsoft.com/office/drawing/2014/main" id="{8E2D91FA-99C2-4BB6-9774-773D4E29C47D}"/>
                </a:ext>
              </a:extLst>
            </p:cNvPr>
            <p:cNvSpPr txBox="1"/>
            <p:nvPr/>
          </p:nvSpPr>
          <p:spPr>
            <a:xfrm>
              <a:off x="1421398" y="4023680"/>
              <a:ext cx="2520014" cy="646331"/>
            </a:xfrm>
            <a:prstGeom prst="rect">
              <a:avLst/>
            </a:prstGeom>
            <a:noFill/>
          </p:spPr>
          <p:txBody>
            <a:bodyPr wrap="square" rtlCol="0">
              <a:spAutoFit/>
            </a:bodyPr>
            <a:lstStyle/>
            <a:p>
              <a:pPr algn="ctr"/>
              <a:r>
                <a:rPr lang="en-US"/>
                <a:t>decision trees and other tree-based models</a:t>
              </a:r>
            </a:p>
          </p:txBody>
        </p:sp>
        <p:sp>
          <p:nvSpPr>
            <p:cNvPr id="32" name="TextBox 31">
              <a:extLst>
                <a:ext uri="{FF2B5EF4-FFF2-40B4-BE49-F238E27FC236}">
                  <a16:creationId xmlns:a16="http://schemas.microsoft.com/office/drawing/2014/main" id="{C4F81BA1-D1F5-4119-A989-6634DB333F56}"/>
                </a:ext>
              </a:extLst>
            </p:cNvPr>
            <p:cNvSpPr txBox="1"/>
            <p:nvPr/>
          </p:nvSpPr>
          <p:spPr>
            <a:xfrm>
              <a:off x="4030887" y="4023680"/>
              <a:ext cx="1089109" cy="646331"/>
            </a:xfrm>
            <a:prstGeom prst="rect">
              <a:avLst/>
            </a:prstGeom>
            <a:noFill/>
          </p:spPr>
          <p:txBody>
            <a:bodyPr wrap="square" rtlCol="0">
              <a:spAutoFit/>
            </a:bodyPr>
            <a:lstStyle/>
            <a:p>
              <a:pPr algn="ctr"/>
              <a:r>
                <a:rPr lang="en-US"/>
                <a:t>neural</a:t>
              </a:r>
            </a:p>
            <a:p>
              <a:pPr algn="ctr"/>
              <a:r>
                <a:rPr lang="en-US"/>
                <a:t>networks</a:t>
              </a:r>
            </a:p>
          </p:txBody>
        </p:sp>
        <p:sp>
          <p:nvSpPr>
            <p:cNvPr id="33" name="TextBox 32">
              <a:extLst>
                <a:ext uri="{FF2B5EF4-FFF2-40B4-BE49-F238E27FC236}">
                  <a16:creationId xmlns:a16="http://schemas.microsoft.com/office/drawing/2014/main" id="{EA55885A-3ABC-471C-BE2D-384659FD10D2}"/>
                </a:ext>
              </a:extLst>
            </p:cNvPr>
            <p:cNvSpPr txBox="1"/>
            <p:nvPr/>
          </p:nvSpPr>
          <p:spPr>
            <a:xfrm>
              <a:off x="5161881" y="4023680"/>
              <a:ext cx="1748068" cy="646331"/>
            </a:xfrm>
            <a:prstGeom prst="rect">
              <a:avLst/>
            </a:prstGeom>
            <a:noFill/>
          </p:spPr>
          <p:txBody>
            <a:bodyPr wrap="square" rtlCol="0">
              <a:spAutoFit/>
            </a:bodyPr>
            <a:lstStyle/>
            <a:p>
              <a:pPr algn="ctr"/>
              <a:r>
                <a:rPr lang="en-US"/>
                <a:t>support vector machines</a:t>
              </a:r>
            </a:p>
          </p:txBody>
        </p:sp>
        <p:sp>
          <p:nvSpPr>
            <p:cNvPr id="3" name="TextBox 2">
              <a:extLst>
                <a:ext uri="{FF2B5EF4-FFF2-40B4-BE49-F238E27FC236}">
                  <a16:creationId xmlns:a16="http://schemas.microsoft.com/office/drawing/2014/main" id="{B221ACE5-9FCD-BF86-4467-BF4D9D8D7315}"/>
                </a:ext>
              </a:extLst>
            </p:cNvPr>
            <p:cNvSpPr txBox="1"/>
            <p:nvPr/>
          </p:nvSpPr>
          <p:spPr>
            <a:xfrm>
              <a:off x="6623815" y="4139051"/>
              <a:ext cx="1001770" cy="369332"/>
            </a:xfrm>
            <a:prstGeom prst="rect">
              <a:avLst/>
            </a:prstGeom>
            <a:noFill/>
          </p:spPr>
          <p:txBody>
            <a:bodyPr wrap="square" rtlCol="0">
              <a:spAutoFit/>
            </a:bodyPr>
            <a:lstStyle/>
            <a:p>
              <a:pPr algn="ctr"/>
              <a:r>
                <a:rPr lang="en-US"/>
                <a:t>. . .</a:t>
              </a:r>
            </a:p>
          </p:txBody>
        </p:sp>
      </p:grpSp>
    </p:spTree>
    <p:extLst>
      <p:ext uri="{BB962C8B-B14F-4D97-AF65-F5344CB8AC3E}">
        <p14:creationId xmlns:p14="http://schemas.microsoft.com/office/powerpoint/2010/main" val="1136424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43C3C2CC-7D5A-45F2-B6E3-A17CA41C715D}"/>
              </a:ext>
            </a:extLst>
          </p:cNvPr>
          <p:cNvSpPr txBox="1"/>
          <p:nvPr/>
        </p:nvSpPr>
        <p:spPr>
          <a:xfrm>
            <a:off x="2879428" y="319594"/>
            <a:ext cx="3389394" cy="461665"/>
          </a:xfrm>
          <a:prstGeom prst="rect">
            <a:avLst/>
          </a:prstGeom>
          <a:noFill/>
        </p:spPr>
        <p:txBody>
          <a:bodyPr wrap="square" rtlCol="0">
            <a:spAutoFit/>
          </a:bodyPr>
          <a:lstStyle/>
          <a:p>
            <a:pPr algn="ctr"/>
            <a:r>
              <a:rPr lang="en-US" sz="2400"/>
              <a:t>Machine Learning</a:t>
            </a:r>
          </a:p>
        </p:txBody>
      </p:sp>
      <p:sp>
        <p:nvSpPr>
          <p:cNvPr id="26" name="Rectangle 25">
            <a:extLst>
              <a:ext uri="{FF2B5EF4-FFF2-40B4-BE49-F238E27FC236}">
                <a16:creationId xmlns:a16="http://schemas.microsoft.com/office/drawing/2014/main" id="{74981165-2222-4D0D-9B56-5AFCFB887B16}"/>
              </a:ext>
            </a:extLst>
          </p:cNvPr>
          <p:cNvSpPr/>
          <p:nvPr/>
        </p:nvSpPr>
        <p:spPr>
          <a:xfrm>
            <a:off x="0" y="1657350"/>
            <a:ext cx="9144000" cy="2409825"/>
          </a:xfrm>
          <a:prstGeom prst="rect">
            <a:avLst/>
          </a:prstGeom>
          <a:solidFill>
            <a:srgbClr val="FFCC32">
              <a:alpha val="25098"/>
            </a:srgb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28" name="Picture 27">
            <a:extLst>
              <a:ext uri="{FF2B5EF4-FFF2-40B4-BE49-F238E27FC236}">
                <a16:creationId xmlns:a16="http://schemas.microsoft.com/office/drawing/2014/main" id="{25DF3E38-E968-4C25-A835-29690325A542}"/>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136396" y="2020748"/>
            <a:ext cx="1082929" cy="1130013"/>
          </a:xfrm>
          <a:prstGeom prst="rect">
            <a:avLst/>
          </a:prstGeom>
        </p:spPr>
      </p:pic>
      <p:pic>
        <p:nvPicPr>
          <p:cNvPr id="29" name="Picture 28">
            <a:extLst>
              <a:ext uri="{FF2B5EF4-FFF2-40B4-BE49-F238E27FC236}">
                <a16:creationId xmlns:a16="http://schemas.microsoft.com/office/drawing/2014/main" id="{9797EF0D-5617-4552-B6B3-863CF86DDBFA}"/>
              </a:ext>
            </a:extLst>
          </p:cNvPr>
          <p:cNvPicPr>
            <a:picLocks noChangeAspect="1"/>
          </p:cNvPicPr>
          <p:nvPr/>
        </p:nvPicPr>
        <p:blipFill>
          <a:blip r:embed="rId4"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953250" y="1980371"/>
            <a:ext cx="1047751" cy="1199321"/>
          </a:xfrm>
          <a:prstGeom prst="rect">
            <a:avLst/>
          </a:prstGeom>
        </p:spPr>
      </p:pic>
      <p:sp>
        <p:nvSpPr>
          <p:cNvPr id="30" name="Arrow: Right 29">
            <a:extLst>
              <a:ext uri="{FF2B5EF4-FFF2-40B4-BE49-F238E27FC236}">
                <a16:creationId xmlns:a16="http://schemas.microsoft.com/office/drawing/2014/main" id="{D42282AD-B0EE-4595-9ADF-550044F99694}"/>
              </a:ext>
            </a:extLst>
          </p:cNvPr>
          <p:cNvSpPr/>
          <p:nvPr/>
        </p:nvSpPr>
        <p:spPr>
          <a:xfrm>
            <a:off x="5910999" y="2409339"/>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37" name="Arrow: Right 36">
            <a:extLst>
              <a:ext uri="{FF2B5EF4-FFF2-40B4-BE49-F238E27FC236}">
                <a16:creationId xmlns:a16="http://schemas.microsoft.com/office/drawing/2014/main" id="{F0863B39-16CD-4849-B926-CB32A910BE11}"/>
              </a:ext>
            </a:extLst>
          </p:cNvPr>
          <p:cNvSpPr/>
          <p:nvPr/>
        </p:nvSpPr>
        <p:spPr>
          <a:xfrm>
            <a:off x="2462949" y="2111608"/>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38" name="Arrow: Right 37">
            <a:extLst>
              <a:ext uri="{FF2B5EF4-FFF2-40B4-BE49-F238E27FC236}">
                <a16:creationId xmlns:a16="http://schemas.microsoft.com/office/drawing/2014/main" id="{164BD61D-FB1B-4A31-B911-F4E18FCEB7E1}"/>
              </a:ext>
            </a:extLst>
          </p:cNvPr>
          <p:cNvSpPr/>
          <p:nvPr/>
        </p:nvSpPr>
        <p:spPr>
          <a:xfrm flipH="1">
            <a:off x="2462949" y="2678788"/>
            <a:ext cx="790869" cy="329938"/>
          </a:xfrm>
          <a:prstGeom prst="rightArrow">
            <a:avLst>
              <a:gd name="adj1" fmla="val 50000"/>
              <a:gd name="adj2" fmla="val 87354"/>
            </a:avLst>
          </a:prstGeom>
          <a:solidFill>
            <a:schemeClr val="tx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21" name="Rectangle: Rounded Corners 20">
            <a:extLst>
              <a:ext uri="{FF2B5EF4-FFF2-40B4-BE49-F238E27FC236}">
                <a16:creationId xmlns:a16="http://schemas.microsoft.com/office/drawing/2014/main" id="{BA111319-3098-4E3E-A5E9-B5C0B1F1F6F8}"/>
              </a:ext>
            </a:extLst>
          </p:cNvPr>
          <p:cNvSpPr/>
          <p:nvPr/>
        </p:nvSpPr>
        <p:spPr>
          <a:xfrm>
            <a:off x="3488998" y="1794038"/>
            <a:ext cx="2171980" cy="1524200"/>
          </a:xfrm>
          <a:prstGeom prst="roundRect">
            <a:avLst/>
          </a:prstGeom>
          <a:solidFill>
            <a:schemeClr val="bg1">
              <a:lumMod val="95000"/>
            </a:schemeClr>
          </a:solidFill>
          <a:ln w="57150" cap="flat" cmpd="sng" algn="ctr">
            <a:solidFill>
              <a:schemeClr val="bg1">
                <a:lumMod val="75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grpSp>
        <p:nvGrpSpPr>
          <p:cNvPr id="39" name="Group 38">
            <a:extLst>
              <a:ext uri="{FF2B5EF4-FFF2-40B4-BE49-F238E27FC236}">
                <a16:creationId xmlns:a16="http://schemas.microsoft.com/office/drawing/2014/main" id="{FF5E5CD3-4181-416A-991D-B2FF3C598117}"/>
              </a:ext>
            </a:extLst>
          </p:cNvPr>
          <p:cNvGrpSpPr/>
          <p:nvPr/>
        </p:nvGrpSpPr>
        <p:grpSpPr>
          <a:xfrm>
            <a:off x="4042848" y="1918476"/>
            <a:ext cx="1071962" cy="1229979"/>
            <a:chOff x="4042848" y="1805361"/>
            <a:chExt cx="1071962" cy="1229979"/>
          </a:xfrm>
        </p:grpSpPr>
        <p:sp>
          <p:nvSpPr>
            <p:cNvPr id="40" name="Oval 39">
              <a:extLst>
                <a:ext uri="{FF2B5EF4-FFF2-40B4-BE49-F238E27FC236}">
                  <a16:creationId xmlns:a16="http://schemas.microsoft.com/office/drawing/2014/main" id="{8E069D1A-748B-499E-9051-4FE46BC8884F}"/>
                </a:ext>
              </a:extLst>
            </p:cNvPr>
            <p:cNvSpPr/>
            <p:nvPr/>
          </p:nvSpPr>
          <p:spPr>
            <a:xfrm>
              <a:off x="4160340" y="189097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41" name="Group 40">
              <a:extLst>
                <a:ext uri="{FF2B5EF4-FFF2-40B4-BE49-F238E27FC236}">
                  <a16:creationId xmlns:a16="http://schemas.microsoft.com/office/drawing/2014/main" id="{88EB6E8B-0E87-4B6C-ABE1-D336F272D72D}"/>
                </a:ext>
              </a:extLst>
            </p:cNvPr>
            <p:cNvGrpSpPr/>
            <p:nvPr/>
          </p:nvGrpSpPr>
          <p:grpSpPr>
            <a:xfrm>
              <a:off x="4042848" y="1805361"/>
              <a:ext cx="1071962" cy="1229979"/>
              <a:chOff x="4868460" y="1940790"/>
              <a:chExt cx="1230587" cy="1411988"/>
            </a:xfrm>
          </p:grpSpPr>
          <p:pic>
            <p:nvPicPr>
              <p:cNvPr id="42" name="Picture 41">
                <a:extLst>
                  <a:ext uri="{FF2B5EF4-FFF2-40B4-BE49-F238E27FC236}">
                    <a16:creationId xmlns:a16="http://schemas.microsoft.com/office/drawing/2014/main" id="{113081F3-6209-4927-AEB8-5EFF50D22AF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44" name="Picture 43">
                <a:extLst>
                  <a:ext uri="{FF2B5EF4-FFF2-40B4-BE49-F238E27FC236}">
                    <a16:creationId xmlns:a16="http://schemas.microsoft.com/office/drawing/2014/main" id="{B06EBC5C-AEF6-4EAB-9E3E-A8E776CD1D5F}"/>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pic>
        <p:nvPicPr>
          <p:cNvPr id="4" name="Picture 3">
            <a:extLst>
              <a:ext uri="{FF2B5EF4-FFF2-40B4-BE49-F238E27FC236}">
                <a16:creationId xmlns:a16="http://schemas.microsoft.com/office/drawing/2014/main" id="{668B7C90-1E22-4587-ABEC-62384E078FF5}"/>
              </a:ext>
            </a:extLst>
          </p:cNvPr>
          <p:cNvPicPr>
            <a:picLocks noChangeAspect="1"/>
          </p:cNvPicPr>
          <p:nvPr/>
        </p:nvPicPr>
        <p:blipFill>
          <a:blip r:embed="rId7"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6184385" y="2801243"/>
            <a:ext cx="540265" cy="574996"/>
          </a:xfrm>
          <a:prstGeom prst="rect">
            <a:avLst/>
          </a:prstGeom>
          <a:effectLst>
            <a:glow rad="38100">
              <a:schemeClr val="accent4">
                <a:lumMod val="60000"/>
                <a:lumOff val="40000"/>
                <a:alpha val="40000"/>
              </a:schemeClr>
            </a:glow>
          </a:effectLst>
        </p:spPr>
      </p:pic>
      <p:cxnSp>
        <p:nvCxnSpPr>
          <p:cNvPr id="17" name="Straight Connector 16">
            <a:extLst>
              <a:ext uri="{FF2B5EF4-FFF2-40B4-BE49-F238E27FC236}">
                <a16:creationId xmlns:a16="http://schemas.microsoft.com/office/drawing/2014/main" id="{FCEC4A23-C417-4F8C-8088-617CEC88740B}"/>
              </a:ext>
            </a:extLst>
          </p:cNvPr>
          <p:cNvCxnSpPr>
            <a:cxnSpLocks/>
            <a:stCxn id="18" idx="1"/>
          </p:cNvCxnSpPr>
          <p:nvPr/>
        </p:nvCxnSpPr>
        <p:spPr>
          <a:xfrm>
            <a:off x="1908044" y="1256903"/>
            <a:ext cx="5216656" cy="0"/>
          </a:xfrm>
          <a:prstGeom prst="line">
            <a:avLst/>
          </a:prstGeom>
          <a:ln w="31750">
            <a:solidFill>
              <a:srgbClr val="A6A6A6"/>
            </a:solidFill>
          </a:ln>
        </p:spPr>
        <p:style>
          <a:lnRef idx="1">
            <a:schemeClr val="accent1"/>
          </a:lnRef>
          <a:fillRef idx="0">
            <a:schemeClr val="accent1"/>
          </a:fillRef>
          <a:effectRef idx="0">
            <a:schemeClr val="accent1"/>
          </a:effectRef>
          <a:fontRef idx="minor">
            <a:schemeClr val="tx1"/>
          </a:fontRef>
        </p:style>
      </p:cxnSp>
      <p:sp>
        <p:nvSpPr>
          <p:cNvPr id="18" name="Rectangle: Rounded Corners 17">
            <a:extLst>
              <a:ext uri="{FF2B5EF4-FFF2-40B4-BE49-F238E27FC236}">
                <a16:creationId xmlns:a16="http://schemas.microsoft.com/office/drawing/2014/main" id="{898C592B-D7B7-48BD-A6D4-86F6C034AC47}"/>
              </a:ext>
            </a:extLst>
          </p:cNvPr>
          <p:cNvSpPr/>
          <p:nvPr/>
        </p:nvSpPr>
        <p:spPr>
          <a:xfrm>
            <a:off x="1908044" y="1011806"/>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lumMod val="65000"/>
                    <a:lumOff val="35000"/>
                  </a:schemeClr>
                </a:solidFill>
              </a:rPr>
              <a:t>Automation</a:t>
            </a:r>
          </a:p>
        </p:txBody>
      </p:sp>
      <p:sp>
        <p:nvSpPr>
          <p:cNvPr id="19" name="Rectangle: Rounded Corners 18">
            <a:extLst>
              <a:ext uri="{FF2B5EF4-FFF2-40B4-BE49-F238E27FC236}">
                <a16:creationId xmlns:a16="http://schemas.microsoft.com/office/drawing/2014/main" id="{55D24150-D5B2-4DC2-B4F5-7B946E869AB9}"/>
              </a:ext>
            </a:extLst>
          </p:cNvPr>
          <p:cNvSpPr/>
          <p:nvPr/>
        </p:nvSpPr>
        <p:spPr>
          <a:xfrm>
            <a:off x="3718874" y="1011806"/>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lumMod val="65000"/>
                    <a:lumOff val="35000"/>
                  </a:schemeClr>
                </a:solidFill>
              </a:rPr>
              <a:t>Customization</a:t>
            </a:r>
          </a:p>
        </p:txBody>
      </p:sp>
      <p:sp>
        <p:nvSpPr>
          <p:cNvPr id="20" name="Rectangle: Rounded Corners 19">
            <a:extLst>
              <a:ext uri="{FF2B5EF4-FFF2-40B4-BE49-F238E27FC236}">
                <a16:creationId xmlns:a16="http://schemas.microsoft.com/office/drawing/2014/main" id="{1D851AA4-8269-4798-929E-8F2132F86B54}"/>
              </a:ext>
            </a:extLst>
          </p:cNvPr>
          <p:cNvSpPr/>
          <p:nvPr/>
        </p:nvSpPr>
        <p:spPr>
          <a:xfrm>
            <a:off x="5520179" y="1011806"/>
            <a:ext cx="1725105" cy="490194"/>
          </a:xfrm>
          <a:prstGeom prst="roundRect">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Acceleration</a:t>
            </a:r>
          </a:p>
        </p:txBody>
      </p:sp>
      <p:sp>
        <p:nvSpPr>
          <p:cNvPr id="3" name="TextBox 2">
            <a:extLst>
              <a:ext uri="{FF2B5EF4-FFF2-40B4-BE49-F238E27FC236}">
                <a16:creationId xmlns:a16="http://schemas.microsoft.com/office/drawing/2014/main" id="{5B3D9A77-307A-83F5-DCA5-B82EF00A3860}"/>
              </a:ext>
            </a:extLst>
          </p:cNvPr>
          <p:cNvSpPr txBox="1"/>
          <p:nvPr/>
        </p:nvSpPr>
        <p:spPr>
          <a:xfrm>
            <a:off x="2140404" y="4300934"/>
            <a:ext cx="4863193" cy="840230"/>
          </a:xfrm>
          <a:prstGeom prst="rect">
            <a:avLst/>
          </a:prstGeom>
          <a:noFill/>
        </p:spPr>
        <p:txBody>
          <a:bodyPr wrap="square" rtlCol="0">
            <a:spAutoFit/>
          </a:bodyPr>
          <a:lstStyle/>
          <a:p>
            <a:pPr marL="182880" lvl="0" indent="0" algn="ctr" defTabSz="622300">
              <a:lnSpc>
                <a:spcPct val="90000"/>
              </a:lnSpc>
              <a:spcBef>
                <a:spcPct val="0"/>
              </a:spcBef>
              <a:spcAft>
                <a:spcPct val="35000"/>
              </a:spcAft>
              <a:buNone/>
            </a:pPr>
            <a:r>
              <a:rPr lang="en-US"/>
              <a:t>Look for f</a:t>
            </a:r>
            <a:r>
              <a:rPr lang="en-US" kern="1200">
                <a:solidFill>
                  <a:schemeClr val="tx1"/>
                </a:solidFill>
              </a:rPr>
              <a:t>ast response time for sophisticated analytics applied to data of any size or complexity</a:t>
            </a:r>
            <a:endParaRPr lang="en-US" kern="1200" dirty="0">
              <a:solidFill>
                <a:schemeClr val="tx1"/>
              </a:solidFill>
            </a:endParaRPr>
          </a:p>
        </p:txBody>
      </p:sp>
    </p:spTree>
    <p:extLst>
      <p:ext uri="{BB962C8B-B14F-4D97-AF65-F5344CB8AC3E}">
        <p14:creationId xmlns:p14="http://schemas.microsoft.com/office/powerpoint/2010/main" val="303000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91138957-4E21-4939-AA30-D1E7B5AF82AE}"/>
              </a:ext>
            </a:extLst>
          </p:cNvPr>
          <p:cNvGrpSpPr/>
          <p:nvPr/>
        </p:nvGrpSpPr>
        <p:grpSpPr>
          <a:xfrm>
            <a:off x="0" y="2007787"/>
            <a:ext cx="8870765" cy="1370514"/>
            <a:chOff x="0" y="430759"/>
            <a:chExt cx="8870765" cy="1370514"/>
          </a:xfrm>
        </p:grpSpPr>
        <p:sp>
          <p:nvSpPr>
            <p:cNvPr id="48" name="Rectangle 47">
              <a:extLst>
                <a:ext uri="{FF2B5EF4-FFF2-40B4-BE49-F238E27FC236}">
                  <a16:creationId xmlns:a16="http://schemas.microsoft.com/office/drawing/2014/main" id="{413BB80E-7BA9-443B-A6B0-121E782355E5}"/>
                </a:ext>
              </a:extLst>
            </p:cNvPr>
            <p:cNvSpPr/>
            <p:nvPr/>
          </p:nvSpPr>
          <p:spPr>
            <a:xfrm>
              <a:off x="0" y="759086"/>
              <a:ext cx="8478737" cy="650081"/>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49" name="Pentagon 10">
              <a:extLst>
                <a:ext uri="{FF2B5EF4-FFF2-40B4-BE49-F238E27FC236}">
                  <a16:creationId xmlns:a16="http://schemas.microsoft.com/office/drawing/2014/main" id="{319C277B-8F22-469F-9579-6EBA75F10988}"/>
                </a:ext>
              </a:extLst>
            </p:cNvPr>
            <p:cNvSpPr/>
            <p:nvPr/>
          </p:nvSpPr>
          <p:spPr>
            <a:xfrm>
              <a:off x="0" y="1316026"/>
              <a:ext cx="8348061" cy="474903"/>
            </a:xfrm>
            <a:prstGeom prst="homePlate">
              <a:avLst/>
            </a:prstGeom>
            <a:gradFill>
              <a:gsLst>
                <a:gs pos="18000">
                  <a:srgbClr val="E6F5FE"/>
                </a:gs>
                <a:gs pos="100000">
                  <a:schemeClr val="accent1">
                    <a:lumMod val="50000"/>
                  </a:schemeClr>
                </a:gs>
                <a:gs pos="64000">
                  <a:schemeClr val="accent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
          <p:nvSpPr>
            <p:cNvPr id="50" name="Pentagon 8">
              <a:extLst>
                <a:ext uri="{FF2B5EF4-FFF2-40B4-BE49-F238E27FC236}">
                  <a16:creationId xmlns:a16="http://schemas.microsoft.com/office/drawing/2014/main" id="{A2B06A0A-B3AF-4126-BC1B-3CD980BCBFAA}"/>
                </a:ext>
              </a:extLst>
            </p:cNvPr>
            <p:cNvSpPr/>
            <p:nvPr/>
          </p:nvSpPr>
          <p:spPr>
            <a:xfrm>
              <a:off x="0" y="441139"/>
              <a:ext cx="8355748" cy="480060"/>
            </a:xfrm>
            <a:prstGeom prst="homePlate">
              <a:avLst/>
            </a:prstGeom>
            <a:gradFill>
              <a:gsLst>
                <a:gs pos="84000">
                  <a:srgbClr val="BCEAE3"/>
                </a:gs>
                <a:gs pos="0">
                  <a:schemeClr val="accent4">
                    <a:lumMod val="50000"/>
                  </a:schemeClr>
                </a:gs>
                <a:gs pos="41000">
                  <a:schemeClr val="accent4"/>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
          <p:nvSpPr>
            <p:cNvPr id="51" name="TextBox 50">
              <a:extLst>
                <a:ext uri="{FF2B5EF4-FFF2-40B4-BE49-F238E27FC236}">
                  <a16:creationId xmlns:a16="http://schemas.microsoft.com/office/drawing/2014/main" id="{01C2F38E-2C3B-4E23-B310-972B97BC325E}"/>
                </a:ext>
              </a:extLst>
            </p:cNvPr>
            <p:cNvSpPr txBox="1"/>
            <p:nvPr/>
          </p:nvSpPr>
          <p:spPr>
            <a:xfrm>
              <a:off x="3861269" y="462109"/>
              <a:ext cx="1641796" cy="461665"/>
            </a:xfrm>
            <a:prstGeom prst="rect">
              <a:avLst/>
            </a:prstGeom>
            <a:noFill/>
          </p:spPr>
          <p:txBody>
            <a:bodyPr wrap="none" rtlCol="0">
              <a:spAutoFit/>
            </a:bodyPr>
            <a:lstStyle/>
            <a:p>
              <a:r>
                <a:rPr lang="en-US" sz="2400">
                  <a:solidFill>
                    <a:schemeClr val="bg1"/>
                  </a:solidFill>
                  <a:latin typeface="Avenir Next Cyr W04 Light" panose="020B0403020202020204" pitchFamily="34" charset="0"/>
                </a:rPr>
                <a:t>SAS</a:t>
              </a:r>
              <a:r>
                <a:rPr lang="en-US" sz="2400" baseline="30000">
                  <a:solidFill>
                    <a:schemeClr val="bg1"/>
                  </a:solidFill>
                  <a:latin typeface="Avenir Next Cyr W04 Light" panose="020B0403020202020204" pitchFamily="34" charset="0"/>
                </a:rPr>
                <a:t>®</a:t>
              </a:r>
              <a:r>
                <a:rPr lang="en-US" sz="2400">
                  <a:solidFill>
                    <a:schemeClr val="bg1"/>
                  </a:solidFill>
                  <a:latin typeface="Avenir Next Cyr W04 Light" panose="020B0403020202020204" pitchFamily="34" charset="0"/>
                </a:rPr>
                <a:t> Viya</a:t>
              </a:r>
              <a:r>
                <a:rPr lang="en-US" sz="2400" baseline="30000">
                  <a:solidFill>
                    <a:schemeClr val="bg1"/>
                  </a:solidFill>
                  <a:latin typeface="Avenir Next Cyr W04 Light" panose="020B0403020202020204" pitchFamily="34" charset="0"/>
                </a:rPr>
                <a:t>®</a:t>
              </a:r>
            </a:p>
          </p:txBody>
        </p:sp>
        <p:sp>
          <p:nvSpPr>
            <p:cNvPr id="52" name="TextBox 51">
              <a:extLst>
                <a:ext uri="{FF2B5EF4-FFF2-40B4-BE49-F238E27FC236}">
                  <a16:creationId xmlns:a16="http://schemas.microsoft.com/office/drawing/2014/main" id="{A7E1FCC9-CE1A-492A-95D8-59181BBE9787}"/>
                </a:ext>
              </a:extLst>
            </p:cNvPr>
            <p:cNvSpPr txBox="1"/>
            <p:nvPr/>
          </p:nvSpPr>
          <p:spPr>
            <a:xfrm>
              <a:off x="4076581" y="1339608"/>
              <a:ext cx="1045479" cy="461665"/>
            </a:xfrm>
            <a:prstGeom prst="rect">
              <a:avLst/>
            </a:prstGeom>
            <a:noFill/>
          </p:spPr>
          <p:txBody>
            <a:bodyPr wrap="none" rtlCol="0">
              <a:spAutoFit/>
            </a:bodyPr>
            <a:lstStyle/>
            <a:p>
              <a:r>
                <a:rPr lang="en-US" sz="2400">
                  <a:solidFill>
                    <a:schemeClr val="bg1"/>
                  </a:solidFill>
                  <a:latin typeface="Avenir Next Cyr W04 Light" panose="020B0403020202020204" pitchFamily="34" charset="0"/>
                </a:rPr>
                <a:t>SAS</a:t>
              </a:r>
              <a:r>
                <a:rPr lang="en-US" sz="2400" baseline="30000">
                  <a:solidFill>
                    <a:schemeClr val="bg1"/>
                  </a:solidFill>
                  <a:latin typeface="Avenir Next Cyr W04 Light" panose="020B0403020202020204" pitchFamily="34" charset="0"/>
                </a:rPr>
                <a:t>®</a:t>
              </a:r>
              <a:r>
                <a:rPr lang="en-US" sz="2400">
                  <a:solidFill>
                    <a:schemeClr val="bg1"/>
                  </a:solidFill>
                  <a:latin typeface="Avenir Next Cyr W04 Light" panose="020B0403020202020204" pitchFamily="34" charset="0"/>
                </a:rPr>
                <a:t>9</a:t>
              </a:r>
            </a:p>
          </p:txBody>
        </p:sp>
        <p:sp>
          <p:nvSpPr>
            <p:cNvPr id="53" name="Pentagon 12">
              <a:extLst>
                <a:ext uri="{FF2B5EF4-FFF2-40B4-BE49-F238E27FC236}">
                  <a16:creationId xmlns:a16="http://schemas.microsoft.com/office/drawing/2014/main" id="{0C726130-ECDA-42DE-B3B7-82B3650E72A8}"/>
                </a:ext>
              </a:extLst>
            </p:cNvPr>
            <p:cNvSpPr/>
            <p:nvPr/>
          </p:nvSpPr>
          <p:spPr>
            <a:xfrm>
              <a:off x="5526988" y="430759"/>
              <a:ext cx="3343777" cy="1357027"/>
            </a:xfrm>
            <a:prstGeom prst="homePlate">
              <a:avLst/>
            </a:prstGeom>
            <a:gradFill>
              <a:gsLst>
                <a:gs pos="100000">
                  <a:schemeClr val="bg1">
                    <a:alpha val="15000"/>
                  </a:schemeClr>
                </a:gs>
                <a:gs pos="1538">
                  <a:schemeClr val="accent1">
                    <a:lumMod val="75000"/>
                  </a:schemeClr>
                </a:gs>
                <a:gs pos="63000">
                  <a:srgbClr val="0092D7">
                    <a:alpha val="80000"/>
                  </a:srgbClr>
                </a:gs>
                <a:gs pos="31000">
                  <a:schemeClr val="accent1"/>
                </a:gs>
                <a:gs pos="90000">
                  <a:srgbClr val="80D8F8">
                    <a:alpha val="25000"/>
                  </a:srgbClr>
                </a:gs>
                <a:gs pos="74000">
                  <a:srgbClr val="00B0F0">
                    <a:alpha val="70000"/>
                  </a:srgb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solidFill>
                    <a:schemeClr val="bg1"/>
                  </a:solidFill>
                  <a:latin typeface="Avenir Next Cyr W04 Light" panose="020B0403020202020204" pitchFamily="34" charset="0"/>
                </a:rPr>
                <a:t>SAS</a:t>
              </a:r>
            </a:p>
          </p:txBody>
        </p:sp>
      </p:grpSp>
      <p:sp>
        <p:nvSpPr>
          <p:cNvPr id="56" name="Rectangle: Rounded Corners 55">
            <a:extLst>
              <a:ext uri="{FF2B5EF4-FFF2-40B4-BE49-F238E27FC236}">
                <a16:creationId xmlns:a16="http://schemas.microsoft.com/office/drawing/2014/main" id="{60F44F00-8D14-42FB-916D-9AE75F7BC48F}"/>
              </a:ext>
            </a:extLst>
          </p:cNvPr>
          <p:cNvSpPr/>
          <p:nvPr/>
        </p:nvSpPr>
        <p:spPr>
          <a:xfrm>
            <a:off x="3518810" y="893464"/>
            <a:ext cx="2085284" cy="1519210"/>
          </a:xfrm>
          <a:prstGeom prst="roundRect">
            <a:avLst/>
          </a:prstGeom>
          <a:solidFill>
            <a:srgbClr val="FFFFFF"/>
          </a:solidFill>
          <a:ln w="38100" cap="flat"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4" name="Speech Bubble: Rectangle with Corners Rounded 3">
            <a:extLst>
              <a:ext uri="{FF2B5EF4-FFF2-40B4-BE49-F238E27FC236}">
                <a16:creationId xmlns:a16="http://schemas.microsoft.com/office/drawing/2014/main" id="{55C7174C-CC42-4634-ACAC-CF39F111237A}"/>
              </a:ext>
            </a:extLst>
          </p:cNvPr>
          <p:cNvSpPr/>
          <p:nvPr/>
        </p:nvSpPr>
        <p:spPr>
          <a:xfrm>
            <a:off x="5799260" y="656992"/>
            <a:ext cx="2003197" cy="1236289"/>
          </a:xfrm>
          <a:prstGeom prst="wedgeRoundRectCallout">
            <a:avLst>
              <a:gd name="adj1" fmla="val -69648"/>
              <a:gd name="adj2" fmla="val 38141"/>
              <a:gd name="adj3" fmla="val 16667"/>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cloud-enabled, </a:t>
            </a:r>
          </a:p>
          <a:p>
            <a:pPr algn="ctr"/>
            <a:r>
              <a:rPr lang="en-US">
                <a:solidFill>
                  <a:srgbClr val="000000"/>
                </a:solidFill>
              </a:rPr>
              <a:t>in-memory </a:t>
            </a:r>
          </a:p>
          <a:p>
            <a:pPr algn="ctr"/>
            <a:r>
              <a:rPr lang="en-US">
                <a:solidFill>
                  <a:srgbClr val="000000"/>
                </a:solidFill>
              </a:rPr>
              <a:t>analytics run-time environment</a:t>
            </a:r>
          </a:p>
        </p:txBody>
      </p:sp>
      <p:pic>
        <p:nvPicPr>
          <p:cNvPr id="13" name="Picture 12">
            <a:hlinkClick r:id="rId3"/>
            <a:extLst>
              <a:ext uri="{FF2B5EF4-FFF2-40B4-BE49-F238E27FC236}">
                <a16:creationId xmlns:a16="http://schemas.microsoft.com/office/drawing/2014/main" id="{F1BF94E0-F835-49E6-8288-1039D9415C7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657224" y="1056885"/>
            <a:ext cx="1835269" cy="1228331"/>
          </a:xfrm>
          <a:prstGeom prst="rect">
            <a:avLst/>
          </a:prstGeom>
        </p:spPr>
      </p:pic>
    </p:spTree>
    <p:extLst>
      <p:ext uri="{BB962C8B-B14F-4D97-AF65-F5344CB8AC3E}">
        <p14:creationId xmlns:p14="http://schemas.microsoft.com/office/powerpoint/2010/main" val="23876381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6511F661-E9B6-4F64-8A30-300AF32FAFD3}"/>
              </a:ext>
            </a:extLst>
          </p:cNvPr>
          <p:cNvSpPr/>
          <p:nvPr/>
        </p:nvSpPr>
        <p:spPr>
          <a:xfrm>
            <a:off x="1841369" y="3103091"/>
            <a:ext cx="1725105" cy="490194"/>
          </a:xfrm>
          <a:prstGeom prst="roundRect">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Automation</a:t>
            </a:r>
          </a:p>
        </p:txBody>
      </p:sp>
      <p:sp>
        <p:nvSpPr>
          <p:cNvPr id="49" name="Rectangle: Rounded Corners 48">
            <a:extLst>
              <a:ext uri="{FF2B5EF4-FFF2-40B4-BE49-F238E27FC236}">
                <a16:creationId xmlns:a16="http://schemas.microsoft.com/office/drawing/2014/main" id="{B320D579-7EB1-4F05-A61B-4CE041850063}"/>
              </a:ext>
            </a:extLst>
          </p:cNvPr>
          <p:cNvSpPr/>
          <p:nvPr/>
        </p:nvSpPr>
        <p:spPr>
          <a:xfrm>
            <a:off x="3718874" y="3103091"/>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Customization</a:t>
            </a:r>
          </a:p>
        </p:txBody>
      </p:sp>
      <p:sp>
        <p:nvSpPr>
          <p:cNvPr id="50" name="Rectangle: Rounded Corners 49">
            <a:extLst>
              <a:ext uri="{FF2B5EF4-FFF2-40B4-BE49-F238E27FC236}">
                <a16:creationId xmlns:a16="http://schemas.microsoft.com/office/drawing/2014/main" id="{E1E4A9D5-3CCA-4FA6-B15A-925438D21018}"/>
              </a:ext>
            </a:extLst>
          </p:cNvPr>
          <p:cNvSpPr/>
          <p:nvPr/>
        </p:nvSpPr>
        <p:spPr>
          <a:xfrm>
            <a:off x="5596379" y="3103091"/>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Acceleration</a:t>
            </a:r>
          </a:p>
        </p:txBody>
      </p:sp>
      <p:grpSp>
        <p:nvGrpSpPr>
          <p:cNvPr id="3" name="Group 2">
            <a:extLst>
              <a:ext uri="{FF2B5EF4-FFF2-40B4-BE49-F238E27FC236}">
                <a16:creationId xmlns:a16="http://schemas.microsoft.com/office/drawing/2014/main" id="{D1099468-8A1D-42E4-AE9D-D041E51FDAB1}"/>
              </a:ext>
            </a:extLst>
          </p:cNvPr>
          <p:cNvGrpSpPr/>
          <p:nvPr/>
        </p:nvGrpSpPr>
        <p:grpSpPr>
          <a:xfrm>
            <a:off x="603317" y="1415592"/>
            <a:ext cx="3016577" cy="1197205"/>
            <a:chOff x="603317" y="1415592"/>
            <a:chExt cx="3016577" cy="1197205"/>
          </a:xfrm>
        </p:grpSpPr>
        <p:cxnSp>
          <p:nvCxnSpPr>
            <p:cNvPr id="9" name="Straight Connector 8">
              <a:extLst>
                <a:ext uri="{FF2B5EF4-FFF2-40B4-BE49-F238E27FC236}">
                  <a16:creationId xmlns:a16="http://schemas.microsoft.com/office/drawing/2014/main" id="{4DB7B5C8-57B8-4121-9CDC-F726EF1152F5}"/>
                </a:ext>
              </a:extLst>
            </p:cNvPr>
            <p:cNvCxnSpPr>
              <a:cxnSpLocks/>
              <a:stCxn id="7" idx="6"/>
            </p:cNvCxnSpPr>
            <p:nvPr/>
          </p:nvCxnSpPr>
          <p:spPr>
            <a:xfrm flipV="1">
              <a:off x="2432117" y="2004769"/>
              <a:ext cx="1187777" cy="9426"/>
            </a:xfrm>
            <a:prstGeom prst="line">
              <a:avLst/>
            </a:prstGeom>
            <a:ln w="53975" cap="rnd">
              <a:solidFill>
                <a:schemeClr val="accent5"/>
              </a:solidFill>
              <a:prstDash val="sysDot"/>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EF19FBBC-D794-4E50-8AD0-82CF3BDD5F33}"/>
                </a:ext>
              </a:extLst>
            </p:cNvPr>
            <p:cNvSpPr/>
            <p:nvPr/>
          </p:nvSpPr>
          <p:spPr>
            <a:xfrm>
              <a:off x="603317" y="1415592"/>
              <a:ext cx="1828800" cy="1197205"/>
            </a:xfrm>
            <a:prstGeom prst="ellipse">
              <a:avLst/>
            </a:prstGeom>
            <a:solidFill>
              <a:schemeClr val="accent5">
                <a:lumMod val="20000"/>
                <a:lumOff val="80000"/>
              </a:schemeClr>
            </a:solidFill>
            <a:ln w="38100" cap="rnd"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templates</a:t>
              </a:r>
            </a:p>
          </p:txBody>
        </p:sp>
      </p:grpSp>
      <p:pic>
        <p:nvPicPr>
          <p:cNvPr id="10" name="Picture 9">
            <a:extLst>
              <a:ext uri="{FF2B5EF4-FFF2-40B4-BE49-F238E27FC236}">
                <a16:creationId xmlns:a16="http://schemas.microsoft.com/office/drawing/2014/main" id="{9607295D-96E2-4EF9-899F-4E2874EABDC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224" y="1056885"/>
            <a:ext cx="1835269" cy="1228331"/>
          </a:xfrm>
          <a:prstGeom prst="rect">
            <a:avLst/>
          </a:prstGeom>
        </p:spPr>
      </p:pic>
      <p:grpSp>
        <p:nvGrpSpPr>
          <p:cNvPr id="2" name="Group 1">
            <a:extLst>
              <a:ext uri="{FF2B5EF4-FFF2-40B4-BE49-F238E27FC236}">
                <a16:creationId xmlns:a16="http://schemas.microsoft.com/office/drawing/2014/main" id="{5FD256F9-AC80-4776-99A3-44B048F1832B}"/>
              </a:ext>
            </a:extLst>
          </p:cNvPr>
          <p:cNvGrpSpPr/>
          <p:nvPr/>
        </p:nvGrpSpPr>
        <p:grpSpPr>
          <a:xfrm>
            <a:off x="5599522" y="1415592"/>
            <a:ext cx="2933307" cy="1197205"/>
            <a:chOff x="5599522" y="1415592"/>
            <a:chExt cx="2933307" cy="1197205"/>
          </a:xfrm>
        </p:grpSpPr>
        <p:cxnSp>
          <p:nvCxnSpPr>
            <p:cNvPr id="11" name="Straight Connector 10">
              <a:extLst>
                <a:ext uri="{FF2B5EF4-FFF2-40B4-BE49-F238E27FC236}">
                  <a16:creationId xmlns:a16="http://schemas.microsoft.com/office/drawing/2014/main" id="{214638EA-095A-4FDF-AC18-24847BDE103B}"/>
                </a:ext>
              </a:extLst>
            </p:cNvPr>
            <p:cNvCxnSpPr>
              <a:cxnSpLocks/>
              <a:endCxn id="12" idx="2"/>
            </p:cNvCxnSpPr>
            <p:nvPr/>
          </p:nvCxnSpPr>
          <p:spPr>
            <a:xfrm>
              <a:off x="5599522" y="2014195"/>
              <a:ext cx="1104507" cy="0"/>
            </a:xfrm>
            <a:prstGeom prst="line">
              <a:avLst/>
            </a:prstGeom>
            <a:ln w="53975" cap="rnd">
              <a:solidFill>
                <a:schemeClr val="accent3">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616FFA41-7ECA-4CF2-9011-416514F47A3E}"/>
                </a:ext>
              </a:extLst>
            </p:cNvPr>
            <p:cNvSpPr/>
            <p:nvPr/>
          </p:nvSpPr>
          <p:spPr>
            <a:xfrm>
              <a:off x="6704029" y="1415592"/>
              <a:ext cx="1828800" cy="1197205"/>
            </a:xfrm>
            <a:prstGeom prst="ellipse">
              <a:avLst/>
            </a:prstGeom>
            <a:solidFill>
              <a:schemeClr val="accent3">
                <a:lumMod val="10000"/>
                <a:lumOff val="90000"/>
              </a:schemeClr>
            </a:solidFill>
            <a:ln w="38100" cap="flat" cmpd="sng" algn="ctr">
              <a:solidFill>
                <a:schemeClr val="accent3">
                  <a:lumMod val="50000"/>
                  <a:lumOff val="50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autotuning</a:t>
              </a:r>
            </a:p>
          </p:txBody>
        </p:sp>
      </p:grpSp>
      <p:sp>
        <p:nvSpPr>
          <p:cNvPr id="5" name="Rectangle: Rounded Corners 4">
            <a:extLst>
              <a:ext uri="{FF2B5EF4-FFF2-40B4-BE49-F238E27FC236}">
                <a16:creationId xmlns:a16="http://schemas.microsoft.com/office/drawing/2014/main" id="{65F7FA5D-769B-B101-ADE2-CE5999DDCBCD}"/>
              </a:ext>
            </a:extLst>
          </p:cNvPr>
          <p:cNvSpPr/>
          <p:nvPr/>
        </p:nvSpPr>
        <p:spPr>
          <a:xfrm>
            <a:off x="2379307" y="3862873"/>
            <a:ext cx="4385387" cy="735056"/>
          </a:xfrm>
          <a:prstGeom prst="roundRect">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Autotuning is disabled in SAS Viya for Learners, and selecting it results in an error.</a:t>
            </a:r>
          </a:p>
        </p:txBody>
      </p:sp>
      <p:sp>
        <p:nvSpPr>
          <p:cNvPr id="6" name="TextBox 5">
            <a:extLst>
              <a:ext uri="{FF2B5EF4-FFF2-40B4-BE49-F238E27FC236}">
                <a16:creationId xmlns:a16="http://schemas.microsoft.com/office/drawing/2014/main" id="{2753BF88-3BE6-704B-5FDC-7AC772274635}"/>
              </a:ext>
            </a:extLst>
          </p:cNvPr>
          <p:cNvSpPr txBox="1"/>
          <p:nvPr/>
        </p:nvSpPr>
        <p:spPr>
          <a:xfrm>
            <a:off x="0" y="2612797"/>
            <a:ext cx="1640008" cy="590931"/>
          </a:xfrm>
          <a:prstGeom prst="rect">
            <a:avLst/>
          </a:prstGeom>
          <a:noFill/>
        </p:spPr>
        <p:txBody>
          <a:bodyPr wrap="square" rtlCol="0">
            <a:spAutoFit/>
          </a:bodyPr>
          <a:lstStyle/>
          <a:p>
            <a:pPr lvl="0" indent="0" algn="ctr" defTabSz="622300">
              <a:lnSpc>
                <a:spcPct val="90000"/>
              </a:lnSpc>
              <a:spcBef>
                <a:spcPct val="0"/>
              </a:spcBef>
              <a:spcAft>
                <a:spcPct val="35000"/>
              </a:spcAft>
              <a:buNone/>
            </a:pPr>
            <a:r>
              <a:rPr lang="en-US">
                <a:solidFill>
                  <a:srgbClr val="4B7C1A"/>
                </a:solidFill>
              </a:rPr>
              <a:t>build an initial model quickly</a:t>
            </a:r>
            <a:endParaRPr lang="en-US" kern="1200">
              <a:solidFill>
                <a:srgbClr val="4B7C1A"/>
              </a:solidFill>
            </a:endParaRPr>
          </a:p>
        </p:txBody>
      </p:sp>
      <p:sp>
        <p:nvSpPr>
          <p:cNvPr id="8" name="TextBox 7">
            <a:extLst>
              <a:ext uri="{FF2B5EF4-FFF2-40B4-BE49-F238E27FC236}">
                <a16:creationId xmlns:a16="http://schemas.microsoft.com/office/drawing/2014/main" id="{6A48BDEC-AED5-E175-3F81-95E9836B98AF}"/>
              </a:ext>
            </a:extLst>
          </p:cNvPr>
          <p:cNvSpPr txBox="1"/>
          <p:nvPr/>
        </p:nvSpPr>
        <p:spPr>
          <a:xfrm>
            <a:off x="7503992" y="2612797"/>
            <a:ext cx="1640008" cy="840230"/>
          </a:xfrm>
          <a:prstGeom prst="rect">
            <a:avLst/>
          </a:prstGeom>
          <a:noFill/>
        </p:spPr>
        <p:txBody>
          <a:bodyPr wrap="square" rtlCol="0">
            <a:spAutoFit/>
          </a:bodyPr>
          <a:lstStyle/>
          <a:p>
            <a:pPr lvl="0" indent="0" algn="ctr" defTabSz="622300">
              <a:lnSpc>
                <a:spcPct val="90000"/>
              </a:lnSpc>
              <a:spcBef>
                <a:spcPct val="0"/>
              </a:spcBef>
              <a:spcAft>
                <a:spcPct val="35000"/>
              </a:spcAft>
              <a:buNone/>
            </a:pPr>
            <a:r>
              <a:rPr lang="en-US">
                <a:solidFill>
                  <a:schemeClr val="tx2">
                    <a:lumMod val="75000"/>
                    <a:lumOff val="25000"/>
                  </a:schemeClr>
                </a:solidFill>
              </a:rPr>
              <a:t>specifies model settings automatically</a:t>
            </a:r>
            <a:endParaRPr lang="en-US" kern="1200">
              <a:solidFill>
                <a:schemeClr val="tx2">
                  <a:lumMod val="75000"/>
                  <a:lumOff val="25000"/>
                </a:schemeClr>
              </a:solidFill>
            </a:endParaRPr>
          </a:p>
        </p:txBody>
      </p:sp>
      <p:pic>
        <p:nvPicPr>
          <p:cNvPr id="15" name="Graphic 14" descr="Arrow: Rotate left with solid fill">
            <a:extLst>
              <a:ext uri="{FF2B5EF4-FFF2-40B4-BE49-F238E27FC236}">
                <a16:creationId xmlns:a16="http://schemas.microsoft.com/office/drawing/2014/main" id="{F209A597-F92A-3ED9-5409-C4631A5035F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04012" y="2051433"/>
            <a:ext cx="567771" cy="567771"/>
          </a:xfrm>
          <a:prstGeom prst="rect">
            <a:avLst/>
          </a:prstGeom>
        </p:spPr>
      </p:pic>
      <p:pic>
        <p:nvPicPr>
          <p:cNvPr id="17" name="Graphic 16" descr="Arrow: Rotate right with solid fill">
            <a:extLst>
              <a:ext uri="{FF2B5EF4-FFF2-40B4-BE49-F238E27FC236}">
                <a16:creationId xmlns:a16="http://schemas.microsoft.com/office/drawing/2014/main" id="{0AA43A8E-22EA-B0BB-186B-0910991044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7384" y="2003979"/>
            <a:ext cx="567771" cy="567771"/>
          </a:xfrm>
          <a:prstGeom prst="rect">
            <a:avLst/>
          </a:prstGeom>
        </p:spPr>
      </p:pic>
    </p:spTree>
    <p:extLst>
      <p:ext uri="{BB962C8B-B14F-4D97-AF65-F5344CB8AC3E}">
        <p14:creationId xmlns:p14="http://schemas.microsoft.com/office/powerpoint/2010/main" val="1928649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fade">
                                      <p:cBhvr>
                                        <p:cTn id="18" dur="500"/>
                                        <p:tgtEl>
                                          <p:spTgt spid="17"/>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D762D3C5-22D1-45F8-B9C2-775BE65E3D9B}"/>
              </a:ext>
            </a:extLst>
          </p:cNvPr>
          <p:cNvSpPr/>
          <p:nvPr/>
        </p:nvSpPr>
        <p:spPr>
          <a:xfrm>
            <a:off x="1841369" y="3103091"/>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Automation</a:t>
            </a:r>
          </a:p>
        </p:txBody>
      </p:sp>
      <p:sp>
        <p:nvSpPr>
          <p:cNvPr id="49" name="Rectangle: Rounded Corners 48">
            <a:extLst>
              <a:ext uri="{FF2B5EF4-FFF2-40B4-BE49-F238E27FC236}">
                <a16:creationId xmlns:a16="http://schemas.microsoft.com/office/drawing/2014/main" id="{414A4545-45E6-4156-A2E7-22F5B0DB40F5}"/>
              </a:ext>
            </a:extLst>
          </p:cNvPr>
          <p:cNvSpPr/>
          <p:nvPr/>
        </p:nvSpPr>
        <p:spPr>
          <a:xfrm>
            <a:off x="3718874" y="3103091"/>
            <a:ext cx="1725105" cy="490194"/>
          </a:xfrm>
          <a:prstGeom prst="roundRect">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Customization</a:t>
            </a:r>
          </a:p>
        </p:txBody>
      </p:sp>
      <p:sp>
        <p:nvSpPr>
          <p:cNvPr id="50" name="Rectangle: Rounded Corners 49">
            <a:extLst>
              <a:ext uri="{FF2B5EF4-FFF2-40B4-BE49-F238E27FC236}">
                <a16:creationId xmlns:a16="http://schemas.microsoft.com/office/drawing/2014/main" id="{41DF616E-B1F2-42FC-AB74-5C3EE5B863C9}"/>
              </a:ext>
            </a:extLst>
          </p:cNvPr>
          <p:cNvSpPr/>
          <p:nvPr/>
        </p:nvSpPr>
        <p:spPr>
          <a:xfrm>
            <a:off x="5596379" y="3103091"/>
            <a:ext cx="1725105" cy="490194"/>
          </a:xfrm>
          <a:prstGeom prst="roundRect">
            <a:avLst/>
          </a:prstGeom>
          <a:solidFill>
            <a:schemeClr val="bg1">
              <a:lumMod val="6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Acceleration</a:t>
            </a:r>
          </a:p>
        </p:txBody>
      </p:sp>
      <p:grpSp>
        <p:nvGrpSpPr>
          <p:cNvPr id="4" name="Group 3">
            <a:extLst>
              <a:ext uri="{FF2B5EF4-FFF2-40B4-BE49-F238E27FC236}">
                <a16:creationId xmlns:a16="http://schemas.microsoft.com/office/drawing/2014/main" id="{741190E9-1786-4650-992E-7FD9A5074631}"/>
              </a:ext>
            </a:extLst>
          </p:cNvPr>
          <p:cNvGrpSpPr/>
          <p:nvPr/>
        </p:nvGrpSpPr>
        <p:grpSpPr>
          <a:xfrm>
            <a:off x="5599521" y="1415592"/>
            <a:ext cx="2932720" cy="1197205"/>
            <a:chOff x="5599521" y="1415592"/>
            <a:chExt cx="2932720" cy="1197205"/>
          </a:xfrm>
        </p:grpSpPr>
        <p:cxnSp>
          <p:nvCxnSpPr>
            <p:cNvPr id="52" name="Straight Connector 51">
              <a:extLst>
                <a:ext uri="{FF2B5EF4-FFF2-40B4-BE49-F238E27FC236}">
                  <a16:creationId xmlns:a16="http://schemas.microsoft.com/office/drawing/2014/main" id="{2C34ADE3-070B-480F-8733-775C72756D3A}"/>
                </a:ext>
              </a:extLst>
            </p:cNvPr>
            <p:cNvCxnSpPr>
              <a:cxnSpLocks/>
            </p:cNvCxnSpPr>
            <p:nvPr/>
          </p:nvCxnSpPr>
          <p:spPr>
            <a:xfrm>
              <a:off x="5599521" y="2014195"/>
              <a:ext cx="1161070" cy="0"/>
            </a:xfrm>
            <a:prstGeom prst="line">
              <a:avLst/>
            </a:prstGeom>
            <a:ln w="53975" cap="rnd">
              <a:solidFill>
                <a:schemeClr val="accent5"/>
              </a:solidFill>
              <a:prstDash val="sysDot"/>
            </a:ln>
          </p:spPr>
          <p:style>
            <a:lnRef idx="1">
              <a:schemeClr val="accent1"/>
            </a:lnRef>
            <a:fillRef idx="0">
              <a:schemeClr val="accent1"/>
            </a:fillRef>
            <a:effectRef idx="0">
              <a:schemeClr val="accent1"/>
            </a:effectRef>
            <a:fontRef idx="minor">
              <a:schemeClr val="tx1"/>
            </a:fontRef>
          </p:style>
        </p:cxnSp>
        <p:sp>
          <p:nvSpPr>
            <p:cNvPr id="51" name="Oval 50">
              <a:extLst>
                <a:ext uri="{FF2B5EF4-FFF2-40B4-BE49-F238E27FC236}">
                  <a16:creationId xmlns:a16="http://schemas.microsoft.com/office/drawing/2014/main" id="{9358CE89-285D-4AAE-BE16-3B120334C30C}"/>
                </a:ext>
              </a:extLst>
            </p:cNvPr>
            <p:cNvSpPr/>
            <p:nvPr/>
          </p:nvSpPr>
          <p:spPr>
            <a:xfrm>
              <a:off x="6703441" y="1415592"/>
              <a:ext cx="1828800" cy="1197205"/>
            </a:xfrm>
            <a:prstGeom prst="ellipse">
              <a:avLst/>
            </a:prstGeom>
            <a:solidFill>
              <a:schemeClr val="accent5">
                <a:lumMod val="20000"/>
                <a:lumOff val="80000"/>
              </a:schemeClr>
            </a:solidFill>
            <a:ln w="38100" cap="flat" cmpd="sng" algn="ctr">
              <a:solidFill>
                <a:schemeClr val="accent5"/>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open</a:t>
              </a:r>
            </a:p>
            <a:p>
              <a:pPr algn="ctr"/>
              <a:r>
                <a:rPr lang="en-US">
                  <a:solidFill>
                    <a:schemeClr val="tx1"/>
                  </a:solidFill>
                </a:rPr>
                <a:t>source tools</a:t>
              </a:r>
            </a:p>
          </p:txBody>
        </p:sp>
      </p:grpSp>
      <p:grpSp>
        <p:nvGrpSpPr>
          <p:cNvPr id="3" name="Group 2">
            <a:extLst>
              <a:ext uri="{FF2B5EF4-FFF2-40B4-BE49-F238E27FC236}">
                <a16:creationId xmlns:a16="http://schemas.microsoft.com/office/drawing/2014/main" id="{54757B79-A81B-43ED-8ABB-CBC51D2EDBCA}"/>
              </a:ext>
            </a:extLst>
          </p:cNvPr>
          <p:cNvGrpSpPr/>
          <p:nvPr/>
        </p:nvGrpSpPr>
        <p:grpSpPr>
          <a:xfrm>
            <a:off x="603613" y="1415592"/>
            <a:ext cx="3016577" cy="1197205"/>
            <a:chOff x="603613" y="1415592"/>
            <a:chExt cx="3016577" cy="1197205"/>
          </a:xfrm>
        </p:grpSpPr>
        <p:cxnSp>
          <p:nvCxnSpPr>
            <p:cNvPr id="26" name="Straight Connector 25">
              <a:extLst>
                <a:ext uri="{FF2B5EF4-FFF2-40B4-BE49-F238E27FC236}">
                  <a16:creationId xmlns:a16="http://schemas.microsoft.com/office/drawing/2014/main" id="{3D955CEA-AED9-484C-895C-0D1BC5460EF8}"/>
                </a:ext>
              </a:extLst>
            </p:cNvPr>
            <p:cNvCxnSpPr>
              <a:cxnSpLocks/>
              <a:stCxn id="2" idx="6"/>
            </p:cNvCxnSpPr>
            <p:nvPr/>
          </p:nvCxnSpPr>
          <p:spPr>
            <a:xfrm flipV="1">
              <a:off x="2432413" y="2004769"/>
              <a:ext cx="1187777" cy="9426"/>
            </a:xfrm>
            <a:prstGeom prst="line">
              <a:avLst/>
            </a:prstGeom>
            <a:ln w="53975" cap="rnd">
              <a:solidFill>
                <a:schemeClr val="accent3">
                  <a:lumMod val="50000"/>
                  <a:lumOff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60AC9533-A201-466D-84A6-8CD522F9D1AD}"/>
                </a:ext>
              </a:extLst>
            </p:cNvPr>
            <p:cNvSpPr/>
            <p:nvPr/>
          </p:nvSpPr>
          <p:spPr>
            <a:xfrm>
              <a:off x="603613" y="1415592"/>
              <a:ext cx="1828800" cy="1197205"/>
            </a:xfrm>
            <a:prstGeom prst="ellipse">
              <a:avLst/>
            </a:prstGeom>
            <a:solidFill>
              <a:schemeClr val="accent3">
                <a:lumMod val="10000"/>
                <a:lumOff val="90000"/>
              </a:schemeClr>
            </a:solidFill>
            <a:ln w="38100" cap="flat" cmpd="sng" algn="ctr">
              <a:solidFill>
                <a:schemeClr val="accent3">
                  <a:lumMod val="50000"/>
                  <a:lumOff val="50000"/>
                </a:scheme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machine learning algorithms</a:t>
              </a:r>
            </a:p>
          </p:txBody>
        </p:sp>
      </p:grpSp>
      <p:pic>
        <p:nvPicPr>
          <p:cNvPr id="10" name="Picture 9">
            <a:extLst>
              <a:ext uri="{FF2B5EF4-FFF2-40B4-BE49-F238E27FC236}">
                <a16:creationId xmlns:a16="http://schemas.microsoft.com/office/drawing/2014/main" id="{79A7A5C8-2B68-427E-A2D6-4E07FF6662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224" y="1056885"/>
            <a:ext cx="1835269" cy="1228331"/>
          </a:xfrm>
          <a:prstGeom prst="rect">
            <a:avLst/>
          </a:prstGeom>
        </p:spPr>
      </p:pic>
    </p:spTree>
    <p:extLst>
      <p:ext uri="{BB962C8B-B14F-4D97-AF65-F5344CB8AC3E}">
        <p14:creationId xmlns:p14="http://schemas.microsoft.com/office/powerpoint/2010/main" val="1654087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val 5">
            <a:extLst>
              <a:ext uri="{FF2B5EF4-FFF2-40B4-BE49-F238E27FC236}">
                <a16:creationId xmlns:a16="http://schemas.microsoft.com/office/drawing/2014/main" id="{2FC9249D-EE7C-47C6-9B54-50FCDCDB12D5}"/>
              </a:ext>
            </a:extLst>
          </p:cNvPr>
          <p:cNvSpPr/>
          <p:nvPr/>
        </p:nvSpPr>
        <p:spPr>
          <a:xfrm>
            <a:off x="3780116" y="1462391"/>
            <a:ext cx="1595596" cy="1532762"/>
          </a:xfrm>
          <a:prstGeom prst="ellipse">
            <a:avLst/>
          </a:prstGeom>
          <a:solidFill>
            <a:schemeClr val="accent6">
              <a:lumMod val="40000"/>
              <a:lumOff val="60000"/>
            </a:schemeClr>
          </a:solidFill>
          <a:ln w="28575" cap="flat"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ctr" anchorCtr="0" forceAA="0" compatLnSpc="1">
            <a:prstTxWarp prst="textNoShape">
              <a:avLst/>
            </a:prstTxWarp>
            <a:noAutofit/>
          </a:bodyPr>
          <a:lstStyle/>
          <a:p>
            <a:pPr algn="ctr"/>
            <a:r>
              <a:rPr lang="en-US">
                <a:solidFill>
                  <a:schemeClr val="tx1"/>
                </a:solidFill>
              </a:rPr>
              <a:t>Business Challenge</a:t>
            </a:r>
          </a:p>
        </p:txBody>
      </p:sp>
      <p:sp>
        <p:nvSpPr>
          <p:cNvPr id="3" name="Rectangle: Rounded Corners 2">
            <a:extLst>
              <a:ext uri="{FF2B5EF4-FFF2-40B4-BE49-F238E27FC236}">
                <a16:creationId xmlns:a16="http://schemas.microsoft.com/office/drawing/2014/main" id="{0A95A282-F345-4C64-98EE-B8859CD36EB3}"/>
              </a:ext>
            </a:extLst>
          </p:cNvPr>
          <p:cNvSpPr/>
          <p:nvPr/>
        </p:nvSpPr>
        <p:spPr>
          <a:xfrm>
            <a:off x="3762375" y="400050"/>
            <a:ext cx="1609725" cy="514350"/>
          </a:xfrm>
          <a:prstGeom prst="roundRect">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Analysis Goal</a:t>
            </a:r>
          </a:p>
        </p:txBody>
      </p:sp>
      <p:sp>
        <p:nvSpPr>
          <p:cNvPr id="2" name="Title 1">
            <a:extLst>
              <a:ext uri="{FF2B5EF4-FFF2-40B4-BE49-F238E27FC236}">
                <a16:creationId xmlns:a16="http://schemas.microsoft.com/office/drawing/2014/main" id="{3E88BC66-83A5-1AA3-972B-82CEC7E79BBA}"/>
              </a:ext>
            </a:extLst>
          </p:cNvPr>
          <p:cNvSpPr>
            <a:spLocks noGrp="1"/>
          </p:cNvSpPr>
          <p:nvPr>
            <p:ph type="title"/>
          </p:nvPr>
        </p:nvSpPr>
        <p:spPr/>
        <p:txBody>
          <a:bodyPr/>
          <a:lstStyle/>
          <a:p>
            <a:pPr algn="l"/>
            <a:r>
              <a:rPr lang="en-US" sz="2000"/>
              <a:t>Analytics Life Cycle</a:t>
            </a:r>
          </a:p>
        </p:txBody>
      </p:sp>
    </p:spTree>
    <p:extLst>
      <p:ext uri="{BB962C8B-B14F-4D97-AF65-F5344CB8AC3E}">
        <p14:creationId xmlns:p14="http://schemas.microsoft.com/office/powerpoint/2010/main" val="398691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3ED75F5-FC6F-41B4-9DDB-3FA885939E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672" y="1139265"/>
            <a:ext cx="2304378" cy="2275431"/>
          </a:xfrm>
          <a:prstGeom prst="rect">
            <a:avLst/>
          </a:prstGeom>
        </p:spPr>
      </p:pic>
      <p:pic>
        <p:nvPicPr>
          <p:cNvPr id="5" name="Picture 4">
            <a:extLst>
              <a:ext uri="{FF2B5EF4-FFF2-40B4-BE49-F238E27FC236}">
                <a16:creationId xmlns:a16="http://schemas.microsoft.com/office/drawing/2014/main" id="{4ED7584E-E780-4826-83BB-FC07505D9743}"/>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296654" y="1688353"/>
            <a:ext cx="1082929" cy="1130013"/>
          </a:xfrm>
          <a:prstGeom prst="rect">
            <a:avLst/>
          </a:prstGeom>
        </p:spPr>
      </p:pic>
      <p:sp>
        <p:nvSpPr>
          <p:cNvPr id="7" name="Arrow: Right 6">
            <a:extLst>
              <a:ext uri="{FF2B5EF4-FFF2-40B4-BE49-F238E27FC236}">
                <a16:creationId xmlns:a16="http://schemas.microsoft.com/office/drawing/2014/main" id="{CE3E1EE8-65BE-417E-AF69-D74C45B02040}"/>
              </a:ext>
            </a:extLst>
          </p:cNvPr>
          <p:cNvSpPr/>
          <p:nvPr/>
        </p:nvSpPr>
        <p:spPr>
          <a:xfrm>
            <a:off x="5873291" y="2076944"/>
            <a:ext cx="790869" cy="329938"/>
          </a:xfrm>
          <a:prstGeom prst="rightArrow">
            <a:avLst>
              <a:gd name="adj1" fmla="val 50000"/>
              <a:gd name="adj2" fmla="val 87354"/>
            </a:avLst>
          </a:prstGeom>
          <a:solidFill>
            <a:schemeClr val="bg1">
              <a:lumMod val="5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9" name="Arrow: Right 8">
            <a:extLst>
              <a:ext uri="{FF2B5EF4-FFF2-40B4-BE49-F238E27FC236}">
                <a16:creationId xmlns:a16="http://schemas.microsoft.com/office/drawing/2014/main" id="{8D80EA11-350E-4FF3-B00A-96CCB8BB8890}"/>
              </a:ext>
            </a:extLst>
          </p:cNvPr>
          <p:cNvSpPr/>
          <p:nvPr/>
        </p:nvSpPr>
        <p:spPr>
          <a:xfrm>
            <a:off x="2481806" y="2071444"/>
            <a:ext cx="790869" cy="329938"/>
          </a:xfrm>
          <a:prstGeom prst="rightArrow">
            <a:avLst>
              <a:gd name="adj1" fmla="val 50000"/>
              <a:gd name="adj2" fmla="val 87354"/>
            </a:avLst>
          </a:prstGeom>
          <a:solidFill>
            <a:schemeClr val="bg1">
              <a:lumMod val="5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2" name="Star: 16 Points 1">
            <a:extLst>
              <a:ext uri="{FF2B5EF4-FFF2-40B4-BE49-F238E27FC236}">
                <a16:creationId xmlns:a16="http://schemas.microsoft.com/office/drawing/2014/main" id="{950773E6-3E3C-42CC-BE9F-05649BF45532}"/>
              </a:ext>
            </a:extLst>
          </p:cNvPr>
          <p:cNvSpPr/>
          <p:nvPr/>
        </p:nvSpPr>
        <p:spPr>
          <a:xfrm>
            <a:off x="6872140" y="1581247"/>
            <a:ext cx="1442301" cy="1357460"/>
          </a:xfrm>
          <a:prstGeom prst="star16">
            <a:avLst/>
          </a:prstGeom>
          <a:solidFill>
            <a:srgbClr val="FFCC32"/>
          </a:solidFill>
          <a:ln w="38100" cap="flat" cmpd="sng" algn="ctr">
            <a:solidFill>
              <a:schemeClr val="accent6"/>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Value</a:t>
            </a:r>
          </a:p>
        </p:txBody>
      </p:sp>
      <p:sp>
        <p:nvSpPr>
          <p:cNvPr id="3" name="TextBox 2">
            <a:extLst>
              <a:ext uri="{FF2B5EF4-FFF2-40B4-BE49-F238E27FC236}">
                <a16:creationId xmlns:a16="http://schemas.microsoft.com/office/drawing/2014/main" id="{01551CE0-10ED-135B-B013-79DC6CFFFFD6}"/>
              </a:ext>
            </a:extLst>
          </p:cNvPr>
          <p:cNvSpPr txBox="1"/>
          <p:nvPr/>
        </p:nvSpPr>
        <p:spPr>
          <a:xfrm>
            <a:off x="1165320" y="4004235"/>
            <a:ext cx="6813361" cy="590931"/>
          </a:xfrm>
          <a:prstGeom prst="rect">
            <a:avLst/>
          </a:prstGeom>
          <a:noFill/>
        </p:spPr>
        <p:txBody>
          <a:bodyPr wrap="square" lIns="91440" rIns="91440" rtlCol="0">
            <a:noAutofit/>
          </a:bodyPr>
          <a:lstStyle/>
          <a:p>
            <a:pPr marL="182880" lvl="0" indent="0" algn="ctr" defTabSz="622300">
              <a:lnSpc>
                <a:spcPct val="90000"/>
              </a:lnSpc>
              <a:spcBef>
                <a:spcPct val="0"/>
              </a:spcBef>
              <a:spcAft>
                <a:spcPct val="35000"/>
              </a:spcAft>
              <a:buNone/>
            </a:pPr>
            <a:r>
              <a:rPr lang="en-US"/>
              <a:t>The analytics life cycle represents a series of activities to extract value from raw data.</a:t>
            </a:r>
          </a:p>
        </p:txBody>
      </p:sp>
    </p:spTree>
    <p:extLst>
      <p:ext uri="{BB962C8B-B14F-4D97-AF65-F5344CB8AC3E}">
        <p14:creationId xmlns:p14="http://schemas.microsoft.com/office/powerpoint/2010/main" val="395770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left)">
                                      <p:cBhvr>
                                        <p:cTn id="10" dur="500"/>
                                        <p:tgtEl>
                                          <p:spTgt spid="9"/>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left)">
                                      <p:cBhvr>
                                        <p:cTn id="13" dur="500"/>
                                        <p:tgtEl>
                                          <p:spTgt spid="7"/>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2" grpId="0" animBg="1"/>
      <p:bldP spid="3"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0D11EB-AFC2-484B-9873-47CE4551EF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000" y="1143646"/>
            <a:ext cx="2305049" cy="2270778"/>
          </a:xfrm>
          <a:prstGeom prst="rect">
            <a:avLst/>
          </a:prstGeom>
        </p:spPr>
      </p:pic>
      <p:pic>
        <p:nvPicPr>
          <p:cNvPr id="13" name="Picture 12">
            <a:extLst>
              <a:ext uri="{FF2B5EF4-FFF2-40B4-BE49-F238E27FC236}">
                <a16:creationId xmlns:a16="http://schemas.microsoft.com/office/drawing/2014/main" id="{0BD6267B-0E09-4D0A-A21A-87D0079B96C4}"/>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6537374" y="1235977"/>
            <a:ext cx="878948" cy="678548"/>
          </a:xfrm>
          <a:prstGeom prst="rect">
            <a:avLst/>
          </a:prstGeom>
        </p:spPr>
      </p:pic>
      <p:pic>
        <p:nvPicPr>
          <p:cNvPr id="14" name="Picture 13">
            <a:extLst>
              <a:ext uri="{FF2B5EF4-FFF2-40B4-BE49-F238E27FC236}">
                <a16:creationId xmlns:a16="http://schemas.microsoft.com/office/drawing/2014/main" id="{FEE09FE1-7044-406C-AA66-2066CBDEE43B}"/>
              </a:ext>
            </a:extLst>
          </p:cNvPr>
          <p:cNvPicPr>
            <a:picLocks noChangeAspect="1"/>
          </p:cNvPicPr>
          <p:nvPr/>
        </p:nvPicPr>
        <p:blipFill>
          <a:blip r:embed="rId5"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7213577" y="1504927"/>
            <a:ext cx="889046" cy="895396"/>
          </a:xfrm>
          <a:prstGeom prst="rect">
            <a:avLst/>
          </a:prstGeom>
        </p:spPr>
      </p:pic>
      <p:sp>
        <p:nvSpPr>
          <p:cNvPr id="16" name="Oval 15">
            <a:extLst>
              <a:ext uri="{FF2B5EF4-FFF2-40B4-BE49-F238E27FC236}">
                <a16:creationId xmlns:a16="http://schemas.microsoft.com/office/drawing/2014/main" id="{6626B261-FE9D-4DB3-AF34-5F07948E842C}"/>
              </a:ext>
            </a:extLst>
          </p:cNvPr>
          <p:cNvSpPr/>
          <p:nvPr/>
        </p:nvSpPr>
        <p:spPr>
          <a:xfrm flipH="1">
            <a:off x="7534276" y="1533525"/>
            <a:ext cx="533399" cy="552450"/>
          </a:xfrm>
          <a:prstGeom prst="ellipse">
            <a:avLst/>
          </a:prstGeom>
          <a:solidFill>
            <a:schemeClr val="tx2">
              <a:lumMod val="10000"/>
              <a:lumOff val="9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19" name="Picture 18">
            <a:extLst>
              <a:ext uri="{FF2B5EF4-FFF2-40B4-BE49-F238E27FC236}">
                <a16:creationId xmlns:a16="http://schemas.microsoft.com/office/drawing/2014/main" id="{DE56FBCB-D319-4482-B9A5-BDDC3823C1DC}"/>
              </a:ext>
            </a:extLst>
          </p:cNvPr>
          <p:cNvPicPr>
            <a:picLocks noChangeAspect="1"/>
          </p:cNvPicPr>
          <p:nvPr/>
        </p:nvPicPr>
        <p:blipFill>
          <a:blip r:embed="rId6"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rot="20159579">
            <a:off x="6076949" y="656196"/>
            <a:ext cx="654675" cy="652463"/>
          </a:xfrm>
          <a:prstGeom prst="rect">
            <a:avLst/>
          </a:prstGeom>
        </p:spPr>
      </p:pic>
      <p:sp>
        <p:nvSpPr>
          <p:cNvPr id="2" name="TextBox 1">
            <a:extLst>
              <a:ext uri="{FF2B5EF4-FFF2-40B4-BE49-F238E27FC236}">
                <a16:creationId xmlns:a16="http://schemas.microsoft.com/office/drawing/2014/main" id="{3AF84D06-342B-4B86-A2DE-C66B044540EE}"/>
              </a:ext>
            </a:extLst>
          </p:cNvPr>
          <p:cNvSpPr txBox="1"/>
          <p:nvPr/>
        </p:nvSpPr>
        <p:spPr>
          <a:xfrm>
            <a:off x="714486" y="2110085"/>
            <a:ext cx="1893480" cy="923330"/>
          </a:xfrm>
          <a:prstGeom prst="rect">
            <a:avLst/>
          </a:prstGeom>
          <a:solidFill>
            <a:srgbClr val="FFCC32"/>
          </a:solidFill>
        </p:spPr>
        <p:txBody>
          <a:bodyPr wrap="square">
            <a:spAutoFit/>
          </a:bodyPr>
          <a:lstStyle/>
          <a:p>
            <a:pPr algn="ctr"/>
            <a:r>
              <a:rPr lang="en-US"/>
              <a:t>explore and prepare your data for analysis</a:t>
            </a:r>
            <a:endParaRPr lang="en-IN"/>
          </a:p>
        </p:txBody>
      </p:sp>
    </p:spTree>
    <p:extLst>
      <p:ext uri="{BB962C8B-B14F-4D97-AF65-F5344CB8AC3E}">
        <p14:creationId xmlns:p14="http://schemas.microsoft.com/office/powerpoint/2010/main" val="207907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500"/>
                                        <p:tgtEl>
                                          <p:spTgt spid="2"/>
                                        </p:tgtEl>
                                      </p:cBhvr>
                                    </p:animEffect>
                                  </p:childTnLst>
                                </p:cTn>
                              </p:par>
                              <p:par>
                                <p:cTn id="14" presetID="1"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9CE1A0-180C-4E53-9FD4-69328D96061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000" y="1143648"/>
            <a:ext cx="2305050" cy="2270778"/>
          </a:xfrm>
          <a:prstGeom prst="rect">
            <a:avLst/>
          </a:prstGeom>
        </p:spPr>
      </p:pic>
      <p:grpSp>
        <p:nvGrpSpPr>
          <p:cNvPr id="5" name="Group 4">
            <a:extLst>
              <a:ext uri="{FF2B5EF4-FFF2-40B4-BE49-F238E27FC236}">
                <a16:creationId xmlns:a16="http://schemas.microsoft.com/office/drawing/2014/main" id="{BAE578E2-982F-4452-82D5-4E2FD2631513}"/>
              </a:ext>
            </a:extLst>
          </p:cNvPr>
          <p:cNvGrpSpPr/>
          <p:nvPr/>
        </p:nvGrpSpPr>
        <p:grpSpPr>
          <a:xfrm>
            <a:off x="3585648" y="3756807"/>
            <a:ext cx="727067" cy="834243"/>
            <a:chOff x="4042848" y="1805361"/>
            <a:chExt cx="1071962" cy="1229979"/>
          </a:xfrm>
        </p:grpSpPr>
        <p:sp>
          <p:nvSpPr>
            <p:cNvPr id="7" name="Oval 6">
              <a:extLst>
                <a:ext uri="{FF2B5EF4-FFF2-40B4-BE49-F238E27FC236}">
                  <a16:creationId xmlns:a16="http://schemas.microsoft.com/office/drawing/2014/main" id="{19384159-285B-44D4-9F8B-BB90AA3702E0}"/>
                </a:ext>
              </a:extLst>
            </p:cNvPr>
            <p:cNvSpPr/>
            <p:nvPr/>
          </p:nvSpPr>
          <p:spPr>
            <a:xfrm>
              <a:off x="4160340" y="189097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8" name="Group 7">
              <a:extLst>
                <a:ext uri="{FF2B5EF4-FFF2-40B4-BE49-F238E27FC236}">
                  <a16:creationId xmlns:a16="http://schemas.microsoft.com/office/drawing/2014/main" id="{5C4EBADF-5970-48C0-999C-89AA928882B2}"/>
                </a:ext>
              </a:extLst>
            </p:cNvPr>
            <p:cNvGrpSpPr/>
            <p:nvPr/>
          </p:nvGrpSpPr>
          <p:grpSpPr>
            <a:xfrm>
              <a:off x="4042848" y="1805361"/>
              <a:ext cx="1071962" cy="1229979"/>
              <a:chOff x="4868460" y="1940790"/>
              <a:chExt cx="1230587" cy="1411988"/>
            </a:xfrm>
          </p:grpSpPr>
          <p:pic>
            <p:nvPicPr>
              <p:cNvPr id="9" name="Picture 8">
                <a:extLst>
                  <a:ext uri="{FF2B5EF4-FFF2-40B4-BE49-F238E27FC236}">
                    <a16:creationId xmlns:a16="http://schemas.microsoft.com/office/drawing/2014/main" id="{4681C9C3-04E7-4FCC-B578-CA6A19DB758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10" name="Picture 9">
                <a:extLst>
                  <a:ext uri="{FF2B5EF4-FFF2-40B4-BE49-F238E27FC236}">
                    <a16:creationId xmlns:a16="http://schemas.microsoft.com/office/drawing/2014/main" id="{9DE6EF48-5D0A-4A82-88A4-CFA7CB04FD5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grpSp>
        <p:nvGrpSpPr>
          <p:cNvPr id="11" name="Group 10">
            <a:extLst>
              <a:ext uri="{FF2B5EF4-FFF2-40B4-BE49-F238E27FC236}">
                <a16:creationId xmlns:a16="http://schemas.microsoft.com/office/drawing/2014/main" id="{14DD0D36-CAA8-42E3-A921-4250D62CD78B}"/>
              </a:ext>
            </a:extLst>
          </p:cNvPr>
          <p:cNvGrpSpPr/>
          <p:nvPr/>
        </p:nvGrpSpPr>
        <p:grpSpPr>
          <a:xfrm>
            <a:off x="4819136" y="3756807"/>
            <a:ext cx="727067" cy="834243"/>
            <a:chOff x="4042848" y="1805361"/>
            <a:chExt cx="1071962" cy="1229979"/>
          </a:xfrm>
        </p:grpSpPr>
        <p:sp>
          <p:nvSpPr>
            <p:cNvPr id="12" name="Oval 11">
              <a:extLst>
                <a:ext uri="{FF2B5EF4-FFF2-40B4-BE49-F238E27FC236}">
                  <a16:creationId xmlns:a16="http://schemas.microsoft.com/office/drawing/2014/main" id="{4084DE69-C059-4FC5-A117-BD92E3789EBA}"/>
                </a:ext>
              </a:extLst>
            </p:cNvPr>
            <p:cNvSpPr/>
            <p:nvPr/>
          </p:nvSpPr>
          <p:spPr>
            <a:xfrm>
              <a:off x="4160340" y="189097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13" name="Group 12">
              <a:extLst>
                <a:ext uri="{FF2B5EF4-FFF2-40B4-BE49-F238E27FC236}">
                  <a16:creationId xmlns:a16="http://schemas.microsoft.com/office/drawing/2014/main" id="{D71A6BEE-491E-40B4-9398-EDCF301056E7}"/>
                </a:ext>
              </a:extLst>
            </p:cNvPr>
            <p:cNvGrpSpPr/>
            <p:nvPr/>
          </p:nvGrpSpPr>
          <p:grpSpPr>
            <a:xfrm>
              <a:off x="4042848" y="1805361"/>
              <a:ext cx="1071962" cy="1229979"/>
              <a:chOff x="4868460" y="1940790"/>
              <a:chExt cx="1230587" cy="1411988"/>
            </a:xfrm>
          </p:grpSpPr>
          <p:pic>
            <p:nvPicPr>
              <p:cNvPr id="14" name="Picture 13">
                <a:extLst>
                  <a:ext uri="{FF2B5EF4-FFF2-40B4-BE49-F238E27FC236}">
                    <a16:creationId xmlns:a16="http://schemas.microsoft.com/office/drawing/2014/main" id="{6579F8FE-8E6C-45BE-B2E3-257263057E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15" name="Picture 14">
                <a:extLst>
                  <a:ext uri="{FF2B5EF4-FFF2-40B4-BE49-F238E27FC236}">
                    <a16:creationId xmlns:a16="http://schemas.microsoft.com/office/drawing/2014/main" id="{63B03AB1-0CB2-452B-A68D-C85450ED65A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grpSp>
        <p:nvGrpSpPr>
          <p:cNvPr id="16" name="Group 15">
            <a:extLst>
              <a:ext uri="{FF2B5EF4-FFF2-40B4-BE49-F238E27FC236}">
                <a16:creationId xmlns:a16="http://schemas.microsoft.com/office/drawing/2014/main" id="{50BB68F5-D39A-4C29-A954-72F93698E188}"/>
              </a:ext>
            </a:extLst>
          </p:cNvPr>
          <p:cNvGrpSpPr/>
          <p:nvPr/>
        </p:nvGrpSpPr>
        <p:grpSpPr>
          <a:xfrm>
            <a:off x="6052623" y="3756807"/>
            <a:ext cx="727067" cy="834243"/>
            <a:chOff x="4042848" y="1805361"/>
            <a:chExt cx="1071962" cy="1229979"/>
          </a:xfrm>
        </p:grpSpPr>
        <p:sp>
          <p:nvSpPr>
            <p:cNvPr id="17" name="Oval 16">
              <a:extLst>
                <a:ext uri="{FF2B5EF4-FFF2-40B4-BE49-F238E27FC236}">
                  <a16:creationId xmlns:a16="http://schemas.microsoft.com/office/drawing/2014/main" id="{99428277-B277-4560-92B0-559F181D2B5E}"/>
                </a:ext>
              </a:extLst>
            </p:cNvPr>
            <p:cNvSpPr/>
            <p:nvPr/>
          </p:nvSpPr>
          <p:spPr>
            <a:xfrm>
              <a:off x="4160340" y="189097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18" name="Group 17">
              <a:extLst>
                <a:ext uri="{FF2B5EF4-FFF2-40B4-BE49-F238E27FC236}">
                  <a16:creationId xmlns:a16="http://schemas.microsoft.com/office/drawing/2014/main" id="{10868320-E32E-4332-8F6D-0AB12DAC31CF}"/>
                </a:ext>
              </a:extLst>
            </p:cNvPr>
            <p:cNvGrpSpPr/>
            <p:nvPr/>
          </p:nvGrpSpPr>
          <p:grpSpPr>
            <a:xfrm>
              <a:off x="4042848" y="1805361"/>
              <a:ext cx="1071962" cy="1229979"/>
              <a:chOff x="4868460" y="1940790"/>
              <a:chExt cx="1230587" cy="1411988"/>
            </a:xfrm>
          </p:grpSpPr>
          <p:pic>
            <p:nvPicPr>
              <p:cNvPr id="19" name="Picture 18">
                <a:extLst>
                  <a:ext uri="{FF2B5EF4-FFF2-40B4-BE49-F238E27FC236}">
                    <a16:creationId xmlns:a16="http://schemas.microsoft.com/office/drawing/2014/main" id="{67FC7C19-A72F-48A1-8A7A-D7FF3FA538B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20" name="Picture 19">
                <a:extLst>
                  <a:ext uri="{FF2B5EF4-FFF2-40B4-BE49-F238E27FC236}">
                    <a16:creationId xmlns:a16="http://schemas.microsoft.com/office/drawing/2014/main" id="{2397BE1A-03CA-4589-9C39-370B3D30F08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sp>
        <p:nvSpPr>
          <p:cNvPr id="22" name="Oval 21">
            <a:extLst>
              <a:ext uri="{FF2B5EF4-FFF2-40B4-BE49-F238E27FC236}">
                <a16:creationId xmlns:a16="http://schemas.microsoft.com/office/drawing/2014/main" id="{DD2AF248-5BF5-41FD-AE72-31DCA803344D}"/>
              </a:ext>
            </a:extLst>
          </p:cNvPr>
          <p:cNvSpPr/>
          <p:nvPr/>
        </p:nvSpPr>
        <p:spPr>
          <a:xfrm>
            <a:off x="6183396" y="3198433"/>
            <a:ext cx="474579" cy="474579"/>
          </a:xfrm>
          <a:prstGeom prst="ellipse">
            <a:avLst/>
          </a:prstGeom>
          <a:solidFill>
            <a:schemeClr val="accent6"/>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23" name="Picture 22">
            <a:extLst>
              <a:ext uri="{FF2B5EF4-FFF2-40B4-BE49-F238E27FC236}">
                <a16:creationId xmlns:a16="http://schemas.microsoft.com/office/drawing/2014/main" id="{79A618A6-9220-4146-A18A-1325E0482E80}"/>
              </a:ext>
            </a:extLst>
          </p:cNvPr>
          <p:cNvPicPr>
            <a:picLocks noChangeAspect="1"/>
          </p:cNvPicPr>
          <p:nvPr/>
        </p:nvPicPr>
        <p:blipFill>
          <a:blip r:embed="rId6" cstate="print">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6256049" y="3305087"/>
            <a:ext cx="336467" cy="279438"/>
          </a:xfrm>
          <a:prstGeom prst="rect">
            <a:avLst/>
          </a:prstGeom>
          <a:solidFill>
            <a:schemeClr val="accent6"/>
          </a:solidFill>
        </p:spPr>
      </p:pic>
      <p:pic>
        <p:nvPicPr>
          <p:cNvPr id="25" name="Picture 24">
            <a:extLst>
              <a:ext uri="{FF2B5EF4-FFF2-40B4-BE49-F238E27FC236}">
                <a16:creationId xmlns:a16="http://schemas.microsoft.com/office/drawing/2014/main" id="{1532818C-126B-4AD9-9F81-76BEC9D4A6CE}"/>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366962" y="3724275"/>
            <a:ext cx="755557" cy="828675"/>
          </a:xfrm>
          <a:prstGeom prst="rect">
            <a:avLst/>
          </a:prstGeom>
        </p:spPr>
      </p:pic>
      <p:sp>
        <p:nvSpPr>
          <p:cNvPr id="26" name="Speech Bubble: Oval 25">
            <a:extLst>
              <a:ext uri="{FF2B5EF4-FFF2-40B4-BE49-F238E27FC236}">
                <a16:creationId xmlns:a16="http://schemas.microsoft.com/office/drawing/2014/main" id="{EC2FAEDF-BF3F-49C3-9843-484E1A6698FB}"/>
              </a:ext>
            </a:extLst>
          </p:cNvPr>
          <p:cNvSpPr/>
          <p:nvPr/>
        </p:nvSpPr>
        <p:spPr>
          <a:xfrm>
            <a:off x="1885951" y="2609850"/>
            <a:ext cx="876300" cy="800100"/>
          </a:xfrm>
          <a:prstGeom prst="wedgeEllipseCallout">
            <a:avLst>
              <a:gd name="adj1" fmla="val 31289"/>
              <a:gd name="adj2" fmla="val 89251"/>
            </a:avLst>
          </a:prstGeom>
          <a:solidFill>
            <a:schemeClr val="accent6"/>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27" name="Picture 26">
            <a:extLst>
              <a:ext uri="{FF2B5EF4-FFF2-40B4-BE49-F238E27FC236}">
                <a16:creationId xmlns:a16="http://schemas.microsoft.com/office/drawing/2014/main" id="{4DB0E05F-5FC5-469B-9B7D-52CA237D4F4A}"/>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2201488" y="2749622"/>
            <a:ext cx="303587" cy="514855"/>
          </a:xfrm>
          <a:prstGeom prst="rect">
            <a:avLst/>
          </a:prstGeom>
          <a:effectLst>
            <a:glow rad="50800">
              <a:schemeClr val="bg1">
                <a:alpha val="75000"/>
              </a:schemeClr>
            </a:glow>
          </a:effectLst>
        </p:spPr>
      </p:pic>
      <p:sp>
        <p:nvSpPr>
          <p:cNvPr id="4" name="TextBox 3">
            <a:extLst>
              <a:ext uri="{FF2B5EF4-FFF2-40B4-BE49-F238E27FC236}">
                <a16:creationId xmlns:a16="http://schemas.microsoft.com/office/drawing/2014/main" id="{21361255-B582-3A7F-A26A-26DE5AF9F13F}"/>
              </a:ext>
            </a:extLst>
          </p:cNvPr>
          <p:cNvSpPr txBox="1"/>
          <p:nvPr/>
        </p:nvSpPr>
        <p:spPr>
          <a:xfrm>
            <a:off x="133349" y="2064148"/>
            <a:ext cx="1666876" cy="1200329"/>
          </a:xfrm>
          <a:prstGeom prst="rect">
            <a:avLst/>
          </a:prstGeom>
          <a:solidFill>
            <a:srgbClr val="FFCC32"/>
          </a:solidFill>
        </p:spPr>
        <p:txBody>
          <a:bodyPr wrap="square">
            <a:spAutoFit/>
          </a:bodyPr>
          <a:lstStyle/>
          <a:p>
            <a:pPr algn="ctr"/>
            <a:r>
              <a:rPr lang="en-US"/>
              <a:t>detecting something that you did not know before</a:t>
            </a:r>
            <a:endParaRPr lang="en-IN"/>
          </a:p>
        </p:txBody>
      </p:sp>
      <p:sp>
        <p:nvSpPr>
          <p:cNvPr id="6" name="TextBox 5">
            <a:extLst>
              <a:ext uri="{FF2B5EF4-FFF2-40B4-BE49-F238E27FC236}">
                <a16:creationId xmlns:a16="http://schemas.microsoft.com/office/drawing/2014/main" id="{B6E0465A-8488-3329-12DD-60902C4DB3A1}"/>
              </a:ext>
            </a:extLst>
          </p:cNvPr>
          <p:cNvSpPr txBox="1"/>
          <p:nvPr/>
        </p:nvSpPr>
        <p:spPr>
          <a:xfrm>
            <a:off x="6942512" y="2009685"/>
            <a:ext cx="1893480" cy="646331"/>
          </a:xfrm>
          <a:prstGeom prst="rect">
            <a:avLst/>
          </a:prstGeom>
          <a:solidFill>
            <a:srgbClr val="FFCC32"/>
          </a:solidFill>
        </p:spPr>
        <p:txBody>
          <a:bodyPr wrap="square">
            <a:spAutoFit/>
          </a:bodyPr>
          <a:lstStyle/>
          <a:p>
            <a:pPr algn="ctr"/>
            <a:r>
              <a:rPr lang="en-US"/>
              <a:t>build and refine multiple models</a:t>
            </a:r>
            <a:endParaRPr lang="en-IN"/>
          </a:p>
        </p:txBody>
      </p:sp>
      <p:sp>
        <p:nvSpPr>
          <p:cNvPr id="21" name="TextBox 20">
            <a:extLst>
              <a:ext uri="{FF2B5EF4-FFF2-40B4-BE49-F238E27FC236}">
                <a16:creationId xmlns:a16="http://schemas.microsoft.com/office/drawing/2014/main" id="{E2C792FF-EFD6-5C9A-CA58-09CECC5098AE}"/>
              </a:ext>
            </a:extLst>
          </p:cNvPr>
          <p:cNvSpPr txBox="1"/>
          <p:nvPr/>
        </p:nvSpPr>
        <p:spPr>
          <a:xfrm>
            <a:off x="6942512" y="3122860"/>
            <a:ext cx="1893480" cy="646331"/>
          </a:xfrm>
          <a:prstGeom prst="rect">
            <a:avLst/>
          </a:prstGeom>
          <a:solidFill>
            <a:srgbClr val="FFCC32"/>
          </a:solidFill>
        </p:spPr>
        <p:txBody>
          <a:bodyPr wrap="square">
            <a:spAutoFit/>
          </a:bodyPr>
          <a:lstStyle/>
          <a:p>
            <a:pPr algn="ctr"/>
            <a:r>
              <a:rPr lang="en-US"/>
              <a:t>select the best model</a:t>
            </a:r>
            <a:endParaRPr lang="en-IN"/>
          </a:p>
        </p:txBody>
      </p:sp>
    </p:spTree>
    <p:extLst>
      <p:ext uri="{BB962C8B-B14F-4D97-AF65-F5344CB8AC3E}">
        <p14:creationId xmlns:p14="http://schemas.microsoft.com/office/powerpoint/2010/main" val="163329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00"/>
                                        <p:tgtEl>
                                          <p:spTgt spid="22"/>
                                        </p:tgtEl>
                                      </p:cBhvr>
                                    </p:animEffect>
                                  </p:childTnLst>
                                </p:cTn>
                              </p:par>
                              <p:par>
                                <p:cTn id="22" presetID="10" presetClass="entr" presetSubtype="0" fill="hold" nodeType="with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500"/>
                                        <p:tgtEl>
                                          <p:spTgt spid="2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6" grpId="0" animBg="1"/>
      <p:bldP spid="2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13D32D-2B18-4DF9-B380-C1CFF6843F3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000" y="1143647"/>
            <a:ext cx="2305050" cy="2270779"/>
          </a:xfrm>
          <a:prstGeom prst="rect">
            <a:avLst/>
          </a:prstGeom>
        </p:spPr>
      </p:pic>
      <p:grpSp>
        <p:nvGrpSpPr>
          <p:cNvPr id="2" name="Group 1">
            <a:extLst>
              <a:ext uri="{FF2B5EF4-FFF2-40B4-BE49-F238E27FC236}">
                <a16:creationId xmlns:a16="http://schemas.microsoft.com/office/drawing/2014/main" id="{A97F661A-A284-4361-A482-A21925D60EA6}"/>
              </a:ext>
            </a:extLst>
          </p:cNvPr>
          <p:cNvGrpSpPr/>
          <p:nvPr/>
        </p:nvGrpSpPr>
        <p:grpSpPr>
          <a:xfrm>
            <a:off x="1146224" y="1051707"/>
            <a:ext cx="1785366" cy="1341428"/>
            <a:chOff x="1146224" y="1051707"/>
            <a:chExt cx="1785366" cy="1341428"/>
          </a:xfrm>
        </p:grpSpPr>
        <p:grpSp>
          <p:nvGrpSpPr>
            <p:cNvPr id="4" name="Group 3">
              <a:extLst>
                <a:ext uri="{FF2B5EF4-FFF2-40B4-BE49-F238E27FC236}">
                  <a16:creationId xmlns:a16="http://schemas.microsoft.com/office/drawing/2014/main" id="{31908300-969B-4E04-A3C2-C6E620CD405F}"/>
                </a:ext>
              </a:extLst>
            </p:cNvPr>
            <p:cNvGrpSpPr/>
            <p:nvPr/>
          </p:nvGrpSpPr>
          <p:grpSpPr>
            <a:xfrm>
              <a:off x="2204523" y="1051707"/>
              <a:ext cx="727067" cy="834243"/>
              <a:chOff x="1928298" y="1632732"/>
              <a:chExt cx="727067" cy="834243"/>
            </a:xfrm>
          </p:grpSpPr>
          <p:sp>
            <p:nvSpPr>
              <p:cNvPr id="8" name="Oval 7">
                <a:extLst>
                  <a:ext uri="{FF2B5EF4-FFF2-40B4-BE49-F238E27FC236}">
                    <a16:creationId xmlns:a16="http://schemas.microsoft.com/office/drawing/2014/main" id="{59CE2F92-6B7E-4BF2-91D0-12EEABEA38FA}"/>
                  </a:ext>
                </a:extLst>
              </p:cNvPr>
              <p:cNvSpPr/>
              <p:nvPr/>
            </p:nvSpPr>
            <p:spPr>
              <a:xfrm>
                <a:off x="2007988" y="1690802"/>
                <a:ext cx="570876" cy="570875"/>
              </a:xfrm>
              <a:prstGeom prst="ellipse">
                <a:avLst/>
              </a:prstGeom>
              <a:solidFill>
                <a:schemeClr val="accent5">
                  <a:lumMod val="60000"/>
                  <a:lumOff val="4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9" name="Group 8">
                <a:extLst>
                  <a:ext uri="{FF2B5EF4-FFF2-40B4-BE49-F238E27FC236}">
                    <a16:creationId xmlns:a16="http://schemas.microsoft.com/office/drawing/2014/main" id="{74268D2C-FCB2-442C-B8D7-D06B71E89517}"/>
                  </a:ext>
                </a:extLst>
              </p:cNvPr>
              <p:cNvGrpSpPr/>
              <p:nvPr/>
            </p:nvGrpSpPr>
            <p:grpSpPr>
              <a:xfrm>
                <a:off x="1928298" y="1632732"/>
                <a:ext cx="727067" cy="834243"/>
                <a:chOff x="4868460" y="1940790"/>
                <a:chExt cx="1230587" cy="1411988"/>
              </a:xfrm>
            </p:grpSpPr>
            <p:pic>
              <p:nvPicPr>
                <p:cNvPr id="10" name="Picture 9">
                  <a:extLst>
                    <a:ext uri="{FF2B5EF4-FFF2-40B4-BE49-F238E27FC236}">
                      <a16:creationId xmlns:a16="http://schemas.microsoft.com/office/drawing/2014/main" id="{C6288501-5CA7-4370-A78D-B3808A97FE5F}"/>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11" name="Picture 10">
                  <a:extLst>
                    <a:ext uri="{FF2B5EF4-FFF2-40B4-BE49-F238E27FC236}">
                      <a16:creationId xmlns:a16="http://schemas.microsoft.com/office/drawing/2014/main" id="{60E9B825-C8FD-450A-8FBB-A7CF8C69BD8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pic>
          <p:nvPicPr>
            <p:cNvPr id="5" name="Picture 4">
              <a:extLst>
                <a:ext uri="{FF2B5EF4-FFF2-40B4-BE49-F238E27FC236}">
                  <a16:creationId xmlns:a16="http://schemas.microsoft.com/office/drawing/2014/main" id="{5FAAF04D-CF80-408D-8215-5768304B878D}"/>
                </a:ext>
              </a:extLst>
            </p:cNvPr>
            <p:cNvPicPr>
              <a:picLocks noChangeAspect="1"/>
            </p:cNvPicPr>
            <p:nvPr/>
          </p:nvPicPr>
          <p:blipFill>
            <a:blip r:embed="rId6" cstate="print">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1146224" y="1197877"/>
              <a:ext cx="878948" cy="678548"/>
            </a:xfrm>
            <a:prstGeom prst="rect">
              <a:avLst/>
            </a:prstGeom>
          </p:spPr>
        </p:pic>
        <p:sp>
          <p:nvSpPr>
            <p:cNvPr id="12" name="Rectangle: Rounded Corners 11">
              <a:extLst>
                <a:ext uri="{FF2B5EF4-FFF2-40B4-BE49-F238E27FC236}">
                  <a16:creationId xmlns:a16="http://schemas.microsoft.com/office/drawing/2014/main" id="{C0E6A1DD-F57C-4C4D-81F4-5F0AB1796622}"/>
                </a:ext>
              </a:extLst>
            </p:cNvPr>
            <p:cNvSpPr/>
            <p:nvPr/>
          </p:nvSpPr>
          <p:spPr>
            <a:xfrm>
              <a:off x="1566225" y="2085975"/>
              <a:ext cx="1081726" cy="307160"/>
            </a:xfrm>
            <a:prstGeom prst="roundRect">
              <a:avLst/>
            </a:prstGeom>
            <a:solidFill>
              <a:srgbClr val="FFCC32"/>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Scoring</a:t>
              </a:r>
            </a:p>
          </p:txBody>
        </p:sp>
      </p:grpSp>
    </p:spTree>
    <p:extLst>
      <p:ext uri="{BB962C8B-B14F-4D97-AF65-F5344CB8AC3E}">
        <p14:creationId xmlns:p14="http://schemas.microsoft.com/office/powerpoint/2010/main" val="45638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500DEC-F6DF-442A-9CAD-342EE3C9675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29672" y="1139265"/>
            <a:ext cx="2304378" cy="2275431"/>
          </a:xfrm>
          <a:prstGeom prst="rect">
            <a:avLst/>
          </a:prstGeom>
        </p:spPr>
      </p:pic>
      <p:pic>
        <p:nvPicPr>
          <p:cNvPr id="4" name="Picture 3">
            <a:extLst>
              <a:ext uri="{FF2B5EF4-FFF2-40B4-BE49-F238E27FC236}">
                <a16:creationId xmlns:a16="http://schemas.microsoft.com/office/drawing/2014/main" id="{A366E42F-2405-40B7-A067-C3161C3D6B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687466" y="1630598"/>
            <a:ext cx="517096" cy="876946"/>
          </a:xfrm>
          <a:prstGeom prst="rect">
            <a:avLst/>
          </a:prstGeom>
          <a:effectLst>
            <a:glow rad="50800">
              <a:srgbClr val="FFCC32">
                <a:alpha val="75000"/>
              </a:srgbClr>
            </a:glow>
          </a:effectLst>
        </p:spPr>
      </p:pic>
      <p:pic>
        <p:nvPicPr>
          <p:cNvPr id="6" name="Picture 5">
            <a:extLst>
              <a:ext uri="{FF2B5EF4-FFF2-40B4-BE49-F238E27FC236}">
                <a16:creationId xmlns:a16="http://schemas.microsoft.com/office/drawing/2014/main" id="{A573DF7B-8336-45C2-9B01-FEDC10B5773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20947" y="3684263"/>
            <a:ext cx="517096" cy="876946"/>
          </a:xfrm>
          <a:prstGeom prst="rect">
            <a:avLst/>
          </a:prstGeom>
          <a:effectLst>
            <a:glow rad="50800">
              <a:srgbClr val="FFCC32">
                <a:alpha val="75000"/>
              </a:srgbClr>
            </a:glow>
          </a:effectLst>
        </p:spPr>
      </p:pic>
      <p:pic>
        <p:nvPicPr>
          <p:cNvPr id="7" name="Picture 6">
            <a:extLst>
              <a:ext uri="{FF2B5EF4-FFF2-40B4-BE49-F238E27FC236}">
                <a16:creationId xmlns:a16="http://schemas.microsoft.com/office/drawing/2014/main" id="{B7D4F3E0-9E1D-44A5-86CB-84F6FE3D45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05811" y="1630598"/>
            <a:ext cx="517096" cy="876946"/>
          </a:xfrm>
          <a:prstGeom prst="rect">
            <a:avLst/>
          </a:prstGeom>
          <a:effectLst>
            <a:glow rad="50800">
              <a:srgbClr val="FFCC32">
                <a:alpha val="75000"/>
              </a:srgbClr>
            </a:glow>
          </a:effectLst>
        </p:spPr>
      </p:pic>
      <p:sp>
        <p:nvSpPr>
          <p:cNvPr id="9" name="Speech Bubble: Oval 8">
            <a:extLst>
              <a:ext uri="{FF2B5EF4-FFF2-40B4-BE49-F238E27FC236}">
                <a16:creationId xmlns:a16="http://schemas.microsoft.com/office/drawing/2014/main" id="{EAB4943B-871D-7625-3D9D-CEDFD599B3BC}"/>
              </a:ext>
            </a:extLst>
          </p:cNvPr>
          <p:cNvSpPr/>
          <p:nvPr/>
        </p:nvSpPr>
        <p:spPr>
          <a:xfrm>
            <a:off x="3305176" y="3743324"/>
            <a:ext cx="2505456" cy="962025"/>
          </a:xfrm>
          <a:prstGeom prst="wedgeEllipseCallout">
            <a:avLst>
              <a:gd name="adj1" fmla="val 1266"/>
              <a:gd name="adj2" fmla="val -72477"/>
            </a:avLst>
          </a:prstGeom>
          <a:solidFill>
            <a:schemeClr val="accent6">
              <a:lumMod val="60000"/>
              <a:lumOff val="4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lumMod val="75000"/>
                    <a:lumOff val="25000"/>
                  </a:schemeClr>
                </a:solidFill>
              </a:rPr>
              <a:t>essential </a:t>
            </a:r>
            <a:r>
              <a:rPr lang="en-US" b="1">
                <a:solidFill>
                  <a:schemeClr val="tx1">
                    <a:lumMod val="75000"/>
                    <a:lumOff val="25000"/>
                  </a:schemeClr>
                </a:solidFill>
              </a:rPr>
              <a:t>discovery</a:t>
            </a:r>
            <a:r>
              <a:rPr lang="en-US">
                <a:solidFill>
                  <a:schemeClr val="tx1">
                    <a:lumMod val="75000"/>
                    <a:lumOff val="25000"/>
                  </a:schemeClr>
                </a:solidFill>
              </a:rPr>
              <a:t> tasks</a:t>
            </a:r>
          </a:p>
        </p:txBody>
      </p:sp>
      <p:sp>
        <p:nvSpPr>
          <p:cNvPr id="10" name="Speech Bubble: Oval 9">
            <a:extLst>
              <a:ext uri="{FF2B5EF4-FFF2-40B4-BE49-F238E27FC236}">
                <a16:creationId xmlns:a16="http://schemas.microsoft.com/office/drawing/2014/main" id="{F95AFFB0-2160-C222-FE9E-67988AE2103B}"/>
              </a:ext>
            </a:extLst>
          </p:cNvPr>
          <p:cNvSpPr/>
          <p:nvPr/>
        </p:nvSpPr>
        <p:spPr>
          <a:xfrm>
            <a:off x="5829302" y="504824"/>
            <a:ext cx="2505456" cy="1095375"/>
          </a:xfrm>
          <a:prstGeom prst="wedgeEllipseCallout">
            <a:avLst>
              <a:gd name="adj1" fmla="val -55300"/>
              <a:gd name="adj2" fmla="val 36933"/>
            </a:avLst>
          </a:prstGeom>
          <a:solidFill>
            <a:schemeClr val="tx2">
              <a:lumMod val="25000"/>
              <a:lumOff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lumMod val="75000"/>
                    <a:lumOff val="25000"/>
                  </a:schemeClr>
                </a:solidFill>
              </a:rPr>
              <a:t>essential </a:t>
            </a:r>
            <a:r>
              <a:rPr lang="en-US" b="1">
                <a:solidFill>
                  <a:schemeClr val="tx1">
                    <a:lumMod val="75000"/>
                    <a:lumOff val="25000"/>
                  </a:schemeClr>
                </a:solidFill>
              </a:rPr>
              <a:t>data</a:t>
            </a:r>
            <a:r>
              <a:rPr lang="en-US">
                <a:solidFill>
                  <a:schemeClr val="tx1">
                    <a:lumMod val="75000"/>
                    <a:lumOff val="25000"/>
                  </a:schemeClr>
                </a:solidFill>
              </a:rPr>
              <a:t> tasks</a:t>
            </a:r>
          </a:p>
        </p:txBody>
      </p:sp>
      <p:sp>
        <p:nvSpPr>
          <p:cNvPr id="11" name="Speech Bubble: Oval 10">
            <a:extLst>
              <a:ext uri="{FF2B5EF4-FFF2-40B4-BE49-F238E27FC236}">
                <a16:creationId xmlns:a16="http://schemas.microsoft.com/office/drawing/2014/main" id="{B24925BA-FAF4-E7AE-FD0D-CA98CED35F69}"/>
              </a:ext>
            </a:extLst>
          </p:cNvPr>
          <p:cNvSpPr/>
          <p:nvPr/>
        </p:nvSpPr>
        <p:spPr>
          <a:xfrm>
            <a:off x="923924" y="495299"/>
            <a:ext cx="2505077" cy="1114425"/>
          </a:xfrm>
          <a:prstGeom prst="wedgeEllipseCallout">
            <a:avLst>
              <a:gd name="adj1" fmla="val 53178"/>
              <a:gd name="adj2" fmla="val 40442"/>
            </a:avLst>
          </a:prstGeom>
          <a:solidFill>
            <a:schemeClr val="accent5">
              <a:lumMod val="60000"/>
              <a:lumOff val="4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lumMod val="75000"/>
                    <a:lumOff val="25000"/>
                  </a:schemeClr>
                </a:solidFill>
              </a:rPr>
              <a:t>essential </a:t>
            </a:r>
            <a:r>
              <a:rPr lang="en-US" b="1">
                <a:solidFill>
                  <a:schemeClr val="tx1">
                    <a:lumMod val="75000"/>
                    <a:lumOff val="25000"/>
                  </a:schemeClr>
                </a:solidFill>
              </a:rPr>
              <a:t>deployment</a:t>
            </a:r>
            <a:r>
              <a:rPr lang="en-US">
                <a:solidFill>
                  <a:schemeClr val="tx1">
                    <a:lumMod val="75000"/>
                    <a:lumOff val="25000"/>
                  </a:schemeClr>
                </a:solidFill>
              </a:rPr>
              <a:t> tasks</a:t>
            </a:r>
          </a:p>
        </p:txBody>
      </p:sp>
    </p:spTree>
    <p:extLst>
      <p:ext uri="{BB962C8B-B14F-4D97-AF65-F5344CB8AC3E}">
        <p14:creationId xmlns:p14="http://schemas.microsoft.com/office/powerpoint/2010/main" val="787484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4"/>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7"/>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9BA2A737-781C-46F1-B6CB-617D385527D7}"/>
              </a:ext>
            </a:extLst>
          </p:cNvPr>
          <p:cNvSpPr/>
          <p:nvPr/>
        </p:nvSpPr>
        <p:spPr>
          <a:xfrm>
            <a:off x="0" y="697584"/>
            <a:ext cx="9144000" cy="688156"/>
          </a:xfrm>
          <a:prstGeom prst="rect">
            <a:avLst/>
          </a:prstGeom>
          <a:solidFill>
            <a:schemeClr val="bg1">
              <a:lumMod val="9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24" name="Freeform 13">
            <a:extLst>
              <a:ext uri="{FF2B5EF4-FFF2-40B4-BE49-F238E27FC236}">
                <a16:creationId xmlns:a16="http://schemas.microsoft.com/office/drawing/2014/main" id="{02F348CC-AD72-4ECD-930A-3EF70F63CA6C}"/>
              </a:ext>
            </a:extLst>
          </p:cNvPr>
          <p:cNvSpPr>
            <a:spLocks noChangeAspect="1" noEditPoints="1"/>
          </p:cNvSpPr>
          <p:nvPr/>
        </p:nvSpPr>
        <p:spPr bwMode="auto">
          <a:xfrm>
            <a:off x="2725186" y="698094"/>
            <a:ext cx="847574" cy="353144"/>
          </a:xfrm>
          <a:custGeom>
            <a:avLst/>
            <a:gdLst>
              <a:gd name="T0" fmla="*/ 4282 w 4799"/>
              <a:gd name="T1" fmla="*/ 2418 h 2551"/>
              <a:gd name="T2" fmla="*/ 4282 w 4799"/>
              <a:gd name="T3" fmla="*/ 2418 h 2551"/>
              <a:gd name="T4" fmla="*/ 650 w 4799"/>
              <a:gd name="T5" fmla="*/ 2417 h 2551"/>
              <a:gd name="T6" fmla="*/ 133 w 4799"/>
              <a:gd name="T7" fmla="*/ 1901 h 2551"/>
              <a:gd name="T8" fmla="*/ 650 w 4799"/>
              <a:gd name="T9" fmla="*/ 1384 h 2551"/>
              <a:gd name="T10" fmla="*/ 662 w 4799"/>
              <a:gd name="T11" fmla="*/ 1385 h 2551"/>
              <a:gd name="T12" fmla="*/ 710 w 4799"/>
              <a:gd name="T13" fmla="*/ 1362 h 2551"/>
              <a:gd name="T14" fmla="*/ 730 w 4799"/>
              <a:gd name="T15" fmla="*/ 1311 h 2551"/>
              <a:gd name="T16" fmla="*/ 1908 w 4799"/>
              <a:gd name="T17" fmla="*/ 133 h 2551"/>
              <a:gd name="T18" fmla="*/ 3017 w 4799"/>
              <a:gd name="T19" fmla="*/ 913 h 2551"/>
              <a:gd name="T20" fmla="*/ 3053 w 4799"/>
              <a:gd name="T21" fmla="*/ 952 h 2551"/>
              <a:gd name="T22" fmla="*/ 3105 w 4799"/>
              <a:gd name="T23" fmla="*/ 952 h 2551"/>
              <a:gd name="T24" fmla="*/ 3384 w 4799"/>
              <a:gd name="T25" fmla="*/ 896 h 2551"/>
              <a:gd name="T26" fmla="*/ 4107 w 4799"/>
              <a:gd name="T27" fmla="*/ 1601 h 2551"/>
              <a:gd name="T28" fmla="*/ 4134 w 4799"/>
              <a:gd name="T29" fmla="*/ 1650 h 2551"/>
              <a:gd name="T30" fmla="*/ 4189 w 4799"/>
              <a:gd name="T31" fmla="*/ 1662 h 2551"/>
              <a:gd name="T32" fmla="*/ 4196 w 4799"/>
              <a:gd name="T33" fmla="*/ 1660 h 2551"/>
              <a:gd name="T34" fmla="*/ 4282 w 4799"/>
              <a:gd name="T35" fmla="*/ 1650 h 2551"/>
              <a:gd name="T36" fmla="*/ 4666 w 4799"/>
              <a:gd name="T37" fmla="*/ 2034 h 2551"/>
              <a:gd name="T38" fmla="*/ 4282 w 4799"/>
              <a:gd name="T39" fmla="*/ 2418 h 2551"/>
              <a:gd name="T40" fmla="*/ 4282 w 4799"/>
              <a:gd name="T41" fmla="*/ 2418 h 2551"/>
              <a:gd name="T42" fmla="*/ 4282 w 4799"/>
              <a:gd name="T43" fmla="*/ 1517 h 2551"/>
              <a:gd name="T44" fmla="*/ 4282 w 4799"/>
              <a:gd name="T45" fmla="*/ 1517 h 2551"/>
              <a:gd name="T46" fmla="*/ 4235 w 4799"/>
              <a:gd name="T47" fmla="*/ 1519 h 2551"/>
              <a:gd name="T48" fmla="*/ 3384 w 4799"/>
              <a:gd name="T49" fmla="*/ 763 h 2551"/>
              <a:gd name="T50" fmla="*/ 3118 w 4799"/>
              <a:gd name="T51" fmla="*/ 805 h 2551"/>
              <a:gd name="T52" fmla="*/ 1908 w 4799"/>
              <a:gd name="T53" fmla="*/ 0 h 2551"/>
              <a:gd name="T54" fmla="*/ 598 w 4799"/>
              <a:gd name="T55" fmla="*/ 1253 h 2551"/>
              <a:gd name="T56" fmla="*/ 0 w 4799"/>
              <a:gd name="T57" fmla="*/ 1901 h 2551"/>
              <a:gd name="T58" fmla="*/ 650 w 4799"/>
              <a:gd name="T59" fmla="*/ 2551 h 2551"/>
              <a:gd name="T60" fmla="*/ 4282 w 4799"/>
              <a:gd name="T61" fmla="*/ 2551 h 2551"/>
              <a:gd name="T62" fmla="*/ 4799 w 4799"/>
              <a:gd name="T63" fmla="*/ 2034 h 2551"/>
              <a:gd name="T64" fmla="*/ 4282 w 4799"/>
              <a:gd name="T65" fmla="*/ 1517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99" h="2551">
                <a:moveTo>
                  <a:pt x="4282" y="2418"/>
                </a:moveTo>
                <a:lnTo>
                  <a:pt x="4282" y="2418"/>
                </a:lnTo>
                <a:lnTo>
                  <a:pt x="650" y="2417"/>
                </a:lnTo>
                <a:cubicBezTo>
                  <a:pt x="365" y="2417"/>
                  <a:pt x="133" y="2186"/>
                  <a:pt x="133" y="1901"/>
                </a:cubicBezTo>
                <a:cubicBezTo>
                  <a:pt x="133" y="1616"/>
                  <a:pt x="365" y="1384"/>
                  <a:pt x="650" y="1384"/>
                </a:cubicBezTo>
                <a:lnTo>
                  <a:pt x="662" y="1385"/>
                </a:lnTo>
                <a:cubicBezTo>
                  <a:pt x="680" y="1384"/>
                  <a:pt x="697" y="1375"/>
                  <a:pt x="710" y="1362"/>
                </a:cubicBezTo>
                <a:cubicBezTo>
                  <a:pt x="723" y="1350"/>
                  <a:pt x="730" y="1329"/>
                  <a:pt x="730" y="1311"/>
                </a:cubicBezTo>
                <a:cubicBezTo>
                  <a:pt x="730" y="662"/>
                  <a:pt x="1259" y="133"/>
                  <a:pt x="1908" y="133"/>
                </a:cubicBezTo>
                <a:cubicBezTo>
                  <a:pt x="2404" y="133"/>
                  <a:pt x="2849" y="447"/>
                  <a:pt x="3017" y="913"/>
                </a:cubicBezTo>
                <a:cubicBezTo>
                  <a:pt x="3023" y="930"/>
                  <a:pt x="3036" y="944"/>
                  <a:pt x="3053" y="952"/>
                </a:cubicBezTo>
                <a:cubicBezTo>
                  <a:pt x="3069" y="959"/>
                  <a:pt x="3088" y="959"/>
                  <a:pt x="3105" y="952"/>
                </a:cubicBezTo>
                <a:cubicBezTo>
                  <a:pt x="3194" y="915"/>
                  <a:pt x="3287" y="896"/>
                  <a:pt x="3384" y="896"/>
                </a:cubicBezTo>
                <a:cubicBezTo>
                  <a:pt x="3776" y="896"/>
                  <a:pt x="4094" y="1204"/>
                  <a:pt x="4107" y="1601"/>
                </a:cubicBezTo>
                <a:cubicBezTo>
                  <a:pt x="4108" y="1621"/>
                  <a:pt x="4118" y="1639"/>
                  <a:pt x="4134" y="1650"/>
                </a:cubicBezTo>
                <a:cubicBezTo>
                  <a:pt x="4149" y="1662"/>
                  <a:pt x="4169" y="1666"/>
                  <a:pt x="4189" y="1662"/>
                </a:cubicBezTo>
                <a:lnTo>
                  <a:pt x="4196" y="1660"/>
                </a:lnTo>
                <a:cubicBezTo>
                  <a:pt x="4225" y="1654"/>
                  <a:pt x="4253" y="1650"/>
                  <a:pt x="4282" y="1650"/>
                </a:cubicBezTo>
                <a:cubicBezTo>
                  <a:pt x="4494" y="1650"/>
                  <a:pt x="4666" y="1822"/>
                  <a:pt x="4666" y="2034"/>
                </a:cubicBezTo>
                <a:cubicBezTo>
                  <a:pt x="4666" y="2246"/>
                  <a:pt x="4494" y="2418"/>
                  <a:pt x="4282" y="2418"/>
                </a:cubicBezTo>
                <a:lnTo>
                  <a:pt x="4282" y="2418"/>
                </a:lnTo>
                <a:close/>
                <a:moveTo>
                  <a:pt x="4282" y="1517"/>
                </a:moveTo>
                <a:lnTo>
                  <a:pt x="4282" y="1517"/>
                </a:lnTo>
                <a:cubicBezTo>
                  <a:pt x="4266" y="1517"/>
                  <a:pt x="4250" y="1517"/>
                  <a:pt x="4235" y="1519"/>
                </a:cubicBezTo>
                <a:cubicBezTo>
                  <a:pt x="4185" y="1089"/>
                  <a:pt x="3824" y="763"/>
                  <a:pt x="3384" y="763"/>
                </a:cubicBezTo>
                <a:cubicBezTo>
                  <a:pt x="3293" y="763"/>
                  <a:pt x="3204" y="777"/>
                  <a:pt x="3118" y="805"/>
                </a:cubicBezTo>
                <a:cubicBezTo>
                  <a:pt x="2915" y="321"/>
                  <a:pt x="2437" y="0"/>
                  <a:pt x="1908" y="0"/>
                </a:cubicBezTo>
                <a:cubicBezTo>
                  <a:pt x="1204" y="0"/>
                  <a:pt x="629" y="557"/>
                  <a:pt x="598" y="1253"/>
                </a:cubicBezTo>
                <a:cubicBezTo>
                  <a:pt x="264" y="1279"/>
                  <a:pt x="0" y="1560"/>
                  <a:pt x="0" y="1901"/>
                </a:cubicBezTo>
                <a:cubicBezTo>
                  <a:pt x="0" y="2259"/>
                  <a:pt x="291" y="2551"/>
                  <a:pt x="650" y="2551"/>
                </a:cubicBezTo>
                <a:lnTo>
                  <a:pt x="4282" y="2551"/>
                </a:lnTo>
                <a:cubicBezTo>
                  <a:pt x="4567" y="2551"/>
                  <a:pt x="4799" y="2319"/>
                  <a:pt x="4799" y="2034"/>
                </a:cubicBezTo>
                <a:cubicBezTo>
                  <a:pt x="4799" y="1749"/>
                  <a:pt x="4567" y="1517"/>
                  <a:pt x="4282" y="1517"/>
                </a:cubicBezTo>
                <a:close/>
              </a:path>
            </a:pathLst>
          </a:custGeom>
          <a:solidFill>
            <a:schemeClr val="tx2"/>
          </a:solid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16">
            <a:extLst>
              <a:ext uri="{FF2B5EF4-FFF2-40B4-BE49-F238E27FC236}">
                <a16:creationId xmlns:a16="http://schemas.microsoft.com/office/drawing/2014/main" id="{2EFAEC2D-9AF4-401C-BE78-A149159C6411}"/>
              </a:ext>
            </a:extLst>
          </p:cNvPr>
          <p:cNvSpPr>
            <a:spLocks noChangeAspect="1" noEditPoints="1"/>
          </p:cNvSpPr>
          <p:nvPr/>
        </p:nvSpPr>
        <p:spPr bwMode="auto">
          <a:xfrm>
            <a:off x="1611984" y="979454"/>
            <a:ext cx="851304" cy="452003"/>
          </a:xfrm>
          <a:custGeom>
            <a:avLst/>
            <a:gdLst>
              <a:gd name="T0" fmla="*/ 837 w 4164"/>
              <a:gd name="T1" fmla="*/ 433 h 2589"/>
              <a:gd name="T2" fmla="*/ 825 w 4164"/>
              <a:gd name="T3" fmla="*/ 1810 h 2589"/>
              <a:gd name="T4" fmla="*/ 849 w 4164"/>
              <a:gd name="T5" fmla="*/ 1844 h 2589"/>
              <a:gd name="T6" fmla="*/ 3232 w 4164"/>
              <a:gd name="T7" fmla="*/ 1844 h 2589"/>
              <a:gd name="T8" fmla="*/ 3254 w 4164"/>
              <a:gd name="T9" fmla="*/ 1810 h 2589"/>
              <a:gd name="T10" fmla="*/ 3243 w 4164"/>
              <a:gd name="T11" fmla="*/ 433 h 2589"/>
              <a:gd name="T12" fmla="*/ 863 w 4164"/>
              <a:gd name="T13" fmla="*/ 421 h 2589"/>
              <a:gd name="T14" fmla="*/ 3247 w 4164"/>
              <a:gd name="T15" fmla="*/ 310 h 2589"/>
              <a:gd name="T16" fmla="*/ 3324 w 4164"/>
              <a:gd name="T17" fmla="*/ 352 h 2589"/>
              <a:gd name="T18" fmla="*/ 3365 w 4164"/>
              <a:gd name="T19" fmla="*/ 428 h 2589"/>
              <a:gd name="T20" fmla="*/ 3365 w 4164"/>
              <a:gd name="T21" fmla="*/ 1840 h 2589"/>
              <a:gd name="T22" fmla="*/ 3324 w 4164"/>
              <a:gd name="T23" fmla="*/ 1917 h 2589"/>
              <a:gd name="T24" fmla="*/ 3247 w 4164"/>
              <a:gd name="T25" fmla="*/ 1958 h 2589"/>
              <a:gd name="T26" fmla="*/ 833 w 4164"/>
              <a:gd name="T27" fmla="*/ 1958 h 2589"/>
              <a:gd name="T28" fmla="*/ 756 w 4164"/>
              <a:gd name="T29" fmla="*/ 1917 h 2589"/>
              <a:gd name="T30" fmla="*/ 714 w 4164"/>
              <a:gd name="T31" fmla="*/ 1840 h 2589"/>
              <a:gd name="T32" fmla="*/ 714 w 4164"/>
              <a:gd name="T33" fmla="*/ 428 h 2589"/>
              <a:gd name="T34" fmla="*/ 756 w 4164"/>
              <a:gd name="T35" fmla="*/ 352 h 2589"/>
              <a:gd name="T36" fmla="*/ 833 w 4164"/>
              <a:gd name="T37" fmla="*/ 310 h 2589"/>
              <a:gd name="T38" fmla="*/ 676 w 4164"/>
              <a:gd name="T39" fmla="*/ 117 h 2589"/>
              <a:gd name="T40" fmla="*/ 604 w 4164"/>
              <a:gd name="T41" fmla="*/ 162 h 2589"/>
              <a:gd name="T42" fmla="*/ 575 w 4164"/>
              <a:gd name="T43" fmla="*/ 244 h 2589"/>
              <a:gd name="T44" fmla="*/ 589 w 4164"/>
              <a:gd name="T45" fmla="*/ 2142 h 2589"/>
              <a:gd name="T46" fmla="*/ 649 w 4164"/>
              <a:gd name="T47" fmla="*/ 2203 h 2589"/>
              <a:gd name="T48" fmla="*/ 1605 w 4164"/>
              <a:gd name="T49" fmla="*/ 2215 h 2589"/>
              <a:gd name="T50" fmla="*/ 1650 w 4164"/>
              <a:gd name="T51" fmla="*/ 2239 h 2589"/>
              <a:gd name="T52" fmla="*/ 1662 w 4164"/>
              <a:gd name="T53" fmla="*/ 2275 h 2589"/>
              <a:gd name="T54" fmla="*/ 1662 w 4164"/>
              <a:gd name="T55" fmla="*/ 2282 h 2589"/>
              <a:gd name="T56" fmla="*/ 1639 w 4164"/>
              <a:gd name="T57" fmla="*/ 2329 h 2589"/>
              <a:gd name="T58" fmla="*/ 191 w 4164"/>
              <a:gd name="T59" fmla="*/ 2340 h 2589"/>
              <a:gd name="T60" fmla="*/ 3971 w 4164"/>
              <a:gd name="T61" fmla="*/ 2340 h 2589"/>
              <a:gd name="T62" fmla="*/ 2522 w 4164"/>
              <a:gd name="T63" fmla="*/ 2328 h 2589"/>
              <a:gd name="T64" fmla="*/ 2498 w 4164"/>
              <a:gd name="T65" fmla="*/ 2286 h 2589"/>
              <a:gd name="T66" fmla="*/ 2508 w 4164"/>
              <a:gd name="T67" fmla="*/ 2239 h 2589"/>
              <a:gd name="T68" fmla="*/ 2554 w 4164"/>
              <a:gd name="T69" fmla="*/ 2215 h 2589"/>
              <a:gd name="T70" fmla="*/ 3442 w 4164"/>
              <a:gd name="T71" fmla="*/ 2203 h 2589"/>
              <a:gd name="T72" fmla="*/ 3502 w 4164"/>
              <a:gd name="T73" fmla="*/ 2142 h 2589"/>
              <a:gd name="T74" fmla="*/ 3515 w 4164"/>
              <a:gd name="T75" fmla="*/ 244 h 2589"/>
              <a:gd name="T76" fmla="*/ 3486 w 4164"/>
              <a:gd name="T77" fmla="*/ 162 h 2589"/>
              <a:gd name="T78" fmla="*/ 3414 w 4164"/>
              <a:gd name="T79" fmla="*/ 117 h 2589"/>
              <a:gd name="T80" fmla="*/ 707 w 4164"/>
              <a:gd name="T81" fmla="*/ 0 h 2589"/>
              <a:gd name="T82" fmla="*/ 3470 w 4164"/>
              <a:gd name="T83" fmla="*/ 15 h 2589"/>
              <a:gd name="T84" fmla="*/ 3572 w 4164"/>
              <a:gd name="T85" fmla="*/ 87 h 2589"/>
              <a:gd name="T86" fmla="*/ 3625 w 4164"/>
              <a:gd name="T87" fmla="*/ 200 h 2589"/>
              <a:gd name="T88" fmla="*/ 3626 w 4164"/>
              <a:gd name="T89" fmla="*/ 2123 h 2589"/>
              <a:gd name="T90" fmla="*/ 3585 w 4164"/>
              <a:gd name="T91" fmla="*/ 2225 h 2589"/>
              <a:gd name="T92" fmla="*/ 4139 w 4164"/>
              <a:gd name="T93" fmla="*/ 2235 h 2589"/>
              <a:gd name="T94" fmla="*/ 4164 w 4164"/>
              <a:gd name="T95" fmla="*/ 2277 h 2589"/>
              <a:gd name="T96" fmla="*/ 4148 w 4164"/>
              <a:gd name="T97" fmla="*/ 2323 h 2589"/>
              <a:gd name="T98" fmla="*/ 3879 w 4164"/>
              <a:gd name="T99" fmla="*/ 2586 h 2589"/>
              <a:gd name="T100" fmla="*/ 278 w 4164"/>
              <a:gd name="T101" fmla="*/ 2586 h 2589"/>
              <a:gd name="T102" fmla="*/ 15 w 4164"/>
              <a:gd name="T103" fmla="*/ 2323 h 2589"/>
              <a:gd name="T104" fmla="*/ 0 w 4164"/>
              <a:gd name="T105" fmla="*/ 2276 h 2589"/>
              <a:gd name="T106" fmla="*/ 25 w 4164"/>
              <a:gd name="T107" fmla="*/ 2234 h 2589"/>
              <a:gd name="T108" fmla="*/ 506 w 4164"/>
              <a:gd name="T109" fmla="*/ 2225 h 2589"/>
              <a:gd name="T110" fmla="*/ 464 w 4164"/>
              <a:gd name="T111" fmla="*/ 2123 h 2589"/>
              <a:gd name="T112" fmla="*/ 466 w 4164"/>
              <a:gd name="T113" fmla="*/ 200 h 2589"/>
              <a:gd name="T114" fmla="*/ 519 w 4164"/>
              <a:gd name="T115" fmla="*/ 87 h 2589"/>
              <a:gd name="T116" fmla="*/ 621 w 4164"/>
              <a:gd name="T117" fmla="*/ 15 h 2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64" h="2589">
                <a:moveTo>
                  <a:pt x="863" y="421"/>
                </a:moveTo>
                <a:lnTo>
                  <a:pt x="849" y="425"/>
                </a:lnTo>
                <a:lnTo>
                  <a:pt x="837" y="433"/>
                </a:lnTo>
                <a:lnTo>
                  <a:pt x="829" y="444"/>
                </a:lnTo>
                <a:lnTo>
                  <a:pt x="825" y="459"/>
                </a:lnTo>
                <a:lnTo>
                  <a:pt x="825" y="1810"/>
                </a:lnTo>
                <a:lnTo>
                  <a:pt x="829" y="1824"/>
                </a:lnTo>
                <a:lnTo>
                  <a:pt x="837" y="1835"/>
                </a:lnTo>
                <a:lnTo>
                  <a:pt x="849" y="1844"/>
                </a:lnTo>
                <a:lnTo>
                  <a:pt x="863" y="1847"/>
                </a:lnTo>
                <a:lnTo>
                  <a:pt x="3216" y="1847"/>
                </a:lnTo>
                <a:lnTo>
                  <a:pt x="3232" y="1844"/>
                </a:lnTo>
                <a:lnTo>
                  <a:pt x="3243" y="1835"/>
                </a:lnTo>
                <a:lnTo>
                  <a:pt x="3250" y="1824"/>
                </a:lnTo>
                <a:lnTo>
                  <a:pt x="3254" y="1810"/>
                </a:lnTo>
                <a:lnTo>
                  <a:pt x="3254" y="459"/>
                </a:lnTo>
                <a:lnTo>
                  <a:pt x="3250" y="444"/>
                </a:lnTo>
                <a:lnTo>
                  <a:pt x="3243" y="433"/>
                </a:lnTo>
                <a:lnTo>
                  <a:pt x="3232" y="425"/>
                </a:lnTo>
                <a:lnTo>
                  <a:pt x="3216" y="421"/>
                </a:lnTo>
                <a:lnTo>
                  <a:pt x="863" y="421"/>
                </a:lnTo>
                <a:close/>
                <a:moveTo>
                  <a:pt x="863" y="306"/>
                </a:moveTo>
                <a:lnTo>
                  <a:pt x="3216" y="306"/>
                </a:lnTo>
                <a:lnTo>
                  <a:pt x="3247" y="310"/>
                </a:lnTo>
                <a:lnTo>
                  <a:pt x="3276" y="319"/>
                </a:lnTo>
                <a:lnTo>
                  <a:pt x="3301" y="333"/>
                </a:lnTo>
                <a:lnTo>
                  <a:pt x="3324" y="352"/>
                </a:lnTo>
                <a:lnTo>
                  <a:pt x="3343" y="373"/>
                </a:lnTo>
                <a:lnTo>
                  <a:pt x="3356" y="400"/>
                </a:lnTo>
                <a:lnTo>
                  <a:pt x="3365" y="428"/>
                </a:lnTo>
                <a:lnTo>
                  <a:pt x="3368" y="459"/>
                </a:lnTo>
                <a:lnTo>
                  <a:pt x="3368" y="1810"/>
                </a:lnTo>
                <a:lnTo>
                  <a:pt x="3365" y="1840"/>
                </a:lnTo>
                <a:lnTo>
                  <a:pt x="3356" y="1868"/>
                </a:lnTo>
                <a:lnTo>
                  <a:pt x="3343" y="1895"/>
                </a:lnTo>
                <a:lnTo>
                  <a:pt x="3324" y="1917"/>
                </a:lnTo>
                <a:lnTo>
                  <a:pt x="3301" y="1935"/>
                </a:lnTo>
                <a:lnTo>
                  <a:pt x="3276" y="1949"/>
                </a:lnTo>
                <a:lnTo>
                  <a:pt x="3247" y="1958"/>
                </a:lnTo>
                <a:lnTo>
                  <a:pt x="3216" y="1962"/>
                </a:lnTo>
                <a:lnTo>
                  <a:pt x="863" y="1962"/>
                </a:lnTo>
                <a:lnTo>
                  <a:pt x="833" y="1958"/>
                </a:lnTo>
                <a:lnTo>
                  <a:pt x="804" y="1949"/>
                </a:lnTo>
                <a:lnTo>
                  <a:pt x="779" y="1935"/>
                </a:lnTo>
                <a:lnTo>
                  <a:pt x="756" y="1917"/>
                </a:lnTo>
                <a:lnTo>
                  <a:pt x="737" y="1895"/>
                </a:lnTo>
                <a:lnTo>
                  <a:pt x="723" y="1868"/>
                </a:lnTo>
                <a:lnTo>
                  <a:pt x="714" y="1840"/>
                </a:lnTo>
                <a:lnTo>
                  <a:pt x="712" y="1810"/>
                </a:lnTo>
                <a:lnTo>
                  <a:pt x="712" y="459"/>
                </a:lnTo>
                <a:lnTo>
                  <a:pt x="714" y="428"/>
                </a:lnTo>
                <a:lnTo>
                  <a:pt x="723" y="400"/>
                </a:lnTo>
                <a:lnTo>
                  <a:pt x="737" y="373"/>
                </a:lnTo>
                <a:lnTo>
                  <a:pt x="756" y="352"/>
                </a:lnTo>
                <a:lnTo>
                  <a:pt x="779" y="333"/>
                </a:lnTo>
                <a:lnTo>
                  <a:pt x="804" y="319"/>
                </a:lnTo>
                <a:lnTo>
                  <a:pt x="833" y="310"/>
                </a:lnTo>
                <a:lnTo>
                  <a:pt x="863" y="306"/>
                </a:lnTo>
                <a:close/>
                <a:moveTo>
                  <a:pt x="707" y="114"/>
                </a:moveTo>
                <a:lnTo>
                  <a:pt x="676" y="117"/>
                </a:lnTo>
                <a:lnTo>
                  <a:pt x="649" y="127"/>
                </a:lnTo>
                <a:lnTo>
                  <a:pt x="625" y="142"/>
                </a:lnTo>
                <a:lnTo>
                  <a:pt x="604" y="162"/>
                </a:lnTo>
                <a:lnTo>
                  <a:pt x="589" y="188"/>
                </a:lnTo>
                <a:lnTo>
                  <a:pt x="579" y="214"/>
                </a:lnTo>
                <a:lnTo>
                  <a:pt x="575" y="244"/>
                </a:lnTo>
                <a:lnTo>
                  <a:pt x="575" y="2085"/>
                </a:lnTo>
                <a:lnTo>
                  <a:pt x="579" y="2114"/>
                </a:lnTo>
                <a:lnTo>
                  <a:pt x="589" y="2142"/>
                </a:lnTo>
                <a:lnTo>
                  <a:pt x="604" y="2166"/>
                </a:lnTo>
                <a:lnTo>
                  <a:pt x="625" y="2188"/>
                </a:lnTo>
                <a:lnTo>
                  <a:pt x="649" y="2203"/>
                </a:lnTo>
                <a:lnTo>
                  <a:pt x="676" y="2213"/>
                </a:lnTo>
                <a:lnTo>
                  <a:pt x="707" y="2215"/>
                </a:lnTo>
                <a:lnTo>
                  <a:pt x="1605" y="2215"/>
                </a:lnTo>
                <a:lnTo>
                  <a:pt x="1623" y="2219"/>
                </a:lnTo>
                <a:lnTo>
                  <a:pt x="1639" y="2227"/>
                </a:lnTo>
                <a:lnTo>
                  <a:pt x="1650" y="2239"/>
                </a:lnTo>
                <a:lnTo>
                  <a:pt x="1659" y="2254"/>
                </a:lnTo>
                <a:lnTo>
                  <a:pt x="1662" y="2273"/>
                </a:lnTo>
                <a:lnTo>
                  <a:pt x="1662" y="2275"/>
                </a:lnTo>
                <a:lnTo>
                  <a:pt x="1661" y="2277"/>
                </a:lnTo>
                <a:lnTo>
                  <a:pt x="1662" y="2280"/>
                </a:lnTo>
                <a:lnTo>
                  <a:pt x="1662" y="2282"/>
                </a:lnTo>
                <a:lnTo>
                  <a:pt x="1659" y="2301"/>
                </a:lnTo>
                <a:lnTo>
                  <a:pt x="1652" y="2316"/>
                </a:lnTo>
                <a:lnTo>
                  <a:pt x="1639" y="2329"/>
                </a:lnTo>
                <a:lnTo>
                  <a:pt x="1623" y="2336"/>
                </a:lnTo>
                <a:lnTo>
                  <a:pt x="1605" y="2340"/>
                </a:lnTo>
                <a:lnTo>
                  <a:pt x="191" y="2340"/>
                </a:lnTo>
                <a:lnTo>
                  <a:pt x="317" y="2474"/>
                </a:lnTo>
                <a:lnTo>
                  <a:pt x="3840" y="2474"/>
                </a:lnTo>
                <a:lnTo>
                  <a:pt x="3971" y="2340"/>
                </a:lnTo>
                <a:lnTo>
                  <a:pt x="2558" y="2340"/>
                </a:lnTo>
                <a:lnTo>
                  <a:pt x="2539" y="2336"/>
                </a:lnTo>
                <a:lnTo>
                  <a:pt x="2522" y="2328"/>
                </a:lnTo>
                <a:lnTo>
                  <a:pt x="2511" y="2315"/>
                </a:lnTo>
                <a:lnTo>
                  <a:pt x="2503" y="2297"/>
                </a:lnTo>
                <a:lnTo>
                  <a:pt x="2498" y="2286"/>
                </a:lnTo>
                <a:lnTo>
                  <a:pt x="2497" y="2273"/>
                </a:lnTo>
                <a:lnTo>
                  <a:pt x="2500" y="2254"/>
                </a:lnTo>
                <a:lnTo>
                  <a:pt x="2508" y="2239"/>
                </a:lnTo>
                <a:lnTo>
                  <a:pt x="2520" y="2227"/>
                </a:lnTo>
                <a:lnTo>
                  <a:pt x="2536" y="2219"/>
                </a:lnTo>
                <a:lnTo>
                  <a:pt x="2554" y="2215"/>
                </a:lnTo>
                <a:lnTo>
                  <a:pt x="3384" y="2215"/>
                </a:lnTo>
                <a:lnTo>
                  <a:pt x="3414" y="2213"/>
                </a:lnTo>
                <a:lnTo>
                  <a:pt x="3442" y="2203"/>
                </a:lnTo>
                <a:lnTo>
                  <a:pt x="3466" y="2188"/>
                </a:lnTo>
                <a:lnTo>
                  <a:pt x="3486" y="2166"/>
                </a:lnTo>
                <a:lnTo>
                  <a:pt x="3502" y="2142"/>
                </a:lnTo>
                <a:lnTo>
                  <a:pt x="3512" y="2114"/>
                </a:lnTo>
                <a:lnTo>
                  <a:pt x="3515" y="2085"/>
                </a:lnTo>
                <a:lnTo>
                  <a:pt x="3515" y="244"/>
                </a:lnTo>
                <a:lnTo>
                  <a:pt x="3512" y="214"/>
                </a:lnTo>
                <a:lnTo>
                  <a:pt x="3502" y="188"/>
                </a:lnTo>
                <a:lnTo>
                  <a:pt x="3486" y="162"/>
                </a:lnTo>
                <a:lnTo>
                  <a:pt x="3466" y="142"/>
                </a:lnTo>
                <a:lnTo>
                  <a:pt x="3442" y="127"/>
                </a:lnTo>
                <a:lnTo>
                  <a:pt x="3414" y="117"/>
                </a:lnTo>
                <a:lnTo>
                  <a:pt x="3384" y="114"/>
                </a:lnTo>
                <a:lnTo>
                  <a:pt x="707" y="114"/>
                </a:lnTo>
                <a:close/>
                <a:moveTo>
                  <a:pt x="707" y="0"/>
                </a:moveTo>
                <a:lnTo>
                  <a:pt x="3384" y="0"/>
                </a:lnTo>
                <a:lnTo>
                  <a:pt x="3428" y="3"/>
                </a:lnTo>
                <a:lnTo>
                  <a:pt x="3470" y="15"/>
                </a:lnTo>
                <a:lnTo>
                  <a:pt x="3508" y="32"/>
                </a:lnTo>
                <a:lnTo>
                  <a:pt x="3542" y="58"/>
                </a:lnTo>
                <a:lnTo>
                  <a:pt x="3572" y="87"/>
                </a:lnTo>
                <a:lnTo>
                  <a:pt x="3596" y="121"/>
                </a:lnTo>
                <a:lnTo>
                  <a:pt x="3614" y="159"/>
                </a:lnTo>
                <a:lnTo>
                  <a:pt x="3625" y="200"/>
                </a:lnTo>
                <a:lnTo>
                  <a:pt x="3629" y="244"/>
                </a:lnTo>
                <a:lnTo>
                  <a:pt x="3629" y="2085"/>
                </a:lnTo>
                <a:lnTo>
                  <a:pt x="3626" y="2123"/>
                </a:lnTo>
                <a:lnTo>
                  <a:pt x="3618" y="2160"/>
                </a:lnTo>
                <a:lnTo>
                  <a:pt x="3604" y="2194"/>
                </a:lnTo>
                <a:lnTo>
                  <a:pt x="3585" y="2225"/>
                </a:lnTo>
                <a:lnTo>
                  <a:pt x="4107" y="2225"/>
                </a:lnTo>
                <a:lnTo>
                  <a:pt x="4124" y="2228"/>
                </a:lnTo>
                <a:lnTo>
                  <a:pt x="4139" y="2235"/>
                </a:lnTo>
                <a:lnTo>
                  <a:pt x="4150" y="2246"/>
                </a:lnTo>
                <a:lnTo>
                  <a:pt x="4159" y="2261"/>
                </a:lnTo>
                <a:lnTo>
                  <a:pt x="4164" y="2277"/>
                </a:lnTo>
                <a:lnTo>
                  <a:pt x="4163" y="2294"/>
                </a:lnTo>
                <a:lnTo>
                  <a:pt x="4158" y="2309"/>
                </a:lnTo>
                <a:lnTo>
                  <a:pt x="4148" y="2323"/>
                </a:lnTo>
                <a:lnTo>
                  <a:pt x="3905" y="2571"/>
                </a:lnTo>
                <a:lnTo>
                  <a:pt x="3893" y="2580"/>
                </a:lnTo>
                <a:lnTo>
                  <a:pt x="3879" y="2586"/>
                </a:lnTo>
                <a:lnTo>
                  <a:pt x="3865" y="2589"/>
                </a:lnTo>
                <a:lnTo>
                  <a:pt x="293" y="2589"/>
                </a:lnTo>
                <a:lnTo>
                  <a:pt x="278" y="2586"/>
                </a:lnTo>
                <a:lnTo>
                  <a:pt x="262" y="2580"/>
                </a:lnTo>
                <a:lnTo>
                  <a:pt x="251" y="2570"/>
                </a:lnTo>
                <a:lnTo>
                  <a:pt x="15" y="2323"/>
                </a:lnTo>
                <a:lnTo>
                  <a:pt x="6" y="2309"/>
                </a:lnTo>
                <a:lnTo>
                  <a:pt x="1" y="2292"/>
                </a:lnTo>
                <a:lnTo>
                  <a:pt x="0" y="2276"/>
                </a:lnTo>
                <a:lnTo>
                  <a:pt x="5" y="2259"/>
                </a:lnTo>
                <a:lnTo>
                  <a:pt x="14" y="2246"/>
                </a:lnTo>
                <a:lnTo>
                  <a:pt x="25" y="2234"/>
                </a:lnTo>
                <a:lnTo>
                  <a:pt x="40" y="2228"/>
                </a:lnTo>
                <a:lnTo>
                  <a:pt x="57" y="2225"/>
                </a:lnTo>
                <a:lnTo>
                  <a:pt x="506" y="2225"/>
                </a:lnTo>
                <a:lnTo>
                  <a:pt x="487" y="2194"/>
                </a:lnTo>
                <a:lnTo>
                  <a:pt x="473" y="2160"/>
                </a:lnTo>
                <a:lnTo>
                  <a:pt x="464" y="2123"/>
                </a:lnTo>
                <a:lnTo>
                  <a:pt x="462" y="2085"/>
                </a:lnTo>
                <a:lnTo>
                  <a:pt x="462" y="244"/>
                </a:lnTo>
                <a:lnTo>
                  <a:pt x="466" y="200"/>
                </a:lnTo>
                <a:lnTo>
                  <a:pt x="477" y="159"/>
                </a:lnTo>
                <a:lnTo>
                  <a:pt x="495" y="121"/>
                </a:lnTo>
                <a:lnTo>
                  <a:pt x="519" y="87"/>
                </a:lnTo>
                <a:lnTo>
                  <a:pt x="549" y="58"/>
                </a:lnTo>
                <a:lnTo>
                  <a:pt x="583" y="32"/>
                </a:lnTo>
                <a:lnTo>
                  <a:pt x="621" y="15"/>
                </a:lnTo>
                <a:lnTo>
                  <a:pt x="662" y="3"/>
                </a:lnTo>
                <a:lnTo>
                  <a:pt x="707" y="0"/>
                </a:lnTo>
                <a:close/>
              </a:path>
            </a:pathLst>
          </a:custGeom>
          <a:solidFill>
            <a:schemeClr val="tx2">
              <a:lumMod val="75000"/>
              <a:lumOff val="25000"/>
            </a:schemeClr>
          </a:solidFill>
          <a:ln w="0">
            <a:solidFill>
              <a:schemeClr val="tx2">
                <a:lumMod val="75000"/>
                <a:lumOff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31" name="Connector: Elbow 30">
            <a:extLst>
              <a:ext uri="{FF2B5EF4-FFF2-40B4-BE49-F238E27FC236}">
                <a16:creationId xmlns:a16="http://schemas.microsoft.com/office/drawing/2014/main" id="{E40E5AB5-11D8-4FD3-AE98-97CA7FDFDC94}"/>
              </a:ext>
            </a:extLst>
          </p:cNvPr>
          <p:cNvCxnSpPr/>
          <p:nvPr/>
        </p:nvCxnSpPr>
        <p:spPr>
          <a:xfrm rot="10800000" flipV="1">
            <a:off x="2342194" y="771834"/>
            <a:ext cx="530870" cy="361711"/>
          </a:xfrm>
          <a:prstGeom prst="bentConnector3">
            <a:avLst>
              <a:gd name="adj1" fmla="val 57407"/>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FA2F9F2-FEC4-4F9F-ABD4-01A20C36A272}"/>
              </a:ext>
            </a:extLst>
          </p:cNvPr>
          <p:cNvCxnSpPr>
            <a:cxnSpLocks/>
          </p:cNvCxnSpPr>
          <p:nvPr/>
        </p:nvCxnSpPr>
        <p:spPr>
          <a:xfrm>
            <a:off x="2796835" y="1149999"/>
            <a:ext cx="747643" cy="0"/>
          </a:xfrm>
          <a:prstGeom prst="line">
            <a:avLst/>
          </a:prstGeom>
          <a:ln w="19050">
            <a:solidFill>
              <a:schemeClr val="tx2">
                <a:lumMod val="75000"/>
                <a:lumOff val="25000"/>
              </a:schemeClr>
            </a:solidFill>
            <a:prstDash val="dash"/>
          </a:ln>
        </p:spPr>
        <p:style>
          <a:lnRef idx="1">
            <a:schemeClr val="dk1"/>
          </a:lnRef>
          <a:fillRef idx="0">
            <a:schemeClr val="dk1"/>
          </a:fillRef>
          <a:effectRef idx="0">
            <a:schemeClr val="dk1"/>
          </a:effectRef>
          <a:fontRef idx="minor">
            <a:schemeClr val="tx1"/>
          </a:fontRef>
        </p:style>
      </p:cxnSp>
      <p:cxnSp>
        <p:nvCxnSpPr>
          <p:cNvPr id="38" name="Straight Connector 37">
            <a:extLst>
              <a:ext uri="{FF2B5EF4-FFF2-40B4-BE49-F238E27FC236}">
                <a16:creationId xmlns:a16="http://schemas.microsoft.com/office/drawing/2014/main" id="{452642AE-4A16-482E-87F3-A9548B6F9CC1}"/>
              </a:ext>
            </a:extLst>
          </p:cNvPr>
          <p:cNvCxnSpPr>
            <a:cxnSpLocks/>
          </p:cNvCxnSpPr>
          <p:nvPr/>
        </p:nvCxnSpPr>
        <p:spPr>
          <a:xfrm>
            <a:off x="2933376" y="1237721"/>
            <a:ext cx="658236" cy="0"/>
          </a:xfrm>
          <a:prstGeom prst="line">
            <a:avLst/>
          </a:prstGeom>
          <a:ln w="19050">
            <a:solidFill>
              <a:schemeClr val="tx2">
                <a:lumMod val="75000"/>
                <a:lumOff val="25000"/>
              </a:schemeClr>
            </a:solidFill>
            <a:prstDash val="dash"/>
          </a:ln>
        </p:spPr>
        <p:style>
          <a:lnRef idx="1">
            <a:schemeClr val="dk1"/>
          </a:lnRef>
          <a:fillRef idx="0">
            <a:schemeClr val="dk1"/>
          </a:fillRef>
          <a:effectRef idx="0">
            <a:schemeClr val="dk1"/>
          </a:effectRef>
          <a:fontRef idx="minor">
            <a:schemeClr val="tx1"/>
          </a:fontRef>
        </p:style>
      </p:cxnSp>
      <p:grpSp>
        <p:nvGrpSpPr>
          <p:cNvPr id="4" name="Group 3">
            <a:extLst>
              <a:ext uri="{FF2B5EF4-FFF2-40B4-BE49-F238E27FC236}">
                <a16:creationId xmlns:a16="http://schemas.microsoft.com/office/drawing/2014/main" id="{2AFCCCEC-FECB-4AD5-B44D-DDDEAEF1479F}"/>
              </a:ext>
            </a:extLst>
          </p:cNvPr>
          <p:cNvGrpSpPr/>
          <p:nvPr/>
        </p:nvGrpSpPr>
        <p:grpSpPr>
          <a:xfrm>
            <a:off x="3777368" y="277676"/>
            <a:ext cx="1595596" cy="1532762"/>
            <a:chOff x="3767843" y="277676"/>
            <a:chExt cx="1595596" cy="1532762"/>
          </a:xfrm>
        </p:grpSpPr>
        <p:sp>
          <p:nvSpPr>
            <p:cNvPr id="13" name="Oval 12">
              <a:extLst>
                <a:ext uri="{FF2B5EF4-FFF2-40B4-BE49-F238E27FC236}">
                  <a16:creationId xmlns:a16="http://schemas.microsoft.com/office/drawing/2014/main" id="{0A19C17A-D272-43D7-B13B-372B8A0CE214}"/>
                </a:ext>
              </a:extLst>
            </p:cNvPr>
            <p:cNvSpPr/>
            <p:nvPr/>
          </p:nvSpPr>
          <p:spPr>
            <a:xfrm>
              <a:off x="3767843" y="277676"/>
              <a:ext cx="1595596" cy="1532762"/>
            </a:xfrm>
            <a:prstGeom prst="ellipse">
              <a:avLst/>
            </a:prstGeom>
            <a:solidFill>
              <a:schemeClr val="bg1">
                <a:lumMod val="85000"/>
              </a:schemeClr>
            </a:solidFill>
            <a:ln w="28575" cap="flat" cmpd="sng" algn="ctr">
              <a:solidFill>
                <a:srgbClr val="FFCC3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endParaRPr lang="en-US">
                <a:solidFill>
                  <a:schemeClr val="tx1"/>
                </a:solidFill>
              </a:endParaRPr>
            </a:p>
          </p:txBody>
        </p:sp>
        <p:pic>
          <p:nvPicPr>
            <p:cNvPr id="3" name="Picture 2">
              <a:extLst>
                <a:ext uri="{FF2B5EF4-FFF2-40B4-BE49-F238E27FC236}">
                  <a16:creationId xmlns:a16="http://schemas.microsoft.com/office/drawing/2014/main" id="{36BFAB0F-7E58-4855-BF19-AB005C3F41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62782" y="537328"/>
              <a:ext cx="1015180" cy="895547"/>
            </a:xfrm>
            <a:prstGeom prst="rect">
              <a:avLst/>
            </a:prstGeom>
          </p:spPr>
        </p:pic>
      </p:grpSp>
      <p:pic>
        <p:nvPicPr>
          <p:cNvPr id="21" name="Picture 20">
            <a:extLst>
              <a:ext uri="{FF2B5EF4-FFF2-40B4-BE49-F238E27FC236}">
                <a16:creationId xmlns:a16="http://schemas.microsoft.com/office/drawing/2014/main" id="{B1181EF8-8DD7-4B1F-8927-F0169E43EE96}"/>
              </a:ext>
            </a:extLst>
          </p:cNvPr>
          <p:cNvPicPr>
            <a:picLocks noChangeAspect="1"/>
          </p:cNvPicPr>
          <p:nvPr/>
        </p:nvPicPr>
        <p:blipFill>
          <a:blip r:embed="rId4"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441998" y="782939"/>
            <a:ext cx="647719" cy="667833"/>
          </a:xfrm>
          <a:prstGeom prst="rect">
            <a:avLst/>
          </a:prstGeom>
        </p:spPr>
      </p:pic>
      <p:sp>
        <p:nvSpPr>
          <p:cNvPr id="28" name="Freeform 6">
            <a:extLst>
              <a:ext uri="{FF2B5EF4-FFF2-40B4-BE49-F238E27FC236}">
                <a16:creationId xmlns:a16="http://schemas.microsoft.com/office/drawing/2014/main" id="{0C09B28D-754F-4AA2-AC1E-FED58FEE64C3}"/>
              </a:ext>
            </a:extLst>
          </p:cNvPr>
          <p:cNvSpPr>
            <a:spLocks noChangeAspect="1" noEditPoints="1"/>
          </p:cNvSpPr>
          <p:nvPr/>
        </p:nvSpPr>
        <p:spPr bwMode="auto">
          <a:xfrm rot="20625851">
            <a:off x="1177229" y="646331"/>
            <a:ext cx="426668" cy="541448"/>
          </a:xfrm>
          <a:custGeom>
            <a:avLst/>
            <a:gdLst>
              <a:gd name="T0" fmla="*/ 741 w 2478"/>
              <a:gd name="T1" fmla="*/ 3516 h 4032"/>
              <a:gd name="T2" fmla="*/ 774 w 2478"/>
              <a:gd name="T3" fmla="*/ 3668 h 4032"/>
              <a:gd name="T4" fmla="*/ 929 w 2478"/>
              <a:gd name="T5" fmla="*/ 3668 h 4032"/>
              <a:gd name="T6" fmla="*/ 963 w 2478"/>
              <a:gd name="T7" fmla="*/ 3516 h 4032"/>
              <a:gd name="T8" fmla="*/ 852 w 2478"/>
              <a:gd name="T9" fmla="*/ 3336 h 4032"/>
              <a:gd name="T10" fmla="*/ 1054 w 2478"/>
              <a:gd name="T11" fmla="*/ 3453 h 4032"/>
              <a:gd name="T12" fmla="*/ 1054 w 2478"/>
              <a:gd name="T13" fmla="*/ 3689 h 4032"/>
              <a:gd name="T14" fmla="*/ 852 w 2478"/>
              <a:gd name="T15" fmla="*/ 3806 h 4032"/>
              <a:gd name="T16" fmla="*/ 649 w 2478"/>
              <a:gd name="T17" fmla="*/ 3689 h 4032"/>
              <a:gd name="T18" fmla="*/ 649 w 2478"/>
              <a:gd name="T19" fmla="*/ 3453 h 4032"/>
              <a:gd name="T20" fmla="*/ 852 w 2478"/>
              <a:gd name="T21" fmla="*/ 3336 h 4032"/>
              <a:gd name="T22" fmla="*/ 293 w 2478"/>
              <a:gd name="T23" fmla="*/ 3121 h 4032"/>
              <a:gd name="T24" fmla="*/ 1382 w 2478"/>
              <a:gd name="T25" fmla="*/ 3156 h 4032"/>
              <a:gd name="T26" fmla="*/ 1394 w 2478"/>
              <a:gd name="T27" fmla="*/ 1258 h 4032"/>
              <a:gd name="T28" fmla="*/ 1397 w 2478"/>
              <a:gd name="T29" fmla="*/ 1139 h 4032"/>
              <a:gd name="T30" fmla="*/ 1514 w 2478"/>
              <a:gd name="T31" fmla="*/ 1255 h 4032"/>
              <a:gd name="T32" fmla="*/ 1473 w 2478"/>
              <a:gd name="T33" fmla="*/ 3227 h 4032"/>
              <a:gd name="T34" fmla="*/ 303 w 2478"/>
              <a:gd name="T35" fmla="*/ 3267 h 4032"/>
              <a:gd name="T36" fmla="*/ 186 w 2478"/>
              <a:gd name="T37" fmla="*/ 3151 h 4032"/>
              <a:gd name="T38" fmla="*/ 227 w 2478"/>
              <a:gd name="T39" fmla="*/ 1179 h 4032"/>
              <a:gd name="T40" fmla="*/ 1037 w 2478"/>
              <a:gd name="T41" fmla="*/ 966 h 4032"/>
              <a:gd name="T42" fmla="*/ 1091 w 2478"/>
              <a:gd name="T43" fmla="*/ 1040 h 4032"/>
              <a:gd name="T44" fmla="*/ 636 w 2478"/>
              <a:gd name="T45" fmla="*/ 1074 h 4032"/>
              <a:gd name="T46" fmla="*/ 609 w 2478"/>
              <a:gd name="T47" fmla="*/ 988 h 4032"/>
              <a:gd name="T48" fmla="*/ 186 w 2478"/>
              <a:gd name="T49" fmla="*/ 894 h 4032"/>
              <a:gd name="T50" fmla="*/ 110 w 2478"/>
              <a:gd name="T51" fmla="*/ 3786 h 4032"/>
              <a:gd name="T52" fmla="*/ 214 w 2478"/>
              <a:gd name="T53" fmla="*/ 3917 h 4032"/>
              <a:gd name="T54" fmla="*/ 1553 w 2478"/>
              <a:gd name="T55" fmla="*/ 3871 h 4032"/>
              <a:gd name="T56" fmla="*/ 1569 w 2478"/>
              <a:gd name="T57" fmla="*/ 955 h 4032"/>
              <a:gd name="T58" fmla="*/ 246 w 2478"/>
              <a:gd name="T59" fmla="*/ 880 h 4032"/>
              <a:gd name="T60" fmla="*/ 1593 w 2478"/>
              <a:gd name="T61" fmla="*/ 816 h 4032"/>
              <a:gd name="T62" fmla="*/ 1693 w 2478"/>
              <a:gd name="T63" fmla="*/ 1015 h 4032"/>
              <a:gd name="T64" fmla="*/ 1621 w 2478"/>
              <a:gd name="T65" fmla="*/ 3960 h 4032"/>
              <a:gd name="T66" fmla="*/ 246 w 2478"/>
              <a:gd name="T67" fmla="*/ 4032 h 4032"/>
              <a:gd name="T68" fmla="*/ 46 w 2478"/>
              <a:gd name="T69" fmla="*/ 3932 h 4032"/>
              <a:gd name="T70" fmla="*/ 2 w 2478"/>
              <a:gd name="T71" fmla="*/ 975 h 4032"/>
              <a:gd name="T72" fmla="*/ 132 w 2478"/>
              <a:gd name="T73" fmla="*/ 797 h 4032"/>
              <a:gd name="T74" fmla="*/ 1647 w 2478"/>
              <a:gd name="T75" fmla="*/ 601 h 4032"/>
              <a:gd name="T76" fmla="*/ 1855 w 2478"/>
              <a:gd name="T77" fmla="*/ 784 h 4032"/>
              <a:gd name="T78" fmla="*/ 1862 w 2478"/>
              <a:gd name="T79" fmla="*/ 935 h 4032"/>
              <a:gd name="T80" fmla="*/ 1786 w 2478"/>
              <a:gd name="T81" fmla="*/ 918 h 4032"/>
              <a:gd name="T82" fmla="*/ 1660 w 2478"/>
              <a:gd name="T83" fmla="*/ 731 h 4032"/>
              <a:gd name="T84" fmla="*/ 1499 w 2478"/>
              <a:gd name="T85" fmla="*/ 662 h 4032"/>
              <a:gd name="T86" fmla="*/ 1536 w 2478"/>
              <a:gd name="T87" fmla="*/ 580 h 4032"/>
              <a:gd name="T88" fmla="*/ 1840 w 2478"/>
              <a:gd name="T89" fmla="*/ 365 h 4032"/>
              <a:gd name="T90" fmla="*/ 2111 w 2478"/>
              <a:gd name="T91" fmla="*/ 641 h 4032"/>
              <a:gd name="T92" fmla="*/ 2188 w 2478"/>
              <a:gd name="T93" fmla="*/ 1030 h 4032"/>
              <a:gd name="T94" fmla="*/ 2127 w 2478"/>
              <a:gd name="T95" fmla="*/ 1079 h 4032"/>
              <a:gd name="T96" fmla="*/ 2081 w 2478"/>
              <a:gd name="T97" fmla="*/ 957 h 4032"/>
              <a:gd name="T98" fmla="*/ 1971 w 2478"/>
              <a:gd name="T99" fmla="*/ 626 h 4032"/>
              <a:gd name="T100" fmla="*/ 1691 w 2478"/>
              <a:gd name="T101" fmla="*/ 422 h 4032"/>
              <a:gd name="T102" fmla="*/ 1523 w 2478"/>
              <a:gd name="T103" fmla="*/ 353 h 4032"/>
              <a:gd name="T104" fmla="*/ 1583 w 2478"/>
              <a:gd name="T105" fmla="*/ 286 h 4032"/>
              <a:gd name="T106" fmla="*/ 1995 w 2478"/>
              <a:gd name="T107" fmla="*/ 125 h 4032"/>
              <a:gd name="T108" fmla="*/ 2330 w 2478"/>
              <a:gd name="T109" fmla="*/ 447 h 4032"/>
              <a:gd name="T110" fmla="*/ 2476 w 2478"/>
              <a:gd name="T111" fmla="*/ 894 h 4032"/>
              <a:gd name="T112" fmla="*/ 2434 w 2478"/>
              <a:gd name="T113" fmla="*/ 1107 h 4032"/>
              <a:gd name="T114" fmla="*/ 2363 w 2478"/>
              <a:gd name="T115" fmla="*/ 1065 h 4032"/>
              <a:gd name="T116" fmla="*/ 2318 w 2478"/>
              <a:gd name="T117" fmla="*/ 676 h 4032"/>
              <a:gd name="T118" fmla="*/ 2075 w 2478"/>
              <a:gd name="T119" fmla="*/ 316 h 4032"/>
              <a:gd name="T120" fmla="*/ 1677 w 2478"/>
              <a:gd name="T121" fmla="*/ 122 h 4032"/>
              <a:gd name="T122" fmla="*/ 1551 w 2478"/>
              <a:gd name="T123" fmla="*/ 50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78" h="4032">
                <a:moveTo>
                  <a:pt x="852" y="3447"/>
                </a:moveTo>
                <a:lnTo>
                  <a:pt x="823" y="3450"/>
                </a:lnTo>
                <a:lnTo>
                  <a:pt x="797" y="3460"/>
                </a:lnTo>
                <a:lnTo>
                  <a:pt x="774" y="3475"/>
                </a:lnTo>
                <a:lnTo>
                  <a:pt x="756" y="3493"/>
                </a:lnTo>
                <a:lnTo>
                  <a:pt x="741" y="3516"/>
                </a:lnTo>
                <a:lnTo>
                  <a:pt x="731" y="3542"/>
                </a:lnTo>
                <a:lnTo>
                  <a:pt x="727" y="3571"/>
                </a:lnTo>
                <a:lnTo>
                  <a:pt x="731" y="3599"/>
                </a:lnTo>
                <a:lnTo>
                  <a:pt x="741" y="3625"/>
                </a:lnTo>
                <a:lnTo>
                  <a:pt x="756" y="3648"/>
                </a:lnTo>
                <a:lnTo>
                  <a:pt x="774" y="3668"/>
                </a:lnTo>
                <a:lnTo>
                  <a:pt x="797" y="3683"/>
                </a:lnTo>
                <a:lnTo>
                  <a:pt x="823" y="3691"/>
                </a:lnTo>
                <a:lnTo>
                  <a:pt x="852" y="3695"/>
                </a:lnTo>
                <a:lnTo>
                  <a:pt x="880" y="3691"/>
                </a:lnTo>
                <a:lnTo>
                  <a:pt x="906" y="3683"/>
                </a:lnTo>
                <a:lnTo>
                  <a:pt x="929" y="3668"/>
                </a:lnTo>
                <a:lnTo>
                  <a:pt x="949" y="3648"/>
                </a:lnTo>
                <a:lnTo>
                  <a:pt x="963" y="3625"/>
                </a:lnTo>
                <a:lnTo>
                  <a:pt x="972" y="3599"/>
                </a:lnTo>
                <a:lnTo>
                  <a:pt x="976" y="3571"/>
                </a:lnTo>
                <a:lnTo>
                  <a:pt x="972" y="3542"/>
                </a:lnTo>
                <a:lnTo>
                  <a:pt x="963" y="3516"/>
                </a:lnTo>
                <a:lnTo>
                  <a:pt x="949" y="3493"/>
                </a:lnTo>
                <a:lnTo>
                  <a:pt x="929" y="3475"/>
                </a:lnTo>
                <a:lnTo>
                  <a:pt x="906" y="3460"/>
                </a:lnTo>
                <a:lnTo>
                  <a:pt x="880" y="3450"/>
                </a:lnTo>
                <a:lnTo>
                  <a:pt x="852" y="3447"/>
                </a:lnTo>
                <a:close/>
                <a:moveTo>
                  <a:pt x="852" y="3336"/>
                </a:moveTo>
                <a:lnTo>
                  <a:pt x="894" y="3340"/>
                </a:lnTo>
                <a:lnTo>
                  <a:pt x="934" y="3351"/>
                </a:lnTo>
                <a:lnTo>
                  <a:pt x="970" y="3369"/>
                </a:lnTo>
                <a:lnTo>
                  <a:pt x="1003" y="3392"/>
                </a:lnTo>
                <a:lnTo>
                  <a:pt x="1031" y="3420"/>
                </a:lnTo>
                <a:lnTo>
                  <a:pt x="1054" y="3453"/>
                </a:lnTo>
                <a:lnTo>
                  <a:pt x="1072" y="3490"/>
                </a:lnTo>
                <a:lnTo>
                  <a:pt x="1083" y="3529"/>
                </a:lnTo>
                <a:lnTo>
                  <a:pt x="1087" y="3571"/>
                </a:lnTo>
                <a:lnTo>
                  <a:pt x="1083" y="3613"/>
                </a:lnTo>
                <a:lnTo>
                  <a:pt x="1072" y="3653"/>
                </a:lnTo>
                <a:lnTo>
                  <a:pt x="1054" y="3689"/>
                </a:lnTo>
                <a:lnTo>
                  <a:pt x="1031" y="3722"/>
                </a:lnTo>
                <a:lnTo>
                  <a:pt x="1003" y="3750"/>
                </a:lnTo>
                <a:lnTo>
                  <a:pt x="970" y="3773"/>
                </a:lnTo>
                <a:lnTo>
                  <a:pt x="934" y="3791"/>
                </a:lnTo>
                <a:lnTo>
                  <a:pt x="894" y="3802"/>
                </a:lnTo>
                <a:lnTo>
                  <a:pt x="852" y="3806"/>
                </a:lnTo>
                <a:lnTo>
                  <a:pt x="809" y="3802"/>
                </a:lnTo>
                <a:lnTo>
                  <a:pt x="770" y="3791"/>
                </a:lnTo>
                <a:lnTo>
                  <a:pt x="734" y="3773"/>
                </a:lnTo>
                <a:lnTo>
                  <a:pt x="701" y="3750"/>
                </a:lnTo>
                <a:lnTo>
                  <a:pt x="672" y="3722"/>
                </a:lnTo>
                <a:lnTo>
                  <a:pt x="649" y="3689"/>
                </a:lnTo>
                <a:lnTo>
                  <a:pt x="632" y="3653"/>
                </a:lnTo>
                <a:lnTo>
                  <a:pt x="621" y="3613"/>
                </a:lnTo>
                <a:lnTo>
                  <a:pt x="617" y="3571"/>
                </a:lnTo>
                <a:lnTo>
                  <a:pt x="621" y="3529"/>
                </a:lnTo>
                <a:lnTo>
                  <a:pt x="632" y="3490"/>
                </a:lnTo>
                <a:lnTo>
                  <a:pt x="649" y="3453"/>
                </a:lnTo>
                <a:lnTo>
                  <a:pt x="672" y="3420"/>
                </a:lnTo>
                <a:lnTo>
                  <a:pt x="701" y="3392"/>
                </a:lnTo>
                <a:lnTo>
                  <a:pt x="734" y="3369"/>
                </a:lnTo>
                <a:lnTo>
                  <a:pt x="770" y="3351"/>
                </a:lnTo>
                <a:lnTo>
                  <a:pt x="809" y="3340"/>
                </a:lnTo>
                <a:lnTo>
                  <a:pt x="852" y="3336"/>
                </a:lnTo>
                <a:close/>
                <a:moveTo>
                  <a:pt x="333" y="1246"/>
                </a:moveTo>
                <a:lnTo>
                  <a:pt x="318" y="1250"/>
                </a:lnTo>
                <a:lnTo>
                  <a:pt x="306" y="1258"/>
                </a:lnTo>
                <a:lnTo>
                  <a:pt x="297" y="1271"/>
                </a:lnTo>
                <a:lnTo>
                  <a:pt x="293" y="1285"/>
                </a:lnTo>
                <a:lnTo>
                  <a:pt x="293" y="3121"/>
                </a:lnTo>
                <a:lnTo>
                  <a:pt x="297" y="3135"/>
                </a:lnTo>
                <a:lnTo>
                  <a:pt x="306" y="3147"/>
                </a:lnTo>
                <a:lnTo>
                  <a:pt x="318" y="3156"/>
                </a:lnTo>
                <a:lnTo>
                  <a:pt x="333" y="3160"/>
                </a:lnTo>
                <a:lnTo>
                  <a:pt x="1367" y="3160"/>
                </a:lnTo>
                <a:lnTo>
                  <a:pt x="1382" y="3156"/>
                </a:lnTo>
                <a:lnTo>
                  <a:pt x="1395" y="3147"/>
                </a:lnTo>
                <a:lnTo>
                  <a:pt x="1402" y="3135"/>
                </a:lnTo>
                <a:lnTo>
                  <a:pt x="1406" y="3121"/>
                </a:lnTo>
                <a:lnTo>
                  <a:pt x="1406" y="1285"/>
                </a:lnTo>
                <a:lnTo>
                  <a:pt x="1402" y="1271"/>
                </a:lnTo>
                <a:lnTo>
                  <a:pt x="1394" y="1258"/>
                </a:lnTo>
                <a:lnTo>
                  <a:pt x="1382" y="1250"/>
                </a:lnTo>
                <a:lnTo>
                  <a:pt x="1367" y="1246"/>
                </a:lnTo>
                <a:lnTo>
                  <a:pt x="333" y="1246"/>
                </a:lnTo>
                <a:close/>
                <a:moveTo>
                  <a:pt x="333" y="1135"/>
                </a:moveTo>
                <a:lnTo>
                  <a:pt x="1367" y="1135"/>
                </a:lnTo>
                <a:lnTo>
                  <a:pt x="1397" y="1139"/>
                </a:lnTo>
                <a:lnTo>
                  <a:pt x="1426" y="1147"/>
                </a:lnTo>
                <a:lnTo>
                  <a:pt x="1451" y="1161"/>
                </a:lnTo>
                <a:lnTo>
                  <a:pt x="1473" y="1179"/>
                </a:lnTo>
                <a:lnTo>
                  <a:pt x="1492" y="1202"/>
                </a:lnTo>
                <a:lnTo>
                  <a:pt x="1505" y="1227"/>
                </a:lnTo>
                <a:lnTo>
                  <a:pt x="1514" y="1255"/>
                </a:lnTo>
                <a:lnTo>
                  <a:pt x="1517" y="1285"/>
                </a:lnTo>
                <a:lnTo>
                  <a:pt x="1517" y="3121"/>
                </a:lnTo>
                <a:lnTo>
                  <a:pt x="1514" y="3151"/>
                </a:lnTo>
                <a:lnTo>
                  <a:pt x="1505" y="3179"/>
                </a:lnTo>
                <a:lnTo>
                  <a:pt x="1492" y="3204"/>
                </a:lnTo>
                <a:lnTo>
                  <a:pt x="1473" y="3227"/>
                </a:lnTo>
                <a:lnTo>
                  <a:pt x="1451" y="3245"/>
                </a:lnTo>
                <a:lnTo>
                  <a:pt x="1426" y="3259"/>
                </a:lnTo>
                <a:lnTo>
                  <a:pt x="1397" y="3267"/>
                </a:lnTo>
                <a:lnTo>
                  <a:pt x="1367" y="3271"/>
                </a:lnTo>
                <a:lnTo>
                  <a:pt x="333" y="3271"/>
                </a:lnTo>
                <a:lnTo>
                  <a:pt x="303" y="3267"/>
                </a:lnTo>
                <a:lnTo>
                  <a:pt x="275" y="3259"/>
                </a:lnTo>
                <a:lnTo>
                  <a:pt x="249" y="3245"/>
                </a:lnTo>
                <a:lnTo>
                  <a:pt x="227" y="3227"/>
                </a:lnTo>
                <a:lnTo>
                  <a:pt x="209" y="3204"/>
                </a:lnTo>
                <a:lnTo>
                  <a:pt x="194" y="3179"/>
                </a:lnTo>
                <a:lnTo>
                  <a:pt x="186" y="3151"/>
                </a:lnTo>
                <a:lnTo>
                  <a:pt x="183" y="3121"/>
                </a:lnTo>
                <a:lnTo>
                  <a:pt x="183" y="1285"/>
                </a:lnTo>
                <a:lnTo>
                  <a:pt x="186" y="1255"/>
                </a:lnTo>
                <a:lnTo>
                  <a:pt x="194" y="1227"/>
                </a:lnTo>
                <a:lnTo>
                  <a:pt x="209" y="1202"/>
                </a:lnTo>
                <a:lnTo>
                  <a:pt x="227" y="1179"/>
                </a:lnTo>
                <a:lnTo>
                  <a:pt x="249" y="1161"/>
                </a:lnTo>
                <a:lnTo>
                  <a:pt x="275" y="1147"/>
                </a:lnTo>
                <a:lnTo>
                  <a:pt x="303" y="1139"/>
                </a:lnTo>
                <a:lnTo>
                  <a:pt x="333" y="1135"/>
                </a:lnTo>
                <a:close/>
                <a:moveTo>
                  <a:pt x="654" y="966"/>
                </a:moveTo>
                <a:lnTo>
                  <a:pt x="1037" y="966"/>
                </a:lnTo>
                <a:lnTo>
                  <a:pt x="1055" y="969"/>
                </a:lnTo>
                <a:lnTo>
                  <a:pt x="1070" y="977"/>
                </a:lnTo>
                <a:lnTo>
                  <a:pt x="1082" y="988"/>
                </a:lnTo>
                <a:lnTo>
                  <a:pt x="1091" y="1004"/>
                </a:lnTo>
                <a:lnTo>
                  <a:pt x="1093" y="1021"/>
                </a:lnTo>
                <a:lnTo>
                  <a:pt x="1091" y="1040"/>
                </a:lnTo>
                <a:lnTo>
                  <a:pt x="1082" y="1054"/>
                </a:lnTo>
                <a:lnTo>
                  <a:pt x="1070" y="1067"/>
                </a:lnTo>
                <a:lnTo>
                  <a:pt x="1055" y="1074"/>
                </a:lnTo>
                <a:lnTo>
                  <a:pt x="1037" y="1078"/>
                </a:lnTo>
                <a:lnTo>
                  <a:pt x="654" y="1078"/>
                </a:lnTo>
                <a:lnTo>
                  <a:pt x="636" y="1074"/>
                </a:lnTo>
                <a:lnTo>
                  <a:pt x="621" y="1067"/>
                </a:lnTo>
                <a:lnTo>
                  <a:pt x="609" y="1054"/>
                </a:lnTo>
                <a:lnTo>
                  <a:pt x="602" y="1040"/>
                </a:lnTo>
                <a:lnTo>
                  <a:pt x="598" y="1021"/>
                </a:lnTo>
                <a:lnTo>
                  <a:pt x="602" y="1004"/>
                </a:lnTo>
                <a:lnTo>
                  <a:pt x="609" y="988"/>
                </a:lnTo>
                <a:lnTo>
                  <a:pt x="621" y="977"/>
                </a:lnTo>
                <a:lnTo>
                  <a:pt x="636" y="969"/>
                </a:lnTo>
                <a:lnTo>
                  <a:pt x="654" y="966"/>
                </a:lnTo>
                <a:close/>
                <a:moveTo>
                  <a:pt x="246" y="880"/>
                </a:moveTo>
                <a:lnTo>
                  <a:pt x="214" y="883"/>
                </a:lnTo>
                <a:lnTo>
                  <a:pt x="186" y="894"/>
                </a:lnTo>
                <a:lnTo>
                  <a:pt x="161" y="910"/>
                </a:lnTo>
                <a:lnTo>
                  <a:pt x="141" y="931"/>
                </a:lnTo>
                <a:lnTo>
                  <a:pt x="125" y="955"/>
                </a:lnTo>
                <a:lnTo>
                  <a:pt x="114" y="985"/>
                </a:lnTo>
                <a:lnTo>
                  <a:pt x="110" y="1015"/>
                </a:lnTo>
                <a:lnTo>
                  <a:pt x="110" y="3786"/>
                </a:lnTo>
                <a:lnTo>
                  <a:pt x="114" y="3817"/>
                </a:lnTo>
                <a:lnTo>
                  <a:pt x="125" y="3845"/>
                </a:lnTo>
                <a:lnTo>
                  <a:pt x="141" y="3871"/>
                </a:lnTo>
                <a:lnTo>
                  <a:pt x="161" y="3891"/>
                </a:lnTo>
                <a:lnTo>
                  <a:pt x="186" y="3907"/>
                </a:lnTo>
                <a:lnTo>
                  <a:pt x="214" y="3917"/>
                </a:lnTo>
                <a:lnTo>
                  <a:pt x="246" y="3921"/>
                </a:lnTo>
                <a:lnTo>
                  <a:pt x="1448" y="3921"/>
                </a:lnTo>
                <a:lnTo>
                  <a:pt x="1479" y="3917"/>
                </a:lnTo>
                <a:lnTo>
                  <a:pt x="1507" y="3907"/>
                </a:lnTo>
                <a:lnTo>
                  <a:pt x="1532" y="3891"/>
                </a:lnTo>
                <a:lnTo>
                  <a:pt x="1553" y="3871"/>
                </a:lnTo>
                <a:lnTo>
                  <a:pt x="1569" y="3845"/>
                </a:lnTo>
                <a:lnTo>
                  <a:pt x="1580" y="3817"/>
                </a:lnTo>
                <a:lnTo>
                  <a:pt x="1583" y="3786"/>
                </a:lnTo>
                <a:lnTo>
                  <a:pt x="1583" y="1015"/>
                </a:lnTo>
                <a:lnTo>
                  <a:pt x="1580" y="985"/>
                </a:lnTo>
                <a:lnTo>
                  <a:pt x="1569" y="955"/>
                </a:lnTo>
                <a:lnTo>
                  <a:pt x="1553" y="931"/>
                </a:lnTo>
                <a:lnTo>
                  <a:pt x="1532" y="910"/>
                </a:lnTo>
                <a:lnTo>
                  <a:pt x="1507" y="894"/>
                </a:lnTo>
                <a:lnTo>
                  <a:pt x="1479" y="883"/>
                </a:lnTo>
                <a:lnTo>
                  <a:pt x="1448" y="880"/>
                </a:lnTo>
                <a:lnTo>
                  <a:pt x="246" y="880"/>
                </a:lnTo>
                <a:close/>
                <a:moveTo>
                  <a:pt x="246" y="770"/>
                </a:moveTo>
                <a:lnTo>
                  <a:pt x="1448" y="770"/>
                </a:lnTo>
                <a:lnTo>
                  <a:pt x="1488" y="772"/>
                </a:lnTo>
                <a:lnTo>
                  <a:pt x="1526" y="782"/>
                </a:lnTo>
                <a:lnTo>
                  <a:pt x="1561" y="797"/>
                </a:lnTo>
                <a:lnTo>
                  <a:pt x="1593" y="816"/>
                </a:lnTo>
                <a:lnTo>
                  <a:pt x="1621" y="842"/>
                </a:lnTo>
                <a:lnTo>
                  <a:pt x="1647" y="870"/>
                </a:lnTo>
                <a:lnTo>
                  <a:pt x="1666" y="902"/>
                </a:lnTo>
                <a:lnTo>
                  <a:pt x="1681" y="937"/>
                </a:lnTo>
                <a:lnTo>
                  <a:pt x="1691" y="975"/>
                </a:lnTo>
                <a:lnTo>
                  <a:pt x="1693" y="1015"/>
                </a:lnTo>
                <a:lnTo>
                  <a:pt x="1693" y="3786"/>
                </a:lnTo>
                <a:lnTo>
                  <a:pt x="1691" y="3826"/>
                </a:lnTo>
                <a:lnTo>
                  <a:pt x="1681" y="3863"/>
                </a:lnTo>
                <a:lnTo>
                  <a:pt x="1666" y="3899"/>
                </a:lnTo>
                <a:lnTo>
                  <a:pt x="1647" y="3932"/>
                </a:lnTo>
                <a:lnTo>
                  <a:pt x="1621" y="3960"/>
                </a:lnTo>
                <a:lnTo>
                  <a:pt x="1593" y="3984"/>
                </a:lnTo>
                <a:lnTo>
                  <a:pt x="1561" y="4005"/>
                </a:lnTo>
                <a:lnTo>
                  <a:pt x="1526" y="4020"/>
                </a:lnTo>
                <a:lnTo>
                  <a:pt x="1488" y="4028"/>
                </a:lnTo>
                <a:lnTo>
                  <a:pt x="1448" y="4032"/>
                </a:lnTo>
                <a:lnTo>
                  <a:pt x="246" y="4032"/>
                </a:lnTo>
                <a:lnTo>
                  <a:pt x="205" y="4028"/>
                </a:lnTo>
                <a:lnTo>
                  <a:pt x="167" y="4020"/>
                </a:lnTo>
                <a:lnTo>
                  <a:pt x="132" y="4005"/>
                </a:lnTo>
                <a:lnTo>
                  <a:pt x="100" y="3984"/>
                </a:lnTo>
                <a:lnTo>
                  <a:pt x="72" y="3960"/>
                </a:lnTo>
                <a:lnTo>
                  <a:pt x="46" y="3932"/>
                </a:lnTo>
                <a:lnTo>
                  <a:pt x="27" y="3899"/>
                </a:lnTo>
                <a:lnTo>
                  <a:pt x="12" y="3863"/>
                </a:lnTo>
                <a:lnTo>
                  <a:pt x="2" y="3826"/>
                </a:lnTo>
                <a:lnTo>
                  <a:pt x="0" y="3786"/>
                </a:lnTo>
                <a:lnTo>
                  <a:pt x="0" y="1015"/>
                </a:lnTo>
                <a:lnTo>
                  <a:pt x="2" y="975"/>
                </a:lnTo>
                <a:lnTo>
                  <a:pt x="12" y="937"/>
                </a:lnTo>
                <a:lnTo>
                  <a:pt x="27" y="902"/>
                </a:lnTo>
                <a:lnTo>
                  <a:pt x="46" y="870"/>
                </a:lnTo>
                <a:lnTo>
                  <a:pt x="72" y="842"/>
                </a:lnTo>
                <a:lnTo>
                  <a:pt x="100" y="816"/>
                </a:lnTo>
                <a:lnTo>
                  <a:pt x="132" y="797"/>
                </a:lnTo>
                <a:lnTo>
                  <a:pt x="167" y="782"/>
                </a:lnTo>
                <a:lnTo>
                  <a:pt x="205" y="772"/>
                </a:lnTo>
                <a:lnTo>
                  <a:pt x="246" y="770"/>
                </a:lnTo>
                <a:close/>
                <a:moveTo>
                  <a:pt x="1553" y="579"/>
                </a:moveTo>
                <a:lnTo>
                  <a:pt x="1600" y="586"/>
                </a:lnTo>
                <a:lnTo>
                  <a:pt x="1647" y="601"/>
                </a:lnTo>
                <a:lnTo>
                  <a:pt x="1690" y="619"/>
                </a:lnTo>
                <a:lnTo>
                  <a:pt x="1731" y="644"/>
                </a:lnTo>
                <a:lnTo>
                  <a:pt x="1768" y="673"/>
                </a:lnTo>
                <a:lnTo>
                  <a:pt x="1801" y="706"/>
                </a:lnTo>
                <a:lnTo>
                  <a:pt x="1830" y="744"/>
                </a:lnTo>
                <a:lnTo>
                  <a:pt x="1855" y="784"/>
                </a:lnTo>
                <a:lnTo>
                  <a:pt x="1873" y="828"/>
                </a:lnTo>
                <a:lnTo>
                  <a:pt x="1888" y="875"/>
                </a:lnTo>
                <a:lnTo>
                  <a:pt x="1888" y="893"/>
                </a:lnTo>
                <a:lnTo>
                  <a:pt x="1884" y="909"/>
                </a:lnTo>
                <a:lnTo>
                  <a:pt x="1875" y="924"/>
                </a:lnTo>
                <a:lnTo>
                  <a:pt x="1862" y="935"/>
                </a:lnTo>
                <a:lnTo>
                  <a:pt x="1845" y="942"/>
                </a:lnTo>
                <a:lnTo>
                  <a:pt x="1839" y="942"/>
                </a:lnTo>
                <a:lnTo>
                  <a:pt x="1833" y="943"/>
                </a:lnTo>
                <a:lnTo>
                  <a:pt x="1814" y="940"/>
                </a:lnTo>
                <a:lnTo>
                  <a:pt x="1798" y="931"/>
                </a:lnTo>
                <a:lnTo>
                  <a:pt x="1786" y="918"/>
                </a:lnTo>
                <a:lnTo>
                  <a:pt x="1779" y="899"/>
                </a:lnTo>
                <a:lnTo>
                  <a:pt x="1765" y="859"/>
                </a:lnTo>
                <a:lnTo>
                  <a:pt x="1747" y="820"/>
                </a:lnTo>
                <a:lnTo>
                  <a:pt x="1723" y="786"/>
                </a:lnTo>
                <a:lnTo>
                  <a:pt x="1695" y="756"/>
                </a:lnTo>
                <a:lnTo>
                  <a:pt x="1660" y="731"/>
                </a:lnTo>
                <a:lnTo>
                  <a:pt x="1624" y="711"/>
                </a:lnTo>
                <a:lnTo>
                  <a:pt x="1583" y="696"/>
                </a:lnTo>
                <a:lnTo>
                  <a:pt x="1542" y="689"/>
                </a:lnTo>
                <a:lnTo>
                  <a:pt x="1525" y="684"/>
                </a:lnTo>
                <a:lnTo>
                  <a:pt x="1510" y="676"/>
                </a:lnTo>
                <a:lnTo>
                  <a:pt x="1499" y="662"/>
                </a:lnTo>
                <a:lnTo>
                  <a:pt x="1493" y="646"/>
                </a:lnTo>
                <a:lnTo>
                  <a:pt x="1492" y="628"/>
                </a:lnTo>
                <a:lnTo>
                  <a:pt x="1496" y="611"/>
                </a:lnTo>
                <a:lnTo>
                  <a:pt x="1506" y="597"/>
                </a:lnTo>
                <a:lnTo>
                  <a:pt x="1520" y="586"/>
                </a:lnTo>
                <a:lnTo>
                  <a:pt x="1536" y="580"/>
                </a:lnTo>
                <a:lnTo>
                  <a:pt x="1553" y="579"/>
                </a:lnTo>
                <a:close/>
                <a:moveTo>
                  <a:pt x="1583" y="286"/>
                </a:moveTo>
                <a:lnTo>
                  <a:pt x="1652" y="296"/>
                </a:lnTo>
                <a:lnTo>
                  <a:pt x="1718" y="313"/>
                </a:lnTo>
                <a:lnTo>
                  <a:pt x="1780" y="336"/>
                </a:lnTo>
                <a:lnTo>
                  <a:pt x="1840" y="365"/>
                </a:lnTo>
                <a:lnTo>
                  <a:pt x="1896" y="401"/>
                </a:lnTo>
                <a:lnTo>
                  <a:pt x="1948" y="440"/>
                </a:lnTo>
                <a:lnTo>
                  <a:pt x="1997" y="484"/>
                </a:lnTo>
                <a:lnTo>
                  <a:pt x="2039" y="533"/>
                </a:lnTo>
                <a:lnTo>
                  <a:pt x="2078" y="585"/>
                </a:lnTo>
                <a:lnTo>
                  <a:pt x="2111" y="641"/>
                </a:lnTo>
                <a:lnTo>
                  <a:pt x="2140" y="700"/>
                </a:lnTo>
                <a:lnTo>
                  <a:pt x="2162" y="762"/>
                </a:lnTo>
                <a:lnTo>
                  <a:pt x="2179" y="826"/>
                </a:lnTo>
                <a:lnTo>
                  <a:pt x="2188" y="893"/>
                </a:lnTo>
                <a:lnTo>
                  <a:pt x="2192" y="960"/>
                </a:lnTo>
                <a:lnTo>
                  <a:pt x="2188" y="1030"/>
                </a:lnTo>
                <a:lnTo>
                  <a:pt x="2184" y="1046"/>
                </a:lnTo>
                <a:lnTo>
                  <a:pt x="2175" y="1059"/>
                </a:lnTo>
                <a:lnTo>
                  <a:pt x="2164" y="1070"/>
                </a:lnTo>
                <a:lnTo>
                  <a:pt x="2149" y="1078"/>
                </a:lnTo>
                <a:lnTo>
                  <a:pt x="2132" y="1079"/>
                </a:lnTo>
                <a:lnTo>
                  <a:pt x="2127" y="1079"/>
                </a:lnTo>
                <a:lnTo>
                  <a:pt x="2110" y="1074"/>
                </a:lnTo>
                <a:lnTo>
                  <a:pt x="2096" y="1065"/>
                </a:lnTo>
                <a:lnTo>
                  <a:pt x="2085" y="1052"/>
                </a:lnTo>
                <a:lnTo>
                  <a:pt x="2078" y="1036"/>
                </a:lnTo>
                <a:lnTo>
                  <a:pt x="2077" y="1018"/>
                </a:lnTo>
                <a:lnTo>
                  <a:pt x="2081" y="957"/>
                </a:lnTo>
                <a:lnTo>
                  <a:pt x="2077" y="896"/>
                </a:lnTo>
                <a:lnTo>
                  <a:pt x="2067" y="837"/>
                </a:lnTo>
                <a:lnTo>
                  <a:pt x="2052" y="781"/>
                </a:lnTo>
                <a:lnTo>
                  <a:pt x="2030" y="726"/>
                </a:lnTo>
                <a:lnTo>
                  <a:pt x="2003" y="674"/>
                </a:lnTo>
                <a:lnTo>
                  <a:pt x="1971" y="626"/>
                </a:lnTo>
                <a:lnTo>
                  <a:pt x="1934" y="580"/>
                </a:lnTo>
                <a:lnTo>
                  <a:pt x="1894" y="539"/>
                </a:lnTo>
                <a:lnTo>
                  <a:pt x="1849" y="502"/>
                </a:lnTo>
                <a:lnTo>
                  <a:pt x="1800" y="470"/>
                </a:lnTo>
                <a:lnTo>
                  <a:pt x="1747" y="444"/>
                </a:lnTo>
                <a:lnTo>
                  <a:pt x="1691" y="422"/>
                </a:lnTo>
                <a:lnTo>
                  <a:pt x="1632" y="406"/>
                </a:lnTo>
                <a:lnTo>
                  <a:pt x="1571" y="396"/>
                </a:lnTo>
                <a:lnTo>
                  <a:pt x="1554" y="391"/>
                </a:lnTo>
                <a:lnTo>
                  <a:pt x="1540" y="381"/>
                </a:lnTo>
                <a:lnTo>
                  <a:pt x="1529" y="369"/>
                </a:lnTo>
                <a:lnTo>
                  <a:pt x="1523" y="353"/>
                </a:lnTo>
                <a:lnTo>
                  <a:pt x="1522" y="335"/>
                </a:lnTo>
                <a:lnTo>
                  <a:pt x="1527" y="318"/>
                </a:lnTo>
                <a:lnTo>
                  <a:pt x="1536" y="303"/>
                </a:lnTo>
                <a:lnTo>
                  <a:pt x="1549" y="293"/>
                </a:lnTo>
                <a:lnTo>
                  <a:pt x="1565" y="287"/>
                </a:lnTo>
                <a:lnTo>
                  <a:pt x="1583" y="286"/>
                </a:lnTo>
                <a:close/>
                <a:moveTo>
                  <a:pt x="1613" y="0"/>
                </a:moveTo>
                <a:lnTo>
                  <a:pt x="1695" y="12"/>
                </a:lnTo>
                <a:lnTo>
                  <a:pt x="1775" y="31"/>
                </a:lnTo>
                <a:lnTo>
                  <a:pt x="1851" y="56"/>
                </a:lnTo>
                <a:lnTo>
                  <a:pt x="1926" y="87"/>
                </a:lnTo>
                <a:lnTo>
                  <a:pt x="1995" y="125"/>
                </a:lnTo>
                <a:lnTo>
                  <a:pt x="2063" y="166"/>
                </a:lnTo>
                <a:lnTo>
                  <a:pt x="2125" y="214"/>
                </a:lnTo>
                <a:lnTo>
                  <a:pt x="2182" y="265"/>
                </a:lnTo>
                <a:lnTo>
                  <a:pt x="2237" y="323"/>
                </a:lnTo>
                <a:lnTo>
                  <a:pt x="2286" y="382"/>
                </a:lnTo>
                <a:lnTo>
                  <a:pt x="2330" y="447"/>
                </a:lnTo>
                <a:lnTo>
                  <a:pt x="2369" y="514"/>
                </a:lnTo>
                <a:lnTo>
                  <a:pt x="2402" y="585"/>
                </a:lnTo>
                <a:lnTo>
                  <a:pt x="2431" y="660"/>
                </a:lnTo>
                <a:lnTo>
                  <a:pt x="2453" y="736"/>
                </a:lnTo>
                <a:lnTo>
                  <a:pt x="2467" y="814"/>
                </a:lnTo>
                <a:lnTo>
                  <a:pt x="2476" y="894"/>
                </a:lnTo>
                <a:lnTo>
                  <a:pt x="2478" y="976"/>
                </a:lnTo>
                <a:lnTo>
                  <a:pt x="2473" y="1059"/>
                </a:lnTo>
                <a:lnTo>
                  <a:pt x="2470" y="1075"/>
                </a:lnTo>
                <a:lnTo>
                  <a:pt x="2461" y="1089"/>
                </a:lnTo>
                <a:lnTo>
                  <a:pt x="2449" y="1100"/>
                </a:lnTo>
                <a:lnTo>
                  <a:pt x="2434" y="1107"/>
                </a:lnTo>
                <a:lnTo>
                  <a:pt x="2418" y="1109"/>
                </a:lnTo>
                <a:lnTo>
                  <a:pt x="2412" y="1108"/>
                </a:lnTo>
                <a:lnTo>
                  <a:pt x="2395" y="1105"/>
                </a:lnTo>
                <a:lnTo>
                  <a:pt x="2380" y="1095"/>
                </a:lnTo>
                <a:lnTo>
                  <a:pt x="2371" y="1081"/>
                </a:lnTo>
                <a:lnTo>
                  <a:pt x="2363" y="1065"/>
                </a:lnTo>
                <a:lnTo>
                  <a:pt x="2363" y="1048"/>
                </a:lnTo>
                <a:lnTo>
                  <a:pt x="2367" y="970"/>
                </a:lnTo>
                <a:lnTo>
                  <a:pt x="2365" y="894"/>
                </a:lnTo>
                <a:lnTo>
                  <a:pt x="2356" y="819"/>
                </a:lnTo>
                <a:lnTo>
                  <a:pt x="2340" y="747"/>
                </a:lnTo>
                <a:lnTo>
                  <a:pt x="2318" y="676"/>
                </a:lnTo>
                <a:lnTo>
                  <a:pt x="2291" y="607"/>
                </a:lnTo>
                <a:lnTo>
                  <a:pt x="2258" y="542"/>
                </a:lnTo>
                <a:lnTo>
                  <a:pt x="2219" y="480"/>
                </a:lnTo>
                <a:lnTo>
                  <a:pt x="2176" y="422"/>
                </a:lnTo>
                <a:lnTo>
                  <a:pt x="2127" y="368"/>
                </a:lnTo>
                <a:lnTo>
                  <a:pt x="2075" y="316"/>
                </a:lnTo>
                <a:lnTo>
                  <a:pt x="2017" y="271"/>
                </a:lnTo>
                <a:lnTo>
                  <a:pt x="1956" y="230"/>
                </a:lnTo>
                <a:lnTo>
                  <a:pt x="1891" y="194"/>
                </a:lnTo>
                <a:lnTo>
                  <a:pt x="1824" y="165"/>
                </a:lnTo>
                <a:lnTo>
                  <a:pt x="1752" y="141"/>
                </a:lnTo>
                <a:lnTo>
                  <a:pt x="1677" y="122"/>
                </a:lnTo>
                <a:lnTo>
                  <a:pt x="1602" y="111"/>
                </a:lnTo>
                <a:lnTo>
                  <a:pt x="1584" y="106"/>
                </a:lnTo>
                <a:lnTo>
                  <a:pt x="1570" y="97"/>
                </a:lnTo>
                <a:lnTo>
                  <a:pt x="1559" y="83"/>
                </a:lnTo>
                <a:lnTo>
                  <a:pt x="1553" y="67"/>
                </a:lnTo>
                <a:lnTo>
                  <a:pt x="1551" y="50"/>
                </a:lnTo>
                <a:lnTo>
                  <a:pt x="1556" y="33"/>
                </a:lnTo>
                <a:lnTo>
                  <a:pt x="1566" y="18"/>
                </a:lnTo>
                <a:lnTo>
                  <a:pt x="1578" y="7"/>
                </a:lnTo>
                <a:lnTo>
                  <a:pt x="1594" y="1"/>
                </a:lnTo>
                <a:lnTo>
                  <a:pt x="1613"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47" name="Group 46">
            <a:extLst>
              <a:ext uri="{FF2B5EF4-FFF2-40B4-BE49-F238E27FC236}">
                <a16:creationId xmlns:a16="http://schemas.microsoft.com/office/drawing/2014/main" id="{8DEA00DB-EA2D-41D5-A93A-F0E7D38C2FFC}"/>
              </a:ext>
            </a:extLst>
          </p:cNvPr>
          <p:cNvGrpSpPr/>
          <p:nvPr/>
        </p:nvGrpSpPr>
        <p:grpSpPr>
          <a:xfrm>
            <a:off x="452490" y="907167"/>
            <a:ext cx="631506" cy="442674"/>
            <a:chOff x="329939" y="907167"/>
            <a:chExt cx="631506" cy="442674"/>
          </a:xfrm>
        </p:grpSpPr>
        <p:pic>
          <p:nvPicPr>
            <p:cNvPr id="33" name="Picture 32">
              <a:extLst>
                <a:ext uri="{FF2B5EF4-FFF2-40B4-BE49-F238E27FC236}">
                  <a16:creationId xmlns:a16="http://schemas.microsoft.com/office/drawing/2014/main" id="{140B2169-CFBB-4F17-B4F3-19A2584FE90B}"/>
                </a:ext>
              </a:extLst>
            </p:cNvPr>
            <p:cNvPicPr>
              <a:picLocks noChangeAspect="1"/>
            </p:cNvPicPr>
            <p:nvPr/>
          </p:nvPicPr>
          <p:blipFill>
            <a:blip r:embed="rId5"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80385" y="948203"/>
              <a:ext cx="281060" cy="301292"/>
            </a:xfrm>
            <a:prstGeom prst="rect">
              <a:avLst/>
            </a:prstGeom>
          </p:spPr>
        </p:pic>
        <p:sp>
          <p:nvSpPr>
            <p:cNvPr id="35" name="Freeform 16">
              <a:extLst>
                <a:ext uri="{FF2B5EF4-FFF2-40B4-BE49-F238E27FC236}">
                  <a16:creationId xmlns:a16="http://schemas.microsoft.com/office/drawing/2014/main" id="{13D56EF6-05FA-4982-B7BB-93E1955D28C6}"/>
                </a:ext>
              </a:extLst>
            </p:cNvPr>
            <p:cNvSpPr>
              <a:spLocks noChangeAspect="1" noEditPoints="1"/>
            </p:cNvSpPr>
            <p:nvPr/>
          </p:nvSpPr>
          <p:spPr bwMode="auto">
            <a:xfrm>
              <a:off x="329939" y="907167"/>
              <a:ext cx="517317" cy="442674"/>
            </a:xfrm>
            <a:custGeom>
              <a:avLst/>
              <a:gdLst>
                <a:gd name="T0" fmla="*/ 1289 w 2648"/>
                <a:gd name="T1" fmla="*/ 3122 h 3456"/>
                <a:gd name="T2" fmla="*/ 1289 w 2648"/>
                <a:gd name="T3" fmla="*/ 3182 h 3456"/>
                <a:gd name="T4" fmla="*/ 1344 w 2648"/>
                <a:gd name="T5" fmla="*/ 3199 h 3456"/>
                <a:gd name="T6" fmla="*/ 1379 w 2648"/>
                <a:gd name="T7" fmla="*/ 3152 h 3456"/>
                <a:gd name="T8" fmla="*/ 1344 w 2648"/>
                <a:gd name="T9" fmla="*/ 3104 h 3456"/>
                <a:gd name="T10" fmla="*/ 1385 w 2648"/>
                <a:gd name="T11" fmla="*/ 3019 h 3456"/>
                <a:gd name="T12" fmla="*/ 1461 w 2648"/>
                <a:gd name="T13" fmla="*/ 3096 h 3456"/>
                <a:gd name="T14" fmla="*/ 1461 w 2648"/>
                <a:gd name="T15" fmla="*/ 3208 h 3456"/>
                <a:gd name="T16" fmla="*/ 1385 w 2648"/>
                <a:gd name="T17" fmla="*/ 3284 h 3456"/>
                <a:gd name="T18" fmla="*/ 1273 w 2648"/>
                <a:gd name="T19" fmla="*/ 3284 h 3456"/>
                <a:gd name="T20" fmla="*/ 1197 w 2648"/>
                <a:gd name="T21" fmla="*/ 3208 h 3456"/>
                <a:gd name="T22" fmla="*/ 1197 w 2648"/>
                <a:gd name="T23" fmla="*/ 3096 h 3456"/>
                <a:gd name="T24" fmla="*/ 1273 w 2648"/>
                <a:gd name="T25" fmla="*/ 3019 h 3456"/>
                <a:gd name="T26" fmla="*/ 322 w 2648"/>
                <a:gd name="T27" fmla="*/ 362 h 3456"/>
                <a:gd name="T28" fmla="*/ 298 w 2648"/>
                <a:gd name="T29" fmla="*/ 2806 h 3456"/>
                <a:gd name="T30" fmla="*/ 338 w 2648"/>
                <a:gd name="T31" fmla="*/ 2844 h 3456"/>
                <a:gd name="T32" fmla="*/ 2359 w 2648"/>
                <a:gd name="T33" fmla="*/ 2820 h 3456"/>
                <a:gd name="T34" fmla="*/ 2350 w 2648"/>
                <a:gd name="T35" fmla="*/ 371 h 3456"/>
                <a:gd name="T36" fmla="*/ 338 w 2648"/>
                <a:gd name="T37" fmla="*/ 266 h 3456"/>
                <a:gd name="T38" fmla="*/ 2398 w 2648"/>
                <a:gd name="T39" fmla="*/ 288 h 3456"/>
                <a:gd name="T40" fmla="*/ 2453 w 2648"/>
                <a:gd name="T41" fmla="*/ 372 h 3456"/>
                <a:gd name="T42" fmla="*/ 2446 w 2648"/>
                <a:gd name="T43" fmla="*/ 2857 h 3456"/>
                <a:gd name="T44" fmla="*/ 2375 w 2648"/>
                <a:gd name="T45" fmla="*/ 2927 h 3456"/>
                <a:gd name="T46" fmla="*/ 311 w 2648"/>
                <a:gd name="T47" fmla="*/ 2936 h 3456"/>
                <a:gd name="T48" fmla="*/ 228 w 2648"/>
                <a:gd name="T49" fmla="*/ 2879 h 3456"/>
                <a:gd name="T50" fmla="*/ 205 w 2648"/>
                <a:gd name="T51" fmla="*/ 398 h 3456"/>
                <a:gd name="T52" fmla="*/ 244 w 2648"/>
                <a:gd name="T53" fmla="*/ 305 h 3456"/>
                <a:gd name="T54" fmla="*/ 338 w 2648"/>
                <a:gd name="T55" fmla="*/ 266 h 3456"/>
                <a:gd name="T56" fmla="*/ 151 w 2648"/>
                <a:gd name="T57" fmla="*/ 116 h 3456"/>
                <a:gd name="T58" fmla="*/ 96 w 2648"/>
                <a:gd name="T59" fmla="*/ 197 h 3456"/>
                <a:gd name="T60" fmla="*/ 105 w 2648"/>
                <a:gd name="T61" fmla="*/ 3283 h 3456"/>
                <a:gd name="T62" fmla="*/ 173 w 2648"/>
                <a:gd name="T63" fmla="*/ 3352 h 3456"/>
                <a:gd name="T64" fmla="*/ 2452 w 2648"/>
                <a:gd name="T65" fmla="*/ 3360 h 3456"/>
                <a:gd name="T66" fmla="*/ 2533 w 2648"/>
                <a:gd name="T67" fmla="*/ 3305 h 3456"/>
                <a:gd name="T68" fmla="*/ 2554 w 2648"/>
                <a:gd name="T69" fmla="*/ 222 h 3456"/>
                <a:gd name="T70" fmla="*/ 2517 w 2648"/>
                <a:gd name="T71" fmla="*/ 132 h 3456"/>
                <a:gd name="T72" fmla="*/ 2426 w 2648"/>
                <a:gd name="T73" fmla="*/ 94 h 3456"/>
                <a:gd name="T74" fmla="*/ 2461 w 2648"/>
                <a:gd name="T75" fmla="*/ 3 h 3456"/>
                <a:gd name="T76" fmla="*/ 2583 w 2648"/>
                <a:gd name="T77" fmla="*/ 65 h 3456"/>
                <a:gd name="T78" fmla="*/ 2644 w 2648"/>
                <a:gd name="T79" fmla="*/ 186 h 3456"/>
                <a:gd name="T80" fmla="*/ 2636 w 2648"/>
                <a:gd name="T81" fmla="*/ 3304 h 3456"/>
                <a:gd name="T82" fmla="*/ 2557 w 2648"/>
                <a:gd name="T83" fmla="*/ 3413 h 3456"/>
                <a:gd name="T84" fmla="*/ 2426 w 2648"/>
                <a:gd name="T85" fmla="*/ 3456 h 3456"/>
                <a:gd name="T86" fmla="*/ 120 w 2648"/>
                <a:gd name="T87" fmla="*/ 3431 h 3456"/>
                <a:gd name="T88" fmla="*/ 25 w 2648"/>
                <a:gd name="T89" fmla="*/ 3336 h 3456"/>
                <a:gd name="T90" fmla="*/ 0 w 2648"/>
                <a:gd name="T91" fmla="*/ 222 h 3456"/>
                <a:gd name="T92" fmla="*/ 43 w 2648"/>
                <a:gd name="T93" fmla="*/ 91 h 3456"/>
                <a:gd name="T94" fmla="*/ 153 w 2648"/>
                <a:gd name="T95" fmla="*/ 12 h 3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48" h="3456">
                  <a:moveTo>
                    <a:pt x="1328" y="3102"/>
                  </a:moveTo>
                  <a:lnTo>
                    <a:pt x="1313" y="3104"/>
                  </a:lnTo>
                  <a:lnTo>
                    <a:pt x="1299" y="3111"/>
                  </a:lnTo>
                  <a:lnTo>
                    <a:pt x="1289" y="3122"/>
                  </a:lnTo>
                  <a:lnTo>
                    <a:pt x="1281" y="3137"/>
                  </a:lnTo>
                  <a:lnTo>
                    <a:pt x="1278" y="3152"/>
                  </a:lnTo>
                  <a:lnTo>
                    <a:pt x="1281" y="3168"/>
                  </a:lnTo>
                  <a:lnTo>
                    <a:pt x="1289" y="3182"/>
                  </a:lnTo>
                  <a:lnTo>
                    <a:pt x="1299" y="3193"/>
                  </a:lnTo>
                  <a:lnTo>
                    <a:pt x="1313" y="3199"/>
                  </a:lnTo>
                  <a:lnTo>
                    <a:pt x="1328" y="3203"/>
                  </a:lnTo>
                  <a:lnTo>
                    <a:pt x="1344" y="3199"/>
                  </a:lnTo>
                  <a:lnTo>
                    <a:pt x="1359" y="3193"/>
                  </a:lnTo>
                  <a:lnTo>
                    <a:pt x="1369" y="3182"/>
                  </a:lnTo>
                  <a:lnTo>
                    <a:pt x="1377" y="3168"/>
                  </a:lnTo>
                  <a:lnTo>
                    <a:pt x="1379" y="3152"/>
                  </a:lnTo>
                  <a:lnTo>
                    <a:pt x="1377" y="3137"/>
                  </a:lnTo>
                  <a:lnTo>
                    <a:pt x="1369" y="3122"/>
                  </a:lnTo>
                  <a:lnTo>
                    <a:pt x="1359" y="3111"/>
                  </a:lnTo>
                  <a:lnTo>
                    <a:pt x="1344" y="3104"/>
                  </a:lnTo>
                  <a:lnTo>
                    <a:pt x="1328" y="3102"/>
                  </a:lnTo>
                  <a:close/>
                  <a:moveTo>
                    <a:pt x="1328" y="3008"/>
                  </a:moveTo>
                  <a:lnTo>
                    <a:pt x="1358" y="3011"/>
                  </a:lnTo>
                  <a:lnTo>
                    <a:pt x="1385" y="3019"/>
                  </a:lnTo>
                  <a:lnTo>
                    <a:pt x="1409" y="3033"/>
                  </a:lnTo>
                  <a:lnTo>
                    <a:pt x="1431" y="3051"/>
                  </a:lnTo>
                  <a:lnTo>
                    <a:pt x="1448" y="3072"/>
                  </a:lnTo>
                  <a:lnTo>
                    <a:pt x="1461" y="3096"/>
                  </a:lnTo>
                  <a:lnTo>
                    <a:pt x="1470" y="3123"/>
                  </a:lnTo>
                  <a:lnTo>
                    <a:pt x="1473" y="3152"/>
                  </a:lnTo>
                  <a:lnTo>
                    <a:pt x="1470" y="3181"/>
                  </a:lnTo>
                  <a:lnTo>
                    <a:pt x="1461" y="3208"/>
                  </a:lnTo>
                  <a:lnTo>
                    <a:pt x="1448" y="3233"/>
                  </a:lnTo>
                  <a:lnTo>
                    <a:pt x="1431" y="3254"/>
                  </a:lnTo>
                  <a:lnTo>
                    <a:pt x="1409" y="3272"/>
                  </a:lnTo>
                  <a:lnTo>
                    <a:pt x="1385" y="3284"/>
                  </a:lnTo>
                  <a:lnTo>
                    <a:pt x="1358" y="3294"/>
                  </a:lnTo>
                  <a:lnTo>
                    <a:pt x="1328" y="3296"/>
                  </a:lnTo>
                  <a:lnTo>
                    <a:pt x="1300" y="3294"/>
                  </a:lnTo>
                  <a:lnTo>
                    <a:pt x="1273" y="3284"/>
                  </a:lnTo>
                  <a:lnTo>
                    <a:pt x="1248" y="3272"/>
                  </a:lnTo>
                  <a:lnTo>
                    <a:pt x="1227" y="3254"/>
                  </a:lnTo>
                  <a:lnTo>
                    <a:pt x="1209" y="3233"/>
                  </a:lnTo>
                  <a:lnTo>
                    <a:pt x="1197" y="3208"/>
                  </a:lnTo>
                  <a:lnTo>
                    <a:pt x="1188" y="3181"/>
                  </a:lnTo>
                  <a:lnTo>
                    <a:pt x="1185" y="3152"/>
                  </a:lnTo>
                  <a:lnTo>
                    <a:pt x="1188" y="3123"/>
                  </a:lnTo>
                  <a:lnTo>
                    <a:pt x="1197" y="3096"/>
                  </a:lnTo>
                  <a:lnTo>
                    <a:pt x="1209" y="3072"/>
                  </a:lnTo>
                  <a:lnTo>
                    <a:pt x="1227" y="3051"/>
                  </a:lnTo>
                  <a:lnTo>
                    <a:pt x="1248" y="3033"/>
                  </a:lnTo>
                  <a:lnTo>
                    <a:pt x="1273" y="3019"/>
                  </a:lnTo>
                  <a:lnTo>
                    <a:pt x="1300" y="3011"/>
                  </a:lnTo>
                  <a:lnTo>
                    <a:pt x="1328" y="3008"/>
                  </a:lnTo>
                  <a:close/>
                  <a:moveTo>
                    <a:pt x="338" y="359"/>
                  </a:moveTo>
                  <a:lnTo>
                    <a:pt x="322" y="362"/>
                  </a:lnTo>
                  <a:lnTo>
                    <a:pt x="310" y="371"/>
                  </a:lnTo>
                  <a:lnTo>
                    <a:pt x="301" y="383"/>
                  </a:lnTo>
                  <a:lnTo>
                    <a:pt x="298" y="398"/>
                  </a:lnTo>
                  <a:lnTo>
                    <a:pt x="298" y="2806"/>
                  </a:lnTo>
                  <a:lnTo>
                    <a:pt x="301" y="2820"/>
                  </a:lnTo>
                  <a:lnTo>
                    <a:pt x="310" y="2833"/>
                  </a:lnTo>
                  <a:lnTo>
                    <a:pt x="322" y="2841"/>
                  </a:lnTo>
                  <a:lnTo>
                    <a:pt x="338" y="2844"/>
                  </a:lnTo>
                  <a:lnTo>
                    <a:pt x="2323" y="2844"/>
                  </a:lnTo>
                  <a:lnTo>
                    <a:pt x="2338" y="2841"/>
                  </a:lnTo>
                  <a:lnTo>
                    <a:pt x="2350" y="2833"/>
                  </a:lnTo>
                  <a:lnTo>
                    <a:pt x="2359" y="2820"/>
                  </a:lnTo>
                  <a:lnTo>
                    <a:pt x="2362" y="2806"/>
                  </a:lnTo>
                  <a:lnTo>
                    <a:pt x="2362" y="398"/>
                  </a:lnTo>
                  <a:lnTo>
                    <a:pt x="2359" y="383"/>
                  </a:lnTo>
                  <a:lnTo>
                    <a:pt x="2350" y="371"/>
                  </a:lnTo>
                  <a:lnTo>
                    <a:pt x="2338" y="362"/>
                  </a:lnTo>
                  <a:lnTo>
                    <a:pt x="2323" y="359"/>
                  </a:lnTo>
                  <a:lnTo>
                    <a:pt x="338" y="359"/>
                  </a:lnTo>
                  <a:close/>
                  <a:moveTo>
                    <a:pt x="338" y="266"/>
                  </a:moveTo>
                  <a:lnTo>
                    <a:pt x="2323" y="266"/>
                  </a:lnTo>
                  <a:lnTo>
                    <a:pt x="2349" y="268"/>
                  </a:lnTo>
                  <a:lnTo>
                    <a:pt x="2375" y="276"/>
                  </a:lnTo>
                  <a:lnTo>
                    <a:pt x="2398" y="288"/>
                  </a:lnTo>
                  <a:lnTo>
                    <a:pt x="2416" y="305"/>
                  </a:lnTo>
                  <a:lnTo>
                    <a:pt x="2433" y="325"/>
                  </a:lnTo>
                  <a:lnTo>
                    <a:pt x="2446" y="347"/>
                  </a:lnTo>
                  <a:lnTo>
                    <a:pt x="2453" y="372"/>
                  </a:lnTo>
                  <a:lnTo>
                    <a:pt x="2456" y="398"/>
                  </a:lnTo>
                  <a:lnTo>
                    <a:pt x="2456" y="2806"/>
                  </a:lnTo>
                  <a:lnTo>
                    <a:pt x="2453" y="2832"/>
                  </a:lnTo>
                  <a:lnTo>
                    <a:pt x="2446" y="2857"/>
                  </a:lnTo>
                  <a:lnTo>
                    <a:pt x="2433" y="2879"/>
                  </a:lnTo>
                  <a:lnTo>
                    <a:pt x="2416" y="2899"/>
                  </a:lnTo>
                  <a:lnTo>
                    <a:pt x="2398" y="2916"/>
                  </a:lnTo>
                  <a:lnTo>
                    <a:pt x="2375" y="2927"/>
                  </a:lnTo>
                  <a:lnTo>
                    <a:pt x="2349" y="2936"/>
                  </a:lnTo>
                  <a:lnTo>
                    <a:pt x="2323" y="2938"/>
                  </a:lnTo>
                  <a:lnTo>
                    <a:pt x="338" y="2938"/>
                  </a:lnTo>
                  <a:lnTo>
                    <a:pt x="311" y="2936"/>
                  </a:lnTo>
                  <a:lnTo>
                    <a:pt x="286" y="2927"/>
                  </a:lnTo>
                  <a:lnTo>
                    <a:pt x="264" y="2916"/>
                  </a:lnTo>
                  <a:lnTo>
                    <a:pt x="244" y="2899"/>
                  </a:lnTo>
                  <a:lnTo>
                    <a:pt x="228" y="2879"/>
                  </a:lnTo>
                  <a:lnTo>
                    <a:pt x="215" y="2857"/>
                  </a:lnTo>
                  <a:lnTo>
                    <a:pt x="208" y="2832"/>
                  </a:lnTo>
                  <a:lnTo>
                    <a:pt x="205" y="2806"/>
                  </a:lnTo>
                  <a:lnTo>
                    <a:pt x="205" y="398"/>
                  </a:lnTo>
                  <a:lnTo>
                    <a:pt x="208" y="372"/>
                  </a:lnTo>
                  <a:lnTo>
                    <a:pt x="215" y="347"/>
                  </a:lnTo>
                  <a:lnTo>
                    <a:pt x="228" y="325"/>
                  </a:lnTo>
                  <a:lnTo>
                    <a:pt x="244" y="305"/>
                  </a:lnTo>
                  <a:lnTo>
                    <a:pt x="264" y="288"/>
                  </a:lnTo>
                  <a:lnTo>
                    <a:pt x="286" y="276"/>
                  </a:lnTo>
                  <a:lnTo>
                    <a:pt x="311" y="268"/>
                  </a:lnTo>
                  <a:lnTo>
                    <a:pt x="338" y="266"/>
                  </a:lnTo>
                  <a:close/>
                  <a:moveTo>
                    <a:pt x="223" y="94"/>
                  </a:moveTo>
                  <a:lnTo>
                    <a:pt x="197" y="96"/>
                  </a:lnTo>
                  <a:lnTo>
                    <a:pt x="173" y="104"/>
                  </a:lnTo>
                  <a:lnTo>
                    <a:pt x="151" y="116"/>
                  </a:lnTo>
                  <a:lnTo>
                    <a:pt x="132" y="132"/>
                  </a:lnTo>
                  <a:lnTo>
                    <a:pt x="116" y="151"/>
                  </a:lnTo>
                  <a:lnTo>
                    <a:pt x="105" y="173"/>
                  </a:lnTo>
                  <a:lnTo>
                    <a:pt x="96" y="197"/>
                  </a:lnTo>
                  <a:lnTo>
                    <a:pt x="94" y="222"/>
                  </a:lnTo>
                  <a:lnTo>
                    <a:pt x="94" y="3234"/>
                  </a:lnTo>
                  <a:lnTo>
                    <a:pt x="96" y="3259"/>
                  </a:lnTo>
                  <a:lnTo>
                    <a:pt x="105" y="3283"/>
                  </a:lnTo>
                  <a:lnTo>
                    <a:pt x="116" y="3305"/>
                  </a:lnTo>
                  <a:lnTo>
                    <a:pt x="132" y="3324"/>
                  </a:lnTo>
                  <a:lnTo>
                    <a:pt x="151" y="3340"/>
                  </a:lnTo>
                  <a:lnTo>
                    <a:pt x="173" y="3352"/>
                  </a:lnTo>
                  <a:lnTo>
                    <a:pt x="197" y="3360"/>
                  </a:lnTo>
                  <a:lnTo>
                    <a:pt x="223" y="3362"/>
                  </a:lnTo>
                  <a:lnTo>
                    <a:pt x="2426" y="3362"/>
                  </a:lnTo>
                  <a:lnTo>
                    <a:pt x="2452" y="3360"/>
                  </a:lnTo>
                  <a:lnTo>
                    <a:pt x="2476" y="3352"/>
                  </a:lnTo>
                  <a:lnTo>
                    <a:pt x="2498" y="3340"/>
                  </a:lnTo>
                  <a:lnTo>
                    <a:pt x="2517" y="3324"/>
                  </a:lnTo>
                  <a:lnTo>
                    <a:pt x="2533" y="3305"/>
                  </a:lnTo>
                  <a:lnTo>
                    <a:pt x="2544" y="3283"/>
                  </a:lnTo>
                  <a:lnTo>
                    <a:pt x="2551" y="3259"/>
                  </a:lnTo>
                  <a:lnTo>
                    <a:pt x="2554" y="3234"/>
                  </a:lnTo>
                  <a:lnTo>
                    <a:pt x="2554" y="222"/>
                  </a:lnTo>
                  <a:lnTo>
                    <a:pt x="2551" y="197"/>
                  </a:lnTo>
                  <a:lnTo>
                    <a:pt x="2544" y="173"/>
                  </a:lnTo>
                  <a:lnTo>
                    <a:pt x="2533" y="151"/>
                  </a:lnTo>
                  <a:lnTo>
                    <a:pt x="2517" y="132"/>
                  </a:lnTo>
                  <a:lnTo>
                    <a:pt x="2498" y="116"/>
                  </a:lnTo>
                  <a:lnTo>
                    <a:pt x="2476" y="104"/>
                  </a:lnTo>
                  <a:lnTo>
                    <a:pt x="2452" y="96"/>
                  </a:lnTo>
                  <a:lnTo>
                    <a:pt x="2426" y="94"/>
                  </a:lnTo>
                  <a:lnTo>
                    <a:pt x="223" y="94"/>
                  </a:lnTo>
                  <a:close/>
                  <a:moveTo>
                    <a:pt x="223" y="0"/>
                  </a:moveTo>
                  <a:lnTo>
                    <a:pt x="2426" y="0"/>
                  </a:lnTo>
                  <a:lnTo>
                    <a:pt x="2461" y="3"/>
                  </a:lnTo>
                  <a:lnTo>
                    <a:pt x="2496" y="12"/>
                  </a:lnTo>
                  <a:lnTo>
                    <a:pt x="2527" y="25"/>
                  </a:lnTo>
                  <a:lnTo>
                    <a:pt x="2557" y="43"/>
                  </a:lnTo>
                  <a:lnTo>
                    <a:pt x="2583" y="65"/>
                  </a:lnTo>
                  <a:lnTo>
                    <a:pt x="2605" y="91"/>
                  </a:lnTo>
                  <a:lnTo>
                    <a:pt x="2622" y="120"/>
                  </a:lnTo>
                  <a:lnTo>
                    <a:pt x="2636" y="152"/>
                  </a:lnTo>
                  <a:lnTo>
                    <a:pt x="2644" y="186"/>
                  </a:lnTo>
                  <a:lnTo>
                    <a:pt x="2648" y="222"/>
                  </a:lnTo>
                  <a:lnTo>
                    <a:pt x="2648" y="3234"/>
                  </a:lnTo>
                  <a:lnTo>
                    <a:pt x="2644" y="3270"/>
                  </a:lnTo>
                  <a:lnTo>
                    <a:pt x="2636" y="3304"/>
                  </a:lnTo>
                  <a:lnTo>
                    <a:pt x="2622" y="3336"/>
                  </a:lnTo>
                  <a:lnTo>
                    <a:pt x="2605" y="3365"/>
                  </a:lnTo>
                  <a:lnTo>
                    <a:pt x="2583" y="3391"/>
                  </a:lnTo>
                  <a:lnTo>
                    <a:pt x="2557" y="3413"/>
                  </a:lnTo>
                  <a:lnTo>
                    <a:pt x="2527" y="3431"/>
                  </a:lnTo>
                  <a:lnTo>
                    <a:pt x="2496" y="3444"/>
                  </a:lnTo>
                  <a:lnTo>
                    <a:pt x="2461" y="3453"/>
                  </a:lnTo>
                  <a:lnTo>
                    <a:pt x="2426" y="3456"/>
                  </a:lnTo>
                  <a:lnTo>
                    <a:pt x="223" y="3456"/>
                  </a:lnTo>
                  <a:lnTo>
                    <a:pt x="186" y="3453"/>
                  </a:lnTo>
                  <a:lnTo>
                    <a:pt x="153" y="3444"/>
                  </a:lnTo>
                  <a:lnTo>
                    <a:pt x="120" y="3431"/>
                  </a:lnTo>
                  <a:lnTo>
                    <a:pt x="91" y="3413"/>
                  </a:lnTo>
                  <a:lnTo>
                    <a:pt x="66" y="3391"/>
                  </a:lnTo>
                  <a:lnTo>
                    <a:pt x="43" y="3365"/>
                  </a:lnTo>
                  <a:lnTo>
                    <a:pt x="25" y="3336"/>
                  </a:lnTo>
                  <a:lnTo>
                    <a:pt x="11" y="3304"/>
                  </a:lnTo>
                  <a:lnTo>
                    <a:pt x="3" y="3270"/>
                  </a:lnTo>
                  <a:lnTo>
                    <a:pt x="0" y="3234"/>
                  </a:lnTo>
                  <a:lnTo>
                    <a:pt x="0" y="222"/>
                  </a:lnTo>
                  <a:lnTo>
                    <a:pt x="3" y="186"/>
                  </a:lnTo>
                  <a:lnTo>
                    <a:pt x="11" y="152"/>
                  </a:lnTo>
                  <a:lnTo>
                    <a:pt x="25" y="120"/>
                  </a:lnTo>
                  <a:lnTo>
                    <a:pt x="43" y="91"/>
                  </a:lnTo>
                  <a:lnTo>
                    <a:pt x="66" y="65"/>
                  </a:lnTo>
                  <a:lnTo>
                    <a:pt x="91" y="43"/>
                  </a:lnTo>
                  <a:lnTo>
                    <a:pt x="120" y="25"/>
                  </a:lnTo>
                  <a:lnTo>
                    <a:pt x="153" y="12"/>
                  </a:lnTo>
                  <a:lnTo>
                    <a:pt x="186" y="3"/>
                  </a:lnTo>
                  <a:lnTo>
                    <a:pt x="223"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Freeform 13">
            <a:extLst>
              <a:ext uri="{FF2B5EF4-FFF2-40B4-BE49-F238E27FC236}">
                <a16:creationId xmlns:a16="http://schemas.microsoft.com/office/drawing/2014/main" id="{C42C45B7-0938-4013-B922-21197618D7E0}"/>
              </a:ext>
            </a:extLst>
          </p:cNvPr>
          <p:cNvSpPr>
            <a:spLocks noChangeAspect="1" noEditPoints="1"/>
          </p:cNvSpPr>
          <p:nvPr/>
        </p:nvSpPr>
        <p:spPr bwMode="auto">
          <a:xfrm rot="1298261">
            <a:off x="7202018" y="949149"/>
            <a:ext cx="304635" cy="459641"/>
          </a:xfrm>
          <a:custGeom>
            <a:avLst/>
            <a:gdLst>
              <a:gd name="T0" fmla="*/ 2081 w 2475"/>
              <a:gd name="T1" fmla="*/ 3481 h 4799"/>
              <a:gd name="T2" fmla="*/ 461 w 2475"/>
              <a:gd name="T3" fmla="*/ 3538 h 4799"/>
              <a:gd name="T4" fmla="*/ 404 w 2475"/>
              <a:gd name="T5" fmla="*/ 731 h 4799"/>
              <a:gd name="T6" fmla="*/ 2024 w 2475"/>
              <a:gd name="T7" fmla="*/ 673 h 4799"/>
              <a:gd name="T8" fmla="*/ 2081 w 2475"/>
              <a:gd name="T9" fmla="*/ 3481 h 4799"/>
              <a:gd name="T10" fmla="*/ 2024 w 2475"/>
              <a:gd name="T11" fmla="*/ 541 h 4799"/>
              <a:gd name="T12" fmla="*/ 461 w 2475"/>
              <a:gd name="T13" fmla="*/ 541 h 4799"/>
              <a:gd name="T14" fmla="*/ 271 w 2475"/>
              <a:gd name="T15" fmla="*/ 3481 h 4799"/>
              <a:gd name="T16" fmla="*/ 2024 w 2475"/>
              <a:gd name="T17" fmla="*/ 3670 h 4799"/>
              <a:gd name="T18" fmla="*/ 2214 w 2475"/>
              <a:gd name="T19" fmla="*/ 731 h 4799"/>
              <a:gd name="T20" fmla="*/ 2024 w 2475"/>
              <a:gd name="T21" fmla="*/ 541 h 4799"/>
              <a:gd name="T22" fmla="*/ 2343 w 2475"/>
              <a:gd name="T23" fmla="*/ 4483 h 4799"/>
              <a:gd name="T24" fmla="*/ 315 w 2475"/>
              <a:gd name="T25" fmla="*/ 4666 h 4799"/>
              <a:gd name="T26" fmla="*/ 132 w 2475"/>
              <a:gd name="T27" fmla="*/ 314 h 4799"/>
              <a:gd name="T28" fmla="*/ 2160 w 2475"/>
              <a:gd name="T29" fmla="*/ 131 h 4799"/>
              <a:gd name="T30" fmla="*/ 2343 w 2475"/>
              <a:gd name="T31" fmla="*/ 4483 h 4799"/>
              <a:gd name="T32" fmla="*/ 2160 w 2475"/>
              <a:gd name="T33" fmla="*/ 0 h 4799"/>
              <a:gd name="T34" fmla="*/ 315 w 2475"/>
              <a:gd name="T35" fmla="*/ 0 h 4799"/>
              <a:gd name="T36" fmla="*/ 0 w 2475"/>
              <a:gd name="T37" fmla="*/ 4483 h 4799"/>
              <a:gd name="T38" fmla="*/ 2160 w 2475"/>
              <a:gd name="T39" fmla="*/ 4799 h 4799"/>
              <a:gd name="T40" fmla="*/ 2475 w 2475"/>
              <a:gd name="T41" fmla="*/ 314 h 4799"/>
              <a:gd name="T42" fmla="*/ 2160 w 2475"/>
              <a:gd name="T43" fmla="*/ 0 h 4799"/>
              <a:gd name="T44" fmla="*/ 886 w 2475"/>
              <a:gd name="T45" fmla="*/ 357 h 4799"/>
              <a:gd name="T46" fmla="*/ 1520 w 2475"/>
              <a:gd name="T47" fmla="*/ 290 h 4799"/>
              <a:gd name="T48" fmla="*/ 1520 w 2475"/>
              <a:gd name="T49" fmla="*/ 423 h 4799"/>
              <a:gd name="T50" fmla="*/ 886 w 2475"/>
              <a:gd name="T51" fmla="*/ 357 h 4799"/>
              <a:gd name="T52" fmla="*/ 1245 w 2475"/>
              <a:gd name="T53" fmla="*/ 4331 h 4799"/>
              <a:gd name="T54" fmla="*/ 1046 w 2475"/>
              <a:gd name="T55" fmla="*/ 4132 h 4799"/>
              <a:gd name="T56" fmla="*/ 1444 w 2475"/>
              <a:gd name="T57" fmla="*/ 4132 h 4799"/>
              <a:gd name="T58" fmla="*/ 1245 w 2475"/>
              <a:gd name="T59" fmla="*/ 4331 h 4799"/>
              <a:gd name="T60" fmla="*/ 1245 w 2475"/>
              <a:gd name="T61" fmla="*/ 3800 h 4799"/>
              <a:gd name="T62" fmla="*/ 1245 w 2475"/>
              <a:gd name="T63" fmla="*/ 4463 h 4799"/>
              <a:gd name="T64" fmla="*/ 1245 w 2475"/>
              <a:gd name="T65" fmla="*/ 3800 h 4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75" h="4799">
                <a:moveTo>
                  <a:pt x="2081" y="3481"/>
                </a:moveTo>
                <a:lnTo>
                  <a:pt x="2081" y="3481"/>
                </a:lnTo>
                <a:cubicBezTo>
                  <a:pt x="2081" y="3512"/>
                  <a:pt x="2055" y="3538"/>
                  <a:pt x="2024" y="3538"/>
                </a:cubicBezTo>
                <a:lnTo>
                  <a:pt x="461" y="3538"/>
                </a:lnTo>
                <a:cubicBezTo>
                  <a:pt x="429" y="3538"/>
                  <a:pt x="404" y="3512"/>
                  <a:pt x="404" y="3481"/>
                </a:cubicBezTo>
                <a:lnTo>
                  <a:pt x="404" y="731"/>
                </a:lnTo>
                <a:cubicBezTo>
                  <a:pt x="404" y="699"/>
                  <a:pt x="429" y="673"/>
                  <a:pt x="461" y="673"/>
                </a:cubicBezTo>
                <a:lnTo>
                  <a:pt x="2024" y="673"/>
                </a:lnTo>
                <a:cubicBezTo>
                  <a:pt x="2055" y="673"/>
                  <a:pt x="2081" y="699"/>
                  <a:pt x="2081" y="731"/>
                </a:cubicBezTo>
                <a:lnTo>
                  <a:pt x="2081" y="3481"/>
                </a:lnTo>
                <a:lnTo>
                  <a:pt x="2081" y="3481"/>
                </a:lnTo>
                <a:close/>
                <a:moveTo>
                  <a:pt x="2024" y="541"/>
                </a:moveTo>
                <a:lnTo>
                  <a:pt x="2024" y="541"/>
                </a:lnTo>
                <a:lnTo>
                  <a:pt x="461" y="541"/>
                </a:lnTo>
                <a:cubicBezTo>
                  <a:pt x="356" y="541"/>
                  <a:pt x="271" y="626"/>
                  <a:pt x="271" y="731"/>
                </a:cubicBezTo>
                <a:lnTo>
                  <a:pt x="271" y="3481"/>
                </a:lnTo>
                <a:cubicBezTo>
                  <a:pt x="271" y="3585"/>
                  <a:pt x="356" y="3670"/>
                  <a:pt x="461" y="3670"/>
                </a:cubicBezTo>
                <a:lnTo>
                  <a:pt x="2024" y="3670"/>
                </a:lnTo>
                <a:cubicBezTo>
                  <a:pt x="2128" y="3670"/>
                  <a:pt x="2214" y="3585"/>
                  <a:pt x="2214" y="3481"/>
                </a:cubicBezTo>
                <a:lnTo>
                  <a:pt x="2214" y="731"/>
                </a:lnTo>
                <a:cubicBezTo>
                  <a:pt x="2214" y="626"/>
                  <a:pt x="2128" y="541"/>
                  <a:pt x="2024" y="541"/>
                </a:cubicBezTo>
                <a:lnTo>
                  <a:pt x="2024" y="541"/>
                </a:lnTo>
                <a:close/>
                <a:moveTo>
                  <a:pt x="2343" y="4483"/>
                </a:moveTo>
                <a:lnTo>
                  <a:pt x="2343" y="4483"/>
                </a:lnTo>
                <a:cubicBezTo>
                  <a:pt x="2343" y="4584"/>
                  <a:pt x="2261" y="4666"/>
                  <a:pt x="2160" y="4666"/>
                </a:cubicBezTo>
                <a:lnTo>
                  <a:pt x="315" y="4666"/>
                </a:lnTo>
                <a:cubicBezTo>
                  <a:pt x="214" y="4666"/>
                  <a:pt x="132" y="4584"/>
                  <a:pt x="132" y="4483"/>
                </a:cubicBezTo>
                <a:lnTo>
                  <a:pt x="132" y="314"/>
                </a:lnTo>
                <a:cubicBezTo>
                  <a:pt x="132" y="213"/>
                  <a:pt x="214" y="131"/>
                  <a:pt x="315" y="131"/>
                </a:cubicBezTo>
                <a:lnTo>
                  <a:pt x="2160" y="131"/>
                </a:lnTo>
                <a:cubicBezTo>
                  <a:pt x="2261" y="131"/>
                  <a:pt x="2343" y="213"/>
                  <a:pt x="2343" y="314"/>
                </a:cubicBezTo>
                <a:lnTo>
                  <a:pt x="2343" y="4483"/>
                </a:lnTo>
                <a:lnTo>
                  <a:pt x="2343" y="4483"/>
                </a:lnTo>
                <a:close/>
                <a:moveTo>
                  <a:pt x="2160" y="0"/>
                </a:moveTo>
                <a:lnTo>
                  <a:pt x="2160" y="0"/>
                </a:lnTo>
                <a:lnTo>
                  <a:pt x="315" y="0"/>
                </a:lnTo>
                <a:cubicBezTo>
                  <a:pt x="141" y="0"/>
                  <a:pt x="0" y="140"/>
                  <a:pt x="0" y="314"/>
                </a:cubicBezTo>
                <a:lnTo>
                  <a:pt x="0" y="4483"/>
                </a:lnTo>
                <a:cubicBezTo>
                  <a:pt x="0" y="4657"/>
                  <a:pt x="141" y="4799"/>
                  <a:pt x="315" y="4799"/>
                </a:cubicBezTo>
                <a:lnTo>
                  <a:pt x="2160" y="4799"/>
                </a:lnTo>
                <a:cubicBezTo>
                  <a:pt x="2334" y="4799"/>
                  <a:pt x="2475" y="4657"/>
                  <a:pt x="2475" y="4483"/>
                </a:cubicBezTo>
                <a:lnTo>
                  <a:pt x="2475" y="314"/>
                </a:lnTo>
                <a:cubicBezTo>
                  <a:pt x="2475" y="140"/>
                  <a:pt x="2334" y="0"/>
                  <a:pt x="2160" y="0"/>
                </a:cubicBezTo>
                <a:lnTo>
                  <a:pt x="2160" y="0"/>
                </a:lnTo>
                <a:close/>
                <a:moveTo>
                  <a:pt x="886" y="357"/>
                </a:moveTo>
                <a:lnTo>
                  <a:pt x="886" y="357"/>
                </a:lnTo>
                <a:cubicBezTo>
                  <a:pt x="886" y="320"/>
                  <a:pt x="915" y="290"/>
                  <a:pt x="952" y="290"/>
                </a:cubicBezTo>
                <a:lnTo>
                  <a:pt x="1520" y="290"/>
                </a:lnTo>
                <a:cubicBezTo>
                  <a:pt x="1556" y="290"/>
                  <a:pt x="1586" y="320"/>
                  <a:pt x="1586" y="357"/>
                </a:cubicBezTo>
                <a:cubicBezTo>
                  <a:pt x="1586" y="393"/>
                  <a:pt x="1556" y="423"/>
                  <a:pt x="1520" y="423"/>
                </a:cubicBezTo>
                <a:lnTo>
                  <a:pt x="952" y="423"/>
                </a:lnTo>
                <a:cubicBezTo>
                  <a:pt x="915" y="423"/>
                  <a:pt x="886" y="393"/>
                  <a:pt x="886" y="357"/>
                </a:cubicBezTo>
                <a:lnTo>
                  <a:pt x="886" y="357"/>
                </a:lnTo>
                <a:close/>
                <a:moveTo>
                  <a:pt x="1245" y="4331"/>
                </a:moveTo>
                <a:lnTo>
                  <a:pt x="1245" y="4331"/>
                </a:lnTo>
                <a:cubicBezTo>
                  <a:pt x="1135" y="4331"/>
                  <a:pt x="1046" y="4241"/>
                  <a:pt x="1046" y="4132"/>
                </a:cubicBezTo>
                <a:cubicBezTo>
                  <a:pt x="1046" y="4022"/>
                  <a:pt x="1135" y="3932"/>
                  <a:pt x="1245" y="3932"/>
                </a:cubicBezTo>
                <a:cubicBezTo>
                  <a:pt x="1355" y="3932"/>
                  <a:pt x="1444" y="4022"/>
                  <a:pt x="1444" y="4132"/>
                </a:cubicBezTo>
                <a:cubicBezTo>
                  <a:pt x="1444" y="4241"/>
                  <a:pt x="1355" y="4331"/>
                  <a:pt x="1245" y="4331"/>
                </a:cubicBezTo>
                <a:lnTo>
                  <a:pt x="1245" y="4331"/>
                </a:lnTo>
                <a:close/>
                <a:moveTo>
                  <a:pt x="1245" y="3800"/>
                </a:moveTo>
                <a:lnTo>
                  <a:pt x="1245" y="3800"/>
                </a:lnTo>
                <a:cubicBezTo>
                  <a:pt x="1062" y="3800"/>
                  <a:pt x="913" y="3949"/>
                  <a:pt x="913" y="4132"/>
                </a:cubicBezTo>
                <a:cubicBezTo>
                  <a:pt x="913" y="4314"/>
                  <a:pt x="1062" y="4463"/>
                  <a:pt x="1245" y="4463"/>
                </a:cubicBezTo>
                <a:cubicBezTo>
                  <a:pt x="1428" y="4463"/>
                  <a:pt x="1577" y="4314"/>
                  <a:pt x="1577" y="4132"/>
                </a:cubicBezTo>
                <a:cubicBezTo>
                  <a:pt x="1577" y="3949"/>
                  <a:pt x="1428" y="3800"/>
                  <a:pt x="1245" y="3800"/>
                </a:cubicBezTo>
                <a:close/>
              </a:path>
            </a:pathLst>
          </a:custGeom>
          <a:solidFill>
            <a:schemeClr val="accent3">
              <a:lumMod val="75000"/>
              <a:lumOff val="25000"/>
            </a:schemeClr>
          </a:solidFill>
          <a:ln w="0">
            <a:solidFill>
              <a:schemeClr val="accent1">
                <a:lumMod val="7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Freeform 21">
            <a:extLst>
              <a:ext uri="{FF2B5EF4-FFF2-40B4-BE49-F238E27FC236}">
                <a16:creationId xmlns:a16="http://schemas.microsoft.com/office/drawing/2014/main" id="{F85925ED-B151-4F5F-9591-7A07D1B150A5}"/>
              </a:ext>
            </a:extLst>
          </p:cNvPr>
          <p:cNvSpPr>
            <a:spLocks noChangeAspect="1" noEditPoints="1"/>
          </p:cNvSpPr>
          <p:nvPr/>
        </p:nvSpPr>
        <p:spPr bwMode="auto">
          <a:xfrm>
            <a:off x="7826379" y="565331"/>
            <a:ext cx="827426" cy="656925"/>
          </a:xfrm>
          <a:custGeom>
            <a:avLst/>
            <a:gdLst>
              <a:gd name="T0" fmla="*/ 3037 w 3964"/>
              <a:gd name="T1" fmla="*/ 3635 h 4032"/>
              <a:gd name="T2" fmla="*/ 3133 w 3964"/>
              <a:gd name="T3" fmla="*/ 3755 h 4032"/>
              <a:gd name="T4" fmla="*/ 1162 w 3964"/>
              <a:gd name="T5" fmla="*/ 3596 h 4032"/>
              <a:gd name="T6" fmla="*/ 3097 w 3964"/>
              <a:gd name="T7" fmla="*/ 3281 h 4032"/>
              <a:gd name="T8" fmla="*/ 1969 w 3964"/>
              <a:gd name="T9" fmla="*/ 3281 h 4032"/>
              <a:gd name="T10" fmla="*/ 838 w 3964"/>
              <a:gd name="T11" fmla="*/ 3278 h 4032"/>
              <a:gd name="T12" fmla="*/ 3753 w 3964"/>
              <a:gd name="T13" fmla="*/ 3350 h 4032"/>
              <a:gd name="T14" fmla="*/ 3360 w 3964"/>
              <a:gd name="T15" fmla="*/ 3090 h 4032"/>
              <a:gd name="T16" fmla="*/ 3212 w 3964"/>
              <a:gd name="T17" fmla="*/ 3278 h 4032"/>
              <a:gd name="T18" fmla="*/ 2783 w 3964"/>
              <a:gd name="T19" fmla="*/ 3278 h 4032"/>
              <a:gd name="T20" fmla="*/ 2635 w 3964"/>
              <a:gd name="T21" fmla="*/ 3090 h 4032"/>
              <a:gd name="T22" fmla="*/ 2243 w 3964"/>
              <a:gd name="T23" fmla="*/ 3350 h 4032"/>
              <a:gd name="T24" fmla="*/ 2016 w 3964"/>
              <a:gd name="T25" fmla="*/ 3037 h 4032"/>
              <a:gd name="T26" fmla="*/ 1740 w 3964"/>
              <a:gd name="T27" fmla="*/ 3389 h 4032"/>
              <a:gd name="T28" fmla="*/ 1201 w 3964"/>
              <a:gd name="T29" fmla="*/ 3026 h 4032"/>
              <a:gd name="T30" fmla="*/ 1427 w 3964"/>
              <a:gd name="T31" fmla="*/ 3389 h 4032"/>
              <a:gd name="T32" fmla="*/ 1151 w 3964"/>
              <a:gd name="T33" fmla="*/ 3037 h 4032"/>
              <a:gd name="T34" fmla="*/ 924 w 3964"/>
              <a:gd name="T35" fmla="*/ 3350 h 4032"/>
              <a:gd name="T36" fmla="*/ 532 w 3964"/>
              <a:gd name="T37" fmla="*/ 3090 h 4032"/>
              <a:gd name="T38" fmla="*/ 3097 w 3964"/>
              <a:gd name="T39" fmla="*/ 2854 h 4032"/>
              <a:gd name="T40" fmla="*/ 1969 w 3964"/>
              <a:gd name="T41" fmla="*/ 2853 h 4032"/>
              <a:gd name="T42" fmla="*/ 838 w 3964"/>
              <a:gd name="T43" fmla="*/ 2852 h 4032"/>
              <a:gd name="T44" fmla="*/ 3753 w 3964"/>
              <a:gd name="T45" fmla="*/ 2923 h 4032"/>
              <a:gd name="T46" fmla="*/ 3360 w 3964"/>
              <a:gd name="T47" fmla="*/ 2662 h 4032"/>
              <a:gd name="T48" fmla="*/ 3212 w 3964"/>
              <a:gd name="T49" fmla="*/ 2852 h 4032"/>
              <a:gd name="T50" fmla="*/ 2783 w 3964"/>
              <a:gd name="T51" fmla="*/ 2852 h 4032"/>
              <a:gd name="T52" fmla="*/ 2635 w 3964"/>
              <a:gd name="T53" fmla="*/ 2662 h 4032"/>
              <a:gd name="T54" fmla="*/ 2243 w 3964"/>
              <a:gd name="T55" fmla="*/ 2923 h 4032"/>
              <a:gd name="T56" fmla="*/ 2016 w 3964"/>
              <a:gd name="T57" fmla="*/ 2611 h 4032"/>
              <a:gd name="T58" fmla="*/ 1740 w 3964"/>
              <a:gd name="T59" fmla="*/ 2963 h 4032"/>
              <a:gd name="T60" fmla="*/ 1201 w 3964"/>
              <a:gd name="T61" fmla="*/ 2599 h 4032"/>
              <a:gd name="T62" fmla="*/ 1427 w 3964"/>
              <a:gd name="T63" fmla="*/ 2963 h 4032"/>
              <a:gd name="T64" fmla="*/ 1151 w 3964"/>
              <a:gd name="T65" fmla="*/ 2611 h 4032"/>
              <a:gd name="T66" fmla="*/ 924 w 3964"/>
              <a:gd name="T67" fmla="*/ 2923 h 4032"/>
              <a:gd name="T68" fmla="*/ 532 w 3964"/>
              <a:gd name="T69" fmla="*/ 2662 h 4032"/>
              <a:gd name="T70" fmla="*/ 2565 w 3964"/>
              <a:gd name="T71" fmla="*/ 270 h 4032"/>
              <a:gd name="T72" fmla="*/ 3128 w 3964"/>
              <a:gd name="T73" fmla="*/ 1017 h 4032"/>
              <a:gd name="T74" fmla="*/ 2960 w 3964"/>
              <a:gd name="T75" fmla="*/ 1671 h 4032"/>
              <a:gd name="T76" fmla="*/ 1747 w 3964"/>
              <a:gd name="T77" fmla="*/ 1984 h 4032"/>
              <a:gd name="T78" fmla="*/ 1784 w 3964"/>
              <a:gd name="T79" fmla="*/ 2429 h 4032"/>
              <a:gd name="T80" fmla="*/ 441 w 3964"/>
              <a:gd name="T81" fmla="*/ 3848 h 4032"/>
              <a:gd name="T82" fmla="*/ 3849 w 3964"/>
              <a:gd name="T83" fmla="*/ 2566 h 4032"/>
              <a:gd name="T84" fmla="*/ 2246 w 3964"/>
              <a:gd name="T85" fmla="*/ 2364 h 4032"/>
              <a:gd name="T86" fmla="*/ 3962 w 3964"/>
              <a:gd name="T87" fmla="*/ 3829 h 4032"/>
              <a:gd name="T88" fmla="*/ 388 w 3964"/>
              <a:gd name="T89" fmla="*/ 3961 h 4032"/>
              <a:gd name="T90" fmla="*/ 520 w 3964"/>
              <a:gd name="T91" fmla="*/ 2357 h 4032"/>
              <a:gd name="T92" fmla="*/ 1728 w 3964"/>
              <a:gd name="T93" fmla="*/ 2186 h 4032"/>
              <a:gd name="T94" fmla="*/ 1878 w 3964"/>
              <a:gd name="T95" fmla="*/ 1619 h 4032"/>
              <a:gd name="T96" fmla="*/ 3099 w 3964"/>
              <a:gd name="T97" fmla="*/ 1273 h 4032"/>
              <a:gd name="T98" fmla="*/ 2760 w 3964"/>
              <a:gd name="T99" fmla="*/ 942 h 4032"/>
              <a:gd name="T100" fmla="*/ 2501 w 3964"/>
              <a:gd name="T101" fmla="*/ 363 h 4032"/>
              <a:gd name="T102" fmla="*/ 1544 w 3964"/>
              <a:gd name="T103" fmla="*/ 216 h 4032"/>
              <a:gd name="T104" fmla="*/ 1088 w 3964"/>
              <a:gd name="T105" fmla="*/ 638 h 4032"/>
              <a:gd name="T106" fmla="*/ 488 w 3964"/>
              <a:gd name="T107" fmla="*/ 1013 h 4032"/>
              <a:gd name="T108" fmla="*/ 182 w 3964"/>
              <a:gd name="T109" fmla="*/ 1190 h 4032"/>
              <a:gd name="T110" fmla="*/ 355 w 3964"/>
              <a:gd name="T111" fmla="*/ 1604 h 4032"/>
              <a:gd name="T112" fmla="*/ 205 w 3964"/>
              <a:gd name="T113" fmla="*/ 1684 h 4032"/>
              <a:gd name="T114" fmla="*/ 148 w 3964"/>
              <a:gd name="T115" fmla="*/ 1074 h 4032"/>
              <a:gd name="T116" fmla="*/ 757 w 3964"/>
              <a:gd name="T117" fmla="*/ 539 h 4032"/>
              <a:gd name="T118" fmla="*/ 1573 w 3964"/>
              <a:gd name="T119" fmla="*/ 76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64" h="4032">
                <a:moveTo>
                  <a:pt x="1285" y="3631"/>
                </a:moveTo>
                <a:lnTo>
                  <a:pt x="1272" y="3635"/>
                </a:lnTo>
                <a:lnTo>
                  <a:pt x="1263" y="3643"/>
                </a:lnTo>
                <a:lnTo>
                  <a:pt x="1259" y="3657"/>
                </a:lnTo>
                <a:lnTo>
                  <a:pt x="1259" y="3668"/>
                </a:lnTo>
                <a:lnTo>
                  <a:pt x="1263" y="3681"/>
                </a:lnTo>
                <a:lnTo>
                  <a:pt x="1272" y="3691"/>
                </a:lnTo>
                <a:lnTo>
                  <a:pt x="1285" y="3695"/>
                </a:lnTo>
                <a:lnTo>
                  <a:pt x="3025" y="3695"/>
                </a:lnTo>
                <a:lnTo>
                  <a:pt x="3037" y="3691"/>
                </a:lnTo>
                <a:lnTo>
                  <a:pt x="3047" y="3681"/>
                </a:lnTo>
                <a:lnTo>
                  <a:pt x="3051" y="3668"/>
                </a:lnTo>
                <a:lnTo>
                  <a:pt x="3051" y="3657"/>
                </a:lnTo>
                <a:lnTo>
                  <a:pt x="3047" y="3643"/>
                </a:lnTo>
                <a:lnTo>
                  <a:pt x="3037" y="3635"/>
                </a:lnTo>
                <a:lnTo>
                  <a:pt x="3025" y="3631"/>
                </a:lnTo>
                <a:lnTo>
                  <a:pt x="1285" y="3631"/>
                </a:lnTo>
                <a:close/>
                <a:moveTo>
                  <a:pt x="1285" y="3519"/>
                </a:moveTo>
                <a:lnTo>
                  <a:pt x="3025" y="3519"/>
                </a:lnTo>
                <a:lnTo>
                  <a:pt x="3057" y="3523"/>
                </a:lnTo>
                <a:lnTo>
                  <a:pt x="3085" y="3533"/>
                </a:lnTo>
                <a:lnTo>
                  <a:pt x="3111" y="3549"/>
                </a:lnTo>
                <a:lnTo>
                  <a:pt x="3133" y="3571"/>
                </a:lnTo>
                <a:lnTo>
                  <a:pt x="3149" y="3596"/>
                </a:lnTo>
                <a:lnTo>
                  <a:pt x="3159" y="3625"/>
                </a:lnTo>
                <a:lnTo>
                  <a:pt x="3162" y="3657"/>
                </a:lnTo>
                <a:lnTo>
                  <a:pt x="3162" y="3668"/>
                </a:lnTo>
                <a:lnTo>
                  <a:pt x="3159" y="3700"/>
                </a:lnTo>
                <a:lnTo>
                  <a:pt x="3149" y="3729"/>
                </a:lnTo>
                <a:lnTo>
                  <a:pt x="3133" y="3755"/>
                </a:lnTo>
                <a:lnTo>
                  <a:pt x="3111" y="3775"/>
                </a:lnTo>
                <a:lnTo>
                  <a:pt x="3085" y="3791"/>
                </a:lnTo>
                <a:lnTo>
                  <a:pt x="3057" y="3802"/>
                </a:lnTo>
                <a:lnTo>
                  <a:pt x="3025" y="3806"/>
                </a:lnTo>
                <a:lnTo>
                  <a:pt x="1285" y="3806"/>
                </a:lnTo>
                <a:lnTo>
                  <a:pt x="1253" y="3802"/>
                </a:lnTo>
                <a:lnTo>
                  <a:pt x="1225" y="3791"/>
                </a:lnTo>
                <a:lnTo>
                  <a:pt x="1200" y="3775"/>
                </a:lnTo>
                <a:lnTo>
                  <a:pt x="1178" y="3755"/>
                </a:lnTo>
                <a:lnTo>
                  <a:pt x="1162" y="3729"/>
                </a:lnTo>
                <a:lnTo>
                  <a:pt x="1151" y="3700"/>
                </a:lnTo>
                <a:lnTo>
                  <a:pt x="1148" y="3668"/>
                </a:lnTo>
                <a:lnTo>
                  <a:pt x="1148" y="3657"/>
                </a:lnTo>
                <a:lnTo>
                  <a:pt x="1151" y="3625"/>
                </a:lnTo>
                <a:lnTo>
                  <a:pt x="1162" y="3596"/>
                </a:lnTo>
                <a:lnTo>
                  <a:pt x="1178" y="3571"/>
                </a:lnTo>
                <a:lnTo>
                  <a:pt x="1200" y="3549"/>
                </a:lnTo>
                <a:lnTo>
                  <a:pt x="1225" y="3533"/>
                </a:lnTo>
                <a:lnTo>
                  <a:pt x="1253" y="3523"/>
                </a:lnTo>
                <a:lnTo>
                  <a:pt x="1285" y="3519"/>
                </a:lnTo>
                <a:close/>
                <a:moveTo>
                  <a:pt x="3463" y="3138"/>
                </a:moveTo>
                <a:lnTo>
                  <a:pt x="3461" y="3278"/>
                </a:lnTo>
                <a:lnTo>
                  <a:pt x="3664" y="3281"/>
                </a:lnTo>
                <a:lnTo>
                  <a:pt x="3665" y="3281"/>
                </a:lnTo>
                <a:lnTo>
                  <a:pt x="3666" y="3278"/>
                </a:lnTo>
                <a:lnTo>
                  <a:pt x="3666" y="3140"/>
                </a:lnTo>
                <a:lnTo>
                  <a:pt x="3463" y="3138"/>
                </a:lnTo>
                <a:close/>
                <a:moveTo>
                  <a:pt x="2897" y="3138"/>
                </a:moveTo>
                <a:lnTo>
                  <a:pt x="2894" y="3278"/>
                </a:lnTo>
                <a:lnTo>
                  <a:pt x="3097" y="3281"/>
                </a:lnTo>
                <a:lnTo>
                  <a:pt x="3100" y="3281"/>
                </a:lnTo>
                <a:lnTo>
                  <a:pt x="3100" y="3278"/>
                </a:lnTo>
                <a:lnTo>
                  <a:pt x="3100" y="3140"/>
                </a:lnTo>
                <a:lnTo>
                  <a:pt x="2897" y="3138"/>
                </a:lnTo>
                <a:close/>
                <a:moveTo>
                  <a:pt x="2332" y="3138"/>
                </a:moveTo>
                <a:lnTo>
                  <a:pt x="2329" y="3278"/>
                </a:lnTo>
                <a:lnTo>
                  <a:pt x="2532" y="3281"/>
                </a:lnTo>
                <a:lnTo>
                  <a:pt x="2534" y="3281"/>
                </a:lnTo>
                <a:lnTo>
                  <a:pt x="2535" y="3278"/>
                </a:lnTo>
                <a:lnTo>
                  <a:pt x="2535" y="3140"/>
                </a:lnTo>
                <a:lnTo>
                  <a:pt x="2332" y="3138"/>
                </a:lnTo>
                <a:close/>
                <a:moveTo>
                  <a:pt x="1766" y="3138"/>
                </a:moveTo>
                <a:lnTo>
                  <a:pt x="1763" y="3278"/>
                </a:lnTo>
                <a:lnTo>
                  <a:pt x="1966" y="3281"/>
                </a:lnTo>
                <a:lnTo>
                  <a:pt x="1969" y="3281"/>
                </a:lnTo>
                <a:lnTo>
                  <a:pt x="1969" y="3278"/>
                </a:lnTo>
                <a:lnTo>
                  <a:pt x="1969" y="3140"/>
                </a:lnTo>
                <a:lnTo>
                  <a:pt x="1766" y="3138"/>
                </a:lnTo>
                <a:close/>
                <a:moveTo>
                  <a:pt x="1201" y="3138"/>
                </a:moveTo>
                <a:lnTo>
                  <a:pt x="1198" y="3278"/>
                </a:lnTo>
                <a:lnTo>
                  <a:pt x="1401" y="3281"/>
                </a:lnTo>
                <a:lnTo>
                  <a:pt x="1403" y="3281"/>
                </a:lnTo>
                <a:lnTo>
                  <a:pt x="1404" y="3278"/>
                </a:lnTo>
                <a:lnTo>
                  <a:pt x="1404" y="3140"/>
                </a:lnTo>
                <a:lnTo>
                  <a:pt x="1201" y="3138"/>
                </a:lnTo>
                <a:close/>
                <a:moveTo>
                  <a:pt x="635" y="3138"/>
                </a:moveTo>
                <a:lnTo>
                  <a:pt x="632" y="3278"/>
                </a:lnTo>
                <a:lnTo>
                  <a:pt x="835" y="3281"/>
                </a:lnTo>
                <a:lnTo>
                  <a:pt x="838" y="3281"/>
                </a:lnTo>
                <a:lnTo>
                  <a:pt x="838" y="3278"/>
                </a:lnTo>
                <a:lnTo>
                  <a:pt x="838" y="3140"/>
                </a:lnTo>
                <a:lnTo>
                  <a:pt x="635" y="3138"/>
                </a:lnTo>
                <a:close/>
                <a:moveTo>
                  <a:pt x="3463" y="3026"/>
                </a:moveTo>
                <a:lnTo>
                  <a:pt x="3664" y="3026"/>
                </a:lnTo>
                <a:lnTo>
                  <a:pt x="3689" y="3029"/>
                </a:lnTo>
                <a:lnTo>
                  <a:pt x="3714" y="3037"/>
                </a:lnTo>
                <a:lnTo>
                  <a:pt x="3734" y="3051"/>
                </a:lnTo>
                <a:lnTo>
                  <a:pt x="3753" y="3069"/>
                </a:lnTo>
                <a:lnTo>
                  <a:pt x="3766" y="3090"/>
                </a:lnTo>
                <a:lnTo>
                  <a:pt x="3775" y="3114"/>
                </a:lnTo>
                <a:lnTo>
                  <a:pt x="3777" y="3140"/>
                </a:lnTo>
                <a:lnTo>
                  <a:pt x="3777" y="3278"/>
                </a:lnTo>
                <a:lnTo>
                  <a:pt x="3775" y="3305"/>
                </a:lnTo>
                <a:lnTo>
                  <a:pt x="3766" y="3328"/>
                </a:lnTo>
                <a:lnTo>
                  <a:pt x="3753" y="3350"/>
                </a:lnTo>
                <a:lnTo>
                  <a:pt x="3734" y="3367"/>
                </a:lnTo>
                <a:lnTo>
                  <a:pt x="3714" y="3381"/>
                </a:lnTo>
                <a:lnTo>
                  <a:pt x="3689" y="3389"/>
                </a:lnTo>
                <a:lnTo>
                  <a:pt x="3664" y="3393"/>
                </a:lnTo>
                <a:lnTo>
                  <a:pt x="3463" y="3393"/>
                </a:lnTo>
                <a:lnTo>
                  <a:pt x="3436" y="3389"/>
                </a:lnTo>
                <a:lnTo>
                  <a:pt x="3413" y="3381"/>
                </a:lnTo>
                <a:lnTo>
                  <a:pt x="3392" y="3367"/>
                </a:lnTo>
                <a:lnTo>
                  <a:pt x="3374" y="3350"/>
                </a:lnTo>
                <a:lnTo>
                  <a:pt x="3360" y="3328"/>
                </a:lnTo>
                <a:lnTo>
                  <a:pt x="3352" y="3305"/>
                </a:lnTo>
                <a:lnTo>
                  <a:pt x="3349" y="3278"/>
                </a:lnTo>
                <a:lnTo>
                  <a:pt x="3349" y="3140"/>
                </a:lnTo>
                <a:lnTo>
                  <a:pt x="3352" y="3114"/>
                </a:lnTo>
                <a:lnTo>
                  <a:pt x="3360" y="3090"/>
                </a:lnTo>
                <a:lnTo>
                  <a:pt x="3374" y="3069"/>
                </a:lnTo>
                <a:lnTo>
                  <a:pt x="3392" y="3051"/>
                </a:lnTo>
                <a:lnTo>
                  <a:pt x="3413" y="3037"/>
                </a:lnTo>
                <a:lnTo>
                  <a:pt x="3436" y="3029"/>
                </a:lnTo>
                <a:lnTo>
                  <a:pt x="3463" y="3026"/>
                </a:lnTo>
                <a:close/>
                <a:moveTo>
                  <a:pt x="2897" y="3026"/>
                </a:moveTo>
                <a:lnTo>
                  <a:pt x="3097" y="3026"/>
                </a:lnTo>
                <a:lnTo>
                  <a:pt x="3124" y="3029"/>
                </a:lnTo>
                <a:lnTo>
                  <a:pt x="3147" y="3037"/>
                </a:lnTo>
                <a:lnTo>
                  <a:pt x="3170" y="3051"/>
                </a:lnTo>
                <a:lnTo>
                  <a:pt x="3187" y="3069"/>
                </a:lnTo>
                <a:lnTo>
                  <a:pt x="3200" y="3090"/>
                </a:lnTo>
                <a:lnTo>
                  <a:pt x="3209" y="3114"/>
                </a:lnTo>
                <a:lnTo>
                  <a:pt x="3212" y="3140"/>
                </a:lnTo>
                <a:lnTo>
                  <a:pt x="3212" y="3278"/>
                </a:lnTo>
                <a:lnTo>
                  <a:pt x="3209" y="3305"/>
                </a:lnTo>
                <a:lnTo>
                  <a:pt x="3200" y="3328"/>
                </a:lnTo>
                <a:lnTo>
                  <a:pt x="3187" y="3350"/>
                </a:lnTo>
                <a:lnTo>
                  <a:pt x="3170" y="3367"/>
                </a:lnTo>
                <a:lnTo>
                  <a:pt x="3147" y="3381"/>
                </a:lnTo>
                <a:lnTo>
                  <a:pt x="3124" y="3389"/>
                </a:lnTo>
                <a:lnTo>
                  <a:pt x="3097" y="3393"/>
                </a:lnTo>
                <a:lnTo>
                  <a:pt x="2897" y="3393"/>
                </a:lnTo>
                <a:lnTo>
                  <a:pt x="2871" y="3389"/>
                </a:lnTo>
                <a:lnTo>
                  <a:pt x="2847" y="3381"/>
                </a:lnTo>
                <a:lnTo>
                  <a:pt x="2826" y="3367"/>
                </a:lnTo>
                <a:lnTo>
                  <a:pt x="2809" y="3350"/>
                </a:lnTo>
                <a:lnTo>
                  <a:pt x="2795" y="3328"/>
                </a:lnTo>
                <a:lnTo>
                  <a:pt x="2786" y="3305"/>
                </a:lnTo>
                <a:lnTo>
                  <a:pt x="2783" y="3278"/>
                </a:lnTo>
                <a:lnTo>
                  <a:pt x="2783" y="3140"/>
                </a:lnTo>
                <a:lnTo>
                  <a:pt x="2786" y="3114"/>
                </a:lnTo>
                <a:lnTo>
                  <a:pt x="2795" y="3090"/>
                </a:lnTo>
                <a:lnTo>
                  <a:pt x="2809" y="3069"/>
                </a:lnTo>
                <a:lnTo>
                  <a:pt x="2826" y="3051"/>
                </a:lnTo>
                <a:lnTo>
                  <a:pt x="2847" y="3037"/>
                </a:lnTo>
                <a:lnTo>
                  <a:pt x="2871" y="3029"/>
                </a:lnTo>
                <a:lnTo>
                  <a:pt x="2897" y="3026"/>
                </a:lnTo>
                <a:close/>
                <a:moveTo>
                  <a:pt x="2332" y="3026"/>
                </a:moveTo>
                <a:lnTo>
                  <a:pt x="2532" y="3026"/>
                </a:lnTo>
                <a:lnTo>
                  <a:pt x="2558" y="3029"/>
                </a:lnTo>
                <a:lnTo>
                  <a:pt x="2583" y="3037"/>
                </a:lnTo>
                <a:lnTo>
                  <a:pt x="2603" y="3051"/>
                </a:lnTo>
                <a:lnTo>
                  <a:pt x="2622" y="3069"/>
                </a:lnTo>
                <a:lnTo>
                  <a:pt x="2635" y="3090"/>
                </a:lnTo>
                <a:lnTo>
                  <a:pt x="2644" y="3114"/>
                </a:lnTo>
                <a:lnTo>
                  <a:pt x="2646" y="3140"/>
                </a:lnTo>
                <a:lnTo>
                  <a:pt x="2646" y="3278"/>
                </a:lnTo>
                <a:lnTo>
                  <a:pt x="2644" y="3305"/>
                </a:lnTo>
                <a:lnTo>
                  <a:pt x="2635" y="3328"/>
                </a:lnTo>
                <a:lnTo>
                  <a:pt x="2622" y="3350"/>
                </a:lnTo>
                <a:lnTo>
                  <a:pt x="2603" y="3367"/>
                </a:lnTo>
                <a:lnTo>
                  <a:pt x="2583" y="3381"/>
                </a:lnTo>
                <a:lnTo>
                  <a:pt x="2558" y="3389"/>
                </a:lnTo>
                <a:lnTo>
                  <a:pt x="2532" y="3393"/>
                </a:lnTo>
                <a:lnTo>
                  <a:pt x="2332" y="3393"/>
                </a:lnTo>
                <a:lnTo>
                  <a:pt x="2305" y="3389"/>
                </a:lnTo>
                <a:lnTo>
                  <a:pt x="2282" y="3381"/>
                </a:lnTo>
                <a:lnTo>
                  <a:pt x="2260" y="3367"/>
                </a:lnTo>
                <a:lnTo>
                  <a:pt x="2243" y="3350"/>
                </a:lnTo>
                <a:lnTo>
                  <a:pt x="2229" y="3328"/>
                </a:lnTo>
                <a:lnTo>
                  <a:pt x="2221" y="3305"/>
                </a:lnTo>
                <a:lnTo>
                  <a:pt x="2217" y="3278"/>
                </a:lnTo>
                <a:lnTo>
                  <a:pt x="2217" y="3140"/>
                </a:lnTo>
                <a:lnTo>
                  <a:pt x="2221" y="3114"/>
                </a:lnTo>
                <a:lnTo>
                  <a:pt x="2229" y="3090"/>
                </a:lnTo>
                <a:lnTo>
                  <a:pt x="2243" y="3069"/>
                </a:lnTo>
                <a:lnTo>
                  <a:pt x="2260" y="3051"/>
                </a:lnTo>
                <a:lnTo>
                  <a:pt x="2282" y="3037"/>
                </a:lnTo>
                <a:lnTo>
                  <a:pt x="2305" y="3029"/>
                </a:lnTo>
                <a:lnTo>
                  <a:pt x="2332" y="3026"/>
                </a:lnTo>
                <a:close/>
                <a:moveTo>
                  <a:pt x="1766" y="3026"/>
                </a:moveTo>
                <a:lnTo>
                  <a:pt x="1966" y="3026"/>
                </a:lnTo>
                <a:lnTo>
                  <a:pt x="1993" y="3029"/>
                </a:lnTo>
                <a:lnTo>
                  <a:pt x="2016" y="3037"/>
                </a:lnTo>
                <a:lnTo>
                  <a:pt x="2038" y="3051"/>
                </a:lnTo>
                <a:lnTo>
                  <a:pt x="2056" y="3069"/>
                </a:lnTo>
                <a:lnTo>
                  <a:pt x="2069" y="3090"/>
                </a:lnTo>
                <a:lnTo>
                  <a:pt x="2078" y="3114"/>
                </a:lnTo>
                <a:lnTo>
                  <a:pt x="2081" y="3140"/>
                </a:lnTo>
                <a:lnTo>
                  <a:pt x="2081" y="3278"/>
                </a:lnTo>
                <a:lnTo>
                  <a:pt x="2078" y="3305"/>
                </a:lnTo>
                <a:lnTo>
                  <a:pt x="2069" y="3328"/>
                </a:lnTo>
                <a:lnTo>
                  <a:pt x="2056" y="3350"/>
                </a:lnTo>
                <a:lnTo>
                  <a:pt x="2038" y="3367"/>
                </a:lnTo>
                <a:lnTo>
                  <a:pt x="2016" y="3381"/>
                </a:lnTo>
                <a:lnTo>
                  <a:pt x="1993" y="3389"/>
                </a:lnTo>
                <a:lnTo>
                  <a:pt x="1966" y="3393"/>
                </a:lnTo>
                <a:lnTo>
                  <a:pt x="1766" y="3393"/>
                </a:lnTo>
                <a:lnTo>
                  <a:pt x="1740" y="3389"/>
                </a:lnTo>
                <a:lnTo>
                  <a:pt x="1716" y="3381"/>
                </a:lnTo>
                <a:lnTo>
                  <a:pt x="1695" y="3367"/>
                </a:lnTo>
                <a:lnTo>
                  <a:pt x="1676" y="3350"/>
                </a:lnTo>
                <a:lnTo>
                  <a:pt x="1663" y="3328"/>
                </a:lnTo>
                <a:lnTo>
                  <a:pt x="1654" y="3305"/>
                </a:lnTo>
                <a:lnTo>
                  <a:pt x="1652" y="3278"/>
                </a:lnTo>
                <a:lnTo>
                  <a:pt x="1652" y="3140"/>
                </a:lnTo>
                <a:lnTo>
                  <a:pt x="1654" y="3114"/>
                </a:lnTo>
                <a:lnTo>
                  <a:pt x="1663" y="3090"/>
                </a:lnTo>
                <a:lnTo>
                  <a:pt x="1676" y="3069"/>
                </a:lnTo>
                <a:lnTo>
                  <a:pt x="1695" y="3051"/>
                </a:lnTo>
                <a:lnTo>
                  <a:pt x="1716" y="3037"/>
                </a:lnTo>
                <a:lnTo>
                  <a:pt x="1740" y="3029"/>
                </a:lnTo>
                <a:lnTo>
                  <a:pt x="1766" y="3026"/>
                </a:lnTo>
                <a:close/>
                <a:moveTo>
                  <a:pt x="1201" y="3026"/>
                </a:moveTo>
                <a:lnTo>
                  <a:pt x="1401" y="3026"/>
                </a:lnTo>
                <a:lnTo>
                  <a:pt x="1427" y="3029"/>
                </a:lnTo>
                <a:lnTo>
                  <a:pt x="1451" y="3037"/>
                </a:lnTo>
                <a:lnTo>
                  <a:pt x="1472" y="3051"/>
                </a:lnTo>
                <a:lnTo>
                  <a:pt x="1491" y="3069"/>
                </a:lnTo>
                <a:lnTo>
                  <a:pt x="1504" y="3090"/>
                </a:lnTo>
                <a:lnTo>
                  <a:pt x="1513" y="3114"/>
                </a:lnTo>
                <a:lnTo>
                  <a:pt x="1515" y="3140"/>
                </a:lnTo>
                <a:lnTo>
                  <a:pt x="1515" y="3278"/>
                </a:lnTo>
                <a:lnTo>
                  <a:pt x="1513" y="3305"/>
                </a:lnTo>
                <a:lnTo>
                  <a:pt x="1504" y="3328"/>
                </a:lnTo>
                <a:lnTo>
                  <a:pt x="1491" y="3350"/>
                </a:lnTo>
                <a:lnTo>
                  <a:pt x="1472" y="3367"/>
                </a:lnTo>
                <a:lnTo>
                  <a:pt x="1451" y="3381"/>
                </a:lnTo>
                <a:lnTo>
                  <a:pt x="1427" y="3389"/>
                </a:lnTo>
                <a:lnTo>
                  <a:pt x="1401" y="3393"/>
                </a:lnTo>
                <a:lnTo>
                  <a:pt x="1201" y="3393"/>
                </a:lnTo>
                <a:lnTo>
                  <a:pt x="1174" y="3389"/>
                </a:lnTo>
                <a:lnTo>
                  <a:pt x="1151" y="3381"/>
                </a:lnTo>
                <a:lnTo>
                  <a:pt x="1129" y="3367"/>
                </a:lnTo>
                <a:lnTo>
                  <a:pt x="1112" y="3350"/>
                </a:lnTo>
                <a:lnTo>
                  <a:pt x="1098" y="3328"/>
                </a:lnTo>
                <a:lnTo>
                  <a:pt x="1090" y="3305"/>
                </a:lnTo>
                <a:lnTo>
                  <a:pt x="1086" y="3278"/>
                </a:lnTo>
                <a:lnTo>
                  <a:pt x="1086" y="3140"/>
                </a:lnTo>
                <a:lnTo>
                  <a:pt x="1090" y="3114"/>
                </a:lnTo>
                <a:lnTo>
                  <a:pt x="1098" y="3090"/>
                </a:lnTo>
                <a:lnTo>
                  <a:pt x="1112" y="3069"/>
                </a:lnTo>
                <a:lnTo>
                  <a:pt x="1129" y="3051"/>
                </a:lnTo>
                <a:lnTo>
                  <a:pt x="1151" y="3037"/>
                </a:lnTo>
                <a:lnTo>
                  <a:pt x="1174" y="3029"/>
                </a:lnTo>
                <a:lnTo>
                  <a:pt x="1201" y="3026"/>
                </a:lnTo>
                <a:close/>
                <a:moveTo>
                  <a:pt x="635" y="3026"/>
                </a:moveTo>
                <a:lnTo>
                  <a:pt x="835" y="3026"/>
                </a:lnTo>
                <a:lnTo>
                  <a:pt x="862" y="3029"/>
                </a:lnTo>
                <a:lnTo>
                  <a:pt x="885" y="3037"/>
                </a:lnTo>
                <a:lnTo>
                  <a:pt x="907" y="3051"/>
                </a:lnTo>
                <a:lnTo>
                  <a:pt x="924" y="3069"/>
                </a:lnTo>
                <a:lnTo>
                  <a:pt x="938" y="3090"/>
                </a:lnTo>
                <a:lnTo>
                  <a:pt x="946" y="3114"/>
                </a:lnTo>
                <a:lnTo>
                  <a:pt x="950" y="3140"/>
                </a:lnTo>
                <a:lnTo>
                  <a:pt x="950" y="3278"/>
                </a:lnTo>
                <a:lnTo>
                  <a:pt x="946" y="3305"/>
                </a:lnTo>
                <a:lnTo>
                  <a:pt x="938" y="3328"/>
                </a:lnTo>
                <a:lnTo>
                  <a:pt x="924" y="3350"/>
                </a:lnTo>
                <a:lnTo>
                  <a:pt x="907" y="3367"/>
                </a:lnTo>
                <a:lnTo>
                  <a:pt x="885" y="3381"/>
                </a:lnTo>
                <a:lnTo>
                  <a:pt x="862" y="3389"/>
                </a:lnTo>
                <a:lnTo>
                  <a:pt x="835" y="3393"/>
                </a:lnTo>
                <a:lnTo>
                  <a:pt x="635" y="3393"/>
                </a:lnTo>
                <a:lnTo>
                  <a:pt x="609" y="3389"/>
                </a:lnTo>
                <a:lnTo>
                  <a:pt x="585" y="3381"/>
                </a:lnTo>
                <a:lnTo>
                  <a:pt x="564" y="3367"/>
                </a:lnTo>
                <a:lnTo>
                  <a:pt x="545" y="3350"/>
                </a:lnTo>
                <a:lnTo>
                  <a:pt x="532" y="3328"/>
                </a:lnTo>
                <a:lnTo>
                  <a:pt x="523" y="3305"/>
                </a:lnTo>
                <a:lnTo>
                  <a:pt x="521" y="3278"/>
                </a:lnTo>
                <a:lnTo>
                  <a:pt x="521" y="3140"/>
                </a:lnTo>
                <a:lnTo>
                  <a:pt x="523" y="3114"/>
                </a:lnTo>
                <a:lnTo>
                  <a:pt x="532" y="3090"/>
                </a:lnTo>
                <a:lnTo>
                  <a:pt x="545" y="3069"/>
                </a:lnTo>
                <a:lnTo>
                  <a:pt x="564" y="3051"/>
                </a:lnTo>
                <a:lnTo>
                  <a:pt x="585" y="3037"/>
                </a:lnTo>
                <a:lnTo>
                  <a:pt x="609" y="3029"/>
                </a:lnTo>
                <a:lnTo>
                  <a:pt x="635" y="3026"/>
                </a:lnTo>
                <a:close/>
                <a:moveTo>
                  <a:pt x="3463" y="2710"/>
                </a:moveTo>
                <a:lnTo>
                  <a:pt x="3461" y="2852"/>
                </a:lnTo>
                <a:lnTo>
                  <a:pt x="3664" y="2854"/>
                </a:lnTo>
                <a:lnTo>
                  <a:pt x="3665" y="2853"/>
                </a:lnTo>
                <a:lnTo>
                  <a:pt x="3666" y="2852"/>
                </a:lnTo>
                <a:lnTo>
                  <a:pt x="3666" y="2712"/>
                </a:lnTo>
                <a:lnTo>
                  <a:pt x="3463" y="2710"/>
                </a:lnTo>
                <a:close/>
                <a:moveTo>
                  <a:pt x="2897" y="2710"/>
                </a:moveTo>
                <a:lnTo>
                  <a:pt x="2894" y="2852"/>
                </a:lnTo>
                <a:lnTo>
                  <a:pt x="3097" y="2854"/>
                </a:lnTo>
                <a:lnTo>
                  <a:pt x="3100" y="2853"/>
                </a:lnTo>
                <a:lnTo>
                  <a:pt x="3100" y="2852"/>
                </a:lnTo>
                <a:lnTo>
                  <a:pt x="3100" y="2712"/>
                </a:lnTo>
                <a:lnTo>
                  <a:pt x="2897" y="2710"/>
                </a:lnTo>
                <a:close/>
                <a:moveTo>
                  <a:pt x="2332" y="2710"/>
                </a:moveTo>
                <a:lnTo>
                  <a:pt x="2329" y="2852"/>
                </a:lnTo>
                <a:lnTo>
                  <a:pt x="2532" y="2854"/>
                </a:lnTo>
                <a:lnTo>
                  <a:pt x="2534" y="2853"/>
                </a:lnTo>
                <a:lnTo>
                  <a:pt x="2535" y="2852"/>
                </a:lnTo>
                <a:lnTo>
                  <a:pt x="2535" y="2712"/>
                </a:lnTo>
                <a:lnTo>
                  <a:pt x="2332" y="2710"/>
                </a:lnTo>
                <a:close/>
                <a:moveTo>
                  <a:pt x="1766" y="2710"/>
                </a:moveTo>
                <a:lnTo>
                  <a:pt x="1763" y="2852"/>
                </a:lnTo>
                <a:lnTo>
                  <a:pt x="1966" y="2854"/>
                </a:lnTo>
                <a:lnTo>
                  <a:pt x="1969" y="2853"/>
                </a:lnTo>
                <a:lnTo>
                  <a:pt x="1969" y="2852"/>
                </a:lnTo>
                <a:lnTo>
                  <a:pt x="1969" y="2712"/>
                </a:lnTo>
                <a:lnTo>
                  <a:pt x="1766" y="2710"/>
                </a:lnTo>
                <a:close/>
                <a:moveTo>
                  <a:pt x="1201" y="2710"/>
                </a:moveTo>
                <a:lnTo>
                  <a:pt x="1198" y="2852"/>
                </a:lnTo>
                <a:lnTo>
                  <a:pt x="1401" y="2854"/>
                </a:lnTo>
                <a:lnTo>
                  <a:pt x="1403" y="2853"/>
                </a:lnTo>
                <a:lnTo>
                  <a:pt x="1404" y="2852"/>
                </a:lnTo>
                <a:lnTo>
                  <a:pt x="1404" y="2712"/>
                </a:lnTo>
                <a:lnTo>
                  <a:pt x="1201" y="2710"/>
                </a:lnTo>
                <a:close/>
                <a:moveTo>
                  <a:pt x="635" y="2710"/>
                </a:moveTo>
                <a:lnTo>
                  <a:pt x="632" y="2852"/>
                </a:lnTo>
                <a:lnTo>
                  <a:pt x="835" y="2854"/>
                </a:lnTo>
                <a:lnTo>
                  <a:pt x="838" y="2853"/>
                </a:lnTo>
                <a:lnTo>
                  <a:pt x="838" y="2852"/>
                </a:lnTo>
                <a:lnTo>
                  <a:pt x="838" y="2712"/>
                </a:lnTo>
                <a:lnTo>
                  <a:pt x="635" y="2710"/>
                </a:lnTo>
                <a:close/>
                <a:moveTo>
                  <a:pt x="3463" y="2599"/>
                </a:moveTo>
                <a:lnTo>
                  <a:pt x="3664" y="2599"/>
                </a:lnTo>
                <a:lnTo>
                  <a:pt x="3689" y="2602"/>
                </a:lnTo>
                <a:lnTo>
                  <a:pt x="3714" y="2611"/>
                </a:lnTo>
                <a:lnTo>
                  <a:pt x="3734" y="2624"/>
                </a:lnTo>
                <a:lnTo>
                  <a:pt x="3753" y="2642"/>
                </a:lnTo>
                <a:lnTo>
                  <a:pt x="3766" y="2662"/>
                </a:lnTo>
                <a:lnTo>
                  <a:pt x="3775" y="2687"/>
                </a:lnTo>
                <a:lnTo>
                  <a:pt x="3777" y="2712"/>
                </a:lnTo>
                <a:lnTo>
                  <a:pt x="3777" y="2852"/>
                </a:lnTo>
                <a:lnTo>
                  <a:pt x="3775" y="2877"/>
                </a:lnTo>
                <a:lnTo>
                  <a:pt x="3766" y="2902"/>
                </a:lnTo>
                <a:lnTo>
                  <a:pt x="3753" y="2923"/>
                </a:lnTo>
                <a:lnTo>
                  <a:pt x="3734" y="2941"/>
                </a:lnTo>
                <a:lnTo>
                  <a:pt x="3714" y="2954"/>
                </a:lnTo>
                <a:lnTo>
                  <a:pt x="3689" y="2963"/>
                </a:lnTo>
                <a:lnTo>
                  <a:pt x="3664" y="2965"/>
                </a:lnTo>
                <a:lnTo>
                  <a:pt x="3463" y="2965"/>
                </a:lnTo>
                <a:lnTo>
                  <a:pt x="3436" y="2963"/>
                </a:lnTo>
                <a:lnTo>
                  <a:pt x="3413" y="2954"/>
                </a:lnTo>
                <a:lnTo>
                  <a:pt x="3392" y="2941"/>
                </a:lnTo>
                <a:lnTo>
                  <a:pt x="3374" y="2923"/>
                </a:lnTo>
                <a:lnTo>
                  <a:pt x="3360" y="2902"/>
                </a:lnTo>
                <a:lnTo>
                  <a:pt x="3352" y="2877"/>
                </a:lnTo>
                <a:lnTo>
                  <a:pt x="3349" y="2852"/>
                </a:lnTo>
                <a:lnTo>
                  <a:pt x="3349" y="2712"/>
                </a:lnTo>
                <a:lnTo>
                  <a:pt x="3352" y="2687"/>
                </a:lnTo>
                <a:lnTo>
                  <a:pt x="3360" y="2662"/>
                </a:lnTo>
                <a:lnTo>
                  <a:pt x="3374" y="2642"/>
                </a:lnTo>
                <a:lnTo>
                  <a:pt x="3392" y="2624"/>
                </a:lnTo>
                <a:lnTo>
                  <a:pt x="3413" y="2611"/>
                </a:lnTo>
                <a:lnTo>
                  <a:pt x="3436" y="2602"/>
                </a:lnTo>
                <a:lnTo>
                  <a:pt x="3463" y="2599"/>
                </a:lnTo>
                <a:close/>
                <a:moveTo>
                  <a:pt x="2897" y="2599"/>
                </a:moveTo>
                <a:lnTo>
                  <a:pt x="3097" y="2599"/>
                </a:lnTo>
                <a:lnTo>
                  <a:pt x="3124" y="2602"/>
                </a:lnTo>
                <a:lnTo>
                  <a:pt x="3147" y="2611"/>
                </a:lnTo>
                <a:lnTo>
                  <a:pt x="3170" y="2624"/>
                </a:lnTo>
                <a:lnTo>
                  <a:pt x="3187" y="2642"/>
                </a:lnTo>
                <a:lnTo>
                  <a:pt x="3200" y="2662"/>
                </a:lnTo>
                <a:lnTo>
                  <a:pt x="3209" y="2687"/>
                </a:lnTo>
                <a:lnTo>
                  <a:pt x="3212" y="2712"/>
                </a:lnTo>
                <a:lnTo>
                  <a:pt x="3212" y="2852"/>
                </a:lnTo>
                <a:lnTo>
                  <a:pt x="3209" y="2877"/>
                </a:lnTo>
                <a:lnTo>
                  <a:pt x="3200" y="2902"/>
                </a:lnTo>
                <a:lnTo>
                  <a:pt x="3187" y="2923"/>
                </a:lnTo>
                <a:lnTo>
                  <a:pt x="3170" y="2941"/>
                </a:lnTo>
                <a:lnTo>
                  <a:pt x="3147" y="2954"/>
                </a:lnTo>
                <a:lnTo>
                  <a:pt x="3124" y="2963"/>
                </a:lnTo>
                <a:lnTo>
                  <a:pt x="3097" y="2965"/>
                </a:lnTo>
                <a:lnTo>
                  <a:pt x="2897" y="2965"/>
                </a:lnTo>
                <a:lnTo>
                  <a:pt x="2871" y="2963"/>
                </a:lnTo>
                <a:lnTo>
                  <a:pt x="2847" y="2954"/>
                </a:lnTo>
                <a:lnTo>
                  <a:pt x="2826" y="2941"/>
                </a:lnTo>
                <a:lnTo>
                  <a:pt x="2809" y="2923"/>
                </a:lnTo>
                <a:lnTo>
                  <a:pt x="2795" y="2902"/>
                </a:lnTo>
                <a:lnTo>
                  <a:pt x="2786" y="2877"/>
                </a:lnTo>
                <a:lnTo>
                  <a:pt x="2783" y="2852"/>
                </a:lnTo>
                <a:lnTo>
                  <a:pt x="2783" y="2712"/>
                </a:lnTo>
                <a:lnTo>
                  <a:pt x="2786" y="2687"/>
                </a:lnTo>
                <a:lnTo>
                  <a:pt x="2795" y="2662"/>
                </a:lnTo>
                <a:lnTo>
                  <a:pt x="2809" y="2642"/>
                </a:lnTo>
                <a:lnTo>
                  <a:pt x="2826" y="2624"/>
                </a:lnTo>
                <a:lnTo>
                  <a:pt x="2847" y="2611"/>
                </a:lnTo>
                <a:lnTo>
                  <a:pt x="2871" y="2602"/>
                </a:lnTo>
                <a:lnTo>
                  <a:pt x="2897" y="2599"/>
                </a:lnTo>
                <a:close/>
                <a:moveTo>
                  <a:pt x="2332" y="2599"/>
                </a:moveTo>
                <a:lnTo>
                  <a:pt x="2532" y="2599"/>
                </a:lnTo>
                <a:lnTo>
                  <a:pt x="2558" y="2602"/>
                </a:lnTo>
                <a:lnTo>
                  <a:pt x="2583" y="2611"/>
                </a:lnTo>
                <a:lnTo>
                  <a:pt x="2603" y="2624"/>
                </a:lnTo>
                <a:lnTo>
                  <a:pt x="2622" y="2642"/>
                </a:lnTo>
                <a:lnTo>
                  <a:pt x="2635" y="2662"/>
                </a:lnTo>
                <a:lnTo>
                  <a:pt x="2644" y="2687"/>
                </a:lnTo>
                <a:lnTo>
                  <a:pt x="2646" y="2712"/>
                </a:lnTo>
                <a:lnTo>
                  <a:pt x="2646" y="2852"/>
                </a:lnTo>
                <a:lnTo>
                  <a:pt x="2644" y="2877"/>
                </a:lnTo>
                <a:lnTo>
                  <a:pt x="2635" y="2902"/>
                </a:lnTo>
                <a:lnTo>
                  <a:pt x="2622" y="2923"/>
                </a:lnTo>
                <a:lnTo>
                  <a:pt x="2603" y="2941"/>
                </a:lnTo>
                <a:lnTo>
                  <a:pt x="2583" y="2954"/>
                </a:lnTo>
                <a:lnTo>
                  <a:pt x="2558" y="2963"/>
                </a:lnTo>
                <a:lnTo>
                  <a:pt x="2532" y="2965"/>
                </a:lnTo>
                <a:lnTo>
                  <a:pt x="2332" y="2965"/>
                </a:lnTo>
                <a:lnTo>
                  <a:pt x="2305" y="2963"/>
                </a:lnTo>
                <a:lnTo>
                  <a:pt x="2282" y="2954"/>
                </a:lnTo>
                <a:lnTo>
                  <a:pt x="2260" y="2941"/>
                </a:lnTo>
                <a:lnTo>
                  <a:pt x="2243" y="2923"/>
                </a:lnTo>
                <a:lnTo>
                  <a:pt x="2229" y="2902"/>
                </a:lnTo>
                <a:lnTo>
                  <a:pt x="2221" y="2877"/>
                </a:lnTo>
                <a:lnTo>
                  <a:pt x="2217" y="2852"/>
                </a:lnTo>
                <a:lnTo>
                  <a:pt x="2217" y="2712"/>
                </a:lnTo>
                <a:lnTo>
                  <a:pt x="2221" y="2687"/>
                </a:lnTo>
                <a:lnTo>
                  <a:pt x="2229" y="2662"/>
                </a:lnTo>
                <a:lnTo>
                  <a:pt x="2243" y="2642"/>
                </a:lnTo>
                <a:lnTo>
                  <a:pt x="2260" y="2624"/>
                </a:lnTo>
                <a:lnTo>
                  <a:pt x="2282" y="2611"/>
                </a:lnTo>
                <a:lnTo>
                  <a:pt x="2305" y="2602"/>
                </a:lnTo>
                <a:lnTo>
                  <a:pt x="2332" y="2599"/>
                </a:lnTo>
                <a:close/>
                <a:moveTo>
                  <a:pt x="1766" y="2599"/>
                </a:moveTo>
                <a:lnTo>
                  <a:pt x="1966" y="2599"/>
                </a:lnTo>
                <a:lnTo>
                  <a:pt x="1993" y="2602"/>
                </a:lnTo>
                <a:lnTo>
                  <a:pt x="2016" y="2611"/>
                </a:lnTo>
                <a:lnTo>
                  <a:pt x="2038" y="2624"/>
                </a:lnTo>
                <a:lnTo>
                  <a:pt x="2056" y="2642"/>
                </a:lnTo>
                <a:lnTo>
                  <a:pt x="2069" y="2662"/>
                </a:lnTo>
                <a:lnTo>
                  <a:pt x="2078" y="2687"/>
                </a:lnTo>
                <a:lnTo>
                  <a:pt x="2081" y="2712"/>
                </a:lnTo>
                <a:lnTo>
                  <a:pt x="2081" y="2852"/>
                </a:lnTo>
                <a:lnTo>
                  <a:pt x="2078" y="2877"/>
                </a:lnTo>
                <a:lnTo>
                  <a:pt x="2069" y="2902"/>
                </a:lnTo>
                <a:lnTo>
                  <a:pt x="2056" y="2923"/>
                </a:lnTo>
                <a:lnTo>
                  <a:pt x="2038" y="2941"/>
                </a:lnTo>
                <a:lnTo>
                  <a:pt x="2016" y="2954"/>
                </a:lnTo>
                <a:lnTo>
                  <a:pt x="1993" y="2963"/>
                </a:lnTo>
                <a:lnTo>
                  <a:pt x="1966" y="2965"/>
                </a:lnTo>
                <a:lnTo>
                  <a:pt x="1766" y="2965"/>
                </a:lnTo>
                <a:lnTo>
                  <a:pt x="1740" y="2963"/>
                </a:lnTo>
                <a:lnTo>
                  <a:pt x="1716" y="2954"/>
                </a:lnTo>
                <a:lnTo>
                  <a:pt x="1695" y="2941"/>
                </a:lnTo>
                <a:lnTo>
                  <a:pt x="1676" y="2923"/>
                </a:lnTo>
                <a:lnTo>
                  <a:pt x="1663" y="2902"/>
                </a:lnTo>
                <a:lnTo>
                  <a:pt x="1654" y="2877"/>
                </a:lnTo>
                <a:lnTo>
                  <a:pt x="1652" y="2852"/>
                </a:lnTo>
                <a:lnTo>
                  <a:pt x="1652" y="2712"/>
                </a:lnTo>
                <a:lnTo>
                  <a:pt x="1654" y="2687"/>
                </a:lnTo>
                <a:lnTo>
                  <a:pt x="1663" y="2662"/>
                </a:lnTo>
                <a:lnTo>
                  <a:pt x="1676" y="2642"/>
                </a:lnTo>
                <a:lnTo>
                  <a:pt x="1695" y="2624"/>
                </a:lnTo>
                <a:lnTo>
                  <a:pt x="1716" y="2611"/>
                </a:lnTo>
                <a:lnTo>
                  <a:pt x="1740" y="2602"/>
                </a:lnTo>
                <a:lnTo>
                  <a:pt x="1766" y="2599"/>
                </a:lnTo>
                <a:close/>
                <a:moveTo>
                  <a:pt x="1201" y="2599"/>
                </a:moveTo>
                <a:lnTo>
                  <a:pt x="1401" y="2599"/>
                </a:lnTo>
                <a:lnTo>
                  <a:pt x="1427" y="2602"/>
                </a:lnTo>
                <a:lnTo>
                  <a:pt x="1451" y="2611"/>
                </a:lnTo>
                <a:lnTo>
                  <a:pt x="1472" y="2624"/>
                </a:lnTo>
                <a:lnTo>
                  <a:pt x="1491" y="2642"/>
                </a:lnTo>
                <a:lnTo>
                  <a:pt x="1504" y="2662"/>
                </a:lnTo>
                <a:lnTo>
                  <a:pt x="1513" y="2687"/>
                </a:lnTo>
                <a:lnTo>
                  <a:pt x="1515" y="2712"/>
                </a:lnTo>
                <a:lnTo>
                  <a:pt x="1515" y="2852"/>
                </a:lnTo>
                <a:lnTo>
                  <a:pt x="1513" y="2877"/>
                </a:lnTo>
                <a:lnTo>
                  <a:pt x="1504" y="2902"/>
                </a:lnTo>
                <a:lnTo>
                  <a:pt x="1491" y="2923"/>
                </a:lnTo>
                <a:lnTo>
                  <a:pt x="1472" y="2941"/>
                </a:lnTo>
                <a:lnTo>
                  <a:pt x="1451" y="2954"/>
                </a:lnTo>
                <a:lnTo>
                  <a:pt x="1427" y="2963"/>
                </a:lnTo>
                <a:lnTo>
                  <a:pt x="1401" y="2965"/>
                </a:lnTo>
                <a:lnTo>
                  <a:pt x="1201" y="2965"/>
                </a:lnTo>
                <a:lnTo>
                  <a:pt x="1174" y="2963"/>
                </a:lnTo>
                <a:lnTo>
                  <a:pt x="1151" y="2954"/>
                </a:lnTo>
                <a:lnTo>
                  <a:pt x="1129" y="2941"/>
                </a:lnTo>
                <a:lnTo>
                  <a:pt x="1112" y="2923"/>
                </a:lnTo>
                <a:lnTo>
                  <a:pt x="1098" y="2902"/>
                </a:lnTo>
                <a:lnTo>
                  <a:pt x="1090" y="2877"/>
                </a:lnTo>
                <a:lnTo>
                  <a:pt x="1086" y="2852"/>
                </a:lnTo>
                <a:lnTo>
                  <a:pt x="1086" y="2712"/>
                </a:lnTo>
                <a:lnTo>
                  <a:pt x="1090" y="2687"/>
                </a:lnTo>
                <a:lnTo>
                  <a:pt x="1098" y="2662"/>
                </a:lnTo>
                <a:lnTo>
                  <a:pt x="1112" y="2642"/>
                </a:lnTo>
                <a:lnTo>
                  <a:pt x="1129" y="2624"/>
                </a:lnTo>
                <a:lnTo>
                  <a:pt x="1151" y="2611"/>
                </a:lnTo>
                <a:lnTo>
                  <a:pt x="1174" y="2602"/>
                </a:lnTo>
                <a:lnTo>
                  <a:pt x="1201" y="2599"/>
                </a:lnTo>
                <a:close/>
                <a:moveTo>
                  <a:pt x="635" y="2599"/>
                </a:moveTo>
                <a:lnTo>
                  <a:pt x="835" y="2599"/>
                </a:lnTo>
                <a:lnTo>
                  <a:pt x="862" y="2602"/>
                </a:lnTo>
                <a:lnTo>
                  <a:pt x="885" y="2611"/>
                </a:lnTo>
                <a:lnTo>
                  <a:pt x="907" y="2624"/>
                </a:lnTo>
                <a:lnTo>
                  <a:pt x="924" y="2642"/>
                </a:lnTo>
                <a:lnTo>
                  <a:pt x="938" y="2662"/>
                </a:lnTo>
                <a:lnTo>
                  <a:pt x="946" y="2687"/>
                </a:lnTo>
                <a:lnTo>
                  <a:pt x="950" y="2712"/>
                </a:lnTo>
                <a:lnTo>
                  <a:pt x="950" y="2852"/>
                </a:lnTo>
                <a:lnTo>
                  <a:pt x="946" y="2877"/>
                </a:lnTo>
                <a:lnTo>
                  <a:pt x="938" y="2902"/>
                </a:lnTo>
                <a:lnTo>
                  <a:pt x="924" y="2923"/>
                </a:lnTo>
                <a:lnTo>
                  <a:pt x="907" y="2941"/>
                </a:lnTo>
                <a:lnTo>
                  <a:pt x="885" y="2954"/>
                </a:lnTo>
                <a:lnTo>
                  <a:pt x="862" y="2963"/>
                </a:lnTo>
                <a:lnTo>
                  <a:pt x="835" y="2965"/>
                </a:lnTo>
                <a:lnTo>
                  <a:pt x="635" y="2965"/>
                </a:lnTo>
                <a:lnTo>
                  <a:pt x="609" y="2963"/>
                </a:lnTo>
                <a:lnTo>
                  <a:pt x="585" y="2954"/>
                </a:lnTo>
                <a:lnTo>
                  <a:pt x="564" y="2941"/>
                </a:lnTo>
                <a:lnTo>
                  <a:pt x="545" y="2923"/>
                </a:lnTo>
                <a:lnTo>
                  <a:pt x="532" y="2902"/>
                </a:lnTo>
                <a:lnTo>
                  <a:pt x="523" y="2877"/>
                </a:lnTo>
                <a:lnTo>
                  <a:pt x="521" y="2852"/>
                </a:lnTo>
                <a:lnTo>
                  <a:pt x="521" y="2712"/>
                </a:lnTo>
                <a:lnTo>
                  <a:pt x="523" y="2687"/>
                </a:lnTo>
                <a:lnTo>
                  <a:pt x="532" y="2662"/>
                </a:lnTo>
                <a:lnTo>
                  <a:pt x="545" y="2642"/>
                </a:lnTo>
                <a:lnTo>
                  <a:pt x="564" y="2624"/>
                </a:lnTo>
                <a:lnTo>
                  <a:pt x="585" y="2611"/>
                </a:lnTo>
                <a:lnTo>
                  <a:pt x="609" y="2602"/>
                </a:lnTo>
                <a:lnTo>
                  <a:pt x="635" y="2599"/>
                </a:lnTo>
                <a:close/>
                <a:moveTo>
                  <a:pt x="1931" y="0"/>
                </a:moveTo>
                <a:lnTo>
                  <a:pt x="2013" y="4"/>
                </a:lnTo>
                <a:lnTo>
                  <a:pt x="2093" y="15"/>
                </a:lnTo>
                <a:lnTo>
                  <a:pt x="2170" y="33"/>
                </a:lnTo>
                <a:lnTo>
                  <a:pt x="2245" y="57"/>
                </a:lnTo>
                <a:lnTo>
                  <a:pt x="2317" y="89"/>
                </a:lnTo>
                <a:lnTo>
                  <a:pt x="2386" y="126"/>
                </a:lnTo>
                <a:lnTo>
                  <a:pt x="2449" y="169"/>
                </a:lnTo>
                <a:lnTo>
                  <a:pt x="2510" y="216"/>
                </a:lnTo>
                <a:lnTo>
                  <a:pt x="2565" y="270"/>
                </a:lnTo>
                <a:lnTo>
                  <a:pt x="2617" y="327"/>
                </a:lnTo>
                <a:lnTo>
                  <a:pt x="2663" y="390"/>
                </a:lnTo>
                <a:lnTo>
                  <a:pt x="2704" y="455"/>
                </a:lnTo>
                <a:lnTo>
                  <a:pt x="2738" y="524"/>
                </a:lnTo>
                <a:lnTo>
                  <a:pt x="2767" y="597"/>
                </a:lnTo>
                <a:lnTo>
                  <a:pt x="2789" y="673"/>
                </a:lnTo>
                <a:lnTo>
                  <a:pt x="2804" y="751"/>
                </a:lnTo>
                <a:lnTo>
                  <a:pt x="2812" y="832"/>
                </a:lnTo>
                <a:lnTo>
                  <a:pt x="2867" y="842"/>
                </a:lnTo>
                <a:lnTo>
                  <a:pt x="2919" y="858"/>
                </a:lnTo>
                <a:lnTo>
                  <a:pt x="2969" y="878"/>
                </a:lnTo>
                <a:lnTo>
                  <a:pt x="3014" y="907"/>
                </a:lnTo>
                <a:lnTo>
                  <a:pt x="3057" y="938"/>
                </a:lnTo>
                <a:lnTo>
                  <a:pt x="3095" y="975"/>
                </a:lnTo>
                <a:lnTo>
                  <a:pt x="3128" y="1017"/>
                </a:lnTo>
                <a:lnTo>
                  <a:pt x="3156" y="1062"/>
                </a:lnTo>
                <a:lnTo>
                  <a:pt x="3179" y="1111"/>
                </a:lnTo>
                <a:lnTo>
                  <a:pt x="3196" y="1162"/>
                </a:lnTo>
                <a:lnTo>
                  <a:pt x="3206" y="1217"/>
                </a:lnTo>
                <a:lnTo>
                  <a:pt x="3210" y="1273"/>
                </a:lnTo>
                <a:lnTo>
                  <a:pt x="3207" y="1323"/>
                </a:lnTo>
                <a:lnTo>
                  <a:pt x="3199" y="1371"/>
                </a:lnTo>
                <a:lnTo>
                  <a:pt x="3185" y="1419"/>
                </a:lnTo>
                <a:lnTo>
                  <a:pt x="3167" y="1465"/>
                </a:lnTo>
                <a:lnTo>
                  <a:pt x="3143" y="1508"/>
                </a:lnTo>
                <a:lnTo>
                  <a:pt x="3113" y="1549"/>
                </a:lnTo>
                <a:lnTo>
                  <a:pt x="3080" y="1587"/>
                </a:lnTo>
                <a:lnTo>
                  <a:pt x="3044" y="1620"/>
                </a:lnTo>
                <a:lnTo>
                  <a:pt x="3003" y="1648"/>
                </a:lnTo>
                <a:lnTo>
                  <a:pt x="2960" y="1671"/>
                </a:lnTo>
                <a:lnTo>
                  <a:pt x="2915" y="1691"/>
                </a:lnTo>
                <a:lnTo>
                  <a:pt x="2867" y="1704"/>
                </a:lnTo>
                <a:lnTo>
                  <a:pt x="2817" y="1713"/>
                </a:lnTo>
                <a:lnTo>
                  <a:pt x="2767" y="1715"/>
                </a:lnTo>
                <a:lnTo>
                  <a:pt x="1977" y="1717"/>
                </a:lnTo>
                <a:lnTo>
                  <a:pt x="1936" y="1720"/>
                </a:lnTo>
                <a:lnTo>
                  <a:pt x="1897" y="1731"/>
                </a:lnTo>
                <a:lnTo>
                  <a:pt x="1860" y="1748"/>
                </a:lnTo>
                <a:lnTo>
                  <a:pt x="1828" y="1770"/>
                </a:lnTo>
                <a:lnTo>
                  <a:pt x="1800" y="1799"/>
                </a:lnTo>
                <a:lnTo>
                  <a:pt x="1777" y="1832"/>
                </a:lnTo>
                <a:lnTo>
                  <a:pt x="1760" y="1868"/>
                </a:lnTo>
                <a:lnTo>
                  <a:pt x="1749" y="1907"/>
                </a:lnTo>
                <a:lnTo>
                  <a:pt x="1745" y="1949"/>
                </a:lnTo>
                <a:lnTo>
                  <a:pt x="1747" y="1984"/>
                </a:lnTo>
                <a:lnTo>
                  <a:pt x="1756" y="2020"/>
                </a:lnTo>
                <a:lnTo>
                  <a:pt x="1769" y="2053"/>
                </a:lnTo>
                <a:lnTo>
                  <a:pt x="1788" y="2083"/>
                </a:lnTo>
                <a:lnTo>
                  <a:pt x="1811" y="2110"/>
                </a:lnTo>
                <a:lnTo>
                  <a:pt x="1832" y="2136"/>
                </a:lnTo>
                <a:lnTo>
                  <a:pt x="1849" y="2164"/>
                </a:lnTo>
                <a:lnTo>
                  <a:pt x="1861" y="2193"/>
                </a:lnTo>
                <a:lnTo>
                  <a:pt x="1870" y="2225"/>
                </a:lnTo>
                <a:lnTo>
                  <a:pt x="1872" y="2258"/>
                </a:lnTo>
                <a:lnTo>
                  <a:pt x="1868" y="2291"/>
                </a:lnTo>
                <a:lnTo>
                  <a:pt x="1861" y="2324"/>
                </a:lnTo>
                <a:lnTo>
                  <a:pt x="1848" y="2354"/>
                </a:lnTo>
                <a:lnTo>
                  <a:pt x="1831" y="2383"/>
                </a:lnTo>
                <a:lnTo>
                  <a:pt x="1809" y="2408"/>
                </a:lnTo>
                <a:lnTo>
                  <a:pt x="1784" y="2429"/>
                </a:lnTo>
                <a:lnTo>
                  <a:pt x="1756" y="2445"/>
                </a:lnTo>
                <a:lnTo>
                  <a:pt x="1727" y="2456"/>
                </a:lnTo>
                <a:lnTo>
                  <a:pt x="1695" y="2463"/>
                </a:lnTo>
                <a:lnTo>
                  <a:pt x="1663" y="2466"/>
                </a:lnTo>
                <a:lnTo>
                  <a:pt x="559" y="2466"/>
                </a:lnTo>
                <a:lnTo>
                  <a:pt x="528" y="2469"/>
                </a:lnTo>
                <a:lnTo>
                  <a:pt x="501" y="2479"/>
                </a:lnTo>
                <a:lnTo>
                  <a:pt x="477" y="2494"/>
                </a:lnTo>
                <a:lnTo>
                  <a:pt x="456" y="2515"/>
                </a:lnTo>
                <a:lnTo>
                  <a:pt x="441" y="2539"/>
                </a:lnTo>
                <a:lnTo>
                  <a:pt x="432" y="2566"/>
                </a:lnTo>
                <a:lnTo>
                  <a:pt x="428" y="2596"/>
                </a:lnTo>
                <a:lnTo>
                  <a:pt x="428" y="3790"/>
                </a:lnTo>
                <a:lnTo>
                  <a:pt x="432" y="3819"/>
                </a:lnTo>
                <a:lnTo>
                  <a:pt x="441" y="3848"/>
                </a:lnTo>
                <a:lnTo>
                  <a:pt x="456" y="3872"/>
                </a:lnTo>
                <a:lnTo>
                  <a:pt x="477" y="3891"/>
                </a:lnTo>
                <a:lnTo>
                  <a:pt x="501" y="3907"/>
                </a:lnTo>
                <a:lnTo>
                  <a:pt x="528" y="3917"/>
                </a:lnTo>
                <a:lnTo>
                  <a:pt x="559" y="3921"/>
                </a:lnTo>
                <a:lnTo>
                  <a:pt x="3722" y="3921"/>
                </a:lnTo>
                <a:lnTo>
                  <a:pt x="3753" y="3917"/>
                </a:lnTo>
                <a:lnTo>
                  <a:pt x="3780" y="3907"/>
                </a:lnTo>
                <a:lnTo>
                  <a:pt x="3804" y="3891"/>
                </a:lnTo>
                <a:lnTo>
                  <a:pt x="3825" y="3872"/>
                </a:lnTo>
                <a:lnTo>
                  <a:pt x="3840" y="3848"/>
                </a:lnTo>
                <a:lnTo>
                  <a:pt x="3849" y="3819"/>
                </a:lnTo>
                <a:lnTo>
                  <a:pt x="3853" y="3790"/>
                </a:lnTo>
                <a:lnTo>
                  <a:pt x="3853" y="2596"/>
                </a:lnTo>
                <a:lnTo>
                  <a:pt x="3849" y="2566"/>
                </a:lnTo>
                <a:lnTo>
                  <a:pt x="3840" y="2539"/>
                </a:lnTo>
                <a:lnTo>
                  <a:pt x="3825" y="2515"/>
                </a:lnTo>
                <a:lnTo>
                  <a:pt x="3804" y="2494"/>
                </a:lnTo>
                <a:lnTo>
                  <a:pt x="3780" y="2479"/>
                </a:lnTo>
                <a:lnTo>
                  <a:pt x="3753" y="2469"/>
                </a:lnTo>
                <a:lnTo>
                  <a:pt x="3722" y="2466"/>
                </a:lnTo>
                <a:lnTo>
                  <a:pt x="2279" y="2466"/>
                </a:lnTo>
                <a:lnTo>
                  <a:pt x="2261" y="2462"/>
                </a:lnTo>
                <a:lnTo>
                  <a:pt x="2246" y="2455"/>
                </a:lnTo>
                <a:lnTo>
                  <a:pt x="2234" y="2442"/>
                </a:lnTo>
                <a:lnTo>
                  <a:pt x="2227" y="2428"/>
                </a:lnTo>
                <a:lnTo>
                  <a:pt x="2223" y="2409"/>
                </a:lnTo>
                <a:lnTo>
                  <a:pt x="2227" y="2392"/>
                </a:lnTo>
                <a:lnTo>
                  <a:pt x="2234" y="2376"/>
                </a:lnTo>
                <a:lnTo>
                  <a:pt x="2246" y="2364"/>
                </a:lnTo>
                <a:lnTo>
                  <a:pt x="2261" y="2357"/>
                </a:lnTo>
                <a:lnTo>
                  <a:pt x="2279" y="2354"/>
                </a:lnTo>
                <a:lnTo>
                  <a:pt x="3722" y="2354"/>
                </a:lnTo>
                <a:lnTo>
                  <a:pt x="3761" y="2357"/>
                </a:lnTo>
                <a:lnTo>
                  <a:pt x="3799" y="2367"/>
                </a:lnTo>
                <a:lnTo>
                  <a:pt x="3833" y="2381"/>
                </a:lnTo>
                <a:lnTo>
                  <a:pt x="3865" y="2401"/>
                </a:lnTo>
                <a:lnTo>
                  <a:pt x="3893" y="2425"/>
                </a:lnTo>
                <a:lnTo>
                  <a:pt x="3918" y="2453"/>
                </a:lnTo>
                <a:lnTo>
                  <a:pt x="3937" y="2485"/>
                </a:lnTo>
                <a:lnTo>
                  <a:pt x="3952" y="2519"/>
                </a:lnTo>
                <a:lnTo>
                  <a:pt x="3962" y="2557"/>
                </a:lnTo>
                <a:lnTo>
                  <a:pt x="3964" y="2596"/>
                </a:lnTo>
                <a:lnTo>
                  <a:pt x="3964" y="3790"/>
                </a:lnTo>
                <a:lnTo>
                  <a:pt x="3962" y="3829"/>
                </a:lnTo>
                <a:lnTo>
                  <a:pt x="3952" y="3866"/>
                </a:lnTo>
                <a:lnTo>
                  <a:pt x="3937" y="3901"/>
                </a:lnTo>
                <a:lnTo>
                  <a:pt x="3918" y="3933"/>
                </a:lnTo>
                <a:lnTo>
                  <a:pt x="3893" y="3961"/>
                </a:lnTo>
                <a:lnTo>
                  <a:pt x="3865" y="3986"/>
                </a:lnTo>
                <a:lnTo>
                  <a:pt x="3833" y="4005"/>
                </a:lnTo>
                <a:lnTo>
                  <a:pt x="3799" y="4020"/>
                </a:lnTo>
                <a:lnTo>
                  <a:pt x="3761" y="4028"/>
                </a:lnTo>
                <a:lnTo>
                  <a:pt x="3722" y="4032"/>
                </a:lnTo>
                <a:lnTo>
                  <a:pt x="559" y="4032"/>
                </a:lnTo>
                <a:lnTo>
                  <a:pt x="520" y="4028"/>
                </a:lnTo>
                <a:lnTo>
                  <a:pt x="482" y="4020"/>
                </a:lnTo>
                <a:lnTo>
                  <a:pt x="448" y="4005"/>
                </a:lnTo>
                <a:lnTo>
                  <a:pt x="416" y="3986"/>
                </a:lnTo>
                <a:lnTo>
                  <a:pt x="388" y="3961"/>
                </a:lnTo>
                <a:lnTo>
                  <a:pt x="363" y="3933"/>
                </a:lnTo>
                <a:lnTo>
                  <a:pt x="344" y="3901"/>
                </a:lnTo>
                <a:lnTo>
                  <a:pt x="329" y="3866"/>
                </a:lnTo>
                <a:lnTo>
                  <a:pt x="319" y="3829"/>
                </a:lnTo>
                <a:lnTo>
                  <a:pt x="317" y="3790"/>
                </a:lnTo>
                <a:lnTo>
                  <a:pt x="317" y="2596"/>
                </a:lnTo>
                <a:lnTo>
                  <a:pt x="319" y="2557"/>
                </a:lnTo>
                <a:lnTo>
                  <a:pt x="329" y="2519"/>
                </a:lnTo>
                <a:lnTo>
                  <a:pt x="344" y="2485"/>
                </a:lnTo>
                <a:lnTo>
                  <a:pt x="363" y="2453"/>
                </a:lnTo>
                <a:lnTo>
                  <a:pt x="388" y="2425"/>
                </a:lnTo>
                <a:lnTo>
                  <a:pt x="416" y="2401"/>
                </a:lnTo>
                <a:lnTo>
                  <a:pt x="448" y="2381"/>
                </a:lnTo>
                <a:lnTo>
                  <a:pt x="482" y="2367"/>
                </a:lnTo>
                <a:lnTo>
                  <a:pt x="520" y="2357"/>
                </a:lnTo>
                <a:lnTo>
                  <a:pt x="559" y="2354"/>
                </a:lnTo>
                <a:lnTo>
                  <a:pt x="1664" y="2354"/>
                </a:lnTo>
                <a:lnTo>
                  <a:pt x="1689" y="2351"/>
                </a:lnTo>
                <a:lnTo>
                  <a:pt x="1711" y="2342"/>
                </a:lnTo>
                <a:lnTo>
                  <a:pt x="1730" y="2328"/>
                </a:lnTo>
                <a:lnTo>
                  <a:pt x="1744" y="2313"/>
                </a:lnTo>
                <a:lnTo>
                  <a:pt x="1752" y="2296"/>
                </a:lnTo>
                <a:lnTo>
                  <a:pt x="1758" y="2277"/>
                </a:lnTo>
                <a:lnTo>
                  <a:pt x="1760" y="2258"/>
                </a:lnTo>
                <a:lnTo>
                  <a:pt x="1757" y="2232"/>
                </a:lnTo>
                <a:lnTo>
                  <a:pt x="1747" y="2210"/>
                </a:lnTo>
                <a:lnTo>
                  <a:pt x="1731" y="2189"/>
                </a:lnTo>
                <a:lnTo>
                  <a:pt x="1730" y="2188"/>
                </a:lnTo>
                <a:lnTo>
                  <a:pt x="1729" y="2187"/>
                </a:lnTo>
                <a:lnTo>
                  <a:pt x="1728" y="2186"/>
                </a:lnTo>
                <a:lnTo>
                  <a:pt x="1700" y="2153"/>
                </a:lnTo>
                <a:lnTo>
                  <a:pt x="1676" y="2116"/>
                </a:lnTo>
                <a:lnTo>
                  <a:pt x="1658" y="2077"/>
                </a:lnTo>
                <a:lnTo>
                  <a:pt x="1645" y="2037"/>
                </a:lnTo>
                <a:lnTo>
                  <a:pt x="1636" y="1993"/>
                </a:lnTo>
                <a:lnTo>
                  <a:pt x="1634" y="1949"/>
                </a:lnTo>
                <a:lnTo>
                  <a:pt x="1637" y="1897"/>
                </a:lnTo>
                <a:lnTo>
                  <a:pt x="1648" y="1850"/>
                </a:lnTo>
                <a:lnTo>
                  <a:pt x="1665" y="1803"/>
                </a:lnTo>
                <a:lnTo>
                  <a:pt x="1689" y="1762"/>
                </a:lnTo>
                <a:lnTo>
                  <a:pt x="1718" y="1723"/>
                </a:lnTo>
                <a:lnTo>
                  <a:pt x="1752" y="1690"/>
                </a:lnTo>
                <a:lnTo>
                  <a:pt x="1790" y="1660"/>
                </a:lnTo>
                <a:lnTo>
                  <a:pt x="1833" y="1637"/>
                </a:lnTo>
                <a:lnTo>
                  <a:pt x="1878" y="1619"/>
                </a:lnTo>
                <a:lnTo>
                  <a:pt x="1927" y="1609"/>
                </a:lnTo>
                <a:lnTo>
                  <a:pt x="1977" y="1604"/>
                </a:lnTo>
                <a:lnTo>
                  <a:pt x="2767" y="1604"/>
                </a:lnTo>
                <a:lnTo>
                  <a:pt x="2810" y="1602"/>
                </a:lnTo>
                <a:lnTo>
                  <a:pt x="2850" y="1593"/>
                </a:lnTo>
                <a:lnTo>
                  <a:pt x="2891" y="1581"/>
                </a:lnTo>
                <a:lnTo>
                  <a:pt x="2927" y="1563"/>
                </a:lnTo>
                <a:lnTo>
                  <a:pt x="2963" y="1541"/>
                </a:lnTo>
                <a:lnTo>
                  <a:pt x="2995" y="1514"/>
                </a:lnTo>
                <a:lnTo>
                  <a:pt x="3024" y="1483"/>
                </a:lnTo>
                <a:lnTo>
                  <a:pt x="3048" y="1449"/>
                </a:lnTo>
                <a:lnTo>
                  <a:pt x="3070" y="1408"/>
                </a:lnTo>
                <a:lnTo>
                  <a:pt x="3086" y="1365"/>
                </a:lnTo>
                <a:lnTo>
                  <a:pt x="3095" y="1320"/>
                </a:lnTo>
                <a:lnTo>
                  <a:pt x="3099" y="1273"/>
                </a:lnTo>
                <a:lnTo>
                  <a:pt x="3095" y="1224"/>
                </a:lnTo>
                <a:lnTo>
                  <a:pt x="3085" y="1178"/>
                </a:lnTo>
                <a:lnTo>
                  <a:pt x="3068" y="1134"/>
                </a:lnTo>
                <a:lnTo>
                  <a:pt x="3045" y="1092"/>
                </a:lnTo>
                <a:lnTo>
                  <a:pt x="3018" y="1056"/>
                </a:lnTo>
                <a:lnTo>
                  <a:pt x="2985" y="1023"/>
                </a:lnTo>
                <a:lnTo>
                  <a:pt x="2947" y="995"/>
                </a:lnTo>
                <a:lnTo>
                  <a:pt x="2907" y="973"/>
                </a:lnTo>
                <a:lnTo>
                  <a:pt x="2863" y="955"/>
                </a:lnTo>
                <a:lnTo>
                  <a:pt x="2816" y="946"/>
                </a:lnTo>
                <a:lnTo>
                  <a:pt x="2767" y="942"/>
                </a:lnTo>
                <a:lnTo>
                  <a:pt x="2766" y="942"/>
                </a:lnTo>
                <a:lnTo>
                  <a:pt x="2764" y="942"/>
                </a:lnTo>
                <a:lnTo>
                  <a:pt x="2762" y="942"/>
                </a:lnTo>
                <a:lnTo>
                  <a:pt x="2760" y="942"/>
                </a:lnTo>
                <a:lnTo>
                  <a:pt x="2759" y="942"/>
                </a:lnTo>
                <a:lnTo>
                  <a:pt x="2744" y="941"/>
                </a:lnTo>
                <a:lnTo>
                  <a:pt x="2731" y="935"/>
                </a:lnTo>
                <a:lnTo>
                  <a:pt x="2718" y="926"/>
                </a:lnTo>
                <a:lnTo>
                  <a:pt x="2710" y="914"/>
                </a:lnTo>
                <a:lnTo>
                  <a:pt x="2704" y="900"/>
                </a:lnTo>
                <a:lnTo>
                  <a:pt x="2702" y="886"/>
                </a:lnTo>
                <a:lnTo>
                  <a:pt x="2699" y="811"/>
                </a:lnTo>
                <a:lnTo>
                  <a:pt x="2688" y="739"/>
                </a:lnTo>
                <a:lnTo>
                  <a:pt x="2671" y="668"/>
                </a:lnTo>
                <a:lnTo>
                  <a:pt x="2649" y="601"/>
                </a:lnTo>
                <a:lnTo>
                  <a:pt x="2619" y="536"/>
                </a:lnTo>
                <a:lnTo>
                  <a:pt x="2585" y="474"/>
                </a:lnTo>
                <a:lnTo>
                  <a:pt x="2545" y="417"/>
                </a:lnTo>
                <a:lnTo>
                  <a:pt x="2501" y="363"/>
                </a:lnTo>
                <a:lnTo>
                  <a:pt x="2450" y="314"/>
                </a:lnTo>
                <a:lnTo>
                  <a:pt x="2398" y="269"/>
                </a:lnTo>
                <a:lnTo>
                  <a:pt x="2340" y="228"/>
                </a:lnTo>
                <a:lnTo>
                  <a:pt x="2279" y="194"/>
                </a:lnTo>
                <a:lnTo>
                  <a:pt x="2214" y="165"/>
                </a:lnTo>
                <a:lnTo>
                  <a:pt x="2147" y="142"/>
                </a:lnTo>
                <a:lnTo>
                  <a:pt x="2078" y="126"/>
                </a:lnTo>
                <a:lnTo>
                  <a:pt x="2005" y="115"/>
                </a:lnTo>
                <a:lnTo>
                  <a:pt x="1931" y="111"/>
                </a:lnTo>
                <a:lnTo>
                  <a:pt x="1862" y="115"/>
                </a:lnTo>
                <a:lnTo>
                  <a:pt x="1795" y="123"/>
                </a:lnTo>
                <a:lnTo>
                  <a:pt x="1729" y="138"/>
                </a:lnTo>
                <a:lnTo>
                  <a:pt x="1664" y="159"/>
                </a:lnTo>
                <a:lnTo>
                  <a:pt x="1603" y="184"/>
                </a:lnTo>
                <a:lnTo>
                  <a:pt x="1544" y="216"/>
                </a:lnTo>
                <a:lnTo>
                  <a:pt x="1488" y="252"/>
                </a:lnTo>
                <a:lnTo>
                  <a:pt x="1436" y="292"/>
                </a:lnTo>
                <a:lnTo>
                  <a:pt x="1385" y="337"/>
                </a:lnTo>
                <a:lnTo>
                  <a:pt x="1340" y="387"/>
                </a:lnTo>
                <a:lnTo>
                  <a:pt x="1300" y="440"/>
                </a:lnTo>
                <a:lnTo>
                  <a:pt x="1263" y="497"/>
                </a:lnTo>
                <a:lnTo>
                  <a:pt x="1231" y="557"/>
                </a:lnTo>
                <a:lnTo>
                  <a:pt x="1206" y="622"/>
                </a:lnTo>
                <a:lnTo>
                  <a:pt x="1198" y="634"/>
                </a:lnTo>
                <a:lnTo>
                  <a:pt x="1189" y="645"/>
                </a:lnTo>
                <a:lnTo>
                  <a:pt x="1175" y="654"/>
                </a:lnTo>
                <a:lnTo>
                  <a:pt x="1162" y="657"/>
                </a:lnTo>
                <a:lnTo>
                  <a:pt x="1146" y="657"/>
                </a:lnTo>
                <a:lnTo>
                  <a:pt x="1131" y="654"/>
                </a:lnTo>
                <a:lnTo>
                  <a:pt x="1088" y="638"/>
                </a:lnTo>
                <a:lnTo>
                  <a:pt x="1043" y="627"/>
                </a:lnTo>
                <a:lnTo>
                  <a:pt x="998" y="621"/>
                </a:lnTo>
                <a:lnTo>
                  <a:pt x="951" y="618"/>
                </a:lnTo>
                <a:lnTo>
                  <a:pt x="893" y="622"/>
                </a:lnTo>
                <a:lnTo>
                  <a:pt x="838" y="632"/>
                </a:lnTo>
                <a:lnTo>
                  <a:pt x="784" y="648"/>
                </a:lnTo>
                <a:lnTo>
                  <a:pt x="734" y="671"/>
                </a:lnTo>
                <a:lnTo>
                  <a:pt x="687" y="698"/>
                </a:lnTo>
                <a:lnTo>
                  <a:pt x="644" y="731"/>
                </a:lnTo>
                <a:lnTo>
                  <a:pt x="605" y="769"/>
                </a:lnTo>
                <a:lnTo>
                  <a:pt x="571" y="810"/>
                </a:lnTo>
                <a:lnTo>
                  <a:pt x="542" y="856"/>
                </a:lnTo>
                <a:lnTo>
                  <a:pt x="518" y="905"/>
                </a:lnTo>
                <a:lnTo>
                  <a:pt x="500" y="958"/>
                </a:lnTo>
                <a:lnTo>
                  <a:pt x="488" y="1013"/>
                </a:lnTo>
                <a:lnTo>
                  <a:pt x="483" y="1072"/>
                </a:lnTo>
                <a:lnTo>
                  <a:pt x="479" y="1087"/>
                </a:lnTo>
                <a:lnTo>
                  <a:pt x="472" y="1102"/>
                </a:lnTo>
                <a:lnTo>
                  <a:pt x="461" y="1114"/>
                </a:lnTo>
                <a:lnTo>
                  <a:pt x="446" y="1123"/>
                </a:lnTo>
                <a:lnTo>
                  <a:pt x="430" y="1127"/>
                </a:lnTo>
                <a:lnTo>
                  <a:pt x="413" y="1125"/>
                </a:lnTo>
                <a:lnTo>
                  <a:pt x="393" y="1122"/>
                </a:lnTo>
                <a:lnTo>
                  <a:pt x="373" y="1119"/>
                </a:lnTo>
                <a:lnTo>
                  <a:pt x="355" y="1118"/>
                </a:lnTo>
                <a:lnTo>
                  <a:pt x="315" y="1122"/>
                </a:lnTo>
                <a:lnTo>
                  <a:pt x="278" y="1130"/>
                </a:lnTo>
                <a:lnTo>
                  <a:pt x="242" y="1145"/>
                </a:lnTo>
                <a:lnTo>
                  <a:pt x="210" y="1166"/>
                </a:lnTo>
                <a:lnTo>
                  <a:pt x="182" y="1190"/>
                </a:lnTo>
                <a:lnTo>
                  <a:pt x="158" y="1218"/>
                </a:lnTo>
                <a:lnTo>
                  <a:pt x="138" y="1250"/>
                </a:lnTo>
                <a:lnTo>
                  <a:pt x="124" y="1284"/>
                </a:lnTo>
                <a:lnTo>
                  <a:pt x="114" y="1322"/>
                </a:lnTo>
                <a:lnTo>
                  <a:pt x="111" y="1361"/>
                </a:lnTo>
                <a:lnTo>
                  <a:pt x="114" y="1401"/>
                </a:lnTo>
                <a:lnTo>
                  <a:pt x="124" y="1438"/>
                </a:lnTo>
                <a:lnTo>
                  <a:pt x="138" y="1474"/>
                </a:lnTo>
                <a:lnTo>
                  <a:pt x="158" y="1505"/>
                </a:lnTo>
                <a:lnTo>
                  <a:pt x="182" y="1533"/>
                </a:lnTo>
                <a:lnTo>
                  <a:pt x="210" y="1558"/>
                </a:lnTo>
                <a:lnTo>
                  <a:pt x="242" y="1577"/>
                </a:lnTo>
                <a:lnTo>
                  <a:pt x="278" y="1592"/>
                </a:lnTo>
                <a:lnTo>
                  <a:pt x="315" y="1602"/>
                </a:lnTo>
                <a:lnTo>
                  <a:pt x="355" y="1604"/>
                </a:lnTo>
                <a:lnTo>
                  <a:pt x="1586" y="1604"/>
                </a:lnTo>
                <a:lnTo>
                  <a:pt x="1603" y="1608"/>
                </a:lnTo>
                <a:lnTo>
                  <a:pt x="1619" y="1615"/>
                </a:lnTo>
                <a:lnTo>
                  <a:pt x="1631" y="1627"/>
                </a:lnTo>
                <a:lnTo>
                  <a:pt x="1639" y="1643"/>
                </a:lnTo>
                <a:lnTo>
                  <a:pt x="1642" y="1660"/>
                </a:lnTo>
                <a:lnTo>
                  <a:pt x="1639" y="1678"/>
                </a:lnTo>
                <a:lnTo>
                  <a:pt x="1631" y="1693"/>
                </a:lnTo>
                <a:lnTo>
                  <a:pt x="1619" y="1706"/>
                </a:lnTo>
                <a:lnTo>
                  <a:pt x="1603" y="1713"/>
                </a:lnTo>
                <a:lnTo>
                  <a:pt x="1586" y="1717"/>
                </a:lnTo>
                <a:lnTo>
                  <a:pt x="355" y="1717"/>
                </a:lnTo>
                <a:lnTo>
                  <a:pt x="302" y="1713"/>
                </a:lnTo>
                <a:lnTo>
                  <a:pt x="252" y="1701"/>
                </a:lnTo>
                <a:lnTo>
                  <a:pt x="205" y="1684"/>
                </a:lnTo>
                <a:lnTo>
                  <a:pt x="161" y="1659"/>
                </a:lnTo>
                <a:lnTo>
                  <a:pt x="121" y="1629"/>
                </a:lnTo>
                <a:lnTo>
                  <a:pt x="87" y="1594"/>
                </a:lnTo>
                <a:lnTo>
                  <a:pt x="56" y="1554"/>
                </a:lnTo>
                <a:lnTo>
                  <a:pt x="33" y="1511"/>
                </a:lnTo>
                <a:lnTo>
                  <a:pt x="15" y="1464"/>
                </a:lnTo>
                <a:lnTo>
                  <a:pt x="4" y="1414"/>
                </a:lnTo>
                <a:lnTo>
                  <a:pt x="0" y="1361"/>
                </a:lnTo>
                <a:lnTo>
                  <a:pt x="2" y="1312"/>
                </a:lnTo>
                <a:lnTo>
                  <a:pt x="13" y="1265"/>
                </a:lnTo>
                <a:lnTo>
                  <a:pt x="29" y="1219"/>
                </a:lnTo>
                <a:lnTo>
                  <a:pt x="51" y="1177"/>
                </a:lnTo>
                <a:lnTo>
                  <a:pt x="79" y="1139"/>
                </a:lnTo>
                <a:lnTo>
                  <a:pt x="111" y="1103"/>
                </a:lnTo>
                <a:lnTo>
                  <a:pt x="148" y="1074"/>
                </a:lnTo>
                <a:lnTo>
                  <a:pt x="187" y="1048"/>
                </a:lnTo>
                <a:lnTo>
                  <a:pt x="231" y="1029"/>
                </a:lnTo>
                <a:lnTo>
                  <a:pt x="278" y="1015"/>
                </a:lnTo>
                <a:lnTo>
                  <a:pt x="325" y="1008"/>
                </a:lnTo>
                <a:lnTo>
                  <a:pt x="375" y="1008"/>
                </a:lnTo>
                <a:lnTo>
                  <a:pt x="389" y="943"/>
                </a:lnTo>
                <a:lnTo>
                  <a:pt x="407" y="881"/>
                </a:lnTo>
                <a:lnTo>
                  <a:pt x="433" y="822"/>
                </a:lnTo>
                <a:lnTo>
                  <a:pt x="465" y="769"/>
                </a:lnTo>
                <a:lnTo>
                  <a:pt x="501" y="717"/>
                </a:lnTo>
                <a:lnTo>
                  <a:pt x="544" y="671"/>
                </a:lnTo>
                <a:lnTo>
                  <a:pt x="592" y="630"/>
                </a:lnTo>
                <a:lnTo>
                  <a:pt x="643" y="594"/>
                </a:lnTo>
                <a:lnTo>
                  <a:pt x="698" y="563"/>
                </a:lnTo>
                <a:lnTo>
                  <a:pt x="757" y="539"/>
                </a:lnTo>
                <a:lnTo>
                  <a:pt x="819" y="522"/>
                </a:lnTo>
                <a:lnTo>
                  <a:pt x="884" y="511"/>
                </a:lnTo>
                <a:lnTo>
                  <a:pt x="951" y="506"/>
                </a:lnTo>
                <a:lnTo>
                  <a:pt x="1009" y="509"/>
                </a:lnTo>
                <a:lnTo>
                  <a:pt x="1065" y="518"/>
                </a:lnTo>
                <a:lnTo>
                  <a:pt x="1121" y="531"/>
                </a:lnTo>
                <a:lnTo>
                  <a:pt x="1153" y="464"/>
                </a:lnTo>
                <a:lnTo>
                  <a:pt x="1191" y="402"/>
                </a:lnTo>
                <a:lnTo>
                  <a:pt x="1234" y="342"/>
                </a:lnTo>
                <a:lnTo>
                  <a:pt x="1280" y="286"/>
                </a:lnTo>
                <a:lnTo>
                  <a:pt x="1332" y="235"/>
                </a:lnTo>
                <a:lnTo>
                  <a:pt x="1387" y="188"/>
                </a:lnTo>
                <a:lnTo>
                  <a:pt x="1445" y="145"/>
                </a:lnTo>
                <a:lnTo>
                  <a:pt x="1508" y="109"/>
                </a:lnTo>
                <a:lnTo>
                  <a:pt x="1573" y="76"/>
                </a:lnTo>
                <a:lnTo>
                  <a:pt x="1641" y="49"/>
                </a:lnTo>
                <a:lnTo>
                  <a:pt x="1711" y="28"/>
                </a:lnTo>
                <a:lnTo>
                  <a:pt x="1783" y="12"/>
                </a:lnTo>
                <a:lnTo>
                  <a:pt x="1856" y="4"/>
                </a:lnTo>
                <a:lnTo>
                  <a:pt x="1931"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Freeform 9">
            <a:extLst>
              <a:ext uri="{FF2B5EF4-FFF2-40B4-BE49-F238E27FC236}">
                <a16:creationId xmlns:a16="http://schemas.microsoft.com/office/drawing/2014/main" id="{4F7FC878-740E-48EF-9D84-497B2A844F84}"/>
              </a:ext>
            </a:extLst>
          </p:cNvPr>
          <p:cNvSpPr>
            <a:spLocks noChangeAspect="1" noEditPoints="1"/>
          </p:cNvSpPr>
          <p:nvPr/>
        </p:nvSpPr>
        <p:spPr bwMode="auto">
          <a:xfrm>
            <a:off x="6226237" y="701590"/>
            <a:ext cx="683610" cy="697316"/>
          </a:xfrm>
          <a:custGeom>
            <a:avLst/>
            <a:gdLst>
              <a:gd name="T0" fmla="*/ 751 w 4190"/>
              <a:gd name="T1" fmla="*/ 1783 h 4805"/>
              <a:gd name="T2" fmla="*/ 751 w 4190"/>
              <a:gd name="T3" fmla="*/ 1783 h 4805"/>
              <a:gd name="T4" fmla="*/ 2405 w 4190"/>
              <a:gd name="T5" fmla="*/ 3438 h 4805"/>
              <a:gd name="T6" fmla="*/ 4059 w 4190"/>
              <a:gd name="T7" fmla="*/ 1783 h 4805"/>
              <a:gd name="T8" fmla="*/ 2405 w 4190"/>
              <a:gd name="T9" fmla="*/ 129 h 4805"/>
              <a:gd name="T10" fmla="*/ 751 w 4190"/>
              <a:gd name="T11" fmla="*/ 1783 h 4805"/>
              <a:gd name="T12" fmla="*/ 751 w 4190"/>
              <a:gd name="T13" fmla="*/ 1783 h 4805"/>
              <a:gd name="T14" fmla="*/ 620 w 4190"/>
              <a:gd name="T15" fmla="*/ 1783 h 4805"/>
              <a:gd name="T16" fmla="*/ 620 w 4190"/>
              <a:gd name="T17" fmla="*/ 1783 h 4805"/>
              <a:gd name="T18" fmla="*/ 2405 w 4190"/>
              <a:gd name="T19" fmla="*/ 0 h 4805"/>
              <a:gd name="T20" fmla="*/ 4190 w 4190"/>
              <a:gd name="T21" fmla="*/ 1783 h 4805"/>
              <a:gd name="T22" fmla="*/ 2405 w 4190"/>
              <a:gd name="T23" fmla="*/ 3568 h 4805"/>
              <a:gd name="T24" fmla="*/ 620 w 4190"/>
              <a:gd name="T25" fmla="*/ 1783 h 4805"/>
              <a:gd name="T26" fmla="*/ 620 w 4190"/>
              <a:gd name="T27" fmla="*/ 1783 h 4805"/>
              <a:gd name="T28" fmla="*/ 4107 w 4190"/>
              <a:gd name="T29" fmla="*/ 3391 h 4805"/>
              <a:gd name="T30" fmla="*/ 4107 w 4190"/>
              <a:gd name="T31" fmla="*/ 3391 h 4805"/>
              <a:gd name="T32" fmla="*/ 4107 w 4190"/>
              <a:gd name="T33" fmla="*/ 3483 h 4805"/>
              <a:gd name="T34" fmla="*/ 2470 w 4190"/>
              <a:gd name="T35" fmla="*/ 4187 h 4805"/>
              <a:gd name="T36" fmla="*/ 2470 w 4190"/>
              <a:gd name="T37" fmla="*/ 4413 h 4805"/>
              <a:gd name="T38" fmla="*/ 3308 w 4190"/>
              <a:gd name="T39" fmla="*/ 4682 h 4805"/>
              <a:gd name="T40" fmla="*/ 3319 w 4190"/>
              <a:gd name="T41" fmla="*/ 4773 h 4805"/>
              <a:gd name="T42" fmla="*/ 3268 w 4190"/>
              <a:gd name="T43" fmla="*/ 4799 h 4805"/>
              <a:gd name="T44" fmla="*/ 3228 w 4190"/>
              <a:gd name="T45" fmla="*/ 4785 h 4805"/>
              <a:gd name="T46" fmla="*/ 2403 w 4190"/>
              <a:gd name="T47" fmla="*/ 4541 h 4805"/>
              <a:gd name="T48" fmla="*/ 1579 w 4190"/>
              <a:gd name="T49" fmla="*/ 4783 h 4805"/>
              <a:gd name="T50" fmla="*/ 1488 w 4190"/>
              <a:gd name="T51" fmla="*/ 4771 h 4805"/>
              <a:gd name="T52" fmla="*/ 1500 w 4190"/>
              <a:gd name="T53" fmla="*/ 4680 h 4805"/>
              <a:gd name="T54" fmla="*/ 2340 w 4190"/>
              <a:gd name="T55" fmla="*/ 4413 h 4805"/>
              <a:gd name="T56" fmla="*/ 2340 w 4190"/>
              <a:gd name="T57" fmla="*/ 4187 h 4805"/>
              <a:gd name="T58" fmla="*/ 0 w 4190"/>
              <a:gd name="T59" fmla="*/ 1783 h 4805"/>
              <a:gd name="T60" fmla="*/ 704 w 4190"/>
              <a:gd name="T61" fmla="*/ 82 h 4805"/>
              <a:gd name="T62" fmla="*/ 796 w 4190"/>
              <a:gd name="T63" fmla="*/ 82 h 4805"/>
              <a:gd name="T64" fmla="*/ 1029 w 4190"/>
              <a:gd name="T65" fmla="*/ 315 h 4805"/>
              <a:gd name="T66" fmla="*/ 1029 w 4190"/>
              <a:gd name="T67" fmla="*/ 407 h 4805"/>
              <a:gd name="T68" fmla="*/ 937 w 4190"/>
              <a:gd name="T69" fmla="*/ 407 h 4805"/>
              <a:gd name="T70" fmla="*/ 751 w 4190"/>
              <a:gd name="T71" fmla="*/ 221 h 4805"/>
              <a:gd name="T72" fmla="*/ 130 w 4190"/>
              <a:gd name="T73" fmla="*/ 1783 h 4805"/>
              <a:gd name="T74" fmla="*/ 2405 w 4190"/>
              <a:gd name="T75" fmla="*/ 4058 h 4805"/>
              <a:gd name="T76" fmla="*/ 3968 w 4190"/>
              <a:gd name="T77" fmla="*/ 3436 h 4805"/>
              <a:gd name="T78" fmla="*/ 3767 w 4190"/>
              <a:gd name="T79" fmla="*/ 3234 h 4805"/>
              <a:gd name="T80" fmla="*/ 3767 w 4190"/>
              <a:gd name="T81" fmla="*/ 3142 h 4805"/>
              <a:gd name="T82" fmla="*/ 3859 w 4190"/>
              <a:gd name="T83" fmla="*/ 3142 h 4805"/>
              <a:gd name="T84" fmla="*/ 4107 w 4190"/>
              <a:gd name="T85" fmla="*/ 3391 h 4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90" h="4805">
                <a:moveTo>
                  <a:pt x="751" y="1783"/>
                </a:moveTo>
                <a:lnTo>
                  <a:pt x="751" y="1783"/>
                </a:lnTo>
                <a:cubicBezTo>
                  <a:pt x="751" y="2695"/>
                  <a:pt x="1493" y="3438"/>
                  <a:pt x="2405" y="3438"/>
                </a:cubicBezTo>
                <a:cubicBezTo>
                  <a:pt x="3317" y="3438"/>
                  <a:pt x="4059" y="2695"/>
                  <a:pt x="4059" y="1783"/>
                </a:cubicBezTo>
                <a:cubicBezTo>
                  <a:pt x="4059" y="871"/>
                  <a:pt x="3317" y="129"/>
                  <a:pt x="2405" y="129"/>
                </a:cubicBezTo>
                <a:cubicBezTo>
                  <a:pt x="1493" y="129"/>
                  <a:pt x="751" y="871"/>
                  <a:pt x="751" y="1783"/>
                </a:cubicBezTo>
                <a:lnTo>
                  <a:pt x="751" y="1783"/>
                </a:lnTo>
                <a:close/>
                <a:moveTo>
                  <a:pt x="620" y="1783"/>
                </a:moveTo>
                <a:lnTo>
                  <a:pt x="620" y="1783"/>
                </a:lnTo>
                <a:cubicBezTo>
                  <a:pt x="620" y="799"/>
                  <a:pt x="1421" y="0"/>
                  <a:pt x="2405" y="0"/>
                </a:cubicBezTo>
                <a:cubicBezTo>
                  <a:pt x="3389" y="0"/>
                  <a:pt x="4190" y="799"/>
                  <a:pt x="4190" y="1783"/>
                </a:cubicBezTo>
                <a:cubicBezTo>
                  <a:pt x="4190" y="2767"/>
                  <a:pt x="3389" y="3568"/>
                  <a:pt x="2405" y="3568"/>
                </a:cubicBezTo>
                <a:cubicBezTo>
                  <a:pt x="1421" y="3568"/>
                  <a:pt x="620" y="2767"/>
                  <a:pt x="620" y="1783"/>
                </a:cubicBezTo>
                <a:lnTo>
                  <a:pt x="620" y="1783"/>
                </a:lnTo>
                <a:close/>
                <a:moveTo>
                  <a:pt x="4107" y="3391"/>
                </a:moveTo>
                <a:lnTo>
                  <a:pt x="4107" y="3391"/>
                </a:lnTo>
                <a:cubicBezTo>
                  <a:pt x="4133" y="3416"/>
                  <a:pt x="4133" y="3457"/>
                  <a:pt x="4107" y="3483"/>
                </a:cubicBezTo>
                <a:cubicBezTo>
                  <a:pt x="3668" y="3923"/>
                  <a:pt x="3089" y="4171"/>
                  <a:pt x="2470" y="4187"/>
                </a:cubicBezTo>
                <a:lnTo>
                  <a:pt x="2470" y="4413"/>
                </a:lnTo>
                <a:cubicBezTo>
                  <a:pt x="2798" y="4425"/>
                  <a:pt x="3100" y="4521"/>
                  <a:pt x="3308" y="4682"/>
                </a:cubicBezTo>
                <a:cubicBezTo>
                  <a:pt x="3336" y="4704"/>
                  <a:pt x="3341" y="4745"/>
                  <a:pt x="3319" y="4773"/>
                </a:cubicBezTo>
                <a:cubicBezTo>
                  <a:pt x="3306" y="4790"/>
                  <a:pt x="3287" y="4799"/>
                  <a:pt x="3268" y="4799"/>
                </a:cubicBezTo>
                <a:cubicBezTo>
                  <a:pt x="3254" y="4799"/>
                  <a:pt x="3240" y="4794"/>
                  <a:pt x="3228" y="4785"/>
                </a:cubicBezTo>
                <a:cubicBezTo>
                  <a:pt x="3028" y="4630"/>
                  <a:pt x="2727" y="4541"/>
                  <a:pt x="2403" y="4541"/>
                </a:cubicBezTo>
                <a:cubicBezTo>
                  <a:pt x="2079" y="4541"/>
                  <a:pt x="1779" y="4629"/>
                  <a:pt x="1579" y="4783"/>
                </a:cubicBezTo>
                <a:cubicBezTo>
                  <a:pt x="1551" y="4805"/>
                  <a:pt x="1510" y="4800"/>
                  <a:pt x="1488" y="4771"/>
                </a:cubicBezTo>
                <a:cubicBezTo>
                  <a:pt x="1466" y="4743"/>
                  <a:pt x="1471" y="4702"/>
                  <a:pt x="1500" y="4680"/>
                </a:cubicBezTo>
                <a:cubicBezTo>
                  <a:pt x="1709" y="4519"/>
                  <a:pt x="2012" y="4424"/>
                  <a:pt x="2340" y="4413"/>
                </a:cubicBezTo>
                <a:lnTo>
                  <a:pt x="2340" y="4187"/>
                </a:lnTo>
                <a:cubicBezTo>
                  <a:pt x="1044" y="4152"/>
                  <a:pt x="0" y="3088"/>
                  <a:pt x="0" y="1783"/>
                </a:cubicBezTo>
                <a:cubicBezTo>
                  <a:pt x="0" y="1141"/>
                  <a:pt x="250" y="537"/>
                  <a:pt x="704" y="82"/>
                </a:cubicBezTo>
                <a:cubicBezTo>
                  <a:pt x="730" y="57"/>
                  <a:pt x="771" y="57"/>
                  <a:pt x="796" y="82"/>
                </a:cubicBezTo>
                <a:lnTo>
                  <a:pt x="1029" y="315"/>
                </a:lnTo>
                <a:cubicBezTo>
                  <a:pt x="1055" y="341"/>
                  <a:pt x="1055" y="382"/>
                  <a:pt x="1029" y="407"/>
                </a:cubicBezTo>
                <a:cubicBezTo>
                  <a:pt x="1004" y="433"/>
                  <a:pt x="963" y="433"/>
                  <a:pt x="937" y="407"/>
                </a:cubicBezTo>
                <a:lnTo>
                  <a:pt x="751" y="221"/>
                </a:lnTo>
                <a:cubicBezTo>
                  <a:pt x="350" y="645"/>
                  <a:pt x="130" y="1197"/>
                  <a:pt x="130" y="1783"/>
                </a:cubicBezTo>
                <a:cubicBezTo>
                  <a:pt x="130" y="3038"/>
                  <a:pt x="1150" y="4058"/>
                  <a:pt x="2405" y="4058"/>
                </a:cubicBezTo>
                <a:cubicBezTo>
                  <a:pt x="2992" y="4058"/>
                  <a:pt x="3544" y="3838"/>
                  <a:pt x="3968" y="3436"/>
                </a:cubicBezTo>
                <a:lnTo>
                  <a:pt x="3767" y="3234"/>
                </a:lnTo>
                <a:cubicBezTo>
                  <a:pt x="3741" y="3209"/>
                  <a:pt x="3741" y="3168"/>
                  <a:pt x="3767" y="3142"/>
                </a:cubicBezTo>
                <a:cubicBezTo>
                  <a:pt x="3792" y="3117"/>
                  <a:pt x="3833" y="3117"/>
                  <a:pt x="3859" y="3142"/>
                </a:cubicBezTo>
                <a:lnTo>
                  <a:pt x="4107" y="3391"/>
                </a:lnTo>
                <a:close/>
              </a:path>
            </a:pathLst>
          </a:custGeom>
          <a:solidFill>
            <a:schemeClr val="tx2"/>
          </a:solid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TextBox 31">
            <a:extLst>
              <a:ext uri="{FF2B5EF4-FFF2-40B4-BE49-F238E27FC236}">
                <a16:creationId xmlns:a16="http://schemas.microsoft.com/office/drawing/2014/main" id="{824828B2-5EB3-4608-A992-A36148EAC2B1}"/>
              </a:ext>
            </a:extLst>
          </p:cNvPr>
          <p:cNvSpPr txBox="1"/>
          <p:nvPr/>
        </p:nvSpPr>
        <p:spPr>
          <a:xfrm>
            <a:off x="6340770" y="717451"/>
            <a:ext cx="575568" cy="461665"/>
          </a:xfrm>
          <a:prstGeom prst="rect">
            <a:avLst/>
          </a:prstGeom>
          <a:noFill/>
        </p:spPr>
        <p:txBody>
          <a:bodyPr wrap="square" rtlCol="0">
            <a:spAutoFit/>
          </a:bodyPr>
          <a:lstStyle/>
          <a:p>
            <a:pPr algn="ctr"/>
            <a:r>
              <a:rPr lang="en-US" sz="2400">
                <a:solidFill>
                  <a:schemeClr val="accent1">
                    <a:lumMod val="75000"/>
                  </a:schemeClr>
                </a:solidFill>
              </a:rPr>
              <a:t>@</a:t>
            </a:r>
          </a:p>
        </p:txBody>
      </p:sp>
      <p:cxnSp>
        <p:nvCxnSpPr>
          <p:cNvPr id="39" name="Connector: Curved 38">
            <a:extLst>
              <a:ext uri="{FF2B5EF4-FFF2-40B4-BE49-F238E27FC236}">
                <a16:creationId xmlns:a16="http://schemas.microsoft.com/office/drawing/2014/main" id="{108C48D9-78D5-48CC-868F-E6C520B5F9E3}"/>
              </a:ext>
            </a:extLst>
          </p:cNvPr>
          <p:cNvCxnSpPr>
            <a:cxnSpLocks/>
            <a:stCxn id="29" idx="10"/>
            <a:endCxn id="23" idx="44"/>
          </p:cNvCxnSpPr>
          <p:nvPr/>
        </p:nvCxnSpPr>
        <p:spPr>
          <a:xfrm>
            <a:off x="6909847" y="960344"/>
            <a:ext cx="997521" cy="250344"/>
          </a:xfrm>
          <a:prstGeom prst="curvedConnector5">
            <a:avLst>
              <a:gd name="adj1" fmla="val 45940"/>
              <a:gd name="adj2" fmla="val 195935"/>
              <a:gd name="adj3" fmla="val 122917"/>
            </a:avLst>
          </a:prstGeom>
          <a:ln w="19050">
            <a:solidFill>
              <a:schemeClr val="tx2"/>
            </a:solidFill>
          </a:ln>
        </p:spPr>
        <p:style>
          <a:lnRef idx="1">
            <a:schemeClr val="dk1"/>
          </a:lnRef>
          <a:fillRef idx="0">
            <a:schemeClr val="dk1"/>
          </a:fillRef>
          <a:effectRef idx="0">
            <a:schemeClr val="dk1"/>
          </a:effectRef>
          <a:fontRef idx="minor">
            <a:schemeClr val="tx1"/>
          </a:fontRef>
        </p:style>
      </p:cxnSp>
      <p:sp>
        <p:nvSpPr>
          <p:cNvPr id="2" name="Rectangle: Rounded Corners 1">
            <a:extLst>
              <a:ext uri="{FF2B5EF4-FFF2-40B4-BE49-F238E27FC236}">
                <a16:creationId xmlns:a16="http://schemas.microsoft.com/office/drawing/2014/main" id="{34B03AD2-FD76-4884-B796-C84141895E77}"/>
              </a:ext>
            </a:extLst>
          </p:cNvPr>
          <p:cNvSpPr/>
          <p:nvPr/>
        </p:nvSpPr>
        <p:spPr>
          <a:xfrm>
            <a:off x="3667125" y="1552574"/>
            <a:ext cx="1819275" cy="352425"/>
          </a:xfrm>
          <a:prstGeom prst="roundRect">
            <a:avLst/>
          </a:prstGeom>
          <a:solidFill>
            <a:srgbClr val="DD5757"/>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Customer Churn</a:t>
            </a:r>
          </a:p>
        </p:txBody>
      </p:sp>
      <p:sp>
        <p:nvSpPr>
          <p:cNvPr id="36" name="Rectangle: Top Corners Rounded 35">
            <a:extLst>
              <a:ext uri="{FF2B5EF4-FFF2-40B4-BE49-F238E27FC236}">
                <a16:creationId xmlns:a16="http://schemas.microsoft.com/office/drawing/2014/main" id="{D6404502-A38E-4332-A521-4D6CB305834C}"/>
              </a:ext>
            </a:extLst>
          </p:cNvPr>
          <p:cNvSpPr/>
          <p:nvPr/>
        </p:nvSpPr>
        <p:spPr>
          <a:xfrm rot="10800000">
            <a:off x="3636336" y="2768606"/>
            <a:ext cx="2514600" cy="1371600"/>
          </a:xfrm>
          <a:prstGeom prst="round2SameRect">
            <a:avLst/>
          </a:prstGeom>
          <a:gradFill flip="none" rotWithShape="1">
            <a:gsLst>
              <a:gs pos="0">
                <a:schemeClr val="accent1">
                  <a:lumMod val="20000"/>
                  <a:lumOff val="80000"/>
                </a:schemeClr>
              </a:gs>
              <a:gs pos="74000">
                <a:schemeClr val="accent1">
                  <a:lumMod val="45000"/>
                  <a:lumOff val="55000"/>
                </a:schemeClr>
              </a:gs>
              <a:gs pos="83000">
                <a:schemeClr val="bg1"/>
              </a:gs>
              <a:gs pos="100000">
                <a:schemeClr val="bg1"/>
              </a:gs>
            </a:gsLst>
            <a:lin ang="5400000" scaled="1"/>
            <a:tileRect/>
          </a:gradFill>
          <a:ln w="381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40" name="Rectangle: Top Corners Rounded 39">
            <a:extLst>
              <a:ext uri="{FF2B5EF4-FFF2-40B4-BE49-F238E27FC236}">
                <a16:creationId xmlns:a16="http://schemas.microsoft.com/office/drawing/2014/main" id="{CA04D53A-24AF-4D5C-8F9C-708FC8569F6F}"/>
              </a:ext>
            </a:extLst>
          </p:cNvPr>
          <p:cNvSpPr/>
          <p:nvPr/>
        </p:nvSpPr>
        <p:spPr>
          <a:xfrm rot="10800000">
            <a:off x="1325015" y="2921248"/>
            <a:ext cx="1701721" cy="1219200"/>
          </a:xfrm>
          <a:prstGeom prst="round2SameRect">
            <a:avLst/>
          </a:prstGeom>
          <a:gradFill flip="none" rotWithShape="1">
            <a:gsLst>
              <a:gs pos="0">
                <a:schemeClr val="accent1">
                  <a:lumMod val="20000"/>
                  <a:lumOff val="80000"/>
                </a:schemeClr>
              </a:gs>
              <a:gs pos="74000">
                <a:schemeClr val="accent1">
                  <a:lumMod val="45000"/>
                  <a:lumOff val="55000"/>
                </a:schemeClr>
              </a:gs>
              <a:gs pos="83000">
                <a:schemeClr val="bg1"/>
              </a:gs>
              <a:gs pos="100000">
                <a:schemeClr val="bg1"/>
              </a:gs>
            </a:gsLst>
            <a:lin ang="5400000" scaled="1"/>
            <a:tileRect/>
          </a:gradFill>
          <a:ln w="381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41" name="Picture 40">
            <a:extLst>
              <a:ext uri="{FF2B5EF4-FFF2-40B4-BE49-F238E27FC236}">
                <a16:creationId xmlns:a16="http://schemas.microsoft.com/office/drawing/2014/main" id="{1CDF6257-170D-44EE-895B-1AFFBAC1D240}"/>
              </a:ext>
            </a:extLst>
          </p:cNvPr>
          <p:cNvPicPr>
            <a:picLocks noChangeAspect="1"/>
          </p:cNvPicPr>
          <p:nvPr/>
        </p:nvPicPr>
        <p:blipFill>
          <a:blip r:embed="rId6"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1383175">
            <a:off x="1654257" y="3238995"/>
            <a:ext cx="430820" cy="430820"/>
          </a:xfrm>
          <a:prstGeom prst="rect">
            <a:avLst/>
          </a:prstGeom>
        </p:spPr>
      </p:pic>
      <p:pic>
        <p:nvPicPr>
          <p:cNvPr id="42" name="Picture 41">
            <a:extLst>
              <a:ext uri="{FF2B5EF4-FFF2-40B4-BE49-F238E27FC236}">
                <a16:creationId xmlns:a16="http://schemas.microsoft.com/office/drawing/2014/main" id="{6483B797-4CFF-410F-852E-8DC80385BD90}"/>
              </a:ext>
            </a:extLst>
          </p:cNvPr>
          <p:cNvPicPr>
            <a:picLocks noChangeAspect="1"/>
          </p:cNvPicPr>
          <p:nvPr/>
        </p:nvPicPr>
        <p:blipFill>
          <a:blip r:embed="rId6"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3616151">
            <a:off x="4163095" y="3121336"/>
            <a:ext cx="430820" cy="430820"/>
          </a:xfrm>
          <a:prstGeom prst="rect">
            <a:avLst/>
          </a:prstGeom>
        </p:spPr>
      </p:pic>
      <p:pic>
        <p:nvPicPr>
          <p:cNvPr id="43" name="Picture 42">
            <a:extLst>
              <a:ext uri="{FF2B5EF4-FFF2-40B4-BE49-F238E27FC236}">
                <a16:creationId xmlns:a16="http://schemas.microsoft.com/office/drawing/2014/main" id="{FE2577DD-2398-4137-8FEB-2CE8C5500657}"/>
              </a:ext>
            </a:extLst>
          </p:cNvPr>
          <p:cNvPicPr>
            <a:picLocks noChangeAspect="1"/>
          </p:cNvPicPr>
          <p:nvPr/>
        </p:nvPicPr>
        <p:blipFill>
          <a:blip r:embed="rId6"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3376088">
            <a:off x="4634089" y="3591001"/>
            <a:ext cx="430820" cy="430820"/>
          </a:xfrm>
          <a:prstGeom prst="rect">
            <a:avLst/>
          </a:prstGeom>
        </p:spPr>
      </p:pic>
      <p:pic>
        <p:nvPicPr>
          <p:cNvPr id="44" name="Picture 43">
            <a:extLst>
              <a:ext uri="{FF2B5EF4-FFF2-40B4-BE49-F238E27FC236}">
                <a16:creationId xmlns:a16="http://schemas.microsoft.com/office/drawing/2014/main" id="{10C4D5DD-A214-423C-A180-7CF31BDB8473}"/>
              </a:ext>
            </a:extLst>
          </p:cNvPr>
          <p:cNvPicPr>
            <a:picLocks noChangeAspect="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rot="3376088">
            <a:off x="5135426" y="3276732"/>
            <a:ext cx="430820" cy="430820"/>
          </a:xfrm>
          <a:prstGeom prst="rect">
            <a:avLst/>
          </a:prstGeom>
        </p:spPr>
      </p:pic>
      <p:sp>
        <p:nvSpPr>
          <p:cNvPr id="52" name="Rectangle 51">
            <a:extLst>
              <a:ext uri="{FF2B5EF4-FFF2-40B4-BE49-F238E27FC236}">
                <a16:creationId xmlns:a16="http://schemas.microsoft.com/office/drawing/2014/main" id="{710143C3-FE59-4256-86C0-878EFEB44083}"/>
              </a:ext>
            </a:extLst>
          </p:cNvPr>
          <p:cNvSpPr/>
          <p:nvPr/>
        </p:nvSpPr>
        <p:spPr>
          <a:xfrm>
            <a:off x="0" y="4170872"/>
            <a:ext cx="9144000" cy="216816"/>
          </a:xfrm>
          <a:prstGeom prst="rect">
            <a:avLst/>
          </a:prstGeom>
          <a:solidFill>
            <a:schemeClr val="bg1">
              <a:lumMod val="5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pic>
        <p:nvPicPr>
          <p:cNvPr id="53" name="!!Picture 52">
            <a:extLst>
              <a:ext uri="{FF2B5EF4-FFF2-40B4-BE49-F238E27FC236}">
                <a16:creationId xmlns:a16="http://schemas.microsoft.com/office/drawing/2014/main" id="{5C880877-5107-4CB1-9D71-E35F4C72A98F}"/>
              </a:ext>
            </a:extLst>
          </p:cNvPr>
          <p:cNvPicPr>
            <a:picLocks noChangeAspect="1"/>
          </p:cNvPicPr>
          <p:nvPr/>
        </p:nvPicPr>
        <p:blipFill>
          <a:blip r:embed="rId6"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rot="12290605">
            <a:off x="2641552" y="2196987"/>
            <a:ext cx="430820" cy="430820"/>
          </a:xfrm>
          <a:prstGeom prst="rect">
            <a:avLst/>
          </a:prstGeom>
        </p:spPr>
      </p:pic>
      <p:sp>
        <p:nvSpPr>
          <p:cNvPr id="54" name="Freeform: Shape 53">
            <a:extLst>
              <a:ext uri="{FF2B5EF4-FFF2-40B4-BE49-F238E27FC236}">
                <a16:creationId xmlns:a16="http://schemas.microsoft.com/office/drawing/2014/main" id="{20696D16-8F58-4C1D-AFBD-B2011758F5A3}"/>
              </a:ext>
            </a:extLst>
          </p:cNvPr>
          <p:cNvSpPr/>
          <p:nvPr/>
        </p:nvSpPr>
        <p:spPr>
          <a:xfrm>
            <a:off x="3076355" y="2313839"/>
            <a:ext cx="1304281" cy="815438"/>
          </a:xfrm>
          <a:custGeom>
            <a:avLst/>
            <a:gdLst>
              <a:gd name="connsiteX0" fmla="*/ 0 w 1304281"/>
              <a:gd name="connsiteY0" fmla="*/ 7363 h 815438"/>
              <a:gd name="connsiteX1" fmla="*/ 113414 w 1304281"/>
              <a:gd name="connsiteY1" fmla="*/ 275 h 815438"/>
              <a:gd name="connsiteX2" fmla="*/ 418214 w 1304281"/>
              <a:gd name="connsiteY2" fmla="*/ 14451 h 815438"/>
              <a:gd name="connsiteX3" fmla="*/ 482009 w 1304281"/>
              <a:gd name="connsiteY3" fmla="*/ 28628 h 815438"/>
              <a:gd name="connsiteX4" fmla="*/ 503274 w 1304281"/>
              <a:gd name="connsiteY4" fmla="*/ 35717 h 815438"/>
              <a:gd name="connsiteX5" fmla="*/ 538716 w 1304281"/>
              <a:gd name="connsiteY5" fmla="*/ 42805 h 815438"/>
              <a:gd name="connsiteX6" fmla="*/ 567069 w 1304281"/>
              <a:gd name="connsiteY6" fmla="*/ 56982 h 815438"/>
              <a:gd name="connsiteX7" fmla="*/ 595423 w 1304281"/>
              <a:gd name="connsiteY7" fmla="*/ 64070 h 815438"/>
              <a:gd name="connsiteX8" fmla="*/ 616688 w 1304281"/>
              <a:gd name="connsiteY8" fmla="*/ 78247 h 815438"/>
              <a:gd name="connsiteX9" fmla="*/ 637953 w 1304281"/>
              <a:gd name="connsiteY9" fmla="*/ 85335 h 815438"/>
              <a:gd name="connsiteX10" fmla="*/ 687572 w 1304281"/>
              <a:gd name="connsiteY10" fmla="*/ 106600 h 815438"/>
              <a:gd name="connsiteX11" fmla="*/ 730102 w 1304281"/>
              <a:gd name="connsiteY11" fmla="*/ 127865 h 815438"/>
              <a:gd name="connsiteX12" fmla="*/ 751367 w 1304281"/>
              <a:gd name="connsiteY12" fmla="*/ 142042 h 815438"/>
              <a:gd name="connsiteX13" fmla="*/ 772632 w 1304281"/>
              <a:gd name="connsiteY13" fmla="*/ 149131 h 815438"/>
              <a:gd name="connsiteX14" fmla="*/ 815162 w 1304281"/>
              <a:gd name="connsiteY14" fmla="*/ 177484 h 815438"/>
              <a:gd name="connsiteX15" fmla="*/ 864781 w 1304281"/>
              <a:gd name="connsiteY15" fmla="*/ 198749 h 815438"/>
              <a:gd name="connsiteX16" fmla="*/ 886046 w 1304281"/>
              <a:gd name="connsiteY16" fmla="*/ 220014 h 815438"/>
              <a:gd name="connsiteX17" fmla="*/ 928576 w 1304281"/>
              <a:gd name="connsiteY17" fmla="*/ 248368 h 815438"/>
              <a:gd name="connsiteX18" fmla="*/ 978195 w 1304281"/>
              <a:gd name="connsiteY18" fmla="*/ 276721 h 815438"/>
              <a:gd name="connsiteX19" fmla="*/ 992372 w 1304281"/>
              <a:gd name="connsiteY19" fmla="*/ 297986 h 815438"/>
              <a:gd name="connsiteX20" fmla="*/ 1041990 w 1304281"/>
              <a:gd name="connsiteY20" fmla="*/ 326340 h 815438"/>
              <a:gd name="connsiteX21" fmla="*/ 1056167 w 1304281"/>
              <a:gd name="connsiteY21" fmla="*/ 347605 h 815438"/>
              <a:gd name="connsiteX22" fmla="*/ 1077432 w 1304281"/>
              <a:gd name="connsiteY22" fmla="*/ 361782 h 815438"/>
              <a:gd name="connsiteX23" fmla="*/ 1127051 w 1304281"/>
              <a:gd name="connsiteY23" fmla="*/ 418489 h 815438"/>
              <a:gd name="connsiteX24" fmla="*/ 1155404 w 1304281"/>
              <a:gd name="connsiteY24" fmla="*/ 461019 h 815438"/>
              <a:gd name="connsiteX25" fmla="*/ 1197934 w 1304281"/>
              <a:gd name="connsiteY25" fmla="*/ 517726 h 815438"/>
              <a:gd name="connsiteX26" fmla="*/ 1205023 w 1304281"/>
              <a:gd name="connsiteY26" fmla="*/ 538991 h 815438"/>
              <a:gd name="connsiteX27" fmla="*/ 1233376 w 1304281"/>
              <a:gd name="connsiteY27" fmla="*/ 581521 h 815438"/>
              <a:gd name="connsiteX28" fmla="*/ 1261730 w 1304281"/>
              <a:gd name="connsiteY28" fmla="*/ 645317 h 815438"/>
              <a:gd name="connsiteX29" fmla="*/ 1268818 w 1304281"/>
              <a:gd name="connsiteY29" fmla="*/ 666582 h 815438"/>
              <a:gd name="connsiteX30" fmla="*/ 1282995 w 1304281"/>
              <a:gd name="connsiteY30" fmla="*/ 687847 h 815438"/>
              <a:gd name="connsiteX31" fmla="*/ 1290083 w 1304281"/>
              <a:gd name="connsiteY31" fmla="*/ 737465 h 815438"/>
              <a:gd name="connsiteX32" fmla="*/ 1297172 w 1304281"/>
              <a:gd name="connsiteY32" fmla="*/ 758731 h 815438"/>
              <a:gd name="connsiteX33" fmla="*/ 1304260 w 1304281"/>
              <a:gd name="connsiteY33" fmla="*/ 815438 h 8154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304281" h="815438">
                <a:moveTo>
                  <a:pt x="0" y="7363"/>
                </a:moveTo>
                <a:cubicBezTo>
                  <a:pt x="37805" y="5000"/>
                  <a:pt x="75536" y="275"/>
                  <a:pt x="113414" y="275"/>
                </a:cubicBezTo>
                <a:cubicBezTo>
                  <a:pt x="332430" y="275"/>
                  <a:pt x="294737" y="-3188"/>
                  <a:pt x="418214" y="14451"/>
                </a:cubicBezTo>
                <a:cubicBezTo>
                  <a:pt x="466085" y="30409"/>
                  <a:pt x="407159" y="11994"/>
                  <a:pt x="482009" y="28628"/>
                </a:cubicBezTo>
                <a:cubicBezTo>
                  <a:pt x="489303" y="30249"/>
                  <a:pt x="496025" y="33905"/>
                  <a:pt x="503274" y="35717"/>
                </a:cubicBezTo>
                <a:cubicBezTo>
                  <a:pt x="514962" y="38639"/>
                  <a:pt x="526902" y="40442"/>
                  <a:pt x="538716" y="42805"/>
                </a:cubicBezTo>
                <a:cubicBezTo>
                  <a:pt x="548167" y="47531"/>
                  <a:pt x="557175" y="53272"/>
                  <a:pt x="567069" y="56982"/>
                </a:cubicBezTo>
                <a:cubicBezTo>
                  <a:pt x="576191" y="60403"/>
                  <a:pt x="586469" y="60232"/>
                  <a:pt x="595423" y="64070"/>
                </a:cubicBezTo>
                <a:cubicBezTo>
                  <a:pt x="603253" y="67426"/>
                  <a:pt x="609068" y="74437"/>
                  <a:pt x="616688" y="78247"/>
                </a:cubicBezTo>
                <a:cubicBezTo>
                  <a:pt x="623371" y="81588"/>
                  <a:pt x="631085" y="82392"/>
                  <a:pt x="637953" y="85335"/>
                </a:cubicBezTo>
                <a:cubicBezTo>
                  <a:pt x="699267" y="111612"/>
                  <a:pt x="637702" y="89977"/>
                  <a:pt x="687572" y="106600"/>
                </a:cubicBezTo>
                <a:cubicBezTo>
                  <a:pt x="748515" y="147230"/>
                  <a:pt x="671408" y="98518"/>
                  <a:pt x="730102" y="127865"/>
                </a:cubicBezTo>
                <a:cubicBezTo>
                  <a:pt x="737722" y="131675"/>
                  <a:pt x="743747" y="138232"/>
                  <a:pt x="751367" y="142042"/>
                </a:cubicBezTo>
                <a:cubicBezTo>
                  <a:pt x="758050" y="145384"/>
                  <a:pt x="766100" y="145502"/>
                  <a:pt x="772632" y="149131"/>
                </a:cubicBezTo>
                <a:cubicBezTo>
                  <a:pt x="787526" y="157406"/>
                  <a:pt x="799923" y="169864"/>
                  <a:pt x="815162" y="177484"/>
                </a:cubicBezTo>
                <a:cubicBezTo>
                  <a:pt x="850199" y="195002"/>
                  <a:pt x="833491" y="188320"/>
                  <a:pt x="864781" y="198749"/>
                </a:cubicBezTo>
                <a:cubicBezTo>
                  <a:pt x="871869" y="205837"/>
                  <a:pt x="878133" y="213860"/>
                  <a:pt x="886046" y="220014"/>
                </a:cubicBezTo>
                <a:cubicBezTo>
                  <a:pt x="899495" y="230475"/>
                  <a:pt x="914399" y="238917"/>
                  <a:pt x="928576" y="248368"/>
                </a:cubicBezTo>
                <a:cubicBezTo>
                  <a:pt x="958628" y="268402"/>
                  <a:pt x="942228" y="258738"/>
                  <a:pt x="978195" y="276721"/>
                </a:cubicBezTo>
                <a:cubicBezTo>
                  <a:pt x="982921" y="283809"/>
                  <a:pt x="986348" y="291962"/>
                  <a:pt x="992372" y="297986"/>
                </a:cubicBezTo>
                <a:cubicBezTo>
                  <a:pt x="1002391" y="308005"/>
                  <a:pt x="1030871" y="320780"/>
                  <a:pt x="1041990" y="326340"/>
                </a:cubicBezTo>
                <a:cubicBezTo>
                  <a:pt x="1046716" y="333428"/>
                  <a:pt x="1050143" y="341581"/>
                  <a:pt x="1056167" y="347605"/>
                </a:cubicBezTo>
                <a:cubicBezTo>
                  <a:pt x="1062191" y="353629"/>
                  <a:pt x="1071822" y="355371"/>
                  <a:pt x="1077432" y="361782"/>
                </a:cubicBezTo>
                <a:cubicBezTo>
                  <a:pt x="1135321" y="427940"/>
                  <a:pt x="1079205" y="386591"/>
                  <a:pt x="1127051" y="418489"/>
                </a:cubicBezTo>
                <a:cubicBezTo>
                  <a:pt x="1136502" y="432666"/>
                  <a:pt x="1143356" y="448971"/>
                  <a:pt x="1155404" y="461019"/>
                </a:cubicBezTo>
                <a:cubicBezTo>
                  <a:pt x="1180003" y="485618"/>
                  <a:pt x="1180318" y="482495"/>
                  <a:pt x="1197934" y="517726"/>
                </a:cubicBezTo>
                <a:cubicBezTo>
                  <a:pt x="1201276" y="524409"/>
                  <a:pt x="1201394" y="532459"/>
                  <a:pt x="1205023" y="538991"/>
                </a:cubicBezTo>
                <a:cubicBezTo>
                  <a:pt x="1213298" y="553885"/>
                  <a:pt x="1227988" y="565357"/>
                  <a:pt x="1233376" y="581521"/>
                </a:cubicBezTo>
                <a:cubicBezTo>
                  <a:pt x="1250247" y="632133"/>
                  <a:pt x="1239264" y="611617"/>
                  <a:pt x="1261730" y="645317"/>
                </a:cubicBezTo>
                <a:cubicBezTo>
                  <a:pt x="1264093" y="652405"/>
                  <a:pt x="1265477" y="659899"/>
                  <a:pt x="1268818" y="666582"/>
                </a:cubicBezTo>
                <a:cubicBezTo>
                  <a:pt x="1272628" y="674202"/>
                  <a:pt x="1280547" y="679687"/>
                  <a:pt x="1282995" y="687847"/>
                </a:cubicBezTo>
                <a:cubicBezTo>
                  <a:pt x="1287796" y="703850"/>
                  <a:pt x="1286806" y="721082"/>
                  <a:pt x="1290083" y="737465"/>
                </a:cubicBezTo>
                <a:cubicBezTo>
                  <a:pt x="1291548" y="744792"/>
                  <a:pt x="1294809" y="751642"/>
                  <a:pt x="1297172" y="758731"/>
                </a:cubicBezTo>
                <a:cubicBezTo>
                  <a:pt x="1305037" y="805922"/>
                  <a:pt x="1304260" y="786889"/>
                  <a:pt x="1304260" y="815438"/>
                </a:cubicBezTo>
              </a:path>
            </a:pathLst>
          </a:custGeom>
          <a:noFill/>
          <a:ln w="38100" cap="flat" cmpd="sng" algn="ctr">
            <a:solidFill>
              <a:schemeClr val="tx1">
                <a:lumMod val="50000"/>
                <a:lumOff val="50000"/>
              </a:schemeClr>
            </a:solidFill>
            <a:prstDash val="sysDash"/>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6" name="!!Picture 55">
            <a:extLst>
              <a:ext uri="{FF2B5EF4-FFF2-40B4-BE49-F238E27FC236}">
                <a16:creationId xmlns:a16="http://schemas.microsoft.com/office/drawing/2014/main" id="{892BE901-A237-4248-B899-BD8C73F48E1B}"/>
              </a:ext>
            </a:extLst>
          </p:cNvPr>
          <p:cNvPicPr>
            <a:picLocks noChangeAspect="1"/>
          </p:cNvPicPr>
          <p:nvPr/>
        </p:nvPicPr>
        <p:blipFill>
          <a:blip r:embed="rId6" cstate="print">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rot="4940000">
            <a:off x="7488314" y="3718890"/>
            <a:ext cx="430820" cy="430820"/>
          </a:xfrm>
          <a:prstGeom prst="rect">
            <a:avLst/>
          </a:prstGeom>
        </p:spPr>
      </p:pic>
      <p:sp>
        <p:nvSpPr>
          <p:cNvPr id="59" name="Freeform: Shape 58">
            <a:extLst>
              <a:ext uri="{FF2B5EF4-FFF2-40B4-BE49-F238E27FC236}">
                <a16:creationId xmlns:a16="http://schemas.microsoft.com/office/drawing/2014/main" id="{91B5B26F-742D-48BB-BAC0-2905371FC2A5}"/>
              </a:ext>
            </a:extLst>
          </p:cNvPr>
          <p:cNvSpPr/>
          <p:nvPr/>
        </p:nvSpPr>
        <p:spPr>
          <a:xfrm>
            <a:off x="4798730" y="2516162"/>
            <a:ext cx="2729122" cy="1254642"/>
          </a:xfrm>
          <a:custGeom>
            <a:avLst/>
            <a:gdLst>
              <a:gd name="connsiteX0" fmla="*/ 2729122 w 2729122"/>
              <a:gd name="connsiteY0" fmla="*/ 1254642 h 1254642"/>
              <a:gd name="connsiteX1" fmla="*/ 2700769 w 2729122"/>
              <a:gd name="connsiteY1" fmla="*/ 1219200 h 1254642"/>
              <a:gd name="connsiteX2" fmla="*/ 2679504 w 2729122"/>
              <a:gd name="connsiteY2" fmla="*/ 1212112 h 1254642"/>
              <a:gd name="connsiteX3" fmla="*/ 2672415 w 2729122"/>
              <a:gd name="connsiteY3" fmla="*/ 1190846 h 1254642"/>
              <a:gd name="connsiteX4" fmla="*/ 2636973 w 2729122"/>
              <a:gd name="connsiteY4" fmla="*/ 1141228 h 1254642"/>
              <a:gd name="connsiteX5" fmla="*/ 2587355 w 2729122"/>
              <a:gd name="connsiteY5" fmla="*/ 1084521 h 1254642"/>
              <a:gd name="connsiteX6" fmla="*/ 2537736 w 2729122"/>
              <a:gd name="connsiteY6" fmla="*/ 1020725 h 1254642"/>
              <a:gd name="connsiteX7" fmla="*/ 2523559 w 2729122"/>
              <a:gd name="connsiteY7" fmla="*/ 999460 h 1254642"/>
              <a:gd name="connsiteX8" fmla="*/ 2502294 w 2729122"/>
              <a:gd name="connsiteY8" fmla="*/ 992372 h 1254642"/>
              <a:gd name="connsiteX9" fmla="*/ 2488118 w 2729122"/>
              <a:gd name="connsiteY9" fmla="*/ 971107 h 1254642"/>
              <a:gd name="connsiteX10" fmla="*/ 2445587 w 2729122"/>
              <a:gd name="connsiteY10" fmla="*/ 935665 h 1254642"/>
              <a:gd name="connsiteX11" fmla="*/ 2431411 w 2729122"/>
              <a:gd name="connsiteY11" fmla="*/ 914400 h 1254642"/>
              <a:gd name="connsiteX12" fmla="*/ 2410146 w 2729122"/>
              <a:gd name="connsiteY12" fmla="*/ 900223 h 1254642"/>
              <a:gd name="connsiteX13" fmla="*/ 2367615 w 2729122"/>
              <a:gd name="connsiteY13" fmla="*/ 864781 h 1254642"/>
              <a:gd name="connsiteX14" fmla="*/ 2339262 w 2729122"/>
              <a:gd name="connsiteY14" fmla="*/ 822251 h 1254642"/>
              <a:gd name="connsiteX15" fmla="*/ 2317997 w 2729122"/>
              <a:gd name="connsiteY15" fmla="*/ 815163 h 1254642"/>
              <a:gd name="connsiteX16" fmla="*/ 2268378 w 2729122"/>
              <a:gd name="connsiteY16" fmla="*/ 758456 h 1254642"/>
              <a:gd name="connsiteX17" fmla="*/ 2254201 w 2729122"/>
              <a:gd name="connsiteY17" fmla="*/ 737191 h 1254642"/>
              <a:gd name="connsiteX18" fmla="*/ 2232936 w 2729122"/>
              <a:gd name="connsiteY18" fmla="*/ 730102 h 1254642"/>
              <a:gd name="connsiteX19" fmla="*/ 2225848 w 2729122"/>
              <a:gd name="connsiteY19" fmla="*/ 708837 h 1254642"/>
              <a:gd name="connsiteX20" fmla="*/ 2183318 w 2729122"/>
              <a:gd name="connsiteY20" fmla="*/ 680484 h 1254642"/>
              <a:gd name="connsiteX21" fmla="*/ 2176229 w 2729122"/>
              <a:gd name="connsiteY21" fmla="*/ 659219 h 1254642"/>
              <a:gd name="connsiteX22" fmla="*/ 2133699 w 2729122"/>
              <a:gd name="connsiteY22" fmla="*/ 630865 h 1254642"/>
              <a:gd name="connsiteX23" fmla="*/ 2091169 w 2729122"/>
              <a:gd name="connsiteY23" fmla="*/ 581246 h 1254642"/>
              <a:gd name="connsiteX24" fmla="*/ 2062815 w 2729122"/>
              <a:gd name="connsiteY24" fmla="*/ 538716 h 1254642"/>
              <a:gd name="connsiteX25" fmla="*/ 2020285 w 2729122"/>
              <a:gd name="connsiteY25" fmla="*/ 503274 h 1254642"/>
              <a:gd name="connsiteX26" fmla="*/ 2006108 w 2729122"/>
              <a:gd name="connsiteY26" fmla="*/ 482009 h 1254642"/>
              <a:gd name="connsiteX27" fmla="*/ 1991932 w 2729122"/>
              <a:gd name="connsiteY27" fmla="*/ 453656 h 1254642"/>
              <a:gd name="connsiteX28" fmla="*/ 1963578 w 2729122"/>
              <a:gd name="connsiteY28" fmla="*/ 446567 h 1254642"/>
              <a:gd name="connsiteX29" fmla="*/ 1949401 w 2729122"/>
              <a:gd name="connsiteY29" fmla="*/ 425302 h 1254642"/>
              <a:gd name="connsiteX30" fmla="*/ 1942313 w 2729122"/>
              <a:gd name="connsiteY30" fmla="*/ 404037 h 1254642"/>
              <a:gd name="connsiteX31" fmla="*/ 1921048 w 2729122"/>
              <a:gd name="connsiteY31" fmla="*/ 389860 h 1254642"/>
              <a:gd name="connsiteX32" fmla="*/ 1899783 w 2729122"/>
              <a:gd name="connsiteY32" fmla="*/ 368595 h 1254642"/>
              <a:gd name="connsiteX33" fmla="*/ 1857253 w 2729122"/>
              <a:gd name="connsiteY33" fmla="*/ 340242 h 1254642"/>
              <a:gd name="connsiteX34" fmla="*/ 1814722 w 2729122"/>
              <a:gd name="connsiteY34" fmla="*/ 304800 h 1254642"/>
              <a:gd name="connsiteX35" fmla="*/ 1793457 w 2729122"/>
              <a:gd name="connsiteY35" fmla="*/ 283535 h 1254642"/>
              <a:gd name="connsiteX36" fmla="*/ 1729662 w 2729122"/>
              <a:gd name="connsiteY36" fmla="*/ 241005 h 1254642"/>
              <a:gd name="connsiteX37" fmla="*/ 1708397 w 2729122"/>
              <a:gd name="connsiteY37" fmla="*/ 226828 h 1254642"/>
              <a:gd name="connsiteX38" fmla="*/ 1694220 w 2729122"/>
              <a:gd name="connsiteY38" fmla="*/ 205563 h 1254642"/>
              <a:gd name="connsiteX39" fmla="*/ 1651690 w 2729122"/>
              <a:gd name="connsiteY39" fmla="*/ 184298 h 1254642"/>
              <a:gd name="connsiteX40" fmla="*/ 1609159 w 2729122"/>
              <a:gd name="connsiteY40" fmla="*/ 155944 h 1254642"/>
              <a:gd name="connsiteX41" fmla="*/ 1587894 w 2729122"/>
              <a:gd name="connsiteY41" fmla="*/ 141767 h 1254642"/>
              <a:gd name="connsiteX42" fmla="*/ 1538276 w 2729122"/>
              <a:gd name="connsiteY42" fmla="*/ 120502 h 1254642"/>
              <a:gd name="connsiteX43" fmla="*/ 1517011 w 2729122"/>
              <a:gd name="connsiteY43" fmla="*/ 113414 h 1254642"/>
              <a:gd name="connsiteX44" fmla="*/ 1495746 w 2729122"/>
              <a:gd name="connsiteY44" fmla="*/ 99237 h 1254642"/>
              <a:gd name="connsiteX45" fmla="*/ 1431950 w 2729122"/>
              <a:gd name="connsiteY45" fmla="*/ 77972 h 1254642"/>
              <a:gd name="connsiteX46" fmla="*/ 1410685 w 2729122"/>
              <a:gd name="connsiteY46" fmla="*/ 70884 h 1254642"/>
              <a:gd name="connsiteX47" fmla="*/ 1389420 w 2729122"/>
              <a:gd name="connsiteY47" fmla="*/ 63795 h 1254642"/>
              <a:gd name="connsiteX48" fmla="*/ 1361066 w 2729122"/>
              <a:gd name="connsiteY48" fmla="*/ 56707 h 1254642"/>
              <a:gd name="connsiteX49" fmla="*/ 1339801 w 2729122"/>
              <a:gd name="connsiteY49" fmla="*/ 49619 h 1254642"/>
              <a:gd name="connsiteX50" fmla="*/ 1268918 w 2729122"/>
              <a:gd name="connsiteY50" fmla="*/ 42530 h 1254642"/>
              <a:gd name="connsiteX51" fmla="*/ 1240564 w 2729122"/>
              <a:gd name="connsiteY51" fmla="*/ 35442 h 1254642"/>
              <a:gd name="connsiteX52" fmla="*/ 1219299 w 2729122"/>
              <a:gd name="connsiteY52" fmla="*/ 28353 h 1254642"/>
              <a:gd name="connsiteX53" fmla="*/ 1120062 w 2729122"/>
              <a:gd name="connsiteY53" fmla="*/ 14177 h 1254642"/>
              <a:gd name="connsiteX54" fmla="*/ 985383 w 2729122"/>
              <a:gd name="connsiteY54" fmla="*/ 0 h 1254642"/>
              <a:gd name="connsiteX55" fmla="*/ 751466 w 2729122"/>
              <a:gd name="connsiteY55" fmla="*/ 7088 h 1254642"/>
              <a:gd name="connsiteX56" fmla="*/ 730201 w 2729122"/>
              <a:gd name="connsiteY56" fmla="*/ 14177 h 1254642"/>
              <a:gd name="connsiteX57" fmla="*/ 673494 w 2729122"/>
              <a:gd name="connsiteY57" fmla="*/ 28353 h 1254642"/>
              <a:gd name="connsiteX58" fmla="*/ 652229 w 2729122"/>
              <a:gd name="connsiteY58" fmla="*/ 42530 h 1254642"/>
              <a:gd name="connsiteX59" fmla="*/ 630964 w 2729122"/>
              <a:gd name="connsiteY59" fmla="*/ 49619 h 1254642"/>
              <a:gd name="connsiteX60" fmla="*/ 602611 w 2729122"/>
              <a:gd name="connsiteY60" fmla="*/ 63795 h 1254642"/>
              <a:gd name="connsiteX61" fmla="*/ 567169 w 2729122"/>
              <a:gd name="connsiteY61" fmla="*/ 77972 h 1254642"/>
              <a:gd name="connsiteX62" fmla="*/ 545904 w 2729122"/>
              <a:gd name="connsiteY62" fmla="*/ 92149 h 1254642"/>
              <a:gd name="connsiteX63" fmla="*/ 517550 w 2729122"/>
              <a:gd name="connsiteY63" fmla="*/ 106325 h 1254642"/>
              <a:gd name="connsiteX64" fmla="*/ 496285 w 2729122"/>
              <a:gd name="connsiteY64" fmla="*/ 120502 h 1254642"/>
              <a:gd name="connsiteX65" fmla="*/ 467932 w 2729122"/>
              <a:gd name="connsiteY65" fmla="*/ 127591 h 1254642"/>
              <a:gd name="connsiteX66" fmla="*/ 446666 w 2729122"/>
              <a:gd name="connsiteY66" fmla="*/ 134679 h 1254642"/>
              <a:gd name="connsiteX67" fmla="*/ 375783 w 2729122"/>
              <a:gd name="connsiteY67" fmla="*/ 170121 h 1254642"/>
              <a:gd name="connsiteX68" fmla="*/ 333253 w 2729122"/>
              <a:gd name="connsiteY68" fmla="*/ 205563 h 1254642"/>
              <a:gd name="connsiteX69" fmla="*/ 311987 w 2729122"/>
              <a:gd name="connsiteY69" fmla="*/ 212651 h 1254642"/>
              <a:gd name="connsiteX70" fmla="*/ 269457 w 2729122"/>
              <a:gd name="connsiteY70" fmla="*/ 233916 h 1254642"/>
              <a:gd name="connsiteX71" fmla="*/ 219839 w 2729122"/>
              <a:gd name="connsiteY71" fmla="*/ 255181 h 1254642"/>
              <a:gd name="connsiteX72" fmla="*/ 198573 w 2729122"/>
              <a:gd name="connsiteY72" fmla="*/ 269358 h 1254642"/>
              <a:gd name="connsiteX73" fmla="*/ 177308 w 2729122"/>
              <a:gd name="connsiteY73" fmla="*/ 290623 h 1254642"/>
              <a:gd name="connsiteX74" fmla="*/ 156043 w 2729122"/>
              <a:gd name="connsiteY74" fmla="*/ 297712 h 1254642"/>
              <a:gd name="connsiteX75" fmla="*/ 134778 w 2729122"/>
              <a:gd name="connsiteY75" fmla="*/ 311888 h 1254642"/>
              <a:gd name="connsiteX76" fmla="*/ 99336 w 2729122"/>
              <a:gd name="connsiteY76" fmla="*/ 354419 h 1254642"/>
              <a:gd name="connsiteX77" fmla="*/ 78071 w 2729122"/>
              <a:gd name="connsiteY77" fmla="*/ 368595 h 1254642"/>
              <a:gd name="connsiteX78" fmla="*/ 63894 w 2729122"/>
              <a:gd name="connsiteY78" fmla="*/ 396949 h 1254642"/>
              <a:gd name="connsiteX79" fmla="*/ 42629 w 2729122"/>
              <a:gd name="connsiteY79" fmla="*/ 411125 h 1254642"/>
              <a:gd name="connsiteX80" fmla="*/ 7187 w 2729122"/>
              <a:gd name="connsiteY80" fmla="*/ 474921 h 1254642"/>
              <a:gd name="connsiteX81" fmla="*/ 99 w 2729122"/>
              <a:gd name="connsiteY81" fmla="*/ 510363 h 1254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2729122" h="1254642">
                <a:moveTo>
                  <a:pt x="2729122" y="1254642"/>
                </a:moveTo>
                <a:cubicBezTo>
                  <a:pt x="2719671" y="1242828"/>
                  <a:pt x="2712256" y="1229046"/>
                  <a:pt x="2700769" y="1219200"/>
                </a:cubicBezTo>
                <a:cubicBezTo>
                  <a:pt x="2695096" y="1214337"/>
                  <a:pt x="2684787" y="1217395"/>
                  <a:pt x="2679504" y="1212112"/>
                </a:cubicBezTo>
                <a:cubicBezTo>
                  <a:pt x="2674220" y="1206828"/>
                  <a:pt x="2675757" y="1197529"/>
                  <a:pt x="2672415" y="1190846"/>
                </a:cubicBezTo>
                <a:cubicBezTo>
                  <a:pt x="2666649" y="1179314"/>
                  <a:pt x="2642600" y="1149266"/>
                  <a:pt x="2636973" y="1141228"/>
                </a:cubicBezTo>
                <a:cubicBezTo>
                  <a:pt x="2600791" y="1089541"/>
                  <a:pt x="2624348" y="1109184"/>
                  <a:pt x="2587355" y="1084521"/>
                </a:cubicBezTo>
                <a:cubicBezTo>
                  <a:pt x="2567985" y="1026418"/>
                  <a:pt x="2601488" y="1116351"/>
                  <a:pt x="2537736" y="1020725"/>
                </a:cubicBezTo>
                <a:cubicBezTo>
                  <a:pt x="2533010" y="1013637"/>
                  <a:pt x="2530211" y="1004782"/>
                  <a:pt x="2523559" y="999460"/>
                </a:cubicBezTo>
                <a:cubicBezTo>
                  <a:pt x="2517725" y="994793"/>
                  <a:pt x="2509382" y="994735"/>
                  <a:pt x="2502294" y="992372"/>
                </a:cubicBezTo>
                <a:cubicBezTo>
                  <a:pt x="2497569" y="985284"/>
                  <a:pt x="2494142" y="977131"/>
                  <a:pt x="2488118" y="971107"/>
                </a:cubicBezTo>
                <a:cubicBezTo>
                  <a:pt x="2432358" y="915345"/>
                  <a:pt x="2503653" y="1005344"/>
                  <a:pt x="2445587" y="935665"/>
                </a:cubicBezTo>
                <a:cubicBezTo>
                  <a:pt x="2440133" y="929121"/>
                  <a:pt x="2437435" y="920424"/>
                  <a:pt x="2431411" y="914400"/>
                </a:cubicBezTo>
                <a:cubicBezTo>
                  <a:pt x="2425387" y="908376"/>
                  <a:pt x="2416691" y="905677"/>
                  <a:pt x="2410146" y="900223"/>
                </a:cubicBezTo>
                <a:cubicBezTo>
                  <a:pt x="2355567" y="854741"/>
                  <a:pt x="2420412" y="899980"/>
                  <a:pt x="2367615" y="864781"/>
                </a:cubicBezTo>
                <a:cubicBezTo>
                  <a:pt x="2360184" y="842487"/>
                  <a:pt x="2362018" y="837421"/>
                  <a:pt x="2339262" y="822251"/>
                </a:cubicBezTo>
                <a:cubicBezTo>
                  <a:pt x="2333045" y="818106"/>
                  <a:pt x="2325085" y="817526"/>
                  <a:pt x="2317997" y="815163"/>
                </a:cubicBezTo>
                <a:cubicBezTo>
                  <a:pt x="2284918" y="765544"/>
                  <a:pt x="2303820" y="782083"/>
                  <a:pt x="2268378" y="758456"/>
                </a:cubicBezTo>
                <a:cubicBezTo>
                  <a:pt x="2263652" y="751368"/>
                  <a:pt x="2260853" y="742513"/>
                  <a:pt x="2254201" y="737191"/>
                </a:cubicBezTo>
                <a:cubicBezTo>
                  <a:pt x="2248367" y="732523"/>
                  <a:pt x="2238219" y="735385"/>
                  <a:pt x="2232936" y="730102"/>
                </a:cubicBezTo>
                <a:cubicBezTo>
                  <a:pt x="2227653" y="724819"/>
                  <a:pt x="2231131" y="714120"/>
                  <a:pt x="2225848" y="708837"/>
                </a:cubicBezTo>
                <a:cubicBezTo>
                  <a:pt x="2213800" y="696789"/>
                  <a:pt x="2183318" y="680484"/>
                  <a:pt x="2183318" y="680484"/>
                </a:cubicBezTo>
                <a:cubicBezTo>
                  <a:pt x="2180955" y="673396"/>
                  <a:pt x="2181512" y="664502"/>
                  <a:pt x="2176229" y="659219"/>
                </a:cubicBezTo>
                <a:cubicBezTo>
                  <a:pt x="2164181" y="647171"/>
                  <a:pt x="2133699" y="630865"/>
                  <a:pt x="2133699" y="630865"/>
                </a:cubicBezTo>
                <a:cubicBezTo>
                  <a:pt x="2100130" y="563729"/>
                  <a:pt x="2143749" y="640399"/>
                  <a:pt x="2091169" y="581246"/>
                </a:cubicBezTo>
                <a:cubicBezTo>
                  <a:pt x="2079849" y="568511"/>
                  <a:pt x="2076992" y="548167"/>
                  <a:pt x="2062815" y="538716"/>
                </a:cubicBezTo>
                <a:cubicBezTo>
                  <a:pt x="2041906" y="524776"/>
                  <a:pt x="2037341" y="523741"/>
                  <a:pt x="2020285" y="503274"/>
                </a:cubicBezTo>
                <a:cubicBezTo>
                  <a:pt x="2014831" y="496729"/>
                  <a:pt x="2010335" y="489406"/>
                  <a:pt x="2006108" y="482009"/>
                </a:cubicBezTo>
                <a:cubicBezTo>
                  <a:pt x="2000866" y="472835"/>
                  <a:pt x="2000049" y="460421"/>
                  <a:pt x="1991932" y="453656"/>
                </a:cubicBezTo>
                <a:cubicBezTo>
                  <a:pt x="1984448" y="447419"/>
                  <a:pt x="1973029" y="448930"/>
                  <a:pt x="1963578" y="446567"/>
                </a:cubicBezTo>
                <a:cubicBezTo>
                  <a:pt x="1958852" y="439479"/>
                  <a:pt x="1953211" y="432922"/>
                  <a:pt x="1949401" y="425302"/>
                </a:cubicBezTo>
                <a:cubicBezTo>
                  <a:pt x="1946060" y="418619"/>
                  <a:pt x="1946980" y="409871"/>
                  <a:pt x="1942313" y="404037"/>
                </a:cubicBezTo>
                <a:cubicBezTo>
                  <a:pt x="1936991" y="397385"/>
                  <a:pt x="1927593" y="395314"/>
                  <a:pt x="1921048" y="389860"/>
                </a:cubicBezTo>
                <a:cubicBezTo>
                  <a:pt x="1913347" y="383442"/>
                  <a:pt x="1907696" y="374749"/>
                  <a:pt x="1899783" y="368595"/>
                </a:cubicBezTo>
                <a:cubicBezTo>
                  <a:pt x="1886334" y="358135"/>
                  <a:pt x="1869301" y="352290"/>
                  <a:pt x="1857253" y="340242"/>
                </a:cubicBezTo>
                <a:cubicBezTo>
                  <a:pt x="1795115" y="278107"/>
                  <a:pt x="1873942" y="354151"/>
                  <a:pt x="1814722" y="304800"/>
                </a:cubicBezTo>
                <a:cubicBezTo>
                  <a:pt x="1807021" y="298382"/>
                  <a:pt x="1801370" y="289689"/>
                  <a:pt x="1793457" y="283535"/>
                </a:cubicBezTo>
                <a:cubicBezTo>
                  <a:pt x="1793432" y="283515"/>
                  <a:pt x="1740308" y="248102"/>
                  <a:pt x="1729662" y="241005"/>
                </a:cubicBezTo>
                <a:lnTo>
                  <a:pt x="1708397" y="226828"/>
                </a:lnTo>
                <a:cubicBezTo>
                  <a:pt x="1703671" y="219740"/>
                  <a:pt x="1700244" y="211587"/>
                  <a:pt x="1694220" y="205563"/>
                </a:cubicBezTo>
                <a:cubicBezTo>
                  <a:pt x="1680478" y="191821"/>
                  <a:pt x="1668986" y="190063"/>
                  <a:pt x="1651690" y="184298"/>
                </a:cubicBezTo>
                <a:lnTo>
                  <a:pt x="1609159" y="155944"/>
                </a:lnTo>
                <a:cubicBezTo>
                  <a:pt x="1602071" y="151218"/>
                  <a:pt x="1595976" y="144461"/>
                  <a:pt x="1587894" y="141767"/>
                </a:cubicBezTo>
                <a:cubicBezTo>
                  <a:pt x="1538024" y="125144"/>
                  <a:pt x="1599589" y="146779"/>
                  <a:pt x="1538276" y="120502"/>
                </a:cubicBezTo>
                <a:cubicBezTo>
                  <a:pt x="1531408" y="117559"/>
                  <a:pt x="1524099" y="115777"/>
                  <a:pt x="1517011" y="113414"/>
                </a:cubicBezTo>
                <a:cubicBezTo>
                  <a:pt x="1509923" y="108688"/>
                  <a:pt x="1503531" y="102697"/>
                  <a:pt x="1495746" y="99237"/>
                </a:cubicBezTo>
                <a:cubicBezTo>
                  <a:pt x="1495739" y="99234"/>
                  <a:pt x="1442587" y="81517"/>
                  <a:pt x="1431950" y="77972"/>
                </a:cubicBezTo>
                <a:lnTo>
                  <a:pt x="1410685" y="70884"/>
                </a:lnTo>
                <a:cubicBezTo>
                  <a:pt x="1403597" y="68521"/>
                  <a:pt x="1396669" y="65607"/>
                  <a:pt x="1389420" y="63795"/>
                </a:cubicBezTo>
                <a:cubicBezTo>
                  <a:pt x="1379969" y="61432"/>
                  <a:pt x="1370433" y="59383"/>
                  <a:pt x="1361066" y="56707"/>
                </a:cubicBezTo>
                <a:cubicBezTo>
                  <a:pt x="1353882" y="54654"/>
                  <a:pt x="1347186" y="50755"/>
                  <a:pt x="1339801" y="49619"/>
                </a:cubicBezTo>
                <a:cubicBezTo>
                  <a:pt x="1316332" y="46008"/>
                  <a:pt x="1292546" y="44893"/>
                  <a:pt x="1268918" y="42530"/>
                </a:cubicBezTo>
                <a:cubicBezTo>
                  <a:pt x="1259467" y="40167"/>
                  <a:pt x="1249931" y="38118"/>
                  <a:pt x="1240564" y="35442"/>
                </a:cubicBezTo>
                <a:cubicBezTo>
                  <a:pt x="1233380" y="33389"/>
                  <a:pt x="1226657" y="29651"/>
                  <a:pt x="1219299" y="28353"/>
                </a:cubicBezTo>
                <a:cubicBezTo>
                  <a:pt x="1186393" y="22546"/>
                  <a:pt x="1153219" y="18322"/>
                  <a:pt x="1120062" y="14177"/>
                </a:cubicBezTo>
                <a:cubicBezTo>
                  <a:pt x="1037459" y="3851"/>
                  <a:pt x="1082326" y="8813"/>
                  <a:pt x="985383" y="0"/>
                </a:cubicBezTo>
                <a:cubicBezTo>
                  <a:pt x="907411" y="2363"/>
                  <a:pt x="829354" y="2761"/>
                  <a:pt x="751466" y="7088"/>
                </a:cubicBezTo>
                <a:cubicBezTo>
                  <a:pt x="744006" y="7502"/>
                  <a:pt x="737410" y="12211"/>
                  <a:pt x="730201" y="14177"/>
                </a:cubicBezTo>
                <a:cubicBezTo>
                  <a:pt x="711404" y="19304"/>
                  <a:pt x="673494" y="28353"/>
                  <a:pt x="673494" y="28353"/>
                </a:cubicBezTo>
                <a:cubicBezTo>
                  <a:pt x="666406" y="33079"/>
                  <a:pt x="659849" y="38720"/>
                  <a:pt x="652229" y="42530"/>
                </a:cubicBezTo>
                <a:cubicBezTo>
                  <a:pt x="645546" y="45872"/>
                  <a:pt x="637832" y="46676"/>
                  <a:pt x="630964" y="49619"/>
                </a:cubicBezTo>
                <a:cubicBezTo>
                  <a:pt x="621252" y="53781"/>
                  <a:pt x="612267" y="59504"/>
                  <a:pt x="602611" y="63795"/>
                </a:cubicBezTo>
                <a:cubicBezTo>
                  <a:pt x="590984" y="68963"/>
                  <a:pt x="578550" y="72282"/>
                  <a:pt x="567169" y="77972"/>
                </a:cubicBezTo>
                <a:cubicBezTo>
                  <a:pt x="559549" y="81782"/>
                  <a:pt x="553301" y="87922"/>
                  <a:pt x="545904" y="92149"/>
                </a:cubicBezTo>
                <a:cubicBezTo>
                  <a:pt x="536729" y="97391"/>
                  <a:pt x="526725" y="101083"/>
                  <a:pt x="517550" y="106325"/>
                </a:cubicBezTo>
                <a:cubicBezTo>
                  <a:pt x="510153" y="110552"/>
                  <a:pt x="504115" y="117146"/>
                  <a:pt x="496285" y="120502"/>
                </a:cubicBezTo>
                <a:cubicBezTo>
                  <a:pt x="487331" y="124340"/>
                  <a:pt x="477299" y="124915"/>
                  <a:pt x="467932" y="127591"/>
                </a:cubicBezTo>
                <a:cubicBezTo>
                  <a:pt x="460747" y="129644"/>
                  <a:pt x="453755" y="132316"/>
                  <a:pt x="446666" y="134679"/>
                </a:cubicBezTo>
                <a:cubicBezTo>
                  <a:pt x="396030" y="168436"/>
                  <a:pt x="420665" y="158899"/>
                  <a:pt x="375783" y="170121"/>
                </a:cubicBezTo>
                <a:cubicBezTo>
                  <a:pt x="360108" y="185796"/>
                  <a:pt x="352989" y="195695"/>
                  <a:pt x="333253" y="205563"/>
                </a:cubicBezTo>
                <a:cubicBezTo>
                  <a:pt x="326570" y="208905"/>
                  <a:pt x="319076" y="210288"/>
                  <a:pt x="311987" y="212651"/>
                </a:cubicBezTo>
                <a:cubicBezTo>
                  <a:pt x="271119" y="239897"/>
                  <a:pt x="310545" y="216307"/>
                  <a:pt x="269457" y="233916"/>
                </a:cubicBezTo>
                <a:cubicBezTo>
                  <a:pt x="208144" y="260193"/>
                  <a:pt x="269709" y="238558"/>
                  <a:pt x="219839" y="255181"/>
                </a:cubicBezTo>
                <a:cubicBezTo>
                  <a:pt x="212750" y="259907"/>
                  <a:pt x="205118" y="263904"/>
                  <a:pt x="198573" y="269358"/>
                </a:cubicBezTo>
                <a:cubicBezTo>
                  <a:pt x="190872" y="275775"/>
                  <a:pt x="185649" y="285062"/>
                  <a:pt x="177308" y="290623"/>
                </a:cubicBezTo>
                <a:cubicBezTo>
                  <a:pt x="171091" y="294768"/>
                  <a:pt x="162726" y="294370"/>
                  <a:pt x="156043" y="297712"/>
                </a:cubicBezTo>
                <a:cubicBezTo>
                  <a:pt x="148423" y="301522"/>
                  <a:pt x="141866" y="307163"/>
                  <a:pt x="134778" y="311888"/>
                </a:cubicBezTo>
                <a:cubicBezTo>
                  <a:pt x="120840" y="332795"/>
                  <a:pt x="119801" y="337365"/>
                  <a:pt x="99336" y="354419"/>
                </a:cubicBezTo>
                <a:cubicBezTo>
                  <a:pt x="92792" y="359873"/>
                  <a:pt x="85159" y="363870"/>
                  <a:pt x="78071" y="368595"/>
                </a:cubicBezTo>
                <a:cubicBezTo>
                  <a:pt x="73345" y="378046"/>
                  <a:pt x="70659" y="388831"/>
                  <a:pt x="63894" y="396949"/>
                </a:cubicBezTo>
                <a:cubicBezTo>
                  <a:pt x="58440" y="403493"/>
                  <a:pt x="47144" y="403901"/>
                  <a:pt x="42629" y="411125"/>
                </a:cubicBezTo>
                <a:cubicBezTo>
                  <a:pt x="-15190" y="503637"/>
                  <a:pt x="66170" y="415940"/>
                  <a:pt x="7187" y="474921"/>
                </a:cubicBezTo>
                <a:cubicBezTo>
                  <a:pt x="-1395" y="500669"/>
                  <a:pt x="99" y="488714"/>
                  <a:pt x="99" y="510363"/>
                </a:cubicBezTo>
              </a:path>
            </a:pathLst>
          </a:custGeom>
          <a:noFill/>
          <a:ln w="38100" cap="flat" cmpd="sng" algn="ctr">
            <a:solidFill>
              <a:schemeClr val="tx1">
                <a:lumMod val="50000"/>
                <a:lumOff val="50000"/>
              </a:schemeClr>
            </a:solidFill>
            <a:prstDash val="sysDash"/>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DA902B5-E4BB-3ECB-1760-AF52F6AEB1C2}"/>
              </a:ext>
            </a:extLst>
          </p:cNvPr>
          <p:cNvSpPr txBox="1"/>
          <p:nvPr/>
        </p:nvSpPr>
        <p:spPr>
          <a:xfrm>
            <a:off x="1213281" y="4385542"/>
            <a:ext cx="1863074" cy="369332"/>
          </a:xfrm>
          <a:prstGeom prst="rect">
            <a:avLst/>
          </a:prstGeom>
          <a:noFill/>
        </p:spPr>
        <p:txBody>
          <a:bodyPr wrap="none" rtlCol="0">
            <a:spAutoFit/>
          </a:bodyPr>
          <a:lstStyle/>
          <a:p>
            <a:r>
              <a:rPr lang="en-US" i="1"/>
              <a:t>correct prediction</a:t>
            </a:r>
            <a:endParaRPr lang="en-IN" i="1"/>
          </a:p>
        </p:txBody>
      </p:sp>
      <p:sp>
        <p:nvSpPr>
          <p:cNvPr id="6" name="TextBox 5">
            <a:extLst>
              <a:ext uri="{FF2B5EF4-FFF2-40B4-BE49-F238E27FC236}">
                <a16:creationId xmlns:a16="http://schemas.microsoft.com/office/drawing/2014/main" id="{8DBDDCE9-6B1F-9A9A-19A2-16D4E7932606}"/>
              </a:ext>
            </a:extLst>
          </p:cNvPr>
          <p:cNvSpPr txBox="1"/>
          <p:nvPr/>
        </p:nvSpPr>
        <p:spPr>
          <a:xfrm>
            <a:off x="6743504" y="4381967"/>
            <a:ext cx="2037802" cy="369332"/>
          </a:xfrm>
          <a:prstGeom prst="rect">
            <a:avLst/>
          </a:prstGeom>
          <a:noFill/>
        </p:spPr>
        <p:txBody>
          <a:bodyPr wrap="none" rtlCol="0">
            <a:spAutoFit/>
          </a:bodyPr>
          <a:lstStyle/>
          <a:p>
            <a:pPr algn="ctr"/>
            <a:r>
              <a:rPr lang="en-US" i="1"/>
              <a:t>incorrect prediction</a:t>
            </a:r>
            <a:endParaRPr lang="en-IN" i="1"/>
          </a:p>
        </p:txBody>
      </p:sp>
    </p:spTree>
    <p:extLst>
      <p:ext uri="{BB962C8B-B14F-4D97-AF65-F5344CB8AC3E}">
        <p14:creationId xmlns:p14="http://schemas.microsoft.com/office/powerpoint/2010/main" val="714081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0"/>
                                        </p:tgtEl>
                                        <p:attrNameLst>
                                          <p:attrName>style.visibility</p:attrName>
                                        </p:attrNameLst>
                                      </p:cBhvr>
                                      <p:to>
                                        <p:strVal val="visible"/>
                                      </p:to>
                                    </p:set>
                                    <p:animEffect transition="in" filter="fade">
                                      <p:cBhvr>
                                        <p:cTn id="13" dur="500"/>
                                        <p:tgtEl>
                                          <p:spTgt spid="40"/>
                                        </p:tgtEl>
                                      </p:cBhvr>
                                    </p:animEffect>
                                  </p:childTnLst>
                                </p:cTn>
                              </p:par>
                              <p:par>
                                <p:cTn id="14" presetID="10" presetClass="entr" presetSubtype="0" fill="hold" nodeType="withEffect">
                                  <p:stCondLst>
                                    <p:cond delay="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500"/>
                                        <p:tgtEl>
                                          <p:spTgt spid="41"/>
                                        </p:tgtEl>
                                      </p:cBhvr>
                                    </p:animEffect>
                                  </p:childTnLst>
                                </p:cTn>
                              </p:par>
                              <p:par>
                                <p:cTn id="17" presetID="10" presetClass="entr" presetSubtype="0" fill="hold" nodeType="with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500"/>
                                        <p:tgtEl>
                                          <p:spTgt spid="42"/>
                                        </p:tgtEl>
                                      </p:cBhvr>
                                    </p:animEffect>
                                  </p:childTnLst>
                                </p:cTn>
                              </p:par>
                              <p:par>
                                <p:cTn id="20" presetID="10" presetClass="entr" presetSubtype="0" fill="hold" nodeType="with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500"/>
                                        <p:tgtEl>
                                          <p:spTgt spid="43"/>
                                        </p:tgtEl>
                                      </p:cBhvr>
                                    </p:animEffect>
                                  </p:childTnLst>
                                </p:cTn>
                              </p:par>
                              <p:par>
                                <p:cTn id="23" presetID="10" presetClass="entr" presetSubtype="0" fill="hold" nodeType="withEffect">
                                  <p:stCondLst>
                                    <p:cond delay="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500"/>
                                        <p:tgtEl>
                                          <p:spTgt spid="44"/>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500"/>
                                        <p:tgtEl>
                                          <p:spTgt spid="5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54"/>
                                        </p:tgtEl>
                                        <p:attrNameLst>
                                          <p:attrName>style.visibility</p:attrName>
                                        </p:attrNameLst>
                                      </p:cBhvr>
                                      <p:to>
                                        <p:strVal val="visible"/>
                                      </p:to>
                                    </p:set>
                                    <p:animEffect transition="in" filter="fade">
                                      <p:cBhvr>
                                        <p:cTn id="33" dur="500"/>
                                        <p:tgtEl>
                                          <p:spTgt spid="5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59"/>
                                        </p:tgtEl>
                                        <p:attrNameLst>
                                          <p:attrName>style.visibility</p:attrName>
                                        </p:attrNameLst>
                                      </p:cBhvr>
                                      <p:to>
                                        <p:strVal val="visible"/>
                                      </p:to>
                                    </p:set>
                                    <p:animEffect transition="in" filter="fade">
                                      <p:cBhvr>
                                        <p:cTn id="36" dur="500"/>
                                        <p:tgtEl>
                                          <p:spTgt spid="59"/>
                                        </p:tgtEl>
                                      </p:cBhvr>
                                    </p:animEffect>
                                  </p:childTnLst>
                                </p:cTn>
                              </p:par>
                              <p:par>
                                <p:cTn id="37" presetID="10" presetClass="entr" presetSubtype="0" fill="hold"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fade">
                                      <p:cBhvr>
                                        <p:cTn id="39" dur="500"/>
                                        <p:tgtEl>
                                          <p:spTgt spid="56"/>
                                        </p:tgtEl>
                                      </p:cBhvr>
                                    </p:animEffect>
                                  </p:childTnLst>
                                </p:cTn>
                              </p:par>
                              <p:par>
                                <p:cTn id="40" presetID="1" presetClass="exit" presetSubtype="0" fill="hold" nodeType="withEffect">
                                  <p:stCondLst>
                                    <p:cond delay="0"/>
                                  </p:stCondLst>
                                  <p:childTnLst>
                                    <p:set>
                                      <p:cBhvr>
                                        <p:cTn id="41" dur="1" fill="hold">
                                          <p:stCondLst>
                                            <p:cond delay="0"/>
                                          </p:stCondLst>
                                        </p:cTn>
                                        <p:tgtEl>
                                          <p:spTgt spid="42"/>
                                        </p:tgtEl>
                                        <p:attrNameLst>
                                          <p:attrName>style.visibility</p:attrName>
                                        </p:attrNameLst>
                                      </p:cBhvr>
                                      <p:to>
                                        <p:strVal val="hidden"/>
                                      </p:to>
                                    </p:set>
                                  </p:childTnLst>
                                </p:cTn>
                              </p:par>
                              <p:par>
                                <p:cTn id="42" presetID="1" presetClass="exit" presetSubtype="0" fill="hold" nodeType="withEffect">
                                  <p:stCondLst>
                                    <p:cond delay="0"/>
                                  </p:stCondLst>
                                  <p:childTnLst>
                                    <p:set>
                                      <p:cBhvr>
                                        <p:cTn id="43" dur="1" fill="hold">
                                          <p:stCondLst>
                                            <p:cond delay="0"/>
                                          </p:stCondLst>
                                        </p:cTn>
                                        <p:tgtEl>
                                          <p:spTgt spid="43"/>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500"/>
                                        <p:tgtEl>
                                          <p:spTgt spid="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6" grpId="0" animBg="1"/>
      <p:bldP spid="40" grpId="0" animBg="1"/>
      <p:bldP spid="54" grpId="0" animBg="1"/>
      <p:bldP spid="59" grpId="0" animBg="1"/>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ectangle 43">
            <a:extLst>
              <a:ext uri="{FF2B5EF4-FFF2-40B4-BE49-F238E27FC236}">
                <a16:creationId xmlns:a16="http://schemas.microsoft.com/office/drawing/2014/main" id="{5D190831-FA90-463B-A230-224BA83EED41}"/>
              </a:ext>
            </a:extLst>
          </p:cNvPr>
          <p:cNvSpPr/>
          <p:nvPr/>
        </p:nvSpPr>
        <p:spPr>
          <a:xfrm>
            <a:off x="0" y="697584"/>
            <a:ext cx="9144000" cy="688156"/>
          </a:xfrm>
          <a:prstGeom prst="rect">
            <a:avLst/>
          </a:prstGeom>
          <a:solidFill>
            <a:schemeClr val="bg1">
              <a:lumMod val="9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45" name="Freeform 13">
            <a:extLst>
              <a:ext uri="{FF2B5EF4-FFF2-40B4-BE49-F238E27FC236}">
                <a16:creationId xmlns:a16="http://schemas.microsoft.com/office/drawing/2014/main" id="{1DFBE849-C6A8-4CE5-A4C0-9B599ED372DE}"/>
              </a:ext>
            </a:extLst>
          </p:cNvPr>
          <p:cNvSpPr>
            <a:spLocks noChangeAspect="1" noEditPoints="1"/>
          </p:cNvSpPr>
          <p:nvPr/>
        </p:nvSpPr>
        <p:spPr bwMode="auto">
          <a:xfrm>
            <a:off x="2725186" y="698094"/>
            <a:ext cx="847574" cy="353144"/>
          </a:xfrm>
          <a:custGeom>
            <a:avLst/>
            <a:gdLst>
              <a:gd name="T0" fmla="*/ 4282 w 4799"/>
              <a:gd name="T1" fmla="*/ 2418 h 2551"/>
              <a:gd name="T2" fmla="*/ 4282 w 4799"/>
              <a:gd name="T3" fmla="*/ 2418 h 2551"/>
              <a:gd name="T4" fmla="*/ 650 w 4799"/>
              <a:gd name="T5" fmla="*/ 2417 h 2551"/>
              <a:gd name="T6" fmla="*/ 133 w 4799"/>
              <a:gd name="T7" fmla="*/ 1901 h 2551"/>
              <a:gd name="T8" fmla="*/ 650 w 4799"/>
              <a:gd name="T9" fmla="*/ 1384 h 2551"/>
              <a:gd name="T10" fmla="*/ 662 w 4799"/>
              <a:gd name="T11" fmla="*/ 1385 h 2551"/>
              <a:gd name="T12" fmla="*/ 710 w 4799"/>
              <a:gd name="T13" fmla="*/ 1362 h 2551"/>
              <a:gd name="T14" fmla="*/ 730 w 4799"/>
              <a:gd name="T15" fmla="*/ 1311 h 2551"/>
              <a:gd name="T16" fmla="*/ 1908 w 4799"/>
              <a:gd name="T17" fmla="*/ 133 h 2551"/>
              <a:gd name="T18" fmla="*/ 3017 w 4799"/>
              <a:gd name="T19" fmla="*/ 913 h 2551"/>
              <a:gd name="T20" fmla="*/ 3053 w 4799"/>
              <a:gd name="T21" fmla="*/ 952 h 2551"/>
              <a:gd name="T22" fmla="*/ 3105 w 4799"/>
              <a:gd name="T23" fmla="*/ 952 h 2551"/>
              <a:gd name="T24" fmla="*/ 3384 w 4799"/>
              <a:gd name="T25" fmla="*/ 896 h 2551"/>
              <a:gd name="T26" fmla="*/ 4107 w 4799"/>
              <a:gd name="T27" fmla="*/ 1601 h 2551"/>
              <a:gd name="T28" fmla="*/ 4134 w 4799"/>
              <a:gd name="T29" fmla="*/ 1650 h 2551"/>
              <a:gd name="T30" fmla="*/ 4189 w 4799"/>
              <a:gd name="T31" fmla="*/ 1662 h 2551"/>
              <a:gd name="T32" fmla="*/ 4196 w 4799"/>
              <a:gd name="T33" fmla="*/ 1660 h 2551"/>
              <a:gd name="T34" fmla="*/ 4282 w 4799"/>
              <a:gd name="T35" fmla="*/ 1650 h 2551"/>
              <a:gd name="T36" fmla="*/ 4666 w 4799"/>
              <a:gd name="T37" fmla="*/ 2034 h 2551"/>
              <a:gd name="T38" fmla="*/ 4282 w 4799"/>
              <a:gd name="T39" fmla="*/ 2418 h 2551"/>
              <a:gd name="T40" fmla="*/ 4282 w 4799"/>
              <a:gd name="T41" fmla="*/ 2418 h 2551"/>
              <a:gd name="T42" fmla="*/ 4282 w 4799"/>
              <a:gd name="T43" fmla="*/ 1517 h 2551"/>
              <a:gd name="T44" fmla="*/ 4282 w 4799"/>
              <a:gd name="T45" fmla="*/ 1517 h 2551"/>
              <a:gd name="T46" fmla="*/ 4235 w 4799"/>
              <a:gd name="T47" fmla="*/ 1519 h 2551"/>
              <a:gd name="T48" fmla="*/ 3384 w 4799"/>
              <a:gd name="T49" fmla="*/ 763 h 2551"/>
              <a:gd name="T50" fmla="*/ 3118 w 4799"/>
              <a:gd name="T51" fmla="*/ 805 h 2551"/>
              <a:gd name="T52" fmla="*/ 1908 w 4799"/>
              <a:gd name="T53" fmla="*/ 0 h 2551"/>
              <a:gd name="T54" fmla="*/ 598 w 4799"/>
              <a:gd name="T55" fmla="*/ 1253 h 2551"/>
              <a:gd name="T56" fmla="*/ 0 w 4799"/>
              <a:gd name="T57" fmla="*/ 1901 h 2551"/>
              <a:gd name="T58" fmla="*/ 650 w 4799"/>
              <a:gd name="T59" fmla="*/ 2551 h 2551"/>
              <a:gd name="T60" fmla="*/ 4282 w 4799"/>
              <a:gd name="T61" fmla="*/ 2551 h 2551"/>
              <a:gd name="T62" fmla="*/ 4799 w 4799"/>
              <a:gd name="T63" fmla="*/ 2034 h 2551"/>
              <a:gd name="T64" fmla="*/ 4282 w 4799"/>
              <a:gd name="T65" fmla="*/ 1517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99" h="2551">
                <a:moveTo>
                  <a:pt x="4282" y="2418"/>
                </a:moveTo>
                <a:lnTo>
                  <a:pt x="4282" y="2418"/>
                </a:lnTo>
                <a:lnTo>
                  <a:pt x="650" y="2417"/>
                </a:lnTo>
                <a:cubicBezTo>
                  <a:pt x="365" y="2417"/>
                  <a:pt x="133" y="2186"/>
                  <a:pt x="133" y="1901"/>
                </a:cubicBezTo>
                <a:cubicBezTo>
                  <a:pt x="133" y="1616"/>
                  <a:pt x="365" y="1384"/>
                  <a:pt x="650" y="1384"/>
                </a:cubicBezTo>
                <a:lnTo>
                  <a:pt x="662" y="1385"/>
                </a:lnTo>
                <a:cubicBezTo>
                  <a:pt x="680" y="1384"/>
                  <a:pt x="697" y="1375"/>
                  <a:pt x="710" y="1362"/>
                </a:cubicBezTo>
                <a:cubicBezTo>
                  <a:pt x="723" y="1350"/>
                  <a:pt x="730" y="1329"/>
                  <a:pt x="730" y="1311"/>
                </a:cubicBezTo>
                <a:cubicBezTo>
                  <a:pt x="730" y="662"/>
                  <a:pt x="1259" y="133"/>
                  <a:pt x="1908" y="133"/>
                </a:cubicBezTo>
                <a:cubicBezTo>
                  <a:pt x="2404" y="133"/>
                  <a:pt x="2849" y="447"/>
                  <a:pt x="3017" y="913"/>
                </a:cubicBezTo>
                <a:cubicBezTo>
                  <a:pt x="3023" y="930"/>
                  <a:pt x="3036" y="944"/>
                  <a:pt x="3053" y="952"/>
                </a:cubicBezTo>
                <a:cubicBezTo>
                  <a:pt x="3069" y="959"/>
                  <a:pt x="3088" y="959"/>
                  <a:pt x="3105" y="952"/>
                </a:cubicBezTo>
                <a:cubicBezTo>
                  <a:pt x="3194" y="915"/>
                  <a:pt x="3287" y="896"/>
                  <a:pt x="3384" y="896"/>
                </a:cubicBezTo>
                <a:cubicBezTo>
                  <a:pt x="3776" y="896"/>
                  <a:pt x="4094" y="1204"/>
                  <a:pt x="4107" y="1601"/>
                </a:cubicBezTo>
                <a:cubicBezTo>
                  <a:pt x="4108" y="1621"/>
                  <a:pt x="4118" y="1639"/>
                  <a:pt x="4134" y="1650"/>
                </a:cubicBezTo>
                <a:cubicBezTo>
                  <a:pt x="4149" y="1662"/>
                  <a:pt x="4169" y="1666"/>
                  <a:pt x="4189" y="1662"/>
                </a:cubicBezTo>
                <a:lnTo>
                  <a:pt x="4196" y="1660"/>
                </a:lnTo>
                <a:cubicBezTo>
                  <a:pt x="4225" y="1654"/>
                  <a:pt x="4253" y="1650"/>
                  <a:pt x="4282" y="1650"/>
                </a:cubicBezTo>
                <a:cubicBezTo>
                  <a:pt x="4494" y="1650"/>
                  <a:pt x="4666" y="1822"/>
                  <a:pt x="4666" y="2034"/>
                </a:cubicBezTo>
                <a:cubicBezTo>
                  <a:pt x="4666" y="2246"/>
                  <a:pt x="4494" y="2418"/>
                  <a:pt x="4282" y="2418"/>
                </a:cubicBezTo>
                <a:lnTo>
                  <a:pt x="4282" y="2418"/>
                </a:lnTo>
                <a:close/>
                <a:moveTo>
                  <a:pt x="4282" y="1517"/>
                </a:moveTo>
                <a:lnTo>
                  <a:pt x="4282" y="1517"/>
                </a:lnTo>
                <a:cubicBezTo>
                  <a:pt x="4266" y="1517"/>
                  <a:pt x="4250" y="1517"/>
                  <a:pt x="4235" y="1519"/>
                </a:cubicBezTo>
                <a:cubicBezTo>
                  <a:pt x="4185" y="1089"/>
                  <a:pt x="3824" y="763"/>
                  <a:pt x="3384" y="763"/>
                </a:cubicBezTo>
                <a:cubicBezTo>
                  <a:pt x="3293" y="763"/>
                  <a:pt x="3204" y="777"/>
                  <a:pt x="3118" y="805"/>
                </a:cubicBezTo>
                <a:cubicBezTo>
                  <a:pt x="2915" y="321"/>
                  <a:pt x="2437" y="0"/>
                  <a:pt x="1908" y="0"/>
                </a:cubicBezTo>
                <a:cubicBezTo>
                  <a:pt x="1204" y="0"/>
                  <a:pt x="629" y="557"/>
                  <a:pt x="598" y="1253"/>
                </a:cubicBezTo>
                <a:cubicBezTo>
                  <a:pt x="264" y="1279"/>
                  <a:pt x="0" y="1560"/>
                  <a:pt x="0" y="1901"/>
                </a:cubicBezTo>
                <a:cubicBezTo>
                  <a:pt x="0" y="2259"/>
                  <a:pt x="291" y="2551"/>
                  <a:pt x="650" y="2551"/>
                </a:cubicBezTo>
                <a:lnTo>
                  <a:pt x="4282" y="2551"/>
                </a:lnTo>
                <a:cubicBezTo>
                  <a:pt x="4567" y="2551"/>
                  <a:pt x="4799" y="2319"/>
                  <a:pt x="4799" y="2034"/>
                </a:cubicBezTo>
                <a:cubicBezTo>
                  <a:pt x="4799" y="1749"/>
                  <a:pt x="4567" y="1517"/>
                  <a:pt x="4282" y="1517"/>
                </a:cubicBezTo>
                <a:close/>
              </a:path>
            </a:pathLst>
          </a:custGeom>
          <a:solidFill>
            <a:schemeClr val="tx2"/>
          </a:solid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18A31A41-A9D9-4F1A-BBCD-0047C874B553}"/>
              </a:ext>
            </a:extLst>
          </p:cNvPr>
          <p:cNvSpPr>
            <a:spLocks noChangeAspect="1" noEditPoints="1"/>
          </p:cNvSpPr>
          <p:nvPr/>
        </p:nvSpPr>
        <p:spPr bwMode="auto">
          <a:xfrm>
            <a:off x="1611984" y="979454"/>
            <a:ext cx="851304" cy="452003"/>
          </a:xfrm>
          <a:custGeom>
            <a:avLst/>
            <a:gdLst>
              <a:gd name="T0" fmla="*/ 837 w 4164"/>
              <a:gd name="T1" fmla="*/ 433 h 2589"/>
              <a:gd name="T2" fmla="*/ 825 w 4164"/>
              <a:gd name="T3" fmla="*/ 1810 h 2589"/>
              <a:gd name="T4" fmla="*/ 849 w 4164"/>
              <a:gd name="T5" fmla="*/ 1844 h 2589"/>
              <a:gd name="T6" fmla="*/ 3232 w 4164"/>
              <a:gd name="T7" fmla="*/ 1844 h 2589"/>
              <a:gd name="T8" fmla="*/ 3254 w 4164"/>
              <a:gd name="T9" fmla="*/ 1810 h 2589"/>
              <a:gd name="T10" fmla="*/ 3243 w 4164"/>
              <a:gd name="T11" fmla="*/ 433 h 2589"/>
              <a:gd name="T12" fmla="*/ 863 w 4164"/>
              <a:gd name="T13" fmla="*/ 421 h 2589"/>
              <a:gd name="T14" fmla="*/ 3247 w 4164"/>
              <a:gd name="T15" fmla="*/ 310 h 2589"/>
              <a:gd name="T16" fmla="*/ 3324 w 4164"/>
              <a:gd name="T17" fmla="*/ 352 h 2589"/>
              <a:gd name="T18" fmla="*/ 3365 w 4164"/>
              <a:gd name="T19" fmla="*/ 428 h 2589"/>
              <a:gd name="T20" fmla="*/ 3365 w 4164"/>
              <a:gd name="T21" fmla="*/ 1840 h 2589"/>
              <a:gd name="T22" fmla="*/ 3324 w 4164"/>
              <a:gd name="T23" fmla="*/ 1917 h 2589"/>
              <a:gd name="T24" fmla="*/ 3247 w 4164"/>
              <a:gd name="T25" fmla="*/ 1958 h 2589"/>
              <a:gd name="T26" fmla="*/ 833 w 4164"/>
              <a:gd name="T27" fmla="*/ 1958 h 2589"/>
              <a:gd name="T28" fmla="*/ 756 w 4164"/>
              <a:gd name="T29" fmla="*/ 1917 h 2589"/>
              <a:gd name="T30" fmla="*/ 714 w 4164"/>
              <a:gd name="T31" fmla="*/ 1840 h 2589"/>
              <a:gd name="T32" fmla="*/ 714 w 4164"/>
              <a:gd name="T33" fmla="*/ 428 h 2589"/>
              <a:gd name="T34" fmla="*/ 756 w 4164"/>
              <a:gd name="T35" fmla="*/ 352 h 2589"/>
              <a:gd name="T36" fmla="*/ 833 w 4164"/>
              <a:gd name="T37" fmla="*/ 310 h 2589"/>
              <a:gd name="T38" fmla="*/ 676 w 4164"/>
              <a:gd name="T39" fmla="*/ 117 h 2589"/>
              <a:gd name="T40" fmla="*/ 604 w 4164"/>
              <a:gd name="T41" fmla="*/ 162 h 2589"/>
              <a:gd name="T42" fmla="*/ 575 w 4164"/>
              <a:gd name="T43" fmla="*/ 244 h 2589"/>
              <a:gd name="T44" fmla="*/ 589 w 4164"/>
              <a:gd name="T45" fmla="*/ 2142 h 2589"/>
              <a:gd name="T46" fmla="*/ 649 w 4164"/>
              <a:gd name="T47" fmla="*/ 2203 h 2589"/>
              <a:gd name="T48" fmla="*/ 1605 w 4164"/>
              <a:gd name="T49" fmla="*/ 2215 h 2589"/>
              <a:gd name="T50" fmla="*/ 1650 w 4164"/>
              <a:gd name="T51" fmla="*/ 2239 h 2589"/>
              <a:gd name="T52" fmla="*/ 1662 w 4164"/>
              <a:gd name="T53" fmla="*/ 2275 h 2589"/>
              <a:gd name="T54" fmla="*/ 1662 w 4164"/>
              <a:gd name="T55" fmla="*/ 2282 h 2589"/>
              <a:gd name="T56" fmla="*/ 1639 w 4164"/>
              <a:gd name="T57" fmla="*/ 2329 h 2589"/>
              <a:gd name="T58" fmla="*/ 191 w 4164"/>
              <a:gd name="T59" fmla="*/ 2340 h 2589"/>
              <a:gd name="T60" fmla="*/ 3971 w 4164"/>
              <a:gd name="T61" fmla="*/ 2340 h 2589"/>
              <a:gd name="T62" fmla="*/ 2522 w 4164"/>
              <a:gd name="T63" fmla="*/ 2328 h 2589"/>
              <a:gd name="T64" fmla="*/ 2498 w 4164"/>
              <a:gd name="T65" fmla="*/ 2286 h 2589"/>
              <a:gd name="T66" fmla="*/ 2508 w 4164"/>
              <a:gd name="T67" fmla="*/ 2239 h 2589"/>
              <a:gd name="T68" fmla="*/ 2554 w 4164"/>
              <a:gd name="T69" fmla="*/ 2215 h 2589"/>
              <a:gd name="T70" fmla="*/ 3442 w 4164"/>
              <a:gd name="T71" fmla="*/ 2203 h 2589"/>
              <a:gd name="T72" fmla="*/ 3502 w 4164"/>
              <a:gd name="T73" fmla="*/ 2142 h 2589"/>
              <a:gd name="T74" fmla="*/ 3515 w 4164"/>
              <a:gd name="T75" fmla="*/ 244 h 2589"/>
              <a:gd name="T76" fmla="*/ 3486 w 4164"/>
              <a:gd name="T77" fmla="*/ 162 h 2589"/>
              <a:gd name="T78" fmla="*/ 3414 w 4164"/>
              <a:gd name="T79" fmla="*/ 117 h 2589"/>
              <a:gd name="T80" fmla="*/ 707 w 4164"/>
              <a:gd name="T81" fmla="*/ 0 h 2589"/>
              <a:gd name="T82" fmla="*/ 3470 w 4164"/>
              <a:gd name="T83" fmla="*/ 15 h 2589"/>
              <a:gd name="T84" fmla="*/ 3572 w 4164"/>
              <a:gd name="T85" fmla="*/ 87 h 2589"/>
              <a:gd name="T86" fmla="*/ 3625 w 4164"/>
              <a:gd name="T87" fmla="*/ 200 h 2589"/>
              <a:gd name="T88" fmla="*/ 3626 w 4164"/>
              <a:gd name="T89" fmla="*/ 2123 h 2589"/>
              <a:gd name="T90" fmla="*/ 3585 w 4164"/>
              <a:gd name="T91" fmla="*/ 2225 h 2589"/>
              <a:gd name="T92" fmla="*/ 4139 w 4164"/>
              <a:gd name="T93" fmla="*/ 2235 h 2589"/>
              <a:gd name="T94" fmla="*/ 4164 w 4164"/>
              <a:gd name="T95" fmla="*/ 2277 h 2589"/>
              <a:gd name="T96" fmla="*/ 4148 w 4164"/>
              <a:gd name="T97" fmla="*/ 2323 h 2589"/>
              <a:gd name="T98" fmla="*/ 3879 w 4164"/>
              <a:gd name="T99" fmla="*/ 2586 h 2589"/>
              <a:gd name="T100" fmla="*/ 278 w 4164"/>
              <a:gd name="T101" fmla="*/ 2586 h 2589"/>
              <a:gd name="T102" fmla="*/ 15 w 4164"/>
              <a:gd name="T103" fmla="*/ 2323 h 2589"/>
              <a:gd name="T104" fmla="*/ 0 w 4164"/>
              <a:gd name="T105" fmla="*/ 2276 h 2589"/>
              <a:gd name="T106" fmla="*/ 25 w 4164"/>
              <a:gd name="T107" fmla="*/ 2234 h 2589"/>
              <a:gd name="T108" fmla="*/ 506 w 4164"/>
              <a:gd name="T109" fmla="*/ 2225 h 2589"/>
              <a:gd name="T110" fmla="*/ 464 w 4164"/>
              <a:gd name="T111" fmla="*/ 2123 h 2589"/>
              <a:gd name="T112" fmla="*/ 466 w 4164"/>
              <a:gd name="T113" fmla="*/ 200 h 2589"/>
              <a:gd name="T114" fmla="*/ 519 w 4164"/>
              <a:gd name="T115" fmla="*/ 87 h 2589"/>
              <a:gd name="T116" fmla="*/ 621 w 4164"/>
              <a:gd name="T117" fmla="*/ 15 h 2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64" h="2589">
                <a:moveTo>
                  <a:pt x="863" y="421"/>
                </a:moveTo>
                <a:lnTo>
                  <a:pt x="849" y="425"/>
                </a:lnTo>
                <a:lnTo>
                  <a:pt x="837" y="433"/>
                </a:lnTo>
                <a:lnTo>
                  <a:pt x="829" y="444"/>
                </a:lnTo>
                <a:lnTo>
                  <a:pt x="825" y="459"/>
                </a:lnTo>
                <a:lnTo>
                  <a:pt x="825" y="1810"/>
                </a:lnTo>
                <a:lnTo>
                  <a:pt x="829" y="1824"/>
                </a:lnTo>
                <a:lnTo>
                  <a:pt x="837" y="1835"/>
                </a:lnTo>
                <a:lnTo>
                  <a:pt x="849" y="1844"/>
                </a:lnTo>
                <a:lnTo>
                  <a:pt x="863" y="1847"/>
                </a:lnTo>
                <a:lnTo>
                  <a:pt x="3216" y="1847"/>
                </a:lnTo>
                <a:lnTo>
                  <a:pt x="3232" y="1844"/>
                </a:lnTo>
                <a:lnTo>
                  <a:pt x="3243" y="1835"/>
                </a:lnTo>
                <a:lnTo>
                  <a:pt x="3250" y="1824"/>
                </a:lnTo>
                <a:lnTo>
                  <a:pt x="3254" y="1810"/>
                </a:lnTo>
                <a:lnTo>
                  <a:pt x="3254" y="459"/>
                </a:lnTo>
                <a:lnTo>
                  <a:pt x="3250" y="444"/>
                </a:lnTo>
                <a:lnTo>
                  <a:pt x="3243" y="433"/>
                </a:lnTo>
                <a:lnTo>
                  <a:pt x="3232" y="425"/>
                </a:lnTo>
                <a:lnTo>
                  <a:pt x="3216" y="421"/>
                </a:lnTo>
                <a:lnTo>
                  <a:pt x="863" y="421"/>
                </a:lnTo>
                <a:close/>
                <a:moveTo>
                  <a:pt x="863" y="306"/>
                </a:moveTo>
                <a:lnTo>
                  <a:pt x="3216" y="306"/>
                </a:lnTo>
                <a:lnTo>
                  <a:pt x="3247" y="310"/>
                </a:lnTo>
                <a:lnTo>
                  <a:pt x="3276" y="319"/>
                </a:lnTo>
                <a:lnTo>
                  <a:pt x="3301" y="333"/>
                </a:lnTo>
                <a:lnTo>
                  <a:pt x="3324" y="352"/>
                </a:lnTo>
                <a:lnTo>
                  <a:pt x="3343" y="373"/>
                </a:lnTo>
                <a:lnTo>
                  <a:pt x="3356" y="400"/>
                </a:lnTo>
                <a:lnTo>
                  <a:pt x="3365" y="428"/>
                </a:lnTo>
                <a:lnTo>
                  <a:pt x="3368" y="459"/>
                </a:lnTo>
                <a:lnTo>
                  <a:pt x="3368" y="1810"/>
                </a:lnTo>
                <a:lnTo>
                  <a:pt x="3365" y="1840"/>
                </a:lnTo>
                <a:lnTo>
                  <a:pt x="3356" y="1868"/>
                </a:lnTo>
                <a:lnTo>
                  <a:pt x="3343" y="1895"/>
                </a:lnTo>
                <a:lnTo>
                  <a:pt x="3324" y="1917"/>
                </a:lnTo>
                <a:lnTo>
                  <a:pt x="3301" y="1935"/>
                </a:lnTo>
                <a:lnTo>
                  <a:pt x="3276" y="1949"/>
                </a:lnTo>
                <a:lnTo>
                  <a:pt x="3247" y="1958"/>
                </a:lnTo>
                <a:lnTo>
                  <a:pt x="3216" y="1962"/>
                </a:lnTo>
                <a:lnTo>
                  <a:pt x="863" y="1962"/>
                </a:lnTo>
                <a:lnTo>
                  <a:pt x="833" y="1958"/>
                </a:lnTo>
                <a:lnTo>
                  <a:pt x="804" y="1949"/>
                </a:lnTo>
                <a:lnTo>
                  <a:pt x="779" y="1935"/>
                </a:lnTo>
                <a:lnTo>
                  <a:pt x="756" y="1917"/>
                </a:lnTo>
                <a:lnTo>
                  <a:pt x="737" y="1895"/>
                </a:lnTo>
                <a:lnTo>
                  <a:pt x="723" y="1868"/>
                </a:lnTo>
                <a:lnTo>
                  <a:pt x="714" y="1840"/>
                </a:lnTo>
                <a:lnTo>
                  <a:pt x="712" y="1810"/>
                </a:lnTo>
                <a:lnTo>
                  <a:pt x="712" y="459"/>
                </a:lnTo>
                <a:lnTo>
                  <a:pt x="714" y="428"/>
                </a:lnTo>
                <a:lnTo>
                  <a:pt x="723" y="400"/>
                </a:lnTo>
                <a:lnTo>
                  <a:pt x="737" y="373"/>
                </a:lnTo>
                <a:lnTo>
                  <a:pt x="756" y="352"/>
                </a:lnTo>
                <a:lnTo>
                  <a:pt x="779" y="333"/>
                </a:lnTo>
                <a:lnTo>
                  <a:pt x="804" y="319"/>
                </a:lnTo>
                <a:lnTo>
                  <a:pt x="833" y="310"/>
                </a:lnTo>
                <a:lnTo>
                  <a:pt x="863" y="306"/>
                </a:lnTo>
                <a:close/>
                <a:moveTo>
                  <a:pt x="707" y="114"/>
                </a:moveTo>
                <a:lnTo>
                  <a:pt x="676" y="117"/>
                </a:lnTo>
                <a:lnTo>
                  <a:pt x="649" y="127"/>
                </a:lnTo>
                <a:lnTo>
                  <a:pt x="625" y="142"/>
                </a:lnTo>
                <a:lnTo>
                  <a:pt x="604" y="162"/>
                </a:lnTo>
                <a:lnTo>
                  <a:pt x="589" y="188"/>
                </a:lnTo>
                <a:lnTo>
                  <a:pt x="579" y="214"/>
                </a:lnTo>
                <a:lnTo>
                  <a:pt x="575" y="244"/>
                </a:lnTo>
                <a:lnTo>
                  <a:pt x="575" y="2085"/>
                </a:lnTo>
                <a:lnTo>
                  <a:pt x="579" y="2114"/>
                </a:lnTo>
                <a:lnTo>
                  <a:pt x="589" y="2142"/>
                </a:lnTo>
                <a:lnTo>
                  <a:pt x="604" y="2166"/>
                </a:lnTo>
                <a:lnTo>
                  <a:pt x="625" y="2188"/>
                </a:lnTo>
                <a:lnTo>
                  <a:pt x="649" y="2203"/>
                </a:lnTo>
                <a:lnTo>
                  <a:pt x="676" y="2213"/>
                </a:lnTo>
                <a:lnTo>
                  <a:pt x="707" y="2215"/>
                </a:lnTo>
                <a:lnTo>
                  <a:pt x="1605" y="2215"/>
                </a:lnTo>
                <a:lnTo>
                  <a:pt x="1623" y="2219"/>
                </a:lnTo>
                <a:lnTo>
                  <a:pt x="1639" y="2227"/>
                </a:lnTo>
                <a:lnTo>
                  <a:pt x="1650" y="2239"/>
                </a:lnTo>
                <a:lnTo>
                  <a:pt x="1659" y="2254"/>
                </a:lnTo>
                <a:lnTo>
                  <a:pt x="1662" y="2273"/>
                </a:lnTo>
                <a:lnTo>
                  <a:pt x="1662" y="2275"/>
                </a:lnTo>
                <a:lnTo>
                  <a:pt x="1661" y="2277"/>
                </a:lnTo>
                <a:lnTo>
                  <a:pt x="1662" y="2280"/>
                </a:lnTo>
                <a:lnTo>
                  <a:pt x="1662" y="2282"/>
                </a:lnTo>
                <a:lnTo>
                  <a:pt x="1659" y="2301"/>
                </a:lnTo>
                <a:lnTo>
                  <a:pt x="1652" y="2316"/>
                </a:lnTo>
                <a:lnTo>
                  <a:pt x="1639" y="2329"/>
                </a:lnTo>
                <a:lnTo>
                  <a:pt x="1623" y="2336"/>
                </a:lnTo>
                <a:lnTo>
                  <a:pt x="1605" y="2340"/>
                </a:lnTo>
                <a:lnTo>
                  <a:pt x="191" y="2340"/>
                </a:lnTo>
                <a:lnTo>
                  <a:pt x="317" y="2474"/>
                </a:lnTo>
                <a:lnTo>
                  <a:pt x="3840" y="2474"/>
                </a:lnTo>
                <a:lnTo>
                  <a:pt x="3971" y="2340"/>
                </a:lnTo>
                <a:lnTo>
                  <a:pt x="2558" y="2340"/>
                </a:lnTo>
                <a:lnTo>
                  <a:pt x="2539" y="2336"/>
                </a:lnTo>
                <a:lnTo>
                  <a:pt x="2522" y="2328"/>
                </a:lnTo>
                <a:lnTo>
                  <a:pt x="2511" y="2315"/>
                </a:lnTo>
                <a:lnTo>
                  <a:pt x="2503" y="2297"/>
                </a:lnTo>
                <a:lnTo>
                  <a:pt x="2498" y="2286"/>
                </a:lnTo>
                <a:lnTo>
                  <a:pt x="2497" y="2273"/>
                </a:lnTo>
                <a:lnTo>
                  <a:pt x="2500" y="2254"/>
                </a:lnTo>
                <a:lnTo>
                  <a:pt x="2508" y="2239"/>
                </a:lnTo>
                <a:lnTo>
                  <a:pt x="2520" y="2227"/>
                </a:lnTo>
                <a:lnTo>
                  <a:pt x="2536" y="2219"/>
                </a:lnTo>
                <a:lnTo>
                  <a:pt x="2554" y="2215"/>
                </a:lnTo>
                <a:lnTo>
                  <a:pt x="3384" y="2215"/>
                </a:lnTo>
                <a:lnTo>
                  <a:pt x="3414" y="2213"/>
                </a:lnTo>
                <a:lnTo>
                  <a:pt x="3442" y="2203"/>
                </a:lnTo>
                <a:lnTo>
                  <a:pt x="3466" y="2188"/>
                </a:lnTo>
                <a:lnTo>
                  <a:pt x="3486" y="2166"/>
                </a:lnTo>
                <a:lnTo>
                  <a:pt x="3502" y="2142"/>
                </a:lnTo>
                <a:lnTo>
                  <a:pt x="3512" y="2114"/>
                </a:lnTo>
                <a:lnTo>
                  <a:pt x="3515" y="2085"/>
                </a:lnTo>
                <a:lnTo>
                  <a:pt x="3515" y="244"/>
                </a:lnTo>
                <a:lnTo>
                  <a:pt x="3512" y="214"/>
                </a:lnTo>
                <a:lnTo>
                  <a:pt x="3502" y="188"/>
                </a:lnTo>
                <a:lnTo>
                  <a:pt x="3486" y="162"/>
                </a:lnTo>
                <a:lnTo>
                  <a:pt x="3466" y="142"/>
                </a:lnTo>
                <a:lnTo>
                  <a:pt x="3442" y="127"/>
                </a:lnTo>
                <a:lnTo>
                  <a:pt x="3414" y="117"/>
                </a:lnTo>
                <a:lnTo>
                  <a:pt x="3384" y="114"/>
                </a:lnTo>
                <a:lnTo>
                  <a:pt x="707" y="114"/>
                </a:lnTo>
                <a:close/>
                <a:moveTo>
                  <a:pt x="707" y="0"/>
                </a:moveTo>
                <a:lnTo>
                  <a:pt x="3384" y="0"/>
                </a:lnTo>
                <a:lnTo>
                  <a:pt x="3428" y="3"/>
                </a:lnTo>
                <a:lnTo>
                  <a:pt x="3470" y="15"/>
                </a:lnTo>
                <a:lnTo>
                  <a:pt x="3508" y="32"/>
                </a:lnTo>
                <a:lnTo>
                  <a:pt x="3542" y="58"/>
                </a:lnTo>
                <a:lnTo>
                  <a:pt x="3572" y="87"/>
                </a:lnTo>
                <a:lnTo>
                  <a:pt x="3596" y="121"/>
                </a:lnTo>
                <a:lnTo>
                  <a:pt x="3614" y="159"/>
                </a:lnTo>
                <a:lnTo>
                  <a:pt x="3625" y="200"/>
                </a:lnTo>
                <a:lnTo>
                  <a:pt x="3629" y="244"/>
                </a:lnTo>
                <a:lnTo>
                  <a:pt x="3629" y="2085"/>
                </a:lnTo>
                <a:lnTo>
                  <a:pt x="3626" y="2123"/>
                </a:lnTo>
                <a:lnTo>
                  <a:pt x="3618" y="2160"/>
                </a:lnTo>
                <a:lnTo>
                  <a:pt x="3604" y="2194"/>
                </a:lnTo>
                <a:lnTo>
                  <a:pt x="3585" y="2225"/>
                </a:lnTo>
                <a:lnTo>
                  <a:pt x="4107" y="2225"/>
                </a:lnTo>
                <a:lnTo>
                  <a:pt x="4124" y="2228"/>
                </a:lnTo>
                <a:lnTo>
                  <a:pt x="4139" y="2235"/>
                </a:lnTo>
                <a:lnTo>
                  <a:pt x="4150" y="2246"/>
                </a:lnTo>
                <a:lnTo>
                  <a:pt x="4159" y="2261"/>
                </a:lnTo>
                <a:lnTo>
                  <a:pt x="4164" y="2277"/>
                </a:lnTo>
                <a:lnTo>
                  <a:pt x="4163" y="2294"/>
                </a:lnTo>
                <a:lnTo>
                  <a:pt x="4158" y="2309"/>
                </a:lnTo>
                <a:lnTo>
                  <a:pt x="4148" y="2323"/>
                </a:lnTo>
                <a:lnTo>
                  <a:pt x="3905" y="2571"/>
                </a:lnTo>
                <a:lnTo>
                  <a:pt x="3893" y="2580"/>
                </a:lnTo>
                <a:lnTo>
                  <a:pt x="3879" y="2586"/>
                </a:lnTo>
                <a:lnTo>
                  <a:pt x="3865" y="2589"/>
                </a:lnTo>
                <a:lnTo>
                  <a:pt x="293" y="2589"/>
                </a:lnTo>
                <a:lnTo>
                  <a:pt x="278" y="2586"/>
                </a:lnTo>
                <a:lnTo>
                  <a:pt x="262" y="2580"/>
                </a:lnTo>
                <a:lnTo>
                  <a:pt x="251" y="2570"/>
                </a:lnTo>
                <a:lnTo>
                  <a:pt x="15" y="2323"/>
                </a:lnTo>
                <a:lnTo>
                  <a:pt x="6" y="2309"/>
                </a:lnTo>
                <a:lnTo>
                  <a:pt x="1" y="2292"/>
                </a:lnTo>
                <a:lnTo>
                  <a:pt x="0" y="2276"/>
                </a:lnTo>
                <a:lnTo>
                  <a:pt x="5" y="2259"/>
                </a:lnTo>
                <a:lnTo>
                  <a:pt x="14" y="2246"/>
                </a:lnTo>
                <a:lnTo>
                  <a:pt x="25" y="2234"/>
                </a:lnTo>
                <a:lnTo>
                  <a:pt x="40" y="2228"/>
                </a:lnTo>
                <a:lnTo>
                  <a:pt x="57" y="2225"/>
                </a:lnTo>
                <a:lnTo>
                  <a:pt x="506" y="2225"/>
                </a:lnTo>
                <a:lnTo>
                  <a:pt x="487" y="2194"/>
                </a:lnTo>
                <a:lnTo>
                  <a:pt x="473" y="2160"/>
                </a:lnTo>
                <a:lnTo>
                  <a:pt x="464" y="2123"/>
                </a:lnTo>
                <a:lnTo>
                  <a:pt x="462" y="2085"/>
                </a:lnTo>
                <a:lnTo>
                  <a:pt x="462" y="244"/>
                </a:lnTo>
                <a:lnTo>
                  <a:pt x="466" y="200"/>
                </a:lnTo>
                <a:lnTo>
                  <a:pt x="477" y="159"/>
                </a:lnTo>
                <a:lnTo>
                  <a:pt x="495" y="121"/>
                </a:lnTo>
                <a:lnTo>
                  <a:pt x="519" y="87"/>
                </a:lnTo>
                <a:lnTo>
                  <a:pt x="549" y="58"/>
                </a:lnTo>
                <a:lnTo>
                  <a:pt x="583" y="32"/>
                </a:lnTo>
                <a:lnTo>
                  <a:pt x="621" y="15"/>
                </a:lnTo>
                <a:lnTo>
                  <a:pt x="662" y="3"/>
                </a:lnTo>
                <a:lnTo>
                  <a:pt x="707" y="0"/>
                </a:lnTo>
                <a:close/>
              </a:path>
            </a:pathLst>
          </a:custGeom>
          <a:solidFill>
            <a:schemeClr val="tx2">
              <a:lumMod val="75000"/>
              <a:lumOff val="25000"/>
            </a:schemeClr>
          </a:solidFill>
          <a:ln w="0">
            <a:solidFill>
              <a:schemeClr val="tx2">
                <a:lumMod val="75000"/>
                <a:lumOff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49" name="Connector: Elbow 48">
            <a:extLst>
              <a:ext uri="{FF2B5EF4-FFF2-40B4-BE49-F238E27FC236}">
                <a16:creationId xmlns:a16="http://schemas.microsoft.com/office/drawing/2014/main" id="{5D908270-0412-454F-A5F7-D89CBF4BE7AF}"/>
              </a:ext>
            </a:extLst>
          </p:cNvPr>
          <p:cNvCxnSpPr/>
          <p:nvPr/>
        </p:nvCxnSpPr>
        <p:spPr>
          <a:xfrm rot="10800000" flipV="1">
            <a:off x="2342194" y="771834"/>
            <a:ext cx="530870" cy="361711"/>
          </a:xfrm>
          <a:prstGeom prst="bentConnector3">
            <a:avLst>
              <a:gd name="adj1" fmla="val 57407"/>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F873B3A-0BE6-4504-9B7F-752CA0F48F04}"/>
              </a:ext>
            </a:extLst>
          </p:cNvPr>
          <p:cNvCxnSpPr>
            <a:cxnSpLocks/>
          </p:cNvCxnSpPr>
          <p:nvPr/>
        </p:nvCxnSpPr>
        <p:spPr>
          <a:xfrm>
            <a:off x="2796835" y="1149999"/>
            <a:ext cx="747643" cy="0"/>
          </a:xfrm>
          <a:prstGeom prst="line">
            <a:avLst/>
          </a:prstGeom>
          <a:ln w="19050">
            <a:solidFill>
              <a:schemeClr val="tx2">
                <a:lumMod val="75000"/>
                <a:lumOff val="25000"/>
              </a:schemeClr>
            </a:solidFill>
            <a:prstDash val="dash"/>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22D8C350-A08C-4983-A4E6-A642568F0D61}"/>
              </a:ext>
            </a:extLst>
          </p:cNvPr>
          <p:cNvCxnSpPr>
            <a:cxnSpLocks/>
          </p:cNvCxnSpPr>
          <p:nvPr/>
        </p:nvCxnSpPr>
        <p:spPr>
          <a:xfrm>
            <a:off x="2933376" y="1237721"/>
            <a:ext cx="658236" cy="0"/>
          </a:xfrm>
          <a:prstGeom prst="line">
            <a:avLst/>
          </a:prstGeom>
          <a:ln w="19050">
            <a:solidFill>
              <a:schemeClr val="tx2">
                <a:lumMod val="75000"/>
                <a:lumOff val="25000"/>
              </a:schemeClr>
            </a:solidFill>
            <a:prstDash val="dash"/>
          </a:ln>
        </p:spPr>
        <p:style>
          <a:lnRef idx="1">
            <a:schemeClr val="dk1"/>
          </a:lnRef>
          <a:fillRef idx="0">
            <a:schemeClr val="dk1"/>
          </a:fillRef>
          <a:effectRef idx="0">
            <a:schemeClr val="dk1"/>
          </a:effectRef>
          <a:fontRef idx="minor">
            <a:schemeClr val="tx1"/>
          </a:fontRef>
        </p:style>
      </p:cxnSp>
      <p:pic>
        <p:nvPicPr>
          <p:cNvPr id="52" name="Picture 51">
            <a:extLst>
              <a:ext uri="{FF2B5EF4-FFF2-40B4-BE49-F238E27FC236}">
                <a16:creationId xmlns:a16="http://schemas.microsoft.com/office/drawing/2014/main" id="{A0716F2C-C953-444B-ABAE-2ACCA87250EE}"/>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441998" y="782939"/>
            <a:ext cx="647719" cy="667833"/>
          </a:xfrm>
          <a:prstGeom prst="rect">
            <a:avLst/>
          </a:prstGeom>
        </p:spPr>
      </p:pic>
      <p:sp>
        <p:nvSpPr>
          <p:cNvPr id="53" name="Freeform 6">
            <a:extLst>
              <a:ext uri="{FF2B5EF4-FFF2-40B4-BE49-F238E27FC236}">
                <a16:creationId xmlns:a16="http://schemas.microsoft.com/office/drawing/2014/main" id="{F8FC9C4D-F988-4CB0-9A76-0B762AC0B6D3}"/>
              </a:ext>
            </a:extLst>
          </p:cNvPr>
          <p:cNvSpPr>
            <a:spLocks noChangeAspect="1" noEditPoints="1"/>
          </p:cNvSpPr>
          <p:nvPr/>
        </p:nvSpPr>
        <p:spPr bwMode="auto">
          <a:xfrm rot="20625851">
            <a:off x="1177229" y="646331"/>
            <a:ext cx="426668" cy="541448"/>
          </a:xfrm>
          <a:custGeom>
            <a:avLst/>
            <a:gdLst>
              <a:gd name="T0" fmla="*/ 741 w 2478"/>
              <a:gd name="T1" fmla="*/ 3516 h 4032"/>
              <a:gd name="T2" fmla="*/ 774 w 2478"/>
              <a:gd name="T3" fmla="*/ 3668 h 4032"/>
              <a:gd name="T4" fmla="*/ 929 w 2478"/>
              <a:gd name="T5" fmla="*/ 3668 h 4032"/>
              <a:gd name="T6" fmla="*/ 963 w 2478"/>
              <a:gd name="T7" fmla="*/ 3516 h 4032"/>
              <a:gd name="T8" fmla="*/ 852 w 2478"/>
              <a:gd name="T9" fmla="*/ 3336 h 4032"/>
              <a:gd name="T10" fmla="*/ 1054 w 2478"/>
              <a:gd name="T11" fmla="*/ 3453 h 4032"/>
              <a:gd name="T12" fmla="*/ 1054 w 2478"/>
              <a:gd name="T13" fmla="*/ 3689 h 4032"/>
              <a:gd name="T14" fmla="*/ 852 w 2478"/>
              <a:gd name="T15" fmla="*/ 3806 h 4032"/>
              <a:gd name="T16" fmla="*/ 649 w 2478"/>
              <a:gd name="T17" fmla="*/ 3689 h 4032"/>
              <a:gd name="T18" fmla="*/ 649 w 2478"/>
              <a:gd name="T19" fmla="*/ 3453 h 4032"/>
              <a:gd name="T20" fmla="*/ 852 w 2478"/>
              <a:gd name="T21" fmla="*/ 3336 h 4032"/>
              <a:gd name="T22" fmla="*/ 293 w 2478"/>
              <a:gd name="T23" fmla="*/ 3121 h 4032"/>
              <a:gd name="T24" fmla="*/ 1382 w 2478"/>
              <a:gd name="T25" fmla="*/ 3156 h 4032"/>
              <a:gd name="T26" fmla="*/ 1394 w 2478"/>
              <a:gd name="T27" fmla="*/ 1258 h 4032"/>
              <a:gd name="T28" fmla="*/ 1397 w 2478"/>
              <a:gd name="T29" fmla="*/ 1139 h 4032"/>
              <a:gd name="T30" fmla="*/ 1514 w 2478"/>
              <a:gd name="T31" fmla="*/ 1255 h 4032"/>
              <a:gd name="T32" fmla="*/ 1473 w 2478"/>
              <a:gd name="T33" fmla="*/ 3227 h 4032"/>
              <a:gd name="T34" fmla="*/ 303 w 2478"/>
              <a:gd name="T35" fmla="*/ 3267 h 4032"/>
              <a:gd name="T36" fmla="*/ 186 w 2478"/>
              <a:gd name="T37" fmla="*/ 3151 h 4032"/>
              <a:gd name="T38" fmla="*/ 227 w 2478"/>
              <a:gd name="T39" fmla="*/ 1179 h 4032"/>
              <a:gd name="T40" fmla="*/ 1037 w 2478"/>
              <a:gd name="T41" fmla="*/ 966 h 4032"/>
              <a:gd name="T42" fmla="*/ 1091 w 2478"/>
              <a:gd name="T43" fmla="*/ 1040 h 4032"/>
              <a:gd name="T44" fmla="*/ 636 w 2478"/>
              <a:gd name="T45" fmla="*/ 1074 h 4032"/>
              <a:gd name="T46" fmla="*/ 609 w 2478"/>
              <a:gd name="T47" fmla="*/ 988 h 4032"/>
              <a:gd name="T48" fmla="*/ 186 w 2478"/>
              <a:gd name="T49" fmla="*/ 894 h 4032"/>
              <a:gd name="T50" fmla="*/ 110 w 2478"/>
              <a:gd name="T51" fmla="*/ 3786 h 4032"/>
              <a:gd name="T52" fmla="*/ 214 w 2478"/>
              <a:gd name="T53" fmla="*/ 3917 h 4032"/>
              <a:gd name="T54" fmla="*/ 1553 w 2478"/>
              <a:gd name="T55" fmla="*/ 3871 h 4032"/>
              <a:gd name="T56" fmla="*/ 1569 w 2478"/>
              <a:gd name="T57" fmla="*/ 955 h 4032"/>
              <a:gd name="T58" fmla="*/ 246 w 2478"/>
              <a:gd name="T59" fmla="*/ 880 h 4032"/>
              <a:gd name="T60" fmla="*/ 1593 w 2478"/>
              <a:gd name="T61" fmla="*/ 816 h 4032"/>
              <a:gd name="T62" fmla="*/ 1693 w 2478"/>
              <a:gd name="T63" fmla="*/ 1015 h 4032"/>
              <a:gd name="T64" fmla="*/ 1621 w 2478"/>
              <a:gd name="T65" fmla="*/ 3960 h 4032"/>
              <a:gd name="T66" fmla="*/ 246 w 2478"/>
              <a:gd name="T67" fmla="*/ 4032 h 4032"/>
              <a:gd name="T68" fmla="*/ 46 w 2478"/>
              <a:gd name="T69" fmla="*/ 3932 h 4032"/>
              <a:gd name="T70" fmla="*/ 2 w 2478"/>
              <a:gd name="T71" fmla="*/ 975 h 4032"/>
              <a:gd name="T72" fmla="*/ 132 w 2478"/>
              <a:gd name="T73" fmla="*/ 797 h 4032"/>
              <a:gd name="T74" fmla="*/ 1647 w 2478"/>
              <a:gd name="T75" fmla="*/ 601 h 4032"/>
              <a:gd name="T76" fmla="*/ 1855 w 2478"/>
              <a:gd name="T77" fmla="*/ 784 h 4032"/>
              <a:gd name="T78" fmla="*/ 1862 w 2478"/>
              <a:gd name="T79" fmla="*/ 935 h 4032"/>
              <a:gd name="T80" fmla="*/ 1786 w 2478"/>
              <a:gd name="T81" fmla="*/ 918 h 4032"/>
              <a:gd name="T82" fmla="*/ 1660 w 2478"/>
              <a:gd name="T83" fmla="*/ 731 h 4032"/>
              <a:gd name="T84" fmla="*/ 1499 w 2478"/>
              <a:gd name="T85" fmla="*/ 662 h 4032"/>
              <a:gd name="T86" fmla="*/ 1536 w 2478"/>
              <a:gd name="T87" fmla="*/ 580 h 4032"/>
              <a:gd name="T88" fmla="*/ 1840 w 2478"/>
              <a:gd name="T89" fmla="*/ 365 h 4032"/>
              <a:gd name="T90" fmla="*/ 2111 w 2478"/>
              <a:gd name="T91" fmla="*/ 641 h 4032"/>
              <a:gd name="T92" fmla="*/ 2188 w 2478"/>
              <a:gd name="T93" fmla="*/ 1030 h 4032"/>
              <a:gd name="T94" fmla="*/ 2127 w 2478"/>
              <a:gd name="T95" fmla="*/ 1079 h 4032"/>
              <a:gd name="T96" fmla="*/ 2081 w 2478"/>
              <a:gd name="T97" fmla="*/ 957 h 4032"/>
              <a:gd name="T98" fmla="*/ 1971 w 2478"/>
              <a:gd name="T99" fmla="*/ 626 h 4032"/>
              <a:gd name="T100" fmla="*/ 1691 w 2478"/>
              <a:gd name="T101" fmla="*/ 422 h 4032"/>
              <a:gd name="T102" fmla="*/ 1523 w 2478"/>
              <a:gd name="T103" fmla="*/ 353 h 4032"/>
              <a:gd name="T104" fmla="*/ 1583 w 2478"/>
              <a:gd name="T105" fmla="*/ 286 h 4032"/>
              <a:gd name="T106" fmla="*/ 1995 w 2478"/>
              <a:gd name="T107" fmla="*/ 125 h 4032"/>
              <a:gd name="T108" fmla="*/ 2330 w 2478"/>
              <a:gd name="T109" fmla="*/ 447 h 4032"/>
              <a:gd name="T110" fmla="*/ 2476 w 2478"/>
              <a:gd name="T111" fmla="*/ 894 h 4032"/>
              <a:gd name="T112" fmla="*/ 2434 w 2478"/>
              <a:gd name="T113" fmla="*/ 1107 h 4032"/>
              <a:gd name="T114" fmla="*/ 2363 w 2478"/>
              <a:gd name="T115" fmla="*/ 1065 h 4032"/>
              <a:gd name="T116" fmla="*/ 2318 w 2478"/>
              <a:gd name="T117" fmla="*/ 676 h 4032"/>
              <a:gd name="T118" fmla="*/ 2075 w 2478"/>
              <a:gd name="T119" fmla="*/ 316 h 4032"/>
              <a:gd name="T120" fmla="*/ 1677 w 2478"/>
              <a:gd name="T121" fmla="*/ 122 h 4032"/>
              <a:gd name="T122" fmla="*/ 1551 w 2478"/>
              <a:gd name="T123" fmla="*/ 50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78" h="4032">
                <a:moveTo>
                  <a:pt x="852" y="3447"/>
                </a:moveTo>
                <a:lnTo>
                  <a:pt x="823" y="3450"/>
                </a:lnTo>
                <a:lnTo>
                  <a:pt x="797" y="3460"/>
                </a:lnTo>
                <a:lnTo>
                  <a:pt x="774" y="3475"/>
                </a:lnTo>
                <a:lnTo>
                  <a:pt x="756" y="3493"/>
                </a:lnTo>
                <a:lnTo>
                  <a:pt x="741" y="3516"/>
                </a:lnTo>
                <a:lnTo>
                  <a:pt x="731" y="3542"/>
                </a:lnTo>
                <a:lnTo>
                  <a:pt x="727" y="3571"/>
                </a:lnTo>
                <a:lnTo>
                  <a:pt x="731" y="3599"/>
                </a:lnTo>
                <a:lnTo>
                  <a:pt x="741" y="3625"/>
                </a:lnTo>
                <a:lnTo>
                  <a:pt x="756" y="3648"/>
                </a:lnTo>
                <a:lnTo>
                  <a:pt x="774" y="3668"/>
                </a:lnTo>
                <a:lnTo>
                  <a:pt x="797" y="3683"/>
                </a:lnTo>
                <a:lnTo>
                  <a:pt x="823" y="3691"/>
                </a:lnTo>
                <a:lnTo>
                  <a:pt x="852" y="3695"/>
                </a:lnTo>
                <a:lnTo>
                  <a:pt x="880" y="3691"/>
                </a:lnTo>
                <a:lnTo>
                  <a:pt x="906" y="3683"/>
                </a:lnTo>
                <a:lnTo>
                  <a:pt x="929" y="3668"/>
                </a:lnTo>
                <a:lnTo>
                  <a:pt x="949" y="3648"/>
                </a:lnTo>
                <a:lnTo>
                  <a:pt x="963" y="3625"/>
                </a:lnTo>
                <a:lnTo>
                  <a:pt x="972" y="3599"/>
                </a:lnTo>
                <a:lnTo>
                  <a:pt x="976" y="3571"/>
                </a:lnTo>
                <a:lnTo>
                  <a:pt x="972" y="3542"/>
                </a:lnTo>
                <a:lnTo>
                  <a:pt x="963" y="3516"/>
                </a:lnTo>
                <a:lnTo>
                  <a:pt x="949" y="3493"/>
                </a:lnTo>
                <a:lnTo>
                  <a:pt x="929" y="3475"/>
                </a:lnTo>
                <a:lnTo>
                  <a:pt x="906" y="3460"/>
                </a:lnTo>
                <a:lnTo>
                  <a:pt x="880" y="3450"/>
                </a:lnTo>
                <a:lnTo>
                  <a:pt x="852" y="3447"/>
                </a:lnTo>
                <a:close/>
                <a:moveTo>
                  <a:pt x="852" y="3336"/>
                </a:moveTo>
                <a:lnTo>
                  <a:pt x="894" y="3340"/>
                </a:lnTo>
                <a:lnTo>
                  <a:pt x="934" y="3351"/>
                </a:lnTo>
                <a:lnTo>
                  <a:pt x="970" y="3369"/>
                </a:lnTo>
                <a:lnTo>
                  <a:pt x="1003" y="3392"/>
                </a:lnTo>
                <a:lnTo>
                  <a:pt x="1031" y="3420"/>
                </a:lnTo>
                <a:lnTo>
                  <a:pt x="1054" y="3453"/>
                </a:lnTo>
                <a:lnTo>
                  <a:pt x="1072" y="3490"/>
                </a:lnTo>
                <a:lnTo>
                  <a:pt x="1083" y="3529"/>
                </a:lnTo>
                <a:lnTo>
                  <a:pt x="1087" y="3571"/>
                </a:lnTo>
                <a:lnTo>
                  <a:pt x="1083" y="3613"/>
                </a:lnTo>
                <a:lnTo>
                  <a:pt x="1072" y="3653"/>
                </a:lnTo>
                <a:lnTo>
                  <a:pt x="1054" y="3689"/>
                </a:lnTo>
                <a:lnTo>
                  <a:pt x="1031" y="3722"/>
                </a:lnTo>
                <a:lnTo>
                  <a:pt x="1003" y="3750"/>
                </a:lnTo>
                <a:lnTo>
                  <a:pt x="970" y="3773"/>
                </a:lnTo>
                <a:lnTo>
                  <a:pt x="934" y="3791"/>
                </a:lnTo>
                <a:lnTo>
                  <a:pt x="894" y="3802"/>
                </a:lnTo>
                <a:lnTo>
                  <a:pt x="852" y="3806"/>
                </a:lnTo>
                <a:lnTo>
                  <a:pt x="809" y="3802"/>
                </a:lnTo>
                <a:lnTo>
                  <a:pt x="770" y="3791"/>
                </a:lnTo>
                <a:lnTo>
                  <a:pt x="734" y="3773"/>
                </a:lnTo>
                <a:lnTo>
                  <a:pt x="701" y="3750"/>
                </a:lnTo>
                <a:lnTo>
                  <a:pt x="672" y="3722"/>
                </a:lnTo>
                <a:lnTo>
                  <a:pt x="649" y="3689"/>
                </a:lnTo>
                <a:lnTo>
                  <a:pt x="632" y="3653"/>
                </a:lnTo>
                <a:lnTo>
                  <a:pt x="621" y="3613"/>
                </a:lnTo>
                <a:lnTo>
                  <a:pt x="617" y="3571"/>
                </a:lnTo>
                <a:lnTo>
                  <a:pt x="621" y="3529"/>
                </a:lnTo>
                <a:lnTo>
                  <a:pt x="632" y="3490"/>
                </a:lnTo>
                <a:lnTo>
                  <a:pt x="649" y="3453"/>
                </a:lnTo>
                <a:lnTo>
                  <a:pt x="672" y="3420"/>
                </a:lnTo>
                <a:lnTo>
                  <a:pt x="701" y="3392"/>
                </a:lnTo>
                <a:lnTo>
                  <a:pt x="734" y="3369"/>
                </a:lnTo>
                <a:lnTo>
                  <a:pt x="770" y="3351"/>
                </a:lnTo>
                <a:lnTo>
                  <a:pt x="809" y="3340"/>
                </a:lnTo>
                <a:lnTo>
                  <a:pt x="852" y="3336"/>
                </a:lnTo>
                <a:close/>
                <a:moveTo>
                  <a:pt x="333" y="1246"/>
                </a:moveTo>
                <a:lnTo>
                  <a:pt x="318" y="1250"/>
                </a:lnTo>
                <a:lnTo>
                  <a:pt x="306" y="1258"/>
                </a:lnTo>
                <a:lnTo>
                  <a:pt x="297" y="1271"/>
                </a:lnTo>
                <a:lnTo>
                  <a:pt x="293" y="1285"/>
                </a:lnTo>
                <a:lnTo>
                  <a:pt x="293" y="3121"/>
                </a:lnTo>
                <a:lnTo>
                  <a:pt x="297" y="3135"/>
                </a:lnTo>
                <a:lnTo>
                  <a:pt x="306" y="3147"/>
                </a:lnTo>
                <a:lnTo>
                  <a:pt x="318" y="3156"/>
                </a:lnTo>
                <a:lnTo>
                  <a:pt x="333" y="3160"/>
                </a:lnTo>
                <a:lnTo>
                  <a:pt x="1367" y="3160"/>
                </a:lnTo>
                <a:lnTo>
                  <a:pt x="1382" y="3156"/>
                </a:lnTo>
                <a:lnTo>
                  <a:pt x="1395" y="3147"/>
                </a:lnTo>
                <a:lnTo>
                  <a:pt x="1402" y="3135"/>
                </a:lnTo>
                <a:lnTo>
                  <a:pt x="1406" y="3121"/>
                </a:lnTo>
                <a:lnTo>
                  <a:pt x="1406" y="1285"/>
                </a:lnTo>
                <a:lnTo>
                  <a:pt x="1402" y="1271"/>
                </a:lnTo>
                <a:lnTo>
                  <a:pt x="1394" y="1258"/>
                </a:lnTo>
                <a:lnTo>
                  <a:pt x="1382" y="1250"/>
                </a:lnTo>
                <a:lnTo>
                  <a:pt x="1367" y="1246"/>
                </a:lnTo>
                <a:lnTo>
                  <a:pt x="333" y="1246"/>
                </a:lnTo>
                <a:close/>
                <a:moveTo>
                  <a:pt x="333" y="1135"/>
                </a:moveTo>
                <a:lnTo>
                  <a:pt x="1367" y="1135"/>
                </a:lnTo>
                <a:lnTo>
                  <a:pt x="1397" y="1139"/>
                </a:lnTo>
                <a:lnTo>
                  <a:pt x="1426" y="1147"/>
                </a:lnTo>
                <a:lnTo>
                  <a:pt x="1451" y="1161"/>
                </a:lnTo>
                <a:lnTo>
                  <a:pt x="1473" y="1179"/>
                </a:lnTo>
                <a:lnTo>
                  <a:pt x="1492" y="1202"/>
                </a:lnTo>
                <a:lnTo>
                  <a:pt x="1505" y="1227"/>
                </a:lnTo>
                <a:lnTo>
                  <a:pt x="1514" y="1255"/>
                </a:lnTo>
                <a:lnTo>
                  <a:pt x="1517" y="1285"/>
                </a:lnTo>
                <a:lnTo>
                  <a:pt x="1517" y="3121"/>
                </a:lnTo>
                <a:lnTo>
                  <a:pt x="1514" y="3151"/>
                </a:lnTo>
                <a:lnTo>
                  <a:pt x="1505" y="3179"/>
                </a:lnTo>
                <a:lnTo>
                  <a:pt x="1492" y="3204"/>
                </a:lnTo>
                <a:lnTo>
                  <a:pt x="1473" y="3227"/>
                </a:lnTo>
                <a:lnTo>
                  <a:pt x="1451" y="3245"/>
                </a:lnTo>
                <a:lnTo>
                  <a:pt x="1426" y="3259"/>
                </a:lnTo>
                <a:lnTo>
                  <a:pt x="1397" y="3267"/>
                </a:lnTo>
                <a:lnTo>
                  <a:pt x="1367" y="3271"/>
                </a:lnTo>
                <a:lnTo>
                  <a:pt x="333" y="3271"/>
                </a:lnTo>
                <a:lnTo>
                  <a:pt x="303" y="3267"/>
                </a:lnTo>
                <a:lnTo>
                  <a:pt x="275" y="3259"/>
                </a:lnTo>
                <a:lnTo>
                  <a:pt x="249" y="3245"/>
                </a:lnTo>
                <a:lnTo>
                  <a:pt x="227" y="3227"/>
                </a:lnTo>
                <a:lnTo>
                  <a:pt x="209" y="3204"/>
                </a:lnTo>
                <a:lnTo>
                  <a:pt x="194" y="3179"/>
                </a:lnTo>
                <a:lnTo>
                  <a:pt x="186" y="3151"/>
                </a:lnTo>
                <a:lnTo>
                  <a:pt x="183" y="3121"/>
                </a:lnTo>
                <a:lnTo>
                  <a:pt x="183" y="1285"/>
                </a:lnTo>
                <a:lnTo>
                  <a:pt x="186" y="1255"/>
                </a:lnTo>
                <a:lnTo>
                  <a:pt x="194" y="1227"/>
                </a:lnTo>
                <a:lnTo>
                  <a:pt x="209" y="1202"/>
                </a:lnTo>
                <a:lnTo>
                  <a:pt x="227" y="1179"/>
                </a:lnTo>
                <a:lnTo>
                  <a:pt x="249" y="1161"/>
                </a:lnTo>
                <a:lnTo>
                  <a:pt x="275" y="1147"/>
                </a:lnTo>
                <a:lnTo>
                  <a:pt x="303" y="1139"/>
                </a:lnTo>
                <a:lnTo>
                  <a:pt x="333" y="1135"/>
                </a:lnTo>
                <a:close/>
                <a:moveTo>
                  <a:pt x="654" y="966"/>
                </a:moveTo>
                <a:lnTo>
                  <a:pt x="1037" y="966"/>
                </a:lnTo>
                <a:lnTo>
                  <a:pt x="1055" y="969"/>
                </a:lnTo>
                <a:lnTo>
                  <a:pt x="1070" y="977"/>
                </a:lnTo>
                <a:lnTo>
                  <a:pt x="1082" y="988"/>
                </a:lnTo>
                <a:lnTo>
                  <a:pt x="1091" y="1004"/>
                </a:lnTo>
                <a:lnTo>
                  <a:pt x="1093" y="1021"/>
                </a:lnTo>
                <a:lnTo>
                  <a:pt x="1091" y="1040"/>
                </a:lnTo>
                <a:lnTo>
                  <a:pt x="1082" y="1054"/>
                </a:lnTo>
                <a:lnTo>
                  <a:pt x="1070" y="1067"/>
                </a:lnTo>
                <a:lnTo>
                  <a:pt x="1055" y="1074"/>
                </a:lnTo>
                <a:lnTo>
                  <a:pt x="1037" y="1078"/>
                </a:lnTo>
                <a:lnTo>
                  <a:pt x="654" y="1078"/>
                </a:lnTo>
                <a:lnTo>
                  <a:pt x="636" y="1074"/>
                </a:lnTo>
                <a:lnTo>
                  <a:pt x="621" y="1067"/>
                </a:lnTo>
                <a:lnTo>
                  <a:pt x="609" y="1054"/>
                </a:lnTo>
                <a:lnTo>
                  <a:pt x="602" y="1040"/>
                </a:lnTo>
                <a:lnTo>
                  <a:pt x="598" y="1021"/>
                </a:lnTo>
                <a:lnTo>
                  <a:pt x="602" y="1004"/>
                </a:lnTo>
                <a:lnTo>
                  <a:pt x="609" y="988"/>
                </a:lnTo>
                <a:lnTo>
                  <a:pt x="621" y="977"/>
                </a:lnTo>
                <a:lnTo>
                  <a:pt x="636" y="969"/>
                </a:lnTo>
                <a:lnTo>
                  <a:pt x="654" y="966"/>
                </a:lnTo>
                <a:close/>
                <a:moveTo>
                  <a:pt x="246" y="880"/>
                </a:moveTo>
                <a:lnTo>
                  <a:pt x="214" y="883"/>
                </a:lnTo>
                <a:lnTo>
                  <a:pt x="186" y="894"/>
                </a:lnTo>
                <a:lnTo>
                  <a:pt x="161" y="910"/>
                </a:lnTo>
                <a:lnTo>
                  <a:pt x="141" y="931"/>
                </a:lnTo>
                <a:lnTo>
                  <a:pt x="125" y="955"/>
                </a:lnTo>
                <a:lnTo>
                  <a:pt x="114" y="985"/>
                </a:lnTo>
                <a:lnTo>
                  <a:pt x="110" y="1015"/>
                </a:lnTo>
                <a:lnTo>
                  <a:pt x="110" y="3786"/>
                </a:lnTo>
                <a:lnTo>
                  <a:pt x="114" y="3817"/>
                </a:lnTo>
                <a:lnTo>
                  <a:pt x="125" y="3845"/>
                </a:lnTo>
                <a:lnTo>
                  <a:pt x="141" y="3871"/>
                </a:lnTo>
                <a:lnTo>
                  <a:pt x="161" y="3891"/>
                </a:lnTo>
                <a:lnTo>
                  <a:pt x="186" y="3907"/>
                </a:lnTo>
                <a:lnTo>
                  <a:pt x="214" y="3917"/>
                </a:lnTo>
                <a:lnTo>
                  <a:pt x="246" y="3921"/>
                </a:lnTo>
                <a:lnTo>
                  <a:pt x="1448" y="3921"/>
                </a:lnTo>
                <a:lnTo>
                  <a:pt x="1479" y="3917"/>
                </a:lnTo>
                <a:lnTo>
                  <a:pt x="1507" y="3907"/>
                </a:lnTo>
                <a:lnTo>
                  <a:pt x="1532" y="3891"/>
                </a:lnTo>
                <a:lnTo>
                  <a:pt x="1553" y="3871"/>
                </a:lnTo>
                <a:lnTo>
                  <a:pt x="1569" y="3845"/>
                </a:lnTo>
                <a:lnTo>
                  <a:pt x="1580" y="3817"/>
                </a:lnTo>
                <a:lnTo>
                  <a:pt x="1583" y="3786"/>
                </a:lnTo>
                <a:lnTo>
                  <a:pt x="1583" y="1015"/>
                </a:lnTo>
                <a:lnTo>
                  <a:pt x="1580" y="985"/>
                </a:lnTo>
                <a:lnTo>
                  <a:pt x="1569" y="955"/>
                </a:lnTo>
                <a:lnTo>
                  <a:pt x="1553" y="931"/>
                </a:lnTo>
                <a:lnTo>
                  <a:pt x="1532" y="910"/>
                </a:lnTo>
                <a:lnTo>
                  <a:pt x="1507" y="894"/>
                </a:lnTo>
                <a:lnTo>
                  <a:pt x="1479" y="883"/>
                </a:lnTo>
                <a:lnTo>
                  <a:pt x="1448" y="880"/>
                </a:lnTo>
                <a:lnTo>
                  <a:pt x="246" y="880"/>
                </a:lnTo>
                <a:close/>
                <a:moveTo>
                  <a:pt x="246" y="770"/>
                </a:moveTo>
                <a:lnTo>
                  <a:pt x="1448" y="770"/>
                </a:lnTo>
                <a:lnTo>
                  <a:pt x="1488" y="772"/>
                </a:lnTo>
                <a:lnTo>
                  <a:pt x="1526" y="782"/>
                </a:lnTo>
                <a:lnTo>
                  <a:pt x="1561" y="797"/>
                </a:lnTo>
                <a:lnTo>
                  <a:pt x="1593" y="816"/>
                </a:lnTo>
                <a:lnTo>
                  <a:pt x="1621" y="842"/>
                </a:lnTo>
                <a:lnTo>
                  <a:pt x="1647" y="870"/>
                </a:lnTo>
                <a:lnTo>
                  <a:pt x="1666" y="902"/>
                </a:lnTo>
                <a:lnTo>
                  <a:pt x="1681" y="937"/>
                </a:lnTo>
                <a:lnTo>
                  <a:pt x="1691" y="975"/>
                </a:lnTo>
                <a:lnTo>
                  <a:pt x="1693" y="1015"/>
                </a:lnTo>
                <a:lnTo>
                  <a:pt x="1693" y="3786"/>
                </a:lnTo>
                <a:lnTo>
                  <a:pt x="1691" y="3826"/>
                </a:lnTo>
                <a:lnTo>
                  <a:pt x="1681" y="3863"/>
                </a:lnTo>
                <a:lnTo>
                  <a:pt x="1666" y="3899"/>
                </a:lnTo>
                <a:lnTo>
                  <a:pt x="1647" y="3932"/>
                </a:lnTo>
                <a:lnTo>
                  <a:pt x="1621" y="3960"/>
                </a:lnTo>
                <a:lnTo>
                  <a:pt x="1593" y="3984"/>
                </a:lnTo>
                <a:lnTo>
                  <a:pt x="1561" y="4005"/>
                </a:lnTo>
                <a:lnTo>
                  <a:pt x="1526" y="4020"/>
                </a:lnTo>
                <a:lnTo>
                  <a:pt x="1488" y="4028"/>
                </a:lnTo>
                <a:lnTo>
                  <a:pt x="1448" y="4032"/>
                </a:lnTo>
                <a:lnTo>
                  <a:pt x="246" y="4032"/>
                </a:lnTo>
                <a:lnTo>
                  <a:pt x="205" y="4028"/>
                </a:lnTo>
                <a:lnTo>
                  <a:pt x="167" y="4020"/>
                </a:lnTo>
                <a:lnTo>
                  <a:pt x="132" y="4005"/>
                </a:lnTo>
                <a:lnTo>
                  <a:pt x="100" y="3984"/>
                </a:lnTo>
                <a:lnTo>
                  <a:pt x="72" y="3960"/>
                </a:lnTo>
                <a:lnTo>
                  <a:pt x="46" y="3932"/>
                </a:lnTo>
                <a:lnTo>
                  <a:pt x="27" y="3899"/>
                </a:lnTo>
                <a:lnTo>
                  <a:pt x="12" y="3863"/>
                </a:lnTo>
                <a:lnTo>
                  <a:pt x="2" y="3826"/>
                </a:lnTo>
                <a:lnTo>
                  <a:pt x="0" y="3786"/>
                </a:lnTo>
                <a:lnTo>
                  <a:pt x="0" y="1015"/>
                </a:lnTo>
                <a:lnTo>
                  <a:pt x="2" y="975"/>
                </a:lnTo>
                <a:lnTo>
                  <a:pt x="12" y="937"/>
                </a:lnTo>
                <a:lnTo>
                  <a:pt x="27" y="902"/>
                </a:lnTo>
                <a:lnTo>
                  <a:pt x="46" y="870"/>
                </a:lnTo>
                <a:lnTo>
                  <a:pt x="72" y="842"/>
                </a:lnTo>
                <a:lnTo>
                  <a:pt x="100" y="816"/>
                </a:lnTo>
                <a:lnTo>
                  <a:pt x="132" y="797"/>
                </a:lnTo>
                <a:lnTo>
                  <a:pt x="167" y="782"/>
                </a:lnTo>
                <a:lnTo>
                  <a:pt x="205" y="772"/>
                </a:lnTo>
                <a:lnTo>
                  <a:pt x="246" y="770"/>
                </a:lnTo>
                <a:close/>
                <a:moveTo>
                  <a:pt x="1553" y="579"/>
                </a:moveTo>
                <a:lnTo>
                  <a:pt x="1600" y="586"/>
                </a:lnTo>
                <a:lnTo>
                  <a:pt x="1647" y="601"/>
                </a:lnTo>
                <a:lnTo>
                  <a:pt x="1690" y="619"/>
                </a:lnTo>
                <a:lnTo>
                  <a:pt x="1731" y="644"/>
                </a:lnTo>
                <a:lnTo>
                  <a:pt x="1768" y="673"/>
                </a:lnTo>
                <a:lnTo>
                  <a:pt x="1801" y="706"/>
                </a:lnTo>
                <a:lnTo>
                  <a:pt x="1830" y="744"/>
                </a:lnTo>
                <a:lnTo>
                  <a:pt x="1855" y="784"/>
                </a:lnTo>
                <a:lnTo>
                  <a:pt x="1873" y="828"/>
                </a:lnTo>
                <a:lnTo>
                  <a:pt x="1888" y="875"/>
                </a:lnTo>
                <a:lnTo>
                  <a:pt x="1888" y="893"/>
                </a:lnTo>
                <a:lnTo>
                  <a:pt x="1884" y="909"/>
                </a:lnTo>
                <a:lnTo>
                  <a:pt x="1875" y="924"/>
                </a:lnTo>
                <a:lnTo>
                  <a:pt x="1862" y="935"/>
                </a:lnTo>
                <a:lnTo>
                  <a:pt x="1845" y="942"/>
                </a:lnTo>
                <a:lnTo>
                  <a:pt x="1839" y="942"/>
                </a:lnTo>
                <a:lnTo>
                  <a:pt x="1833" y="943"/>
                </a:lnTo>
                <a:lnTo>
                  <a:pt x="1814" y="940"/>
                </a:lnTo>
                <a:lnTo>
                  <a:pt x="1798" y="931"/>
                </a:lnTo>
                <a:lnTo>
                  <a:pt x="1786" y="918"/>
                </a:lnTo>
                <a:lnTo>
                  <a:pt x="1779" y="899"/>
                </a:lnTo>
                <a:lnTo>
                  <a:pt x="1765" y="859"/>
                </a:lnTo>
                <a:lnTo>
                  <a:pt x="1747" y="820"/>
                </a:lnTo>
                <a:lnTo>
                  <a:pt x="1723" y="786"/>
                </a:lnTo>
                <a:lnTo>
                  <a:pt x="1695" y="756"/>
                </a:lnTo>
                <a:lnTo>
                  <a:pt x="1660" y="731"/>
                </a:lnTo>
                <a:lnTo>
                  <a:pt x="1624" y="711"/>
                </a:lnTo>
                <a:lnTo>
                  <a:pt x="1583" y="696"/>
                </a:lnTo>
                <a:lnTo>
                  <a:pt x="1542" y="689"/>
                </a:lnTo>
                <a:lnTo>
                  <a:pt x="1525" y="684"/>
                </a:lnTo>
                <a:lnTo>
                  <a:pt x="1510" y="676"/>
                </a:lnTo>
                <a:lnTo>
                  <a:pt x="1499" y="662"/>
                </a:lnTo>
                <a:lnTo>
                  <a:pt x="1493" y="646"/>
                </a:lnTo>
                <a:lnTo>
                  <a:pt x="1492" y="628"/>
                </a:lnTo>
                <a:lnTo>
                  <a:pt x="1496" y="611"/>
                </a:lnTo>
                <a:lnTo>
                  <a:pt x="1506" y="597"/>
                </a:lnTo>
                <a:lnTo>
                  <a:pt x="1520" y="586"/>
                </a:lnTo>
                <a:lnTo>
                  <a:pt x="1536" y="580"/>
                </a:lnTo>
                <a:lnTo>
                  <a:pt x="1553" y="579"/>
                </a:lnTo>
                <a:close/>
                <a:moveTo>
                  <a:pt x="1583" y="286"/>
                </a:moveTo>
                <a:lnTo>
                  <a:pt x="1652" y="296"/>
                </a:lnTo>
                <a:lnTo>
                  <a:pt x="1718" y="313"/>
                </a:lnTo>
                <a:lnTo>
                  <a:pt x="1780" y="336"/>
                </a:lnTo>
                <a:lnTo>
                  <a:pt x="1840" y="365"/>
                </a:lnTo>
                <a:lnTo>
                  <a:pt x="1896" y="401"/>
                </a:lnTo>
                <a:lnTo>
                  <a:pt x="1948" y="440"/>
                </a:lnTo>
                <a:lnTo>
                  <a:pt x="1997" y="484"/>
                </a:lnTo>
                <a:lnTo>
                  <a:pt x="2039" y="533"/>
                </a:lnTo>
                <a:lnTo>
                  <a:pt x="2078" y="585"/>
                </a:lnTo>
                <a:lnTo>
                  <a:pt x="2111" y="641"/>
                </a:lnTo>
                <a:lnTo>
                  <a:pt x="2140" y="700"/>
                </a:lnTo>
                <a:lnTo>
                  <a:pt x="2162" y="762"/>
                </a:lnTo>
                <a:lnTo>
                  <a:pt x="2179" y="826"/>
                </a:lnTo>
                <a:lnTo>
                  <a:pt x="2188" y="893"/>
                </a:lnTo>
                <a:lnTo>
                  <a:pt x="2192" y="960"/>
                </a:lnTo>
                <a:lnTo>
                  <a:pt x="2188" y="1030"/>
                </a:lnTo>
                <a:lnTo>
                  <a:pt x="2184" y="1046"/>
                </a:lnTo>
                <a:lnTo>
                  <a:pt x="2175" y="1059"/>
                </a:lnTo>
                <a:lnTo>
                  <a:pt x="2164" y="1070"/>
                </a:lnTo>
                <a:lnTo>
                  <a:pt x="2149" y="1078"/>
                </a:lnTo>
                <a:lnTo>
                  <a:pt x="2132" y="1079"/>
                </a:lnTo>
                <a:lnTo>
                  <a:pt x="2127" y="1079"/>
                </a:lnTo>
                <a:lnTo>
                  <a:pt x="2110" y="1074"/>
                </a:lnTo>
                <a:lnTo>
                  <a:pt x="2096" y="1065"/>
                </a:lnTo>
                <a:lnTo>
                  <a:pt x="2085" y="1052"/>
                </a:lnTo>
                <a:lnTo>
                  <a:pt x="2078" y="1036"/>
                </a:lnTo>
                <a:lnTo>
                  <a:pt x="2077" y="1018"/>
                </a:lnTo>
                <a:lnTo>
                  <a:pt x="2081" y="957"/>
                </a:lnTo>
                <a:lnTo>
                  <a:pt x="2077" y="896"/>
                </a:lnTo>
                <a:lnTo>
                  <a:pt x="2067" y="837"/>
                </a:lnTo>
                <a:lnTo>
                  <a:pt x="2052" y="781"/>
                </a:lnTo>
                <a:lnTo>
                  <a:pt x="2030" y="726"/>
                </a:lnTo>
                <a:lnTo>
                  <a:pt x="2003" y="674"/>
                </a:lnTo>
                <a:lnTo>
                  <a:pt x="1971" y="626"/>
                </a:lnTo>
                <a:lnTo>
                  <a:pt x="1934" y="580"/>
                </a:lnTo>
                <a:lnTo>
                  <a:pt x="1894" y="539"/>
                </a:lnTo>
                <a:lnTo>
                  <a:pt x="1849" y="502"/>
                </a:lnTo>
                <a:lnTo>
                  <a:pt x="1800" y="470"/>
                </a:lnTo>
                <a:lnTo>
                  <a:pt x="1747" y="444"/>
                </a:lnTo>
                <a:lnTo>
                  <a:pt x="1691" y="422"/>
                </a:lnTo>
                <a:lnTo>
                  <a:pt x="1632" y="406"/>
                </a:lnTo>
                <a:lnTo>
                  <a:pt x="1571" y="396"/>
                </a:lnTo>
                <a:lnTo>
                  <a:pt x="1554" y="391"/>
                </a:lnTo>
                <a:lnTo>
                  <a:pt x="1540" y="381"/>
                </a:lnTo>
                <a:lnTo>
                  <a:pt x="1529" y="369"/>
                </a:lnTo>
                <a:lnTo>
                  <a:pt x="1523" y="353"/>
                </a:lnTo>
                <a:lnTo>
                  <a:pt x="1522" y="335"/>
                </a:lnTo>
                <a:lnTo>
                  <a:pt x="1527" y="318"/>
                </a:lnTo>
                <a:lnTo>
                  <a:pt x="1536" y="303"/>
                </a:lnTo>
                <a:lnTo>
                  <a:pt x="1549" y="293"/>
                </a:lnTo>
                <a:lnTo>
                  <a:pt x="1565" y="287"/>
                </a:lnTo>
                <a:lnTo>
                  <a:pt x="1583" y="286"/>
                </a:lnTo>
                <a:close/>
                <a:moveTo>
                  <a:pt x="1613" y="0"/>
                </a:moveTo>
                <a:lnTo>
                  <a:pt x="1695" y="12"/>
                </a:lnTo>
                <a:lnTo>
                  <a:pt x="1775" y="31"/>
                </a:lnTo>
                <a:lnTo>
                  <a:pt x="1851" y="56"/>
                </a:lnTo>
                <a:lnTo>
                  <a:pt x="1926" y="87"/>
                </a:lnTo>
                <a:lnTo>
                  <a:pt x="1995" y="125"/>
                </a:lnTo>
                <a:lnTo>
                  <a:pt x="2063" y="166"/>
                </a:lnTo>
                <a:lnTo>
                  <a:pt x="2125" y="214"/>
                </a:lnTo>
                <a:lnTo>
                  <a:pt x="2182" y="265"/>
                </a:lnTo>
                <a:lnTo>
                  <a:pt x="2237" y="323"/>
                </a:lnTo>
                <a:lnTo>
                  <a:pt x="2286" y="382"/>
                </a:lnTo>
                <a:lnTo>
                  <a:pt x="2330" y="447"/>
                </a:lnTo>
                <a:lnTo>
                  <a:pt x="2369" y="514"/>
                </a:lnTo>
                <a:lnTo>
                  <a:pt x="2402" y="585"/>
                </a:lnTo>
                <a:lnTo>
                  <a:pt x="2431" y="660"/>
                </a:lnTo>
                <a:lnTo>
                  <a:pt x="2453" y="736"/>
                </a:lnTo>
                <a:lnTo>
                  <a:pt x="2467" y="814"/>
                </a:lnTo>
                <a:lnTo>
                  <a:pt x="2476" y="894"/>
                </a:lnTo>
                <a:lnTo>
                  <a:pt x="2478" y="976"/>
                </a:lnTo>
                <a:lnTo>
                  <a:pt x="2473" y="1059"/>
                </a:lnTo>
                <a:lnTo>
                  <a:pt x="2470" y="1075"/>
                </a:lnTo>
                <a:lnTo>
                  <a:pt x="2461" y="1089"/>
                </a:lnTo>
                <a:lnTo>
                  <a:pt x="2449" y="1100"/>
                </a:lnTo>
                <a:lnTo>
                  <a:pt x="2434" y="1107"/>
                </a:lnTo>
                <a:lnTo>
                  <a:pt x="2418" y="1109"/>
                </a:lnTo>
                <a:lnTo>
                  <a:pt x="2412" y="1108"/>
                </a:lnTo>
                <a:lnTo>
                  <a:pt x="2395" y="1105"/>
                </a:lnTo>
                <a:lnTo>
                  <a:pt x="2380" y="1095"/>
                </a:lnTo>
                <a:lnTo>
                  <a:pt x="2371" y="1081"/>
                </a:lnTo>
                <a:lnTo>
                  <a:pt x="2363" y="1065"/>
                </a:lnTo>
                <a:lnTo>
                  <a:pt x="2363" y="1048"/>
                </a:lnTo>
                <a:lnTo>
                  <a:pt x="2367" y="970"/>
                </a:lnTo>
                <a:lnTo>
                  <a:pt x="2365" y="894"/>
                </a:lnTo>
                <a:lnTo>
                  <a:pt x="2356" y="819"/>
                </a:lnTo>
                <a:lnTo>
                  <a:pt x="2340" y="747"/>
                </a:lnTo>
                <a:lnTo>
                  <a:pt x="2318" y="676"/>
                </a:lnTo>
                <a:lnTo>
                  <a:pt x="2291" y="607"/>
                </a:lnTo>
                <a:lnTo>
                  <a:pt x="2258" y="542"/>
                </a:lnTo>
                <a:lnTo>
                  <a:pt x="2219" y="480"/>
                </a:lnTo>
                <a:lnTo>
                  <a:pt x="2176" y="422"/>
                </a:lnTo>
                <a:lnTo>
                  <a:pt x="2127" y="368"/>
                </a:lnTo>
                <a:lnTo>
                  <a:pt x="2075" y="316"/>
                </a:lnTo>
                <a:lnTo>
                  <a:pt x="2017" y="271"/>
                </a:lnTo>
                <a:lnTo>
                  <a:pt x="1956" y="230"/>
                </a:lnTo>
                <a:lnTo>
                  <a:pt x="1891" y="194"/>
                </a:lnTo>
                <a:lnTo>
                  <a:pt x="1824" y="165"/>
                </a:lnTo>
                <a:lnTo>
                  <a:pt x="1752" y="141"/>
                </a:lnTo>
                <a:lnTo>
                  <a:pt x="1677" y="122"/>
                </a:lnTo>
                <a:lnTo>
                  <a:pt x="1602" y="111"/>
                </a:lnTo>
                <a:lnTo>
                  <a:pt x="1584" y="106"/>
                </a:lnTo>
                <a:lnTo>
                  <a:pt x="1570" y="97"/>
                </a:lnTo>
                <a:lnTo>
                  <a:pt x="1559" y="83"/>
                </a:lnTo>
                <a:lnTo>
                  <a:pt x="1553" y="67"/>
                </a:lnTo>
                <a:lnTo>
                  <a:pt x="1551" y="50"/>
                </a:lnTo>
                <a:lnTo>
                  <a:pt x="1556" y="33"/>
                </a:lnTo>
                <a:lnTo>
                  <a:pt x="1566" y="18"/>
                </a:lnTo>
                <a:lnTo>
                  <a:pt x="1578" y="7"/>
                </a:lnTo>
                <a:lnTo>
                  <a:pt x="1594" y="1"/>
                </a:lnTo>
                <a:lnTo>
                  <a:pt x="1613"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54" name="Group 53">
            <a:extLst>
              <a:ext uri="{FF2B5EF4-FFF2-40B4-BE49-F238E27FC236}">
                <a16:creationId xmlns:a16="http://schemas.microsoft.com/office/drawing/2014/main" id="{B2B4FEC8-E56E-49E5-AA1C-CC40326EA9A2}"/>
              </a:ext>
            </a:extLst>
          </p:cNvPr>
          <p:cNvGrpSpPr/>
          <p:nvPr/>
        </p:nvGrpSpPr>
        <p:grpSpPr>
          <a:xfrm>
            <a:off x="452490" y="907167"/>
            <a:ext cx="631506" cy="442674"/>
            <a:chOff x="329939" y="907167"/>
            <a:chExt cx="631506" cy="442674"/>
          </a:xfrm>
        </p:grpSpPr>
        <p:pic>
          <p:nvPicPr>
            <p:cNvPr id="55" name="Picture 54">
              <a:extLst>
                <a:ext uri="{FF2B5EF4-FFF2-40B4-BE49-F238E27FC236}">
                  <a16:creationId xmlns:a16="http://schemas.microsoft.com/office/drawing/2014/main" id="{3F86EEBA-0C8C-4EBC-9C20-0DF50F7F3987}"/>
                </a:ext>
              </a:extLst>
            </p:cNvPr>
            <p:cNvPicPr>
              <a:picLocks noChangeAspect="1"/>
            </p:cNvPicPr>
            <p:nvPr/>
          </p:nvPicPr>
          <p:blipFill>
            <a:blip r:embed="rId4"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80385" y="948203"/>
              <a:ext cx="281060" cy="301292"/>
            </a:xfrm>
            <a:prstGeom prst="rect">
              <a:avLst/>
            </a:prstGeom>
          </p:spPr>
        </p:pic>
        <p:sp>
          <p:nvSpPr>
            <p:cNvPr id="56" name="Freeform 16">
              <a:extLst>
                <a:ext uri="{FF2B5EF4-FFF2-40B4-BE49-F238E27FC236}">
                  <a16:creationId xmlns:a16="http://schemas.microsoft.com/office/drawing/2014/main" id="{2D18DD5D-2B80-475B-BFEA-618EF8978E85}"/>
                </a:ext>
              </a:extLst>
            </p:cNvPr>
            <p:cNvSpPr>
              <a:spLocks noChangeAspect="1" noEditPoints="1"/>
            </p:cNvSpPr>
            <p:nvPr/>
          </p:nvSpPr>
          <p:spPr bwMode="auto">
            <a:xfrm>
              <a:off x="329939" y="907167"/>
              <a:ext cx="517317" cy="442674"/>
            </a:xfrm>
            <a:custGeom>
              <a:avLst/>
              <a:gdLst>
                <a:gd name="T0" fmla="*/ 1289 w 2648"/>
                <a:gd name="T1" fmla="*/ 3122 h 3456"/>
                <a:gd name="T2" fmla="*/ 1289 w 2648"/>
                <a:gd name="T3" fmla="*/ 3182 h 3456"/>
                <a:gd name="T4" fmla="*/ 1344 w 2648"/>
                <a:gd name="T5" fmla="*/ 3199 h 3456"/>
                <a:gd name="T6" fmla="*/ 1379 w 2648"/>
                <a:gd name="T7" fmla="*/ 3152 h 3456"/>
                <a:gd name="T8" fmla="*/ 1344 w 2648"/>
                <a:gd name="T9" fmla="*/ 3104 h 3456"/>
                <a:gd name="T10" fmla="*/ 1385 w 2648"/>
                <a:gd name="T11" fmla="*/ 3019 h 3456"/>
                <a:gd name="T12" fmla="*/ 1461 w 2648"/>
                <a:gd name="T13" fmla="*/ 3096 h 3456"/>
                <a:gd name="T14" fmla="*/ 1461 w 2648"/>
                <a:gd name="T15" fmla="*/ 3208 h 3456"/>
                <a:gd name="T16" fmla="*/ 1385 w 2648"/>
                <a:gd name="T17" fmla="*/ 3284 h 3456"/>
                <a:gd name="T18" fmla="*/ 1273 w 2648"/>
                <a:gd name="T19" fmla="*/ 3284 h 3456"/>
                <a:gd name="T20" fmla="*/ 1197 w 2648"/>
                <a:gd name="T21" fmla="*/ 3208 h 3456"/>
                <a:gd name="T22" fmla="*/ 1197 w 2648"/>
                <a:gd name="T23" fmla="*/ 3096 h 3456"/>
                <a:gd name="T24" fmla="*/ 1273 w 2648"/>
                <a:gd name="T25" fmla="*/ 3019 h 3456"/>
                <a:gd name="T26" fmla="*/ 322 w 2648"/>
                <a:gd name="T27" fmla="*/ 362 h 3456"/>
                <a:gd name="T28" fmla="*/ 298 w 2648"/>
                <a:gd name="T29" fmla="*/ 2806 h 3456"/>
                <a:gd name="T30" fmla="*/ 338 w 2648"/>
                <a:gd name="T31" fmla="*/ 2844 h 3456"/>
                <a:gd name="T32" fmla="*/ 2359 w 2648"/>
                <a:gd name="T33" fmla="*/ 2820 h 3456"/>
                <a:gd name="T34" fmla="*/ 2350 w 2648"/>
                <a:gd name="T35" fmla="*/ 371 h 3456"/>
                <a:gd name="T36" fmla="*/ 338 w 2648"/>
                <a:gd name="T37" fmla="*/ 266 h 3456"/>
                <a:gd name="T38" fmla="*/ 2398 w 2648"/>
                <a:gd name="T39" fmla="*/ 288 h 3456"/>
                <a:gd name="T40" fmla="*/ 2453 w 2648"/>
                <a:gd name="T41" fmla="*/ 372 h 3456"/>
                <a:gd name="T42" fmla="*/ 2446 w 2648"/>
                <a:gd name="T43" fmla="*/ 2857 h 3456"/>
                <a:gd name="T44" fmla="*/ 2375 w 2648"/>
                <a:gd name="T45" fmla="*/ 2927 h 3456"/>
                <a:gd name="T46" fmla="*/ 311 w 2648"/>
                <a:gd name="T47" fmla="*/ 2936 h 3456"/>
                <a:gd name="T48" fmla="*/ 228 w 2648"/>
                <a:gd name="T49" fmla="*/ 2879 h 3456"/>
                <a:gd name="T50" fmla="*/ 205 w 2648"/>
                <a:gd name="T51" fmla="*/ 398 h 3456"/>
                <a:gd name="T52" fmla="*/ 244 w 2648"/>
                <a:gd name="T53" fmla="*/ 305 h 3456"/>
                <a:gd name="T54" fmla="*/ 338 w 2648"/>
                <a:gd name="T55" fmla="*/ 266 h 3456"/>
                <a:gd name="T56" fmla="*/ 151 w 2648"/>
                <a:gd name="T57" fmla="*/ 116 h 3456"/>
                <a:gd name="T58" fmla="*/ 96 w 2648"/>
                <a:gd name="T59" fmla="*/ 197 h 3456"/>
                <a:gd name="T60" fmla="*/ 105 w 2648"/>
                <a:gd name="T61" fmla="*/ 3283 h 3456"/>
                <a:gd name="T62" fmla="*/ 173 w 2648"/>
                <a:gd name="T63" fmla="*/ 3352 h 3456"/>
                <a:gd name="T64" fmla="*/ 2452 w 2648"/>
                <a:gd name="T65" fmla="*/ 3360 h 3456"/>
                <a:gd name="T66" fmla="*/ 2533 w 2648"/>
                <a:gd name="T67" fmla="*/ 3305 h 3456"/>
                <a:gd name="T68" fmla="*/ 2554 w 2648"/>
                <a:gd name="T69" fmla="*/ 222 h 3456"/>
                <a:gd name="T70" fmla="*/ 2517 w 2648"/>
                <a:gd name="T71" fmla="*/ 132 h 3456"/>
                <a:gd name="T72" fmla="*/ 2426 w 2648"/>
                <a:gd name="T73" fmla="*/ 94 h 3456"/>
                <a:gd name="T74" fmla="*/ 2461 w 2648"/>
                <a:gd name="T75" fmla="*/ 3 h 3456"/>
                <a:gd name="T76" fmla="*/ 2583 w 2648"/>
                <a:gd name="T77" fmla="*/ 65 h 3456"/>
                <a:gd name="T78" fmla="*/ 2644 w 2648"/>
                <a:gd name="T79" fmla="*/ 186 h 3456"/>
                <a:gd name="T80" fmla="*/ 2636 w 2648"/>
                <a:gd name="T81" fmla="*/ 3304 h 3456"/>
                <a:gd name="T82" fmla="*/ 2557 w 2648"/>
                <a:gd name="T83" fmla="*/ 3413 h 3456"/>
                <a:gd name="T84" fmla="*/ 2426 w 2648"/>
                <a:gd name="T85" fmla="*/ 3456 h 3456"/>
                <a:gd name="T86" fmla="*/ 120 w 2648"/>
                <a:gd name="T87" fmla="*/ 3431 h 3456"/>
                <a:gd name="T88" fmla="*/ 25 w 2648"/>
                <a:gd name="T89" fmla="*/ 3336 h 3456"/>
                <a:gd name="T90" fmla="*/ 0 w 2648"/>
                <a:gd name="T91" fmla="*/ 222 h 3456"/>
                <a:gd name="T92" fmla="*/ 43 w 2648"/>
                <a:gd name="T93" fmla="*/ 91 h 3456"/>
                <a:gd name="T94" fmla="*/ 153 w 2648"/>
                <a:gd name="T95" fmla="*/ 12 h 3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48" h="3456">
                  <a:moveTo>
                    <a:pt x="1328" y="3102"/>
                  </a:moveTo>
                  <a:lnTo>
                    <a:pt x="1313" y="3104"/>
                  </a:lnTo>
                  <a:lnTo>
                    <a:pt x="1299" y="3111"/>
                  </a:lnTo>
                  <a:lnTo>
                    <a:pt x="1289" y="3122"/>
                  </a:lnTo>
                  <a:lnTo>
                    <a:pt x="1281" y="3137"/>
                  </a:lnTo>
                  <a:lnTo>
                    <a:pt x="1278" y="3152"/>
                  </a:lnTo>
                  <a:lnTo>
                    <a:pt x="1281" y="3168"/>
                  </a:lnTo>
                  <a:lnTo>
                    <a:pt x="1289" y="3182"/>
                  </a:lnTo>
                  <a:lnTo>
                    <a:pt x="1299" y="3193"/>
                  </a:lnTo>
                  <a:lnTo>
                    <a:pt x="1313" y="3199"/>
                  </a:lnTo>
                  <a:lnTo>
                    <a:pt x="1328" y="3203"/>
                  </a:lnTo>
                  <a:lnTo>
                    <a:pt x="1344" y="3199"/>
                  </a:lnTo>
                  <a:lnTo>
                    <a:pt x="1359" y="3193"/>
                  </a:lnTo>
                  <a:lnTo>
                    <a:pt x="1369" y="3182"/>
                  </a:lnTo>
                  <a:lnTo>
                    <a:pt x="1377" y="3168"/>
                  </a:lnTo>
                  <a:lnTo>
                    <a:pt x="1379" y="3152"/>
                  </a:lnTo>
                  <a:lnTo>
                    <a:pt x="1377" y="3137"/>
                  </a:lnTo>
                  <a:lnTo>
                    <a:pt x="1369" y="3122"/>
                  </a:lnTo>
                  <a:lnTo>
                    <a:pt x="1359" y="3111"/>
                  </a:lnTo>
                  <a:lnTo>
                    <a:pt x="1344" y="3104"/>
                  </a:lnTo>
                  <a:lnTo>
                    <a:pt x="1328" y="3102"/>
                  </a:lnTo>
                  <a:close/>
                  <a:moveTo>
                    <a:pt x="1328" y="3008"/>
                  </a:moveTo>
                  <a:lnTo>
                    <a:pt x="1358" y="3011"/>
                  </a:lnTo>
                  <a:lnTo>
                    <a:pt x="1385" y="3019"/>
                  </a:lnTo>
                  <a:lnTo>
                    <a:pt x="1409" y="3033"/>
                  </a:lnTo>
                  <a:lnTo>
                    <a:pt x="1431" y="3051"/>
                  </a:lnTo>
                  <a:lnTo>
                    <a:pt x="1448" y="3072"/>
                  </a:lnTo>
                  <a:lnTo>
                    <a:pt x="1461" y="3096"/>
                  </a:lnTo>
                  <a:lnTo>
                    <a:pt x="1470" y="3123"/>
                  </a:lnTo>
                  <a:lnTo>
                    <a:pt x="1473" y="3152"/>
                  </a:lnTo>
                  <a:lnTo>
                    <a:pt x="1470" y="3181"/>
                  </a:lnTo>
                  <a:lnTo>
                    <a:pt x="1461" y="3208"/>
                  </a:lnTo>
                  <a:lnTo>
                    <a:pt x="1448" y="3233"/>
                  </a:lnTo>
                  <a:lnTo>
                    <a:pt x="1431" y="3254"/>
                  </a:lnTo>
                  <a:lnTo>
                    <a:pt x="1409" y="3272"/>
                  </a:lnTo>
                  <a:lnTo>
                    <a:pt x="1385" y="3284"/>
                  </a:lnTo>
                  <a:lnTo>
                    <a:pt x="1358" y="3294"/>
                  </a:lnTo>
                  <a:lnTo>
                    <a:pt x="1328" y="3296"/>
                  </a:lnTo>
                  <a:lnTo>
                    <a:pt x="1300" y="3294"/>
                  </a:lnTo>
                  <a:lnTo>
                    <a:pt x="1273" y="3284"/>
                  </a:lnTo>
                  <a:lnTo>
                    <a:pt x="1248" y="3272"/>
                  </a:lnTo>
                  <a:lnTo>
                    <a:pt x="1227" y="3254"/>
                  </a:lnTo>
                  <a:lnTo>
                    <a:pt x="1209" y="3233"/>
                  </a:lnTo>
                  <a:lnTo>
                    <a:pt x="1197" y="3208"/>
                  </a:lnTo>
                  <a:lnTo>
                    <a:pt x="1188" y="3181"/>
                  </a:lnTo>
                  <a:lnTo>
                    <a:pt x="1185" y="3152"/>
                  </a:lnTo>
                  <a:lnTo>
                    <a:pt x="1188" y="3123"/>
                  </a:lnTo>
                  <a:lnTo>
                    <a:pt x="1197" y="3096"/>
                  </a:lnTo>
                  <a:lnTo>
                    <a:pt x="1209" y="3072"/>
                  </a:lnTo>
                  <a:lnTo>
                    <a:pt x="1227" y="3051"/>
                  </a:lnTo>
                  <a:lnTo>
                    <a:pt x="1248" y="3033"/>
                  </a:lnTo>
                  <a:lnTo>
                    <a:pt x="1273" y="3019"/>
                  </a:lnTo>
                  <a:lnTo>
                    <a:pt x="1300" y="3011"/>
                  </a:lnTo>
                  <a:lnTo>
                    <a:pt x="1328" y="3008"/>
                  </a:lnTo>
                  <a:close/>
                  <a:moveTo>
                    <a:pt x="338" y="359"/>
                  </a:moveTo>
                  <a:lnTo>
                    <a:pt x="322" y="362"/>
                  </a:lnTo>
                  <a:lnTo>
                    <a:pt x="310" y="371"/>
                  </a:lnTo>
                  <a:lnTo>
                    <a:pt x="301" y="383"/>
                  </a:lnTo>
                  <a:lnTo>
                    <a:pt x="298" y="398"/>
                  </a:lnTo>
                  <a:lnTo>
                    <a:pt x="298" y="2806"/>
                  </a:lnTo>
                  <a:lnTo>
                    <a:pt x="301" y="2820"/>
                  </a:lnTo>
                  <a:lnTo>
                    <a:pt x="310" y="2833"/>
                  </a:lnTo>
                  <a:lnTo>
                    <a:pt x="322" y="2841"/>
                  </a:lnTo>
                  <a:lnTo>
                    <a:pt x="338" y="2844"/>
                  </a:lnTo>
                  <a:lnTo>
                    <a:pt x="2323" y="2844"/>
                  </a:lnTo>
                  <a:lnTo>
                    <a:pt x="2338" y="2841"/>
                  </a:lnTo>
                  <a:lnTo>
                    <a:pt x="2350" y="2833"/>
                  </a:lnTo>
                  <a:lnTo>
                    <a:pt x="2359" y="2820"/>
                  </a:lnTo>
                  <a:lnTo>
                    <a:pt x="2362" y="2806"/>
                  </a:lnTo>
                  <a:lnTo>
                    <a:pt x="2362" y="398"/>
                  </a:lnTo>
                  <a:lnTo>
                    <a:pt x="2359" y="383"/>
                  </a:lnTo>
                  <a:lnTo>
                    <a:pt x="2350" y="371"/>
                  </a:lnTo>
                  <a:lnTo>
                    <a:pt x="2338" y="362"/>
                  </a:lnTo>
                  <a:lnTo>
                    <a:pt x="2323" y="359"/>
                  </a:lnTo>
                  <a:lnTo>
                    <a:pt x="338" y="359"/>
                  </a:lnTo>
                  <a:close/>
                  <a:moveTo>
                    <a:pt x="338" y="266"/>
                  </a:moveTo>
                  <a:lnTo>
                    <a:pt x="2323" y="266"/>
                  </a:lnTo>
                  <a:lnTo>
                    <a:pt x="2349" y="268"/>
                  </a:lnTo>
                  <a:lnTo>
                    <a:pt x="2375" y="276"/>
                  </a:lnTo>
                  <a:lnTo>
                    <a:pt x="2398" y="288"/>
                  </a:lnTo>
                  <a:lnTo>
                    <a:pt x="2416" y="305"/>
                  </a:lnTo>
                  <a:lnTo>
                    <a:pt x="2433" y="325"/>
                  </a:lnTo>
                  <a:lnTo>
                    <a:pt x="2446" y="347"/>
                  </a:lnTo>
                  <a:lnTo>
                    <a:pt x="2453" y="372"/>
                  </a:lnTo>
                  <a:lnTo>
                    <a:pt x="2456" y="398"/>
                  </a:lnTo>
                  <a:lnTo>
                    <a:pt x="2456" y="2806"/>
                  </a:lnTo>
                  <a:lnTo>
                    <a:pt x="2453" y="2832"/>
                  </a:lnTo>
                  <a:lnTo>
                    <a:pt x="2446" y="2857"/>
                  </a:lnTo>
                  <a:lnTo>
                    <a:pt x="2433" y="2879"/>
                  </a:lnTo>
                  <a:lnTo>
                    <a:pt x="2416" y="2899"/>
                  </a:lnTo>
                  <a:lnTo>
                    <a:pt x="2398" y="2916"/>
                  </a:lnTo>
                  <a:lnTo>
                    <a:pt x="2375" y="2927"/>
                  </a:lnTo>
                  <a:lnTo>
                    <a:pt x="2349" y="2936"/>
                  </a:lnTo>
                  <a:lnTo>
                    <a:pt x="2323" y="2938"/>
                  </a:lnTo>
                  <a:lnTo>
                    <a:pt x="338" y="2938"/>
                  </a:lnTo>
                  <a:lnTo>
                    <a:pt x="311" y="2936"/>
                  </a:lnTo>
                  <a:lnTo>
                    <a:pt x="286" y="2927"/>
                  </a:lnTo>
                  <a:lnTo>
                    <a:pt x="264" y="2916"/>
                  </a:lnTo>
                  <a:lnTo>
                    <a:pt x="244" y="2899"/>
                  </a:lnTo>
                  <a:lnTo>
                    <a:pt x="228" y="2879"/>
                  </a:lnTo>
                  <a:lnTo>
                    <a:pt x="215" y="2857"/>
                  </a:lnTo>
                  <a:lnTo>
                    <a:pt x="208" y="2832"/>
                  </a:lnTo>
                  <a:lnTo>
                    <a:pt x="205" y="2806"/>
                  </a:lnTo>
                  <a:lnTo>
                    <a:pt x="205" y="398"/>
                  </a:lnTo>
                  <a:lnTo>
                    <a:pt x="208" y="372"/>
                  </a:lnTo>
                  <a:lnTo>
                    <a:pt x="215" y="347"/>
                  </a:lnTo>
                  <a:lnTo>
                    <a:pt x="228" y="325"/>
                  </a:lnTo>
                  <a:lnTo>
                    <a:pt x="244" y="305"/>
                  </a:lnTo>
                  <a:lnTo>
                    <a:pt x="264" y="288"/>
                  </a:lnTo>
                  <a:lnTo>
                    <a:pt x="286" y="276"/>
                  </a:lnTo>
                  <a:lnTo>
                    <a:pt x="311" y="268"/>
                  </a:lnTo>
                  <a:lnTo>
                    <a:pt x="338" y="266"/>
                  </a:lnTo>
                  <a:close/>
                  <a:moveTo>
                    <a:pt x="223" y="94"/>
                  </a:moveTo>
                  <a:lnTo>
                    <a:pt x="197" y="96"/>
                  </a:lnTo>
                  <a:lnTo>
                    <a:pt x="173" y="104"/>
                  </a:lnTo>
                  <a:lnTo>
                    <a:pt x="151" y="116"/>
                  </a:lnTo>
                  <a:lnTo>
                    <a:pt x="132" y="132"/>
                  </a:lnTo>
                  <a:lnTo>
                    <a:pt x="116" y="151"/>
                  </a:lnTo>
                  <a:lnTo>
                    <a:pt x="105" y="173"/>
                  </a:lnTo>
                  <a:lnTo>
                    <a:pt x="96" y="197"/>
                  </a:lnTo>
                  <a:lnTo>
                    <a:pt x="94" y="222"/>
                  </a:lnTo>
                  <a:lnTo>
                    <a:pt x="94" y="3234"/>
                  </a:lnTo>
                  <a:lnTo>
                    <a:pt x="96" y="3259"/>
                  </a:lnTo>
                  <a:lnTo>
                    <a:pt x="105" y="3283"/>
                  </a:lnTo>
                  <a:lnTo>
                    <a:pt x="116" y="3305"/>
                  </a:lnTo>
                  <a:lnTo>
                    <a:pt x="132" y="3324"/>
                  </a:lnTo>
                  <a:lnTo>
                    <a:pt x="151" y="3340"/>
                  </a:lnTo>
                  <a:lnTo>
                    <a:pt x="173" y="3352"/>
                  </a:lnTo>
                  <a:lnTo>
                    <a:pt x="197" y="3360"/>
                  </a:lnTo>
                  <a:lnTo>
                    <a:pt x="223" y="3362"/>
                  </a:lnTo>
                  <a:lnTo>
                    <a:pt x="2426" y="3362"/>
                  </a:lnTo>
                  <a:lnTo>
                    <a:pt x="2452" y="3360"/>
                  </a:lnTo>
                  <a:lnTo>
                    <a:pt x="2476" y="3352"/>
                  </a:lnTo>
                  <a:lnTo>
                    <a:pt x="2498" y="3340"/>
                  </a:lnTo>
                  <a:lnTo>
                    <a:pt x="2517" y="3324"/>
                  </a:lnTo>
                  <a:lnTo>
                    <a:pt x="2533" y="3305"/>
                  </a:lnTo>
                  <a:lnTo>
                    <a:pt x="2544" y="3283"/>
                  </a:lnTo>
                  <a:lnTo>
                    <a:pt x="2551" y="3259"/>
                  </a:lnTo>
                  <a:lnTo>
                    <a:pt x="2554" y="3234"/>
                  </a:lnTo>
                  <a:lnTo>
                    <a:pt x="2554" y="222"/>
                  </a:lnTo>
                  <a:lnTo>
                    <a:pt x="2551" y="197"/>
                  </a:lnTo>
                  <a:lnTo>
                    <a:pt x="2544" y="173"/>
                  </a:lnTo>
                  <a:lnTo>
                    <a:pt x="2533" y="151"/>
                  </a:lnTo>
                  <a:lnTo>
                    <a:pt x="2517" y="132"/>
                  </a:lnTo>
                  <a:lnTo>
                    <a:pt x="2498" y="116"/>
                  </a:lnTo>
                  <a:lnTo>
                    <a:pt x="2476" y="104"/>
                  </a:lnTo>
                  <a:lnTo>
                    <a:pt x="2452" y="96"/>
                  </a:lnTo>
                  <a:lnTo>
                    <a:pt x="2426" y="94"/>
                  </a:lnTo>
                  <a:lnTo>
                    <a:pt x="223" y="94"/>
                  </a:lnTo>
                  <a:close/>
                  <a:moveTo>
                    <a:pt x="223" y="0"/>
                  </a:moveTo>
                  <a:lnTo>
                    <a:pt x="2426" y="0"/>
                  </a:lnTo>
                  <a:lnTo>
                    <a:pt x="2461" y="3"/>
                  </a:lnTo>
                  <a:lnTo>
                    <a:pt x="2496" y="12"/>
                  </a:lnTo>
                  <a:lnTo>
                    <a:pt x="2527" y="25"/>
                  </a:lnTo>
                  <a:lnTo>
                    <a:pt x="2557" y="43"/>
                  </a:lnTo>
                  <a:lnTo>
                    <a:pt x="2583" y="65"/>
                  </a:lnTo>
                  <a:lnTo>
                    <a:pt x="2605" y="91"/>
                  </a:lnTo>
                  <a:lnTo>
                    <a:pt x="2622" y="120"/>
                  </a:lnTo>
                  <a:lnTo>
                    <a:pt x="2636" y="152"/>
                  </a:lnTo>
                  <a:lnTo>
                    <a:pt x="2644" y="186"/>
                  </a:lnTo>
                  <a:lnTo>
                    <a:pt x="2648" y="222"/>
                  </a:lnTo>
                  <a:lnTo>
                    <a:pt x="2648" y="3234"/>
                  </a:lnTo>
                  <a:lnTo>
                    <a:pt x="2644" y="3270"/>
                  </a:lnTo>
                  <a:lnTo>
                    <a:pt x="2636" y="3304"/>
                  </a:lnTo>
                  <a:lnTo>
                    <a:pt x="2622" y="3336"/>
                  </a:lnTo>
                  <a:lnTo>
                    <a:pt x="2605" y="3365"/>
                  </a:lnTo>
                  <a:lnTo>
                    <a:pt x="2583" y="3391"/>
                  </a:lnTo>
                  <a:lnTo>
                    <a:pt x="2557" y="3413"/>
                  </a:lnTo>
                  <a:lnTo>
                    <a:pt x="2527" y="3431"/>
                  </a:lnTo>
                  <a:lnTo>
                    <a:pt x="2496" y="3444"/>
                  </a:lnTo>
                  <a:lnTo>
                    <a:pt x="2461" y="3453"/>
                  </a:lnTo>
                  <a:lnTo>
                    <a:pt x="2426" y="3456"/>
                  </a:lnTo>
                  <a:lnTo>
                    <a:pt x="223" y="3456"/>
                  </a:lnTo>
                  <a:lnTo>
                    <a:pt x="186" y="3453"/>
                  </a:lnTo>
                  <a:lnTo>
                    <a:pt x="153" y="3444"/>
                  </a:lnTo>
                  <a:lnTo>
                    <a:pt x="120" y="3431"/>
                  </a:lnTo>
                  <a:lnTo>
                    <a:pt x="91" y="3413"/>
                  </a:lnTo>
                  <a:lnTo>
                    <a:pt x="66" y="3391"/>
                  </a:lnTo>
                  <a:lnTo>
                    <a:pt x="43" y="3365"/>
                  </a:lnTo>
                  <a:lnTo>
                    <a:pt x="25" y="3336"/>
                  </a:lnTo>
                  <a:lnTo>
                    <a:pt x="11" y="3304"/>
                  </a:lnTo>
                  <a:lnTo>
                    <a:pt x="3" y="3270"/>
                  </a:lnTo>
                  <a:lnTo>
                    <a:pt x="0" y="3234"/>
                  </a:lnTo>
                  <a:lnTo>
                    <a:pt x="0" y="222"/>
                  </a:lnTo>
                  <a:lnTo>
                    <a:pt x="3" y="186"/>
                  </a:lnTo>
                  <a:lnTo>
                    <a:pt x="11" y="152"/>
                  </a:lnTo>
                  <a:lnTo>
                    <a:pt x="25" y="120"/>
                  </a:lnTo>
                  <a:lnTo>
                    <a:pt x="43" y="91"/>
                  </a:lnTo>
                  <a:lnTo>
                    <a:pt x="66" y="65"/>
                  </a:lnTo>
                  <a:lnTo>
                    <a:pt x="91" y="43"/>
                  </a:lnTo>
                  <a:lnTo>
                    <a:pt x="120" y="25"/>
                  </a:lnTo>
                  <a:lnTo>
                    <a:pt x="153" y="12"/>
                  </a:lnTo>
                  <a:lnTo>
                    <a:pt x="186" y="3"/>
                  </a:lnTo>
                  <a:lnTo>
                    <a:pt x="223"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7" name="Freeform 13">
            <a:extLst>
              <a:ext uri="{FF2B5EF4-FFF2-40B4-BE49-F238E27FC236}">
                <a16:creationId xmlns:a16="http://schemas.microsoft.com/office/drawing/2014/main" id="{FE5AFDEA-C315-48B1-A2BE-7B99F574D35B}"/>
              </a:ext>
            </a:extLst>
          </p:cNvPr>
          <p:cNvSpPr>
            <a:spLocks noChangeAspect="1" noEditPoints="1"/>
          </p:cNvSpPr>
          <p:nvPr/>
        </p:nvSpPr>
        <p:spPr bwMode="auto">
          <a:xfrm rot="1298261">
            <a:off x="7202018" y="949149"/>
            <a:ext cx="304635" cy="459641"/>
          </a:xfrm>
          <a:custGeom>
            <a:avLst/>
            <a:gdLst>
              <a:gd name="T0" fmla="*/ 2081 w 2475"/>
              <a:gd name="T1" fmla="*/ 3481 h 4799"/>
              <a:gd name="T2" fmla="*/ 461 w 2475"/>
              <a:gd name="T3" fmla="*/ 3538 h 4799"/>
              <a:gd name="T4" fmla="*/ 404 w 2475"/>
              <a:gd name="T5" fmla="*/ 731 h 4799"/>
              <a:gd name="T6" fmla="*/ 2024 w 2475"/>
              <a:gd name="T7" fmla="*/ 673 h 4799"/>
              <a:gd name="T8" fmla="*/ 2081 w 2475"/>
              <a:gd name="T9" fmla="*/ 3481 h 4799"/>
              <a:gd name="T10" fmla="*/ 2024 w 2475"/>
              <a:gd name="T11" fmla="*/ 541 h 4799"/>
              <a:gd name="T12" fmla="*/ 461 w 2475"/>
              <a:gd name="T13" fmla="*/ 541 h 4799"/>
              <a:gd name="T14" fmla="*/ 271 w 2475"/>
              <a:gd name="T15" fmla="*/ 3481 h 4799"/>
              <a:gd name="T16" fmla="*/ 2024 w 2475"/>
              <a:gd name="T17" fmla="*/ 3670 h 4799"/>
              <a:gd name="T18" fmla="*/ 2214 w 2475"/>
              <a:gd name="T19" fmla="*/ 731 h 4799"/>
              <a:gd name="T20" fmla="*/ 2024 w 2475"/>
              <a:gd name="T21" fmla="*/ 541 h 4799"/>
              <a:gd name="T22" fmla="*/ 2343 w 2475"/>
              <a:gd name="T23" fmla="*/ 4483 h 4799"/>
              <a:gd name="T24" fmla="*/ 315 w 2475"/>
              <a:gd name="T25" fmla="*/ 4666 h 4799"/>
              <a:gd name="T26" fmla="*/ 132 w 2475"/>
              <a:gd name="T27" fmla="*/ 314 h 4799"/>
              <a:gd name="T28" fmla="*/ 2160 w 2475"/>
              <a:gd name="T29" fmla="*/ 131 h 4799"/>
              <a:gd name="T30" fmla="*/ 2343 w 2475"/>
              <a:gd name="T31" fmla="*/ 4483 h 4799"/>
              <a:gd name="T32" fmla="*/ 2160 w 2475"/>
              <a:gd name="T33" fmla="*/ 0 h 4799"/>
              <a:gd name="T34" fmla="*/ 315 w 2475"/>
              <a:gd name="T35" fmla="*/ 0 h 4799"/>
              <a:gd name="T36" fmla="*/ 0 w 2475"/>
              <a:gd name="T37" fmla="*/ 4483 h 4799"/>
              <a:gd name="T38" fmla="*/ 2160 w 2475"/>
              <a:gd name="T39" fmla="*/ 4799 h 4799"/>
              <a:gd name="T40" fmla="*/ 2475 w 2475"/>
              <a:gd name="T41" fmla="*/ 314 h 4799"/>
              <a:gd name="T42" fmla="*/ 2160 w 2475"/>
              <a:gd name="T43" fmla="*/ 0 h 4799"/>
              <a:gd name="T44" fmla="*/ 886 w 2475"/>
              <a:gd name="T45" fmla="*/ 357 h 4799"/>
              <a:gd name="T46" fmla="*/ 1520 w 2475"/>
              <a:gd name="T47" fmla="*/ 290 h 4799"/>
              <a:gd name="T48" fmla="*/ 1520 w 2475"/>
              <a:gd name="T49" fmla="*/ 423 h 4799"/>
              <a:gd name="T50" fmla="*/ 886 w 2475"/>
              <a:gd name="T51" fmla="*/ 357 h 4799"/>
              <a:gd name="T52" fmla="*/ 1245 w 2475"/>
              <a:gd name="T53" fmla="*/ 4331 h 4799"/>
              <a:gd name="T54" fmla="*/ 1046 w 2475"/>
              <a:gd name="T55" fmla="*/ 4132 h 4799"/>
              <a:gd name="T56" fmla="*/ 1444 w 2475"/>
              <a:gd name="T57" fmla="*/ 4132 h 4799"/>
              <a:gd name="T58" fmla="*/ 1245 w 2475"/>
              <a:gd name="T59" fmla="*/ 4331 h 4799"/>
              <a:gd name="T60" fmla="*/ 1245 w 2475"/>
              <a:gd name="T61" fmla="*/ 3800 h 4799"/>
              <a:gd name="T62" fmla="*/ 1245 w 2475"/>
              <a:gd name="T63" fmla="*/ 4463 h 4799"/>
              <a:gd name="T64" fmla="*/ 1245 w 2475"/>
              <a:gd name="T65" fmla="*/ 3800 h 4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75" h="4799">
                <a:moveTo>
                  <a:pt x="2081" y="3481"/>
                </a:moveTo>
                <a:lnTo>
                  <a:pt x="2081" y="3481"/>
                </a:lnTo>
                <a:cubicBezTo>
                  <a:pt x="2081" y="3512"/>
                  <a:pt x="2055" y="3538"/>
                  <a:pt x="2024" y="3538"/>
                </a:cubicBezTo>
                <a:lnTo>
                  <a:pt x="461" y="3538"/>
                </a:lnTo>
                <a:cubicBezTo>
                  <a:pt x="429" y="3538"/>
                  <a:pt x="404" y="3512"/>
                  <a:pt x="404" y="3481"/>
                </a:cubicBezTo>
                <a:lnTo>
                  <a:pt x="404" y="731"/>
                </a:lnTo>
                <a:cubicBezTo>
                  <a:pt x="404" y="699"/>
                  <a:pt x="429" y="673"/>
                  <a:pt x="461" y="673"/>
                </a:cubicBezTo>
                <a:lnTo>
                  <a:pt x="2024" y="673"/>
                </a:lnTo>
                <a:cubicBezTo>
                  <a:pt x="2055" y="673"/>
                  <a:pt x="2081" y="699"/>
                  <a:pt x="2081" y="731"/>
                </a:cubicBezTo>
                <a:lnTo>
                  <a:pt x="2081" y="3481"/>
                </a:lnTo>
                <a:lnTo>
                  <a:pt x="2081" y="3481"/>
                </a:lnTo>
                <a:close/>
                <a:moveTo>
                  <a:pt x="2024" y="541"/>
                </a:moveTo>
                <a:lnTo>
                  <a:pt x="2024" y="541"/>
                </a:lnTo>
                <a:lnTo>
                  <a:pt x="461" y="541"/>
                </a:lnTo>
                <a:cubicBezTo>
                  <a:pt x="356" y="541"/>
                  <a:pt x="271" y="626"/>
                  <a:pt x="271" y="731"/>
                </a:cubicBezTo>
                <a:lnTo>
                  <a:pt x="271" y="3481"/>
                </a:lnTo>
                <a:cubicBezTo>
                  <a:pt x="271" y="3585"/>
                  <a:pt x="356" y="3670"/>
                  <a:pt x="461" y="3670"/>
                </a:cubicBezTo>
                <a:lnTo>
                  <a:pt x="2024" y="3670"/>
                </a:lnTo>
                <a:cubicBezTo>
                  <a:pt x="2128" y="3670"/>
                  <a:pt x="2214" y="3585"/>
                  <a:pt x="2214" y="3481"/>
                </a:cubicBezTo>
                <a:lnTo>
                  <a:pt x="2214" y="731"/>
                </a:lnTo>
                <a:cubicBezTo>
                  <a:pt x="2214" y="626"/>
                  <a:pt x="2128" y="541"/>
                  <a:pt x="2024" y="541"/>
                </a:cubicBezTo>
                <a:lnTo>
                  <a:pt x="2024" y="541"/>
                </a:lnTo>
                <a:close/>
                <a:moveTo>
                  <a:pt x="2343" y="4483"/>
                </a:moveTo>
                <a:lnTo>
                  <a:pt x="2343" y="4483"/>
                </a:lnTo>
                <a:cubicBezTo>
                  <a:pt x="2343" y="4584"/>
                  <a:pt x="2261" y="4666"/>
                  <a:pt x="2160" y="4666"/>
                </a:cubicBezTo>
                <a:lnTo>
                  <a:pt x="315" y="4666"/>
                </a:lnTo>
                <a:cubicBezTo>
                  <a:pt x="214" y="4666"/>
                  <a:pt x="132" y="4584"/>
                  <a:pt x="132" y="4483"/>
                </a:cubicBezTo>
                <a:lnTo>
                  <a:pt x="132" y="314"/>
                </a:lnTo>
                <a:cubicBezTo>
                  <a:pt x="132" y="213"/>
                  <a:pt x="214" y="131"/>
                  <a:pt x="315" y="131"/>
                </a:cubicBezTo>
                <a:lnTo>
                  <a:pt x="2160" y="131"/>
                </a:lnTo>
                <a:cubicBezTo>
                  <a:pt x="2261" y="131"/>
                  <a:pt x="2343" y="213"/>
                  <a:pt x="2343" y="314"/>
                </a:cubicBezTo>
                <a:lnTo>
                  <a:pt x="2343" y="4483"/>
                </a:lnTo>
                <a:lnTo>
                  <a:pt x="2343" y="4483"/>
                </a:lnTo>
                <a:close/>
                <a:moveTo>
                  <a:pt x="2160" y="0"/>
                </a:moveTo>
                <a:lnTo>
                  <a:pt x="2160" y="0"/>
                </a:lnTo>
                <a:lnTo>
                  <a:pt x="315" y="0"/>
                </a:lnTo>
                <a:cubicBezTo>
                  <a:pt x="141" y="0"/>
                  <a:pt x="0" y="140"/>
                  <a:pt x="0" y="314"/>
                </a:cubicBezTo>
                <a:lnTo>
                  <a:pt x="0" y="4483"/>
                </a:lnTo>
                <a:cubicBezTo>
                  <a:pt x="0" y="4657"/>
                  <a:pt x="141" y="4799"/>
                  <a:pt x="315" y="4799"/>
                </a:cubicBezTo>
                <a:lnTo>
                  <a:pt x="2160" y="4799"/>
                </a:lnTo>
                <a:cubicBezTo>
                  <a:pt x="2334" y="4799"/>
                  <a:pt x="2475" y="4657"/>
                  <a:pt x="2475" y="4483"/>
                </a:cubicBezTo>
                <a:lnTo>
                  <a:pt x="2475" y="314"/>
                </a:lnTo>
                <a:cubicBezTo>
                  <a:pt x="2475" y="140"/>
                  <a:pt x="2334" y="0"/>
                  <a:pt x="2160" y="0"/>
                </a:cubicBezTo>
                <a:lnTo>
                  <a:pt x="2160" y="0"/>
                </a:lnTo>
                <a:close/>
                <a:moveTo>
                  <a:pt x="886" y="357"/>
                </a:moveTo>
                <a:lnTo>
                  <a:pt x="886" y="357"/>
                </a:lnTo>
                <a:cubicBezTo>
                  <a:pt x="886" y="320"/>
                  <a:pt x="915" y="290"/>
                  <a:pt x="952" y="290"/>
                </a:cubicBezTo>
                <a:lnTo>
                  <a:pt x="1520" y="290"/>
                </a:lnTo>
                <a:cubicBezTo>
                  <a:pt x="1556" y="290"/>
                  <a:pt x="1586" y="320"/>
                  <a:pt x="1586" y="357"/>
                </a:cubicBezTo>
                <a:cubicBezTo>
                  <a:pt x="1586" y="393"/>
                  <a:pt x="1556" y="423"/>
                  <a:pt x="1520" y="423"/>
                </a:cubicBezTo>
                <a:lnTo>
                  <a:pt x="952" y="423"/>
                </a:lnTo>
                <a:cubicBezTo>
                  <a:pt x="915" y="423"/>
                  <a:pt x="886" y="393"/>
                  <a:pt x="886" y="357"/>
                </a:cubicBezTo>
                <a:lnTo>
                  <a:pt x="886" y="357"/>
                </a:lnTo>
                <a:close/>
                <a:moveTo>
                  <a:pt x="1245" y="4331"/>
                </a:moveTo>
                <a:lnTo>
                  <a:pt x="1245" y="4331"/>
                </a:lnTo>
                <a:cubicBezTo>
                  <a:pt x="1135" y="4331"/>
                  <a:pt x="1046" y="4241"/>
                  <a:pt x="1046" y="4132"/>
                </a:cubicBezTo>
                <a:cubicBezTo>
                  <a:pt x="1046" y="4022"/>
                  <a:pt x="1135" y="3932"/>
                  <a:pt x="1245" y="3932"/>
                </a:cubicBezTo>
                <a:cubicBezTo>
                  <a:pt x="1355" y="3932"/>
                  <a:pt x="1444" y="4022"/>
                  <a:pt x="1444" y="4132"/>
                </a:cubicBezTo>
                <a:cubicBezTo>
                  <a:pt x="1444" y="4241"/>
                  <a:pt x="1355" y="4331"/>
                  <a:pt x="1245" y="4331"/>
                </a:cubicBezTo>
                <a:lnTo>
                  <a:pt x="1245" y="4331"/>
                </a:lnTo>
                <a:close/>
                <a:moveTo>
                  <a:pt x="1245" y="3800"/>
                </a:moveTo>
                <a:lnTo>
                  <a:pt x="1245" y="3800"/>
                </a:lnTo>
                <a:cubicBezTo>
                  <a:pt x="1062" y="3800"/>
                  <a:pt x="913" y="3949"/>
                  <a:pt x="913" y="4132"/>
                </a:cubicBezTo>
                <a:cubicBezTo>
                  <a:pt x="913" y="4314"/>
                  <a:pt x="1062" y="4463"/>
                  <a:pt x="1245" y="4463"/>
                </a:cubicBezTo>
                <a:cubicBezTo>
                  <a:pt x="1428" y="4463"/>
                  <a:pt x="1577" y="4314"/>
                  <a:pt x="1577" y="4132"/>
                </a:cubicBezTo>
                <a:cubicBezTo>
                  <a:pt x="1577" y="3949"/>
                  <a:pt x="1428" y="3800"/>
                  <a:pt x="1245" y="3800"/>
                </a:cubicBezTo>
                <a:close/>
              </a:path>
            </a:pathLst>
          </a:custGeom>
          <a:solidFill>
            <a:schemeClr val="accent3">
              <a:lumMod val="75000"/>
              <a:lumOff val="25000"/>
            </a:schemeClr>
          </a:solidFill>
          <a:ln w="0">
            <a:solidFill>
              <a:schemeClr val="accent1">
                <a:lumMod val="7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21">
            <a:extLst>
              <a:ext uri="{FF2B5EF4-FFF2-40B4-BE49-F238E27FC236}">
                <a16:creationId xmlns:a16="http://schemas.microsoft.com/office/drawing/2014/main" id="{8DA80225-542B-4241-BAED-3872D17E54C7}"/>
              </a:ext>
            </a:extLst>
          </p:cNvPr>
          <p:cNvSpPr>
            <a:spLocks noChangeAspect="1" noEditPoints="1"/>
          </p:cNvSpPr>
          <p:nvPr/>
        </p:nvSpPr>
        <p:spPr bwMode="auto">
          <a:xfrm>
            <a:off x="7826379" y="565331"/>
            <a:ext cx="827426" cy="656925"/>
          </a:xfrm>
          <a:custGeom>
            <a:avLst/>
            <a:gdLst>
              <a:gd name="T0" fmla="*/ 3037 w 3964"/>
              <a:gd name="T1" fmla="*/ 3635 h 4032"/>
              <a:gd name="T2" fmla="*/ 3133 w 3964"/>
              <a:gd name="T3" fmla="*/ 3755 h 4032"/>
              <a:gd name="T4" fmla="*/ 1162 w 3964"/>
              <a:gd name="T5" fmla="*/ 3596 h 4032"/>
              <a:gd name="T6" fmla="*/ 3097 w 3964"/>
              <a:gd name="T7" fmla="*/ 3281 h 4032"/>
              <a:gd name="T8" fmla="*/ 1969 w 3964"/>
              <a:gd name="T9" fmla="*/ 3281 h 4032"/>
              <a:gd name="T10" fmla="*/ 838 w 3964"/>
              <a:gd name="T11" fmla="*/ 3278 h 4032"/>
              <a:gd name="T12" fmla="*/ 3753 w 3964"/>
              <a:gd name="T13" fmla="*/ 3350 h 4032"/>
              <a:gd name="T14" fmla="*/ 3360 w 3964"/>
              <a:gd name="T15" fmla="*/ 3090 h 4032"/>
              <a:gd name="T16" fmla="*/ 3212 w 3964"/>
              <a:gd name="T17" fmla="*/ 3278 h 4032"/>
              <a:gd name="T18" fmla="*/ 2783 w 3964"/>
              <a:gd name="T19" fmla="*/ 3278 h 4032"/>
              <a:gd name="T20" fmla="*/ 2635 w 3964"/>
              <a:gd name="T21" fmla="*/ 3090 h 4032"/>
              <a:gd name="T22" fmla="*/ 2243 w 3964"/>
              <a:gd name="T23" fmla="*/ 3350 h 4032"/>
              <a:gd name="T24" fmla="*/ 2016 w 3964"/>
              <a:gd name="T25" fmla="*/ 3037 h 4032"/>
              <a:gd name="T26" fmla="*/ 1740 w 3964"/>
              <a:gd name="T27" fmla="*/ 3389 h 4032"/>
              <a:gd name="T28" fmla="*/ 1201 w 3964"/>
              <a:gd name="T29" fmla="*/ 3026 h 4032"/>
              <a:gd name="T30" fmla="*/ 1427 w 3964"/>
              <a:gd name="T31" fmla="*/ 3389 h 4032"/>
              <a:gd name="T32" fmla="*/ 1151 w 3964"/>
              <a:gd name="T33" fmla="*/ 3037 h 4032"/>
              <a:gd name="T34" fmla="*/ 924 w 3964"/>
              <a:gd name="T35" fmla="*/ 3350 h 4032"/>
              <a:gd name="T36" fmla="*/ 532 w 3964"/>
              <a:gd name="T37" fmla="*/ 3090 h 4032"/>
              <a:gd name="T38" fmla="*/ 3097 w 3964"/>
              <a:gd name="T39" fmla="*/ 2854 h 4032"/>
              <a:gd name="T40" fmla="*/ 1969 w 3964"/>
              <a:gd name="T41" fmla="*/ 2853 h 4032"/>
              <a:gd name="T42" fmla="*/ 838 w 3964"/>
              <a:gd name="T43" fmla="*/ 2852 h 4032"/>
              <a:gd name="T44" fmla="*/ 3753 w 3964"/>
              <a:gd name="T45" fmla="*/ 2923 h 4032"/>
              <a:gd name="T46" fmla="*/ 3360 w 3964"/>
              <a:gd name="T47" fmla="*/ 2662 h 4032"/>
              <a:gd name="T48" fmla="*/ 3212 w 3964"/>
              <a:gd name="T49" fmla="*/ 2852 h 4032"/>
              <a:gd name="T50" fmla="*/ 2783 w 3964"/>
              <a:gd name="T51" fmla="*/ 2852 h 4032"/>
              <a:gd name="T52" fmla="*/ 2635 w 3964"/>
              <a:gd name="T53" fmla="*/ 2662 h 4032"/>
              <a:gd name="T54" fmla="*/ 2243 w 3964"/>
              <a:gd name="T55" fmla="*/ 2923 h 4032"/>
              <a:gd name="T56" fmla="*/ 2016 w 3964"/>
              <a:gd name="T57" fmla="*/ 2611 h 4032"/>
              <a:gd name="T58" fmla="*/ 1740 w 3964"/>
              <a:gd name="T59" fmla="*/ 2963 h 4032"/>
              <a:gd name="T60" fmla="*/ 1201 w 3964"/>
              <a:gd name="T61" fmla="*/ 2599 h 4032"/>
              <a:gd name="T62" fmla="*/ 1427 w 3964"/>
              <a:gd name="T63" fmla="*/ 2963 h 4032"/>
              <a:gd name="T64" fmla="*/ 1151 w 3964"/>
              <a:gd name="T65" fmla="*/ 2611 h 4032"/>
              <a:gd name="T66" fmla="*/ 924 w 3964"/>
              <a:gd name="T67" fmla="*/ 2923 h 4032"/>
              <a:gd name="T68" fmla="*/ 532 w 3964"/>
              <a:gd name="T69" fmla="*/ 2662 h 4032"/>
              <a:gd name="T70" fmla="*/ 2565 w 3964"/>
              <a:gd name="T71" fmla="*/ 270 h 4032"/>
              <a:gd name="T72" fmla="*/ 3128 w 3964"/>
              <a:gd name="T73" fmla="*/ 1017 h 4032"/>
              <a:gd name="T74" fmla="*/ 2960 w 3964"/>
              <a:gd name="T75" fmla="*/ 1671 h 4032"/>
              <a:gd name="T76" fmla="*/ 1747 w 3964"/>
              <a:gd name="T77" fmla="*/ 1984 h 4032"/>
              <a:gd name="T78" fmla="*/ 1784 w 3964"/>
              <a:gd name="T79" fmla="*/ 2429 h 4032"/>
              <a:gd name="T80" fmla="*/ 441 w 3964"/>
              <a:gd name="T81" fmla="*/ 3848 h 4032"/>
              <a:gd name="T82" fmla="*/ 3849 w 3964"/>
              <a:gd name="T83" fmla="*/ 2566 h 4032"/>
              <a:gd name="T84" fmla="*/ 2246 w 3964"/>
              <a:gd name="T85" fmla="*/ 2364 h 4032"/>
              <a:gd name="T86" fmla="*/ 3962 w 3964"/>
              <a:gd name="T87" fmla="*/ 3829 h 4032"/>
              <a:gd name="T88" fmla="*/ 388 w 3964"/>
              <a:gd name="T89" fmla="*/ 3961 h 4032"/>
              <a:gd name="T90" fmla="*/ 520 w 3964"/>
              <a:gd name="T91" fmla="*/ 2357 h 4032"/>
              <a:gd name="T92" fmla="*/ 1728 w 3964"/>
              <a:gd name="T93" fmla="*/ 2186 h 4032"/>
              <a:gd name="T94" fmla="*/ 1878 w 3964"/>
              <a:gd name="T95" fmla="*/ 1619 h 4032"/>
              <a:gd name="T96" fmla="*/ 3099 w 3964"/>
              <a:gd name="T97" fmla="*/ 1273 h 4032"/>
              <a:gd name="T98" fmla="*/ 2760 w 3964"/>
              <a:gd name="T99" fmla="*/ 942 h 4032"/>
              <a:gd name="T100" fmla="*/ 2501 w 3964"/>
              <a:gd name="T101" fmla="*/ 363 h 4032"/>
              <a:gd name="T102" fmla="*/ 1544 w 3964"/>
              <a:gd name="T103" fmla="*/ 216 h 4032"/>
              <a:gd name="T104" fmla="*/ 1088 w 3964"/>
              <a:gd name="T105" fmla="*/ 638 h 4032"/>
              <a:gd name="T106" fmla="*/ 488 w 3964"/>
              <a:gd name="T107" fmla="*/ 1013 h 4032"/>
              <a:gd name="T108" fmla="*/ 182 w 3964"/>
              <a:gd name="T109" fmla="*/ 1190 h 4032"/>
              <a:gd name="T110" fmla="*/ 355 w 3964"/>
              <a:gd name="T111" fmla="*/ 1604 h 4032"/>
              <a:gd name="T112" fmla="*/ 205 w 3964"/>
              <a:gd name="T113" fmla="*/ 1684 h 4032"/>
              <a:gd name="T114" fmla="*/ 148 w 3964"/>
              <a:gd name="T115" fmla="*/ 1074 h 4032"/>
              <a:gd name="T116" fmla="*/ 757 w 3964"/>
              <a:gd name="T117" fmla="*/ 539 h 4032"/>
              <a:gd name="T118" fmla="*/ 1573 w 3964"/>
              <a:gd name="T119" fmla="*/ 76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64" h="4032">
                <a:moveTo>
                  <a:pt x="1285" y="3631"/>
                </a:moveTo>
                <a:lnTo>
                  <a:pt x="1272" y="3635"/>
                </a:lnTo>
                <a:lnTo>
                  <a:pt x="1263" y="3643"/>
                </a:lnTo>
                <a:lnTo>
                  <a:pt x="1259" y="3657"/>
                </a:lnTo>
                <a:lnTo>
                  <a:pt x="1259" y="3668"/>
                </a:lnTo>
                <a:lnTo>
                  <a:pt x="1263" y="3681"/>
                </a:lnTo>
                <a:lnTo>
                  <a:pt x="1272" y="3691"/>
                </a:lnTo>
                <a:lnTo>
                  <a:pt x="1285" y="3695"/>
                </a:lnTo>
                <a:lnTo>
                  <a:pt x="3025" y="3695"/>
                </a:lnTo>
                <a:lnTo>
                  <a:pt x="3037" y="3691"/>
                </a:lnTo>
                <a:lnTo>
                  <a:pt x="3047" y="3681"/>
                </a:lnTo>
                <a:lnTo>
                  <a:pt x="3051" y="3668"/>
                </a:lnTo>
                <a:lnTo>
                  <a:pt x="3051" y="3657"/>
                </a:lnTo>
                <a:lnTo>
                  <a:pt x="3047" y="3643"/>
                </a:lnTo>
                <a:lnTo>
                  <a:pt x="3037" y="3635"/>
                </a:lnTo>
                <a:lnTo>
                  <a:pt x="3025" y="3631"/>
                </a:lnTo>
                <a:lnTo>
                  <a:pt x="1285" y="3631"/>
                </a:lnTo>
                <a:close/>
                <a:moveTo>
                  <a:pt x="1285" y="3519"/>
                </a:moveTo>
                <a:lnTo>
                  <a:pt x="3025" y="3519"/>
                </a:lnTo>
                <a:lnTo>
                  <a:pt x="3057" y="3523"/>
                </a:lnTo>
                <a:lnTo>
                  <a:pt x="3085" y="3533"/>
                </a:lnTo>
                <a:lnTo>
                  <a:pt x="3111" y="3549"/>
                </a:lnTo>
                <a:lnTo>
                  <a:pt x="3133" y="3571"/>
                </a:lnTo>
                <a:lnTo>
                  <a:pt x="3149" y="3596"/>
                </a:lnTo>
                <a:lnTo>
                  <a:pt x="3159" y="3625"/>
                </a:lnTo>
                <a:lnTo>
                  <a:pt x="3162" y="3657"/>
                </a:lnTo>
                <a:lnTo>
                  <a:pt x="3162" y="3668"/>
                </a:lnTo>
                <a:lnTo>
                  <a:pt x="3159" y="3700"/>
                </a:lnTo>
                <a:lnTo>
                  <a:pt x="3149" y="3729"/>
                </a:lnTo>
                <a:lnTo>
                  <a:pt x="3133" y="3755"/>
                </a:lnTo>
                <a:lnTo>
                  <a:pt x="3111" y="3775"/>
                </a:lnTo>
                <a:lnTo>
                  <a:pt x="3085" y="3791"/>
                </a:lnTo>
                <a:lnTo>
                  <a:pt x="3057" y="3802"/>
                </a:lnTo>
                <a:lnTo>
                  <a:pt x="3025" y="3806"/>
                </a:lnTo>
                <a:lnTo>
                  <a:pt x="1285" y="3806"/>
                </a:lnTo>
                <a:lnTo>
                  <a:pt x="1253" y="3802"/>
                </a:lnTo>
                <a:lnTo>
                  <a:pt x="1225" y="3791"/>
                </a:lnTo>
                <a:lnTo>
                  <a:pt x="1200" y="3775"/>
                </a:lnTo>
                <a:lnTo>
                  <a:pt x="1178" y="3755"/>
                </a:lnTo>
                <a:lnTo>
                  <a:pt x="1162" y="3729"/>
                </a:lnTo>
                <a:lnTo>
                  <a:pt x="1151" y="3700"/>
                </a:lnTo>
                <a:lnTo>
                  <a:pt x="1148" y="3668"/>
                </a:lnTo>
                <a:lnTo>
                  <a:pt x="1148" y="3657"/>
                </a:lnTo>
                <a:lnTo>
                  <a:pt x="1151" y="3625"/>
                </a:lnTo>
                <a:lnTo>
                  <a:pt x="1162" y="3596"/>
                </a:lnTo>
                <a:lnTo>
                  <a:pt x="1178" y="3571"/>
                </a:lnTo>
                <a:lnTo>
                  <a:pt x="1200" y="3549"/>
                </a:lnTo>
                <a:lnTo>
                  <a:pt x="1225" y="3533"/>
                </a:lnTo>
                <a:lnTo>
                  <a:pt x="1253" y="3523"/>
                </a:lnTo>
                <a:lnTo>
                  <a:pt x="1285" y="3519"/>
                </a:lnTo>
                <a:close/>
                <a:moveTo>
                  <a:pt x="3463" y="3138"/>
                </a:moveTo>
                <a:lnTo>
                  <a:pt x="3461" y="3278"/>
                </a:lnTo>
                <a:lnTo>
                  <a:pt x="3664" y="3281"/>
                </a:lnTo>
                <a:lnTo>
                  <a:pt x="3665" y="3281"/>
                </a:lnTo>
                <a:lnTo>
                  <a:pt x="3666" y="3278"/>
                </a:lnTo>
                <a:lnTo>
                  <a:pt x="3666" y="3140"/>
                </a:lnTo>
                <a:lnTo>
                  <a:pt x="3463" y="3138"/>
                </a:lnTo>
                <a:close/>
                <a:moveTo>
                  <a:pt x="2897" y="3138"/>
                </a:moveTo>
                <a:lnTo>
                  <a:pt x="2894" y="3278"/>
                </a:lnTo>
                <a:lnTo>
                  <a:pt x="3097" y="3281"/>
                </a:lnTo>
                <a:lnTo>
                  <a:pt x="3100" y="3281"/>
                </a:lnTo>
                <a:lnTo>
                  <a:pt x="3100" y="3278"/>
                </a:lnTo>
                <a:lnTo>
                  <a:pt x="3100" y="3140"/>
                </a:lnTo>
                <a:lnTo>
                  <a:pt x="2897" y="3138"/>
                </a:lnTo>
                <a:close/>
                <a:moveTo>
                  <a:pt x="2332" y="3138"/>
                </a:moveTo>
                <a:lnTo>
                  <a:pt x="2329" y="3278"/>
                </a:lnTo>
                <a:lnTo>
                  <a:pt x="2532" y="3281"/>
                </a:lnTo>
                <a:lnTo>
                  <a:pt x="2534" y="3281"/>
                </a:lnTo>
                <a:lnTo>
                  <a:pt x="2535" y="3278"/>
                </a:lnTo>
                <a:lnTo>
                  <a:pt x="2535" y="3140"/>
                </a:lnTo>
                <a:lnTo>
                  <a:pt x="2332" y="3138"/>
                </a:lnTo>
                <a:close/>
                <a:moveTo>
                  <a:pt x="1766" y="3138"/>
                </a:moveTo>
                <a:lnTo>
                  <a:pt x="1763" y="3278"/>
                </a:lnTo>
                <a:lnTo>
                  <a:pt x="1966" y="3281"/>
                </a:lnTo>
                <a:lnTo>
                  <a:pt x="1969" y="3281"/>
                </a:lnTo>
                <a:lnTo>
                  <a:pt x="1969" y="3278"/>
                </a:lnTo>
                <a:lnTo>
                  <a:pt x="1969" y="3140"/>
                </a:lnTo>
                <a:lnTo>
                  <a:pt x="1766" y="3138"/>
                </a:lnTo>
                <a:close/>
                <a:moveTo>
                  <a:pt x="1201" y="3138"/>
                </a:moveTo>
                <a:lnTo>
                  <a:pt x="1198" y="3278"/>
                </a:lnTo>
                <a:lnTo>
                  <a:pt x="1401" y="3281"/>
                </a:lnTo>
                <a:lnTo>
                  <a:pt x="1403" y="3281"/>
                </a:lnTo>
                <a:lnTo>
                  <a:pt x="1404" y="3278"/>
                </a:lnTo>
                <a:lnTo>
                  <a:pt x="1404" y="3140"/>
                </a:lnTo>
                <a:lnTo>
                  <a:pt x="1201" y="3138"/>
                </a:lnTo>
                <a:close/>
                <a:moveTo>
                  <a:pt x="635" y="3138"/>
                </a:moveTo>
                <a:lnTo>
                  <a:pt x="632" y="3278"/>
                </a:lnTo>
                <a:lnTo>
                  <a:pt x="835" y="3281"/>
                </a:lnTo>
                <a:lnTo>
                  <a:pt x="838" y="3281"/>
                </a:lnTo>
                <a:lnTo>
                  <a:pt x="838" y="3278"/>
                </a:lnTo>
                <a:lnTo>
                  <a:pt x="838" y="3140"/>
                </a:lnTo>
                <a:lnTo>
                  <a:pt x="635" y="3138"/>
                </a:lnTo>
                <a:close/>
                <a:moveTo>
                  <a:pt x="3463" y="3026"/>
                </a:moveTo>
                <a:lnTo>
                  <a:pt x="3664" y="3026"/>
                </a:lnTo>
                <a:lnTo>
                  <a:pt x="3689" y="3029"/>
                </a:lnTo>
                <a:lnTo>
                  <a:pt x="3714" y="3037"/>
                </a:lnTo>
                <a:lnTo>
                  <a:pt x="3734" y="3051"/>
                </a:lnTo>
                <a:lnTo>
                  <a:pt x="3753" y="3069"/>
                </a:lnTo>
                <a:lnTo>
                  <a:pt x="3766" y="3090"/>
                </a:lnTo>
                <a:lnTo>
                  <a:pt x="3775" y="3114"/>
                </a:lnTo>
                <a:lnTo>
                  <a:pt x="3777" y="3140"/>
                </a:lnTo>
                <a:lnTo>
                  <a:pt x="3777" y="3278"/>
                </a:lnTo>
                <a:lnTo>
                  <a:pt x="3775" y="3305"/>
                </a:lnTo>
                <a:lnTo>
                  <a:pt x="3766" y="3328"/>
                </a:lnTo>
                <a:lnTo>
                  <a:pt x="3753" y="3350"/>
                </a:lnTo>
                <a:lnTo>
                  <a:pt x="3734" y="3367"/>
                </a:lnTo>
                <a:lnTo>
                  <a:pt x="3714" y="3381"/>
                </a:lnTo>
                <a:lnTo>
                  <a:pt x="3689" y="3389"/>
                </a:lnTo>
                <a:lnTo>
                  <a:pt x="3664" y="3393"/>
                </a:lnTo>
                <a:lnTo>
                  <a:pt x="3463" y="3393"/>
                </a:lnTo>
                <a:lnTo>
                  <a:pt x="3436" y="3389"/>
                </a:lnTo>
                <a:lnTo>
                  <a:pt x="3413" y="3381"/>
                </a:lnTo>
                <a:lnTo>
                  <a:pt x="3392" y="3367"/>
                </a:lnTo>
                <a:lnTo>
                  <a:pt x="3374" y="3350"/>
                </a:lnTo>
                <a:lnTo>
                  <a:pt x="3360" y="3328"/>
                </a:lnTo>
                <a:lnTo>
                  <a:pt x="3352" y="3305"/>
                </a:lnTo>
                <a:lnTo>
                  <a:pt x="3349" y="3278"/>
                </a:lnTo>
                <a:lnTo>
                  <a:pt x="3349" y="3140"/>
                </a:lnTo>
                <a:lnTo>
                  <a:pt x="3352" y="3114"/>
                </a:lnTo>
                <a:lnTo>
                  <a:pt x="3360" y="3090"/>
                </a:lnTo>
                <a:lnTo>
                  <a:pt x="3374" y="3069"/>
                </a:lnTo>
                <a:lnTo>
                  <a:pt x="3392" y="3051"/>
                </a:lnTo>
                <a:lnTo>
                  <a:pt x="3413" y="3037"/>
                </a:lnTo>
                <a:lnTo>
                  <a:pt x="3436" y="3029"/>
                </a:lnTo>
                <a:lnTo>
                  <a:pt x="3463" y="3026"/>
                </a:lnTo>
                <a:close/>
                <a:moveTo>
                  <a:pt x="2897" y="3026"/>
                </a:moveTo>
                <a:lnTo>
                  <a:pt x="3097" y="3026"/>
                </a:lnTo>
                <a:lnTo>
                  <a:pt x="3124" y="3029"/>
                </a:lnTo>
                <a:lnTo>
                  <a:pt x="3147" y="3037"/>
                </a:lnTo>
                <a:lnTo>
                  <a:pt x="3170" y="3051"/>
                </a:lnTo>
                <a:lnTo>
                  <a:pt x="3187" y="3069"/>
                </a:lnTo>
                <a:lnTo>
                  <a:pt x="3200" y="3090"/>
                </a:lnTo>
                <a:lnTo>
                  <a:pt x="3209" y="3114"/>
                </a:lnTo>
                <a:lnTo>
                  <a:pt x="3212" y="3140"/>
                </a:lnTo>
                <a:lnTo>
                  <a:pt x="3212" y="3278"/>
                </a:lnTo>
                <a:lnTo>
                  <a:pt x="3209" y="3305"/>
                </a:lnTo>
                <a:lnTo>
                  <a:pt x="3200" y="3328"/>
                </a:lnTo>
                <a:lnTo>
                  <a:pt x="3187" y="3350"/>
                </a:lnTo>
                <a:lnTo>
                  <a:pt x="3170" y="3367"/>
                </a:lnTo>
                <a:lnTo>
                  <a:pt x="3147" y="3381"/>
                </a:lnTo>
                <a:lnTo>
                  <a:pt x="3124" y="3389"/>
                </a:lnTo>
                <a:lnTo>
                  <a:pt x="3097" y="3393"/>
                </a:lnTo>
                <a:lnTo>
                  <a:pt x="2897" y="3393"/>
                </a:lnTo>
                <a:lnTo>
                  <a:pt x="2871" y="3389"/>
                </a:lnTo>
                <a:lnTo>
                  <a:pt x="2847" y="3381"/>
                </a:lnTo>
                <a:lnTo>
                  <a:pt x="2826" y="3367"/>
                </a:lnTo>
                <a:lnTo>
                  <a:pt x="2809" y="3350"/>
                </a:lnTo>
                <a:lnTo>
                  <a:pt x="2795" y="3328"/>
                </a:lnTo>
                <a:lnTo>
                  <a:pt x="2786" y="3305"/>
                </a:lnTo>
                <a:lnTo>
                  <a:pt x="2783" y="3278"/>
                </a:lnTo>
                <a:lnTo>
                  <a:pt x="2783" y="3140"/>
                </a:lnTo>
                <a:lnTo>
                  <a:pt x="2786" y="3114"/>
                </a:lnTo>
                <a:lnTo>
                  <a:pt x="2795" y="3090"/>
                </a:lnTo>
                <a:lnTo>
                  <a:pt x="2809" y="3069"/>
                </a:lnTo>
                <a:lnTo>
                  <a:pt x="2826" y="3051"/>
                </a:lnTo>
                <a:lnTo>
                  <a:pt x="2847" y="3037"/>
                </a:lnTo>
                <a:lnTo>
                  <a:pt x="2871" y="3029"/>
                </a:lnTo>
                <a:lnTo>
                  <a:pt x="2897" y="3026"/>
                </a:lnTo>
                <a:close/>
                <a:moveTo>
                  <a:pt x="2332" y="3026"/>
                </a:moveTo>
                <a:lnTo>
                  <a:pt x="2532" y="3026"/>
                </a:lnTo>
                <a:lnTo>
                  <a:pt x="2558" y="3029"/>
                </a:lnTo>
                <a:lnTo>
                  <a:pt x="2583" y="3037"/>
                </a:lnTo>
                <a:lnTo>
                  <a:pt x="2603" y="3051"/>
                </a:lnTo>
                <a:lnTo>
                  <a:pt x="2622" y="3069"/>
                </a:lnTo>
                <a:lnTo>
                  <a:pt x="2635" y="3090"/>
                </a:lnTo>
                <a:lnTo>
                  <a:pt x="2644" y="3114"/>
                </a:lnTo>
                <a:lnTo>
                  <a:pt x="2646" y="3140"/>
                </a:lnTo>
                <a:lnTo>
                  <a:pt x="2646" y="3278"/>
                </a:lnTo>
                <a:lnTo>
                  <a:pt x="2644" y="3305"/>
                </a:lnTo>
                <a:lnTo>
                  <a:pt x="2635" y="3328"/>
                </a:lnTo>
                <a:lnTo>
                  <a:pt x="2622" y="3350"/>
                </a:lnTo>
                <a:lnTo>
                  <a:pt x="2603" y="3367"/>
                </a:lnTo>
                <a:lnTo>
                  <a:pt x="2583" y="3381"/>
                </a:lnTo>
                <a:lnTo>
                  <a:pt x="2558" y="3389"/>
                </a:lnTo>
                <a:lnTo>
                  <a:pt x="2532" y="3393"/>
                </a:lnTo>
                <a:lnTo>
                  <a:pt x="2332" y="3393"/>
                </a:lnTo>
                <a:lnTo>
                  <a:pt x="2305" y="3389"/>
                </a:lnTo>
                <a:lnTo>
                  <a:pt x="2282" y="3381"/>
                </a:lnTo>
                <a:lnTo>
                  <a:pt x="2260" y="3367"/>
                </a:lnTo>
                <a:lnTo>
                  <a:pt x="2243" y="3350"/>
                </a:lnTo>
                <a:lnTo>
                  <a:pt x="2229" y="3328"/>
                </a:lnTo>
                <a:lnTo>
                  <a:pt x="2221" y="3305"/>
                </a:lnTo>
                <a:lnTo>
                  <a:pt x="2217" y="3278"/>
                </a:lnTo>
                <a:lnTo>
                  <a:pt x="2217" y="3140"/>
                </a:lnTo>
                <a:lnTo>
                  <a:pt x="2221" y="3114"/>
                </a:lnTo>
                <a:lnTo>
                  <a:pt x="2229" y="3090"/>
                </a:lnTo>
                <a:lnTo>
                  <a:pt x="2243" y="3069"/>
                </a:lnTo>
                <a:lnTo>
                  <a:pt x="2260" y="3051"/>
                </a:lnTo>
                <a:lnTo>
                  <a:pt x="2282" y="3037"/>
                </a:lnTo>
                <a:lnTo>
                  <a:pt x="2305" y="3029"/>
                </a:lnTo>
                <a:lnTo>
                  <a:pt x="2332" y="3026"/>
                </a:lnTo>
                <a:close/>
                <a:moveTo>
                  <a:pt x="1766" y="3026"/>
                </a:moveTo>
                <a:lnTo>
                  <a:pt x="1966" y="3026"/>
                </a:lnTo>
                <a:lnTo>
                  <a:pt x="1993" y="3029"/>
                </a:lnTo>
                <a:lnTo>
                  <a:pt x="2016" y="3037"/>
                </a:lnTo>
                <a:lnTo>
                  <a:pt x="2038" y="3051"/>
                </a:lnTo>
                <a:lnTo>
                  <a:pt x="2056" y="3069"/>
                </a:lnTo>
                <a:lnTo>
                  <a:pt x="2069" y="3090"/>
                </a:lnTo>
                <a:lnTo>
                  <a:pt x="2078" y="3114"/>
                </a:lnTo>
                <a:lnTo>
                  <a:pt x="2081" y="3140"/>
                </a:lnTo>
                <a:lnTo>
                  <a:pt x="2081" y="3278"/>
                </a:lnTo>
                <a:lnTo>
                  <a:pt x="2078" y="3305"/>
                </a:lnTo>
                <a:lnTo>
                  <a:pt x="2069" y="3328"/>
                </a:lnTo>
                <a:lnTo>
                  <a:pt x="2056" y="3350"/>
                </a:lnTo>
                <a:lnTo>
                  <a:pt x="2038" y="3367"/>
                </a:lnTo>
                <a:lnTo>
                  <a:pt x="2016" y="3381"/>
                </a:lnTo>
                <a:lnTo>
                  <a:pt x="1993" y="3389"/>
                </a:lnTo>
                <a:lnTo>
                  <a:pt x="1966" y="3393"/>
                </a:lnTo>
                <a:lnTo>
                  <a:pt x="1766" y="3393"/>
                </a:lnTo>
                <a:lnTo>
                  <a:pt x="1740" y="3389"/>
                </a:lnTo>
                <a:lnTo>
                  <a:pt x="1716" y="3381"/>
                </a:lnTo>
                <a:lnTo>
                  <a:pt x="1695" y="3367"/>
                </a:lnTo>
                <a:lnTo>
                  <a:pt x="1676" y="3350"/>
                </a:lnTo>
                <a:lnTo>
                  <a:pt x="1663" y="3328"/>
                </a:lnTo>
                <a:lnTo>
                  <a:pt x="1654" y="3305"/>
                </a:lnTo>
                <a:lnTo>
                  <a:pt x="1652" y="3278"/>
                </a:lnTo>
                <a:lnTo>
                  <a:pt x="1652" y="3140"/>
                </a:lnTo>
                <a:lnTo>
                  <a:pt x="1654" y="3114"/>
                </a:lnTo>
                <a:lnTo>
                  <a:pt x="1663" y="3090"/>
                </a:lnTo>
                <a:lnTo>
                  <a:pt x="1676" y="3069"/>
                </a:lnTo>
                <a:lnTo>
                  <a:pt x="1695" y="3051"/>
                </a:lnTo>
                <a:lnTo>
                  <a:pt x="1716" y="3037"/>
                </a:lnTo>
                <a:lnTo>
                  <a:pt x="1740" y="3029"/>
                </a:lnTo>
                <a:lnTo>
                  <a:pt x="1766" y="3026"/>
                </a:lnTo>
                <a:close/>
                <a:moveTo>
                  <a:pt x="1201" y="3026"/>
                </a:moveTo>
                <a:lnTo>
                  <a:pt x="1401" y="3026"/>
                </a:lnTo>
                <a:lnTo>
                  <a:pt x="1427" y="3029"/>
                </a:lnTo>
                <a:lnTo>
                  <a:pt x="1451" y="3037"/>
                </a:lnTo>
                <a:lnTo>
                  <a:pt x="1472" y="3051"/>
                </a:lnTo>
                <a:lnTo>
                  <a:pt x="1491" y="3069"/>
                </a:lnTo>
                <a:lnTo>
                  <a:pt x="1504" y="3090"/>
                </a:lnTo>
                <a:lnTo>
                  <a:pt x="1513" y="3114"/>
                </a:lnTo>
                <a:lnTo>
                  <a:pt x="1515" y="3140"/>
                </a:lnTo>
                <a:lnTo>
                  <a:pt x="1515" y="3278"/>
                </a:lnTo>
                <a:lnTo>
                  <a:pt x="1513" y="3305"/>
                </a:lnTo>
                <a:lnTo>
                  <a:pt x="1504" y="3328"/>
                </a:lnTo>
                <a:lnTo>
                  <a:pt x="1491" y="3350"/>
                </a:lnTo>
                <a:lnTo>
                  <a:pt x="1472" y="3367"/>
                </a:lnTo>
                <a:lnTo>
                  <a:pt x="1451" y="3381"/>
                </a:lnTo>
                <a:lnTo>
                  <a:pt x="1427" y="3389"/>
                </a:lnTo>
                <a:lnTo>
                  <a:pt x="1401" y="3393"/>
                </a:lnTo>
                <a:lnTo>
                  <a:pt x="1201" y="3393"/>
                </a:lnTo>
                <a:lnTo>
                  <a:pt x="1174" y="3389"/>
                </a:lnTo>
                <a:lnTo>
                  <a:pt x="1151" y="3381"/>
                </a:lnTo>
                <a:lnTo>
                  <a:pt x="1129" y="3367"/>
                </a:lnTo>
                <a:lnTo>
                  <a:pt x="1112" y="3350"/>
                </a:lnTo>
                <a:lnTo>
                  <a:pt x="1098" y="3328"/>
                </a:lnTo>
                <a:lnTo>
                  <a:pt x="1090" y="3305"/>
                </a:lnTo>
                <a:lnTo>
                  <a:pt x="1086" y="3278"/>
                </a:lnTo>
                <a:lnTo>
                  <a:pt x="1086" y="3140"/>
                </a:lnTo>
                <a:lnTo>
                  <a:pt x="1090" y="3114"/>
                </a:lnTo>
                <a:lnTo>
                  <a:pt x="1098" y="3090"/>
                </a:lnTo>
                <a:lnTo>
                  <a:pt x="1112" y="3069"/>
                </a:lnTo>
                <a:lnTo>
                  <a:pt x="1129" y="3051"/>
                </a:lnTo>
                <a:lnTo>
                  <a:pt x="1151" y="3037"/>
                </a:lnTo>
                <a:lnTo>
                  <a:pt x="1174" y="3029"/>
                </a:lnTo>
                <a:lnTo>
                  <a:pt x="1201" y="3026"/>
                </a:lnTo>
                <a:close/>
                <a:moveTo>
                  <a:pt x="635" y="3026"/>
                </a:moveTo>
                <a:lnTo>
                  <a:pt x="835" y="3026"/>
                </a:lnTo>
                <a:lnTo>
                  <a:pt x="862" y="3029"/>
                </a:lnTo>
                <a:lnTo>
                  <a:pt x="885" y="3037"/>
                </a:lnTo>
                <a:lnTo>
                  <a:pt x="907" y="3051"/>
                </a:lnTo>
                <a:lnTo>
                  <a:pt x="924" y="3069"/>
                </a:lnTo>
                <a:lnTo>
                  <a:pt x="938" y="3090"/>
                </a:lnTo>
                <a:lnTo>
                  <a:pt x="946" y="3114"/>
                </a:lnTo>
                <a:lnTo>
                  <a:pt x="950" y="3140"/>
                </a:lnTo>
                <a:lnTo>
                  <a:pt x="950" y="3278"/>
                </a:lnTo>
                <a:lnTo>
                  <a:pt x="946" y="3305"/>
                </a:lnTo>
                <a:lnTo>
                  <a:pt x="938" y="3328"/>
                </a:lnTo>
                <a:lnTo>
                  <a:pt x="924" y="3350"/>
                </a:lnTo>
                <a:lnTo>
                  <a:pt x="907" y="3367"/>
                </a:lnTo>
                <a:lnTo>
                  <a:pt x="885" y="3381"/>
                </a:lnTo>
                <a:lnTo>
                  <a:pt x="862" y="3389"/>
                </a:lnTo>
                <a:lnTo>
                  <a:pt x="835" y="3393"/>
                </a:lnTo>
                <a:lnTo>
                  <a:pt x="635" y="3393"/>
                </a:lnTo>
                <a:lnTo>
                  <a:pt x="609" y="3389"/>
                </a:lnTo>
                <a:lnTo>
                  <a:pt x="585" y="3381"/>
                </a:lnTo>
                <a:lnTo>
                  <a:pt x="564" y="3367"/>
                </a:lnTo>
                <a:lnTo>
                  <a:pt x="545" y="3350"/>
                </a:lnTo>
                <a:lnTo>
                  <a:pt x="532" y="3328"/>
                </a:lnTo>
                <a:lnTo>
                  <a:pt x="523" y="3305"/>
                </a:lnTo>
                <a:lnTo>
                  <a:pt x="521" y="3278"/>
                </a:lnTo>
                <a:lnTo>
                  <a:pt x="521" y="3140"/>
                </a:lnTo>
                <a:lnTo>
                  <a:pt x="523" y="3114"/>
                </a:lnTo>
                <a:lnTo>
                  <a:pt x="532" y="3090"/>
                </a:lnTo>
                <a:lnTo>
                  <a:pt x="545" y="3069"/>
                </a:lnTo>
                <a:lnTo>
                  <a:pt x="564" y="3051"/>
                </a:lnTo>
                <a:lnTo>
                  <a:pt x="585" y="3037"/>
                </a:lnTo>
                <a:lnTo>
                  <a:pt x="609" y="3029"/>
                </a:lnTo>
                <a:lnTo>
                  <a:pt x="635" y="3026"/>
                </a:lnTo>
                <a:close/>
                <a:moveTo>
                  <a:pt x="3463" y="2710"/>
                </a:moveTo>
                <a:lnTo>
                  <a:pt x="3461" y="2852"/>
                </a:lnTo>
                <a:lnTo>
                  <a:pt x="3664" y="2854"/>
                </a:lnTo>
                <a:lnTo>
                  <a:pt x="3665" y="2853"/>
                </a:lnTo>
                <a:lnTo>
                  <a:pt x="3666" y="2852"/>
                </a:lnTo>
                <a:lnTo>
                  <a:pt x="3666" y="2712"/>
                </a:lnTo>
                <a:lnTo>
                  <a:pt x="3463" y="2710"/>
                </a:lnTo>
                <a:close/>
                <a:moveTo>
                  <a:pt x="2897" y="2710"/>
                </a:moveTo>
                <a:lnTo>
                  <a:pt x="2894" y="2852"/>
                </a:lnTo>
                <a:lnTo>
                  <a:pt x="3097" y="2854"/>
                </a:lnTo>
                <a:lnTo>
                  <a:pt x="3100" y="2853"/>
                </a:lnTo>
                <a:lnTo>
                  <a:pt x="3100" y="2852"/>
                </a:lnTo>
                <a:lnTo>
                  <a:pt x="3100" y="2712"/>
                </a:lnTo>
                <a:lnTo>
                  <a:pt x="2897" y="2710"/>
                </a:lnTo>
                <a:close/>
                <a:moveTo>
                  <a:pt x="2332" y="2710"/>
                </a:moveTo>
                <a:lnTo>
                  <a:pt x="2329" y="2852"/>
                </a:lnTo>
                <a:lnTo>
                  <a:pt x="2532" y="2854"/>
                </a:lnTo>
                <a:lnTo>
                  <a:pt x="2534" y="2853"/>
                </a:lnTo>
                <a:lnTo>
                  <a:pt x="2535" y="2852"/>
                </a:lnTo>
                <a:lnTo>
                  <a:pt x="2535" y="2712"/>
                </a:lnTo>
                <a:lnTo>
                  <a:pt x="2332" y="2710"/>
                </a:lnTo>
                <a:close/>
                <a:moveTo>
                  <a:pt x="1766" y="2710"/>
                </a:moveTo>
                <a:lnTo>
                  <a:pt x="1763" y="2852"/>
                </a:lnTo>
                <a:lnTo>
                  <a:pt x="1966" y="2854"/>
                </a:lnTo>
                <a:lnTo>
                  <a:pt x="1969" y="2853"/>
                </a:lnTo>
                <a:lnTo>
                  <a:pt x="1969" y="2852"/>
                </a:lnTo>
                <a:lnTo>
                  <a:pt x="1969" y="2712"/>
                </a:lnTo>
                <a:lnTo>
                  <a:pt x="1766" y="2710"/>
                </a:lnTo>
                <a:close/>
                <a:moveTo>
                  <a:pt x="1201" y="2710"/>
                </a:moveTo>
                <a:lnTo>
                  <a:pt x="1198" y="2852"/>
                </a:lnTo>
                <a:lnTo>
                  <a:pt x="1401" y="2854"/>
                </a:lnTo>
                <a:lnTo>
                  <a:pt x="1403" y="2853"/>
                </a:lnTo>
                <a:lnTo>
                  <a:pt x="1404" y="2852"/>
                </a:lnTo>
                <a:lnTo>
                  <a:pt x="1404" y="2712"/>
                </a:lnTo>
                <a:lnTo>
                  <a:pt x="1201" y="2710"/>
                </a:lnTo>
                <a:close/>
                <a:moveTo>
                  <a:pt x="635" y="2710"/>
                </a:moveTo>
                <a:lnTo>
                  <a:pt x="632" y="2852"/>
                </a:lnTo>
                <a:lnTo>
                  <a:pt x="835" y="2854"/>
                </a:lnTo>
                <a:lnTo>
                  <a:pt x="838" y="2853"/>
                </a:lnTo>
                <a:lnTo>
                  <a:pt x="838" y="2852"/>
                </a:lnTo>
                <a:lnTo>
                  <a:pt x="838" y="2712"/>
                </a:lnTo>
                <a:lnTo>
                  <a:pt x="635" y="2710"/>
                </a:lnTo>
                <a:close/>
                <a:moveTo>
                  <a:pt x="3463" y="2599"/>
                </a:moveTo>
                <a:lnTo>
                  <a:pt x="3664" y="2599"/>
                </a:lnTo>
                <a:lnTo>
                  <a:pt x="3689" y="2602"/>
                </a:lnTo>
                <a:lnTo>
                  <a:pt x="3714" y="2611"/>
                </a:lnTo>
                <a:lnTo>
                  <a:pt x="3734" y="2624"/>
                </a:lnTo>
                <a:lnTo>
                  <a:pt x="3753" y="2642"/>
                </a:lnTo>
                <a:lnTo>
                  <a:pt x="3766" y="2662"/>
                </a:lnTo>
                <a:lnTo>
                  <a:pt x="3775" y="2687"/>
                </a:lnTo>
                <a:lnTo>
                  <a:pt x="3777" y="2712"/>
                </a:lnTo>
                <a:lnTo>
                  <a:pt x="3777" y="2852"/>
                </a:lnTo>
                <a:lnTo>
                  <a:pt x="3775" y="2877"/>
                </a:lnTo>
                <a:lnTo>
                  <a:pt x="3766" y="2902"/>
                </a:lnTo>
                <a:lnTo>
                  <a:pt x="3753" y="2923"/>
                </a:lnTo>
                <a:lnTo>
                  <a:pt x="3734" y="2941"/>
                </a:lnTo>
                <a:lnTo>
                  <a:pt x="3714" y="2954"/>
                </a:lnTo>
                <a:lnTo>
                  <a:pt x="3689" y="2963"/>
                </a:lnTo>
                <a:lnTo>
                  <a:pt x="3664" y="2965"/>
                </a:lnTo>
                <a:lnTo>
                  <a:pt x="3463" y="2965"/>
                </a:lnTo>
                <a:lnTo>
                  <a:pt x="3436" y="2963"/>
                </a:lnTo>
                <a:lnTo>
                  <a:pt x="3413" y="2954"/>
                </a:lnTo>
                <a:lnTo>
                  <a:pt x="3392" y="2941"/>
                </a:lnTo>
                <a:lnTo>
                  <a:pt x="3374" y="2923"/>
                </a:lnTo>
                <a:lnTo>
                  <a:pt x="3360" y="2902"/>
                </a:lnTo>
                <a:lnTo>
                  <a:pt x="3352" y="2877"/>
                </a:lnTo>
                <a:lnTo>
                  <a:pt x="3349" y="2852"/>
                </a:lnTo>
                <a:lnTo>
                  <a:pt x="3349" y="2712"/>
                </a:lnTo>
                <a:lnTo>
                  <a:pt x="3352" y="2687"/>
                </a:lnTo>
                <a:lnTo>
                  <a:pt x="3360" y="2662"/>
                </a:lnTo>
                <a:lnTo>
                  <a:pt x="3374" y="2642"/>
                </a:lnTo>
                <a:lnTo>
                  <a:pt x="3392" y="2624"/>
                </a:lnTo>
                <a:lnTo>
                  <a:pt x="3413" y="2611"/>
                </a:lnTo>
                <a:lnTo>
                  <a:pt x="3436" y="2602"/>
                </a:lnTo>
                <a:lnTo>
                  <a:pt x="3463" y="2599"/>
                </a:lnTo>
                <a:close/>
                <a:moveTo>
                  <a:pt x="2897" y="2599"/>
                </a:moveTo>
                <a:lnTo>
                  <a:pt x="3097" y="2599"/>
                </a:lnTo>
                <a:lnTo>
                  <a:pt x="3124" y="2602"/>
                </a:lnTo>
                <a:lnTo>
                  <a:pt x="3147" y="2611"/>
                </a:lnTo>
                <a:lnTo>
                  <a:pt x="3170" y="2624"/>
                </a:lnTo>
                <a:lnTo>
                  <a:pt x="3187" y="2642"/>
                </a:lnTo>
                <a:lnTo>
                  <a:pt x="3200" y="2662"/>
                </a:lnTo>
                <a:lnTo>
                  <a:pt x="3209" y="2687"/>
                </a:lnTo>
                <a:lnTo>
                  <a:pt x="3212" y="2712"/>
                </a:lnTo>
                <a:lnTo>
                  <a:pt x="3212" y="2852"/>
                </a:lnTo>
                <a:lnTo>
                  <a:pt x="3209" y="2877"/>
                </a:lnTo>
                <a:lnTo>
                  <a:pt x="3200" y="2902"/>
                </a:lnTo>
                <a:lnTo>
                  <a:pt x="3187" y="2923"/>
                </a:lnTo>
                <a:lnTo>
                  <a:pt x="3170" y="2941"/>
                </a:lnTo>
                <a:lnTo>
                  <a:pt x="3147" y="2954"/>
                </a:lnTo>
                <a:lnTo>
                  <a:pt x="3124" y="2963"/>
                </a:lnTo>
                <a:lnTo>
                  <a:pt x="3097" y="2965"/>
                </a:lnTo>
                <a:lnTo>
                  <a:pt x="2897" y="2965"/>
                </a:lnTo>
                <a:lnTo>
                  <a:pt x="2871" y="2963"/>
                </a:lnTo>
                <a:lnTo>
                  <a:pt x="2847" y="2954"/>
                </a:lnTo>
                <a:lnTo>
                  <a:pt x="2826" y="2941"/>
                </a:lnTo>
                <a:lnTo>
                  <a:pt x="2809" y="2923"/>
                </a:lnTo>
                <a:lnTo>
                  <a:pt x="2795" y="2902"/>
                </a:lnTo>
                <a:lnTo>
                  <a:pt x="2786" y="2877"/>
                </a:lnTo>
                <a:lnTo>
                  <a:pt x="2783" y="2852"/>
                </a:lnTo>
                <a:lnTo>
                  <a:pt x="2783" y="2712"/>
                </a:lnTo>
                <a:lnTo>
                  <a:pt x="2786" y="2687"/>
                </a:lnTo>
                <a:lnTo>
                  <a:pt x="2795" y="2662"/>
                </a:lnTo>
                <a:lnTo>
                  <a:pt x="2809" y="2642"/>
                </a:lnTo>
                <a:lnTo>
                  <a:pt x="2826" y="2624"/>
                </a:lnTo>
                <a:lnTo>
                  <a:pt x="2847" y="2611"/>
                </a:lnTo>
                <a:lnTo>
                  <a:pt x="2871" y="2602"/>
                </a:lnTo>
                <a:lnTo>
                  <a:pt x="2897" y="2599"/>
                </a:lnTo>
                <a:close/>
                <a:moveTo>
                  <a:pt x="2332" y="2599"/>
                </a:moveTo>
                <a:lnTo>
                  <a:pt x="2532" y="2599"/>
                </a:lnTo>
                <a:lnTo>
                  <a:pt x="2558" y="2602"/>
                </a:lnTo>
                <a:lnTo>
                  <a:pt x="2583" y="2611"/>
                </a:lnTo>
                <a:lnTo>
                  <a:pt x="2603" y="2624"/>
                </a:lnTo>
                <a:lnTo>
                  <a:pt x="2622" y="2642"/>
                </a:lnTo>
                <a:lnTo>
                  <a:pt x="2635" y="2662"/>
                </a:lnTo>
                <a:lnTo>
                  <a:pt x="2644" y="2687"/>
                </a:lnTo>
                <a:lnTo>
                  <a:pt x="2646" y="2712"/>
                </a:lnTo>
                <a:lnTo>
                  <a:pt x="2646" y="2852"/>
                </a:lnTo>
                <a:lnTo>
                  <a:pt x="2644" y="2877"/>
                </a:lnTo>
                <a:lnTo>
                  <a:pt x="2635" y="2902"/>
                </a:lnTo>
                <a:lnTo>
                  <a:pt x="2622" y="2923"/>
                </a:lnTo>
                <a:lnTo>
                  <a:pt x="2603" y="2941"/>
                </a:lnTo>
                <a:lnTo>
                  <a:pt x="2583" y="2954"/>
                </a:lnTo>
                <a:lnTo>
                  <a:pt x="2558" y="2963"/>
                </a:lnTo>
                <a:lnTo>
                  <a:pt x="2532" y="2965"/>
                </a:lnTo>
                <a:lnTo>
                  <a:pt x="2332" y="2965"/>
                </a:lnTo>
                <a:lnTo>
                  <a:pt x="2305" y="2963"/>
                </a:lnTo>
                <a:lnTo>
                  <a:pt x="2282" y="2954"/>
                </a:lnTo>
                <a:lnTo>
                  <a:pt x="2260" y="2941"/>
                </a:lnTo>
                <a:lnTo>
                  <a:pt x="2243" y="2923"/>
                </a:lnTo>
                <a:lnTo>
                  <a:pt x="2229" y="2902"/>
                </a:lnTo>
                <a:lnTo>
                  <a:pt x="2221" y="2877"/>
                </a:lnTo>
                <a:lnTo>
                  <a:pt x="2217" y="2852"/>
                </a:lnTo>
                <a:lnTo>
                  <a:pt x="2217" y="2712"/>
                </a:lnTo>
                <a:lnTo>
                  <a:pt x="2221" y="2687"/>
                </a:lnTo>
                <a:lnTo>
                  <a:pt x="2229" y="2662"/>
                </a:lnTo>
                <a:lnTo>
                  <a:pt x="2243" y="2642"/>
                </a:lnTo>
                <a:lnTo>
                  <a:pt x="2260" y="2624"/>
                </a:lnTo>
                <a:lnTo>
                  <a:pt x="2282" y="2611"/>
                </a:lnTo>
                <a:lnTo>
                  <a:pt x="2305" y="2602"/>
                </a:lnTo>
                <a:lnTo>
                  <a:pt x="2332" y="2599"/>
                </a:lnTo>
                <a:close/>
                <a:moveTo>
                  <a:pt x="1766" y="2599"/>
                </a:moveTo>
                <a:lnTo>
                  <a:pt x="1966" y="2599"/>
                </a:lnTo>
                <a:lnTo>
                  <a:pt x="1993" y="2602"/>
                </a:lnTo>
                <a:lnTo>
                  <a:pt x="2016" y="2611"/>
                </a:lnTo>
                <a:lnTo>
                  <a:pt x="2038" y="2624"/>
                </a:lnTo>
                <a:lnTo>
                  <a:pt x="2056" y="2642"/>
                </a:lnTo>
                <a:lnTo>
                  <a:pt x="2069" y="2662"/>
                </a:lnTo>
                <a:lnTo>
                  <a:pt x="2078" y="2687"/>
                </a:lnTo>
                <a:lnTo>
                  <a:pt x="2081" y="2712"/>
                </a:lnTo>
                <a:lnTo>
                  <a:pt x="2081" y="2852"/>
                </a:lnTo>
                <a:lnTo>
                  <a:pt x="2078" y="2877"/>
                </a:lnTo>
                <a:lnTo>
                  <a:pt x="2069" y="2902"/>
                </a:lnTo>
                <a:lnTo>
                  <a:pt x="2056" y="2923"/>
                </a:lnTo>
                <a:lnTo>
                  <a:pt x="2038" y="2941"/>
                </a:lnTo>
                <a:lnTo>
                  <a:pt x="2016" y="2954"/>
                </a:lnTo>
                <a:lnTo>
                  <a:pt x="1993" y="2963"/>
                </a:lnTo>
                <a:lnTo>
                  <a:pt x="1966" y="2965"/>
                </a:lnTo>
                <a:lnTo>
                  <a:pt x="1766" y="2965"/>
                </a:lnTo>
                <a:lnTo>
                  <a:pt x="1740" y="2963"/>
                </a:lnTo>
                <a:lnTo>
                  <a:pt x="1716" y="2954"/>
                </a:lnTo>
                <a:lnTo>
                  <a:pt x="1695" y="2941"/>
                </a:lnTo>
                <a:lnTo>
                  <a:pt x="1676" y="2923"/>
                </a:lnTo>
                <a:lnTo>
                  <a:pt x="1663" y="2902"/>
                </a:lnTo>
                <a:lnTo>
                  <a:pt x="1654" y="2877"/>
                </a:lnTo>
                <a:lnTo>
                  <a:pt x="1652" y="2852"/>
                </a:lnTo>
                <a:lnTo>
                  <a:pt x="1652" y="2712"/>
                </a:lnTo>
                <a:lnTo>
                  <a:pt x="1654" y="2687"/>
                </a:lnTo>
                <a:lnTo>
                  <a:pt x="1663" y="2662"/>
                </a:lnTo>
                <a:lnTo>
                  <a:pt x="1676" y="2642"/>
                </a:lnTo>
                <a:lnTo>
                  <a:pt x="1695" y="2624"/>
                </a:lnTo>
                <a:lnTo>
                  <a:pt x="1716" y="2611"/>
                </a:lnTo>
                <a:lnTo>
                  <a:pt x="1740" y="2602"/>
                </a:lnTo>
                <a:lnTo>
                  <a:pt x="1766" y="2599"/>
                </a:lnTo>
                <a:close/>
                <a:moveTo>
                  <a:pt x="1201" y="2599"/>
                </a:moveTo>
                <a:lnTo>
                  <a:pt x="1401" y="2599"/>
                </a:lnTo>
                <a:lnTo>
                  <a:pt x="1427" y="2602"/>
                </a:lnTo>
                <a:lnTo>
                  <a:pt x="1451" y="2611"/>
                </a:lnTo>
                <a:lnTo>
                  <a:pt x="1472" y="2624"/>
                </a:lnTo>
                <a:lnTo>
                  <a:pt x="1491" y="2642"/>
                </a:lnTo>
                <a:lnTo>
                  <a:pt x="1504" y="2662"/>
                </a:lnTo>
                <a:lnTo>
                  <a:pt x="1513" y="2687"/>
                </a:lnTo>
                <a:lnTo>
                  <a:pt x="1515" y="2712"/>
                </a:lnTo>
                <a:lnTo>
                  <a:pt x="1515" y="2852"/>
                </a:lnTo>
                <a:lnTo>
                  <a:pt x="1513" y="2877"/>
                </a:lnTo>
                <a:lnTo>
                  <a:pt x="1504" y="2902"/>
                </a:lnTo>
                <a:lnTo>
                  <a:pt x="1491" y="2923"/>
                </a:lnTo>
                <a:lnTo>
                  <a:pt x="1472" y="2941"/>
                </a:lnTo>
                <a:lnTo>
                  <a:pt x="1451" y="2954"/>
                </a:lnTo>
                <a:lnTo>
                  <a:pt x="1427" y="2963"/>
                </a:lnTo>
                <a:lnTo>
                  <a:pt x="1401" y="2965"/>
                </a:lnTo>
                <a:lnTo>
                  <a:pt x="1201" y="2965"/>
                </a:lnTo>
                <a:lnTo>
                  <a:pt x="1174" y="2963"/>
                </a:lnTo>
                <a:lnTo>
                  <a:pt x="1151" y="2954"/>
                </a:lnTo>
                <a:lnTo>
                  <a:pt x="1129" y="2941"/>
                </a:lnTo>
                <a:lnTo>
                  <a:pt x="1112" y="2923"/>
                </a:lnTo>
                <a:lnTo>
                  <a:pt x="1098" y="2902"/>
                </a:lnTo>
                <a:lnTo>
                  <a:pt x="1090" y="2877"/>
                </a:lnTo>
                <a:lnTo>
                  <a:pt x="1086" y="2852"/>
                </a:lnTo>
                <a:lnTo>
                  <a:pt x="1086" y="2712"/>
                </a:lnTo>
                <a:lnTo>
                  <a:pt x="1090" y="2687"/>
                </a:lnTo>
                <a:lnTo>
                  <a:pt x="1098" y="2662"/>
                </a:lnTo>
                <a:lnTo>
                  <a:pt x="1112" y="2642"/>
                </a:lnTo>
                <a:lnTo>
                  <a:pt x="1129" y="2624"/>
                </a:lnTo>
                <a:lnTo>
                  <a:pt x="1151" y="2611"/>
                </a:lnTo>
                <a:lnTo>
                  <a:pt x="1174" y="2602"/>
                </a:lnTo>
                <a:lnTo>
                  <a:pt x="1201" y="2599"/>
                </a:lnTo>
                <a:close/>
                <a:moveTo>
                  <a:pt x="635" y="2599"/>
                </a:moveTo>
                <a:lnTo>
                  <a:pt x="835" y="2599"/>
                </a:lnTo>
                <a:lnTo>
                  <a:pt x="862" y="2602"/>
                </a:lnTo>
                <a:lnTo>
                  <a:pt x="885" y="2611"/>
                </a:lnTo>
                <a:lnTo>
                  <a:pt x="907" y="2624"/>
                </a:lnTo>
                <a:lnTo>
                  <a:pt x="924" y="2642"/>
                </a:lnTo>
                <a:lnTo>
                  <a:pt x="938" y="2662"/>
                </a:lnTo>
                <a:lnTo>
                  <a:pt x="946" y="2687"/>
                </a:lnTo>
                <a:lnTo>
                  <a:pt x="950" y="2712"/>
                </a:lnTo>
                <a:lnTo>
                  <a:pt x="950" y="2852"/>
                </a:lnTo>
                <a:lnTo>
                  <a:pt x="946" y="2877"/>
                </a:lnTo>
                <a:lnTo>
                  <a:pt x="938" y="2902"/>
                </a:lnTo>
                <a:lnTo>
                  <a:pt x="924" y="2923"/>
                </a:lnTo>
                <a:lnTo>
                  <a:pt x="907" y="2941"/>
                </a:lnTo>
                <a:lnTo>
                  <a:pt x="885" y="2954"/>
                </a:lnTo>
                <a:lnTo>
                  <a:pt x="862" y="2963"/>
                </a:lnTo>
                <a:lnTo>
                  <a:pt x="835" y="2965"/>
                </a:lnTo>
                <a:lnTo>
                  <a:pt x="635" y="2965"/>
                </a:lnTo>
                <a:lnTo>
                  <a:pt x="609" y="2963"/>
                </a:lnTo>
                <a:lnTo>
                  <a:pt x="585" y="2954"/>
                </a:lnTo>
                <a:lnTo>
                  <a:pt x="564" y="2941"/>
                </a:lnTo>
                <a:lnTo>
                  <a:pt x="545" y="2923"/>
                </a:lnTo>
                <a:lnTo>
                  <a:pt x="532" y="2902"/>
                </a:lnTo>
                <a:lnTo>
                  <a:pt x="523" y="2877"/>
                </a:lnTo>
                <a:lnTo>
                  <a:pt x="521" y="2852"/>
                </a:lnTo>
                <a:lnTo>
                  <a:pt x="521" y="2712"/>
                </a:lnTo>
                <a:lnTo>
                  <a:pt x="523" y="2687"/>
                </a:lnTo>
                <a:lnTo>
                  <a:pt x="532" y="2662"/>
                </a:lnTo>
                <a:lnTo>
                  <a:pt x="545" y="2642"/>
                </a:lnTo>
                <a:lnTo>
                  <a:pt x="564" y="2624"/>
                </a:lnTo>
                <a:lnTo>
                  <a:pt x="585" y="2611"/>
                </a:lnTo>
                <a:lnTo>
                  <a:pt x="609" y="2602"/>
                </a:lnTo>
                <a:lnTo>
                  <a:pt x="635" y="2599"/>
                </a:lnTo>
                <a:close/>
                <a:moveTo>
                  <a:pt x="1931" y="0"/>
                </a:moveTo>
                <a:lnTo>
                  <a:pt x="2013" y="4"/>
                </a:lnTo>
                <a:lnTo>
                  <a:pt x="2093" y="15"/>
                </a:lnTo>
                <a:lnTo>
                  <a:pt x="2170" y="33"/>
                </a:lnTo>
                <a:lnTo>
                  <a:pt x="2245" y="57"/>
                </a:lnTo>
                <a:lnTo>
                  <a:pt x="2317" y="89"/>
                </a:lnTo>
                <a:lnTo>
                  <a:pt x="2386" y="126"/>
                </a:lnTo>
                <a:lnTo>
                  <a:pt x="2449" y="169"/>
                </a:lnTo>
                <a:lnTo>
                  <a:pt x="2510" y="216"/>
                </a:lnTo>
                <a:lnTo>
                  <a:pt x="2565" y="270"/>
                </a:lnTo>
                <a:lnTo>
                  <a:pt x="2617" y="327"/>
                </a:lnTo>
                <a:lnTo>
                  <a:pt x="2663" y="390"/>
                </a:lnTo>
                <a:lnTo>
                  <a:pt x="2704" y="455"/>
                </a:lnTo>
                <a:lnTo>
                  <a:pt x="2738" y="524"/>
                </a:lnTo>
                <a:lnTo>
                  <a:pt x="2767" y="597"/>
                </a:lnTo>
                <a:lnTo>
                  <a:pt x="2789" y="673"/>
                </a:lnTo>
                <a:lnTo>
                  <a:pt x="2804" y="751"/>
                </a:lnTo>
                <a:lnTo>
                  <a:pt x="2812" y="832"/>
                </a:lnTo>
                <a:lnTo>
                  <a:pt x="2867" y="842"/>
                </a:lnTo>
                <a:lnTo>
                  <a:pt x="2919" y="858"/>
                </a:lnTo>
                <a:lnTo>
                  <a:pt x="2969" y="878"/>
                </a:lnTo>
                <a:lnTo>
                  <a:pt x="3014" y="907"/>
                </a:lnTo>
                <a:lnTo>
                  <a:pt x="3057" y="938"/>
                </a:lnTo>
                <a:lnTo>
                  <a:pt x="3095" y="975"/>
                </a:lnTo>
                <a:lnTo>
                  <a:pt x="3128" y="1017"/>
                </a:lnTo>
                <a:lnTo>
                  <a:pt x="3156" y="1062"/>
                </a:lnTo>
                <a:lnTo>
                  <a:pt x="3179" y="1111"/>
                </a:lnTo>
                <a:lnTo>
                  <a:pt x="3196" y="1162"/>
                </a:lnTo>
                <a:lnTo>
                  <a:pt x="3206" y="1217"/>
                </a:lnTo>
                <a:lnTo>
                  <a:pt x="3210" y="1273"/>
                </a:lnTo>
                <a:lnTo>
                  <a:pt x="3207" y="1323"/>
                </a:lnTo>
                <a:lnTo>
                  <a:pt x="3199" y="1371"/>
                </a:lnTo>
                <a:lnTo>
                  <a:pt x="3185" y="1419"/>
                </a:lnTo>
                <a:lnTo>
                  <a:pt x="3167" y="1465"/>
                </a:lnTo>
                <a:lnTo>
                  <a:pt x="3143" y="1508"/>
                </a:lnTo>
                <a:lnTo>
                  <a:pt x="3113" y="1549"/>
                </a:lnTo>
                <a:lnTo>
                  <a:pt x="3080" y="1587"/>
                </a:lnTo>
                <a:lnTo>
                  <a:pt x="3044" y="1620"/>
                </a:lnTo>
                <a:lnTo>
                  <a:pt x="3003" y="1648"/>
                </a:lnTo>
                <a:lnTo>
                  <a:pt x="2960" y="1671"/>
                </a:lnTo>
                <a:lnTo>
                  <a:pt x="2915" y="1691"/>
                </a:lnTo>
                <a:lnTo>
                  <a:pt x="2867" y="1704"/>
                </a:lnTo>
                <a:lnTo>
                  <a:pt x="2817" y="1713"/>
                </a:lnTo>
                <a:lnTo>
                  <a:pt x="2767" y="1715"/>
                </a:lnTo>
                <a:lnTo>
                  <a:pt x="1977" y="1717"/>
                </a:lnTo>
                <a:lnTo>
                  <a:pt x="1936" y="1720"/>
                </a:lnTo>
                <a:lnTo>
                  <a:pt x="1897" y="1731"/>
                </a:lnTo>
                <a:lnTo>
                  <a:pt x="1860" y="1748"/>
                </a:lnTo>
                <a:lnTo>
                  <a:pt x="1828" y="1770"/>
                </a:lnTo>
                <a:lnTo>
                  <a:pt x="1800" y="1799"/>
                </a:lnTo>
                <a:lnTo>
                  <a:pt x="1777" y="1832"/>
                </a:lnTo>
                <a:lnTo>
                  <a:pt x="1760" y="1868"/>
                </a:lnTo>
                <a:lnTo>
                  <a:pt x="1749" y="1907"/>
                </a:lnTo>
                <a:lnTo>
                  <a:pt x="1745" y="1949"/>
                </a:lnTo>
                <a:lnTo>
                  <a:pt x="1747" y="1984"/>
                </a:lnTo>
                <a:lnTo>
                  <a:pt x="1756" y="2020"/>
                </a:lnTo>
                <a:lnTo>
                  <a:pt x="1769" y="2053"/>
                </a:lnTo>
                <a:lnTo>
                  <a:pt x="1788" y="2083"/>
                </a:lnTo>
                <a:lnTo>
                  <a:pt x="1811" y="2110"/>
                </a:lnTo>
                <a:lnTo>
                  <a:pt x="1832" y="2136"/>
                </a:lnTo>
                <a:lnTo>
                  <a:pt x="1849" y="2164"/>
                </a:lnTo>
                <a:lnTo>
                  <a:pt x="1861" y="2193"/>
                </a:lnTo>
                <a:lnTo>
                  <a:pt x="1870" y="2225"/>
                </a:lnTo>
                <a:lnTo>
                  <a:pt x="1872" y="2258"/>
                </a:lnTo>
                <a:lnTo>
                  <a:pt x="1868" y="2291"/>
                </a:lnTo>
                <a:lnTo>
                  <a:pt x="1861" y="2324"/>
                </a:lnTo>
                <a:lnTo>
                  <a:pt x="1848" y="2354"/>
                </a:lnTo>
                <a:lnTo>
                  <a:pt x="1831" y="2383"/>
                </a:lnTo>
                <a:lnTo>
                  <a:pt x="1809" y="2408"/>
                </a:lnTo>
                <a:lnTo>
                  <a:pt x="1784" y="2429"/>
                </a:lnTo>
                <a:lnTo>
                  <a:pt x="1756" y="2445"/>
                </a:lnTo>
                <a:lnTo>
                  <a:pt x="1727" y="2456"/>
                </a:lnTo>
                <a:lnTo>
                  <a:pt x="1695" y="2463"/>
                </a:lnTo>
                <a:lnTo>
                  <a:pt x="1663" y="2466"/>
                </a:lnTo>
                <a:lnTo>
                  <a:pt x="559" y="2466"/>
                </a:lnTo>
                <a:lnTo>
                  <a:pt x="528" y="2469"/>
                </a:lnTo>
                <a:lnTo>
                  <a:pt x="501" y="2479"/>
                </a:lnTo>
                <a:lnTo>
                  <a:pt x="477" y="2494"/>
                </a:lnTo>
                <a:lnTo>
                  <a:pt x="456" y="2515"/>
                </a:lnTo>
                <a:lnTo>
                  <a:pt x="441" y="2539"/>
                </a:lnTo>
                <a:lnTo>
                  <a:pt x="432" y="2566"/>
                </a:lnTo>
                <a:lnTo>
                  <a:pt x="428" y="2596"/>
                </a:lnTo>
                <a:lnTo>
                  <a:pt x="428" y="3790"/>
                </a:lnTo>
                <a:lnTo>
                  <a:pt x="432" y="3819"/>
                </a:lnTo>
                <a:lnTo>
                  <a:pt x="441" y="3848"/>
                </a:lnTo>
                <a:lnTo>
                  <a:pt x="456" y="3872"/>
                </a:lnTo>
                <a:lnTo>
                  <a:pt x="477" y="3891"/>
                </a:lnTo>
                <a:lnTo>
                  <a:pt x="501" y="3907"/>
                </a:lnTo>
                <a:lnTo>
                  <a:pt x="528" y="3917"/>
                </a:lnTo>
                <a:lnTo>
                  <a:pt x="559" y="3921"/>
                </a:lnTo>
                <a:lnTo>
                  <a:pt x="3722" y="3921"/>
                </a:lnTo>
                <a:lnTo>
                  <a:pt x="3753" y="3917"/>
                </a:lnTo>
                <a:lnTo>
                  <a:pt x="3780" y="3907"/>
                </a:lnTo>
                <a:lnTo>
                  <a:pt x="3804" y="3891"/>
                </a:lnTo>
                <a:lnTo>
                  <a:pt x="3825" y="3872"/>
                </a:lnTo>
                <a:lnTo>
                  <a:pt x="3840" y="3848"/>
                </a:lnTo>
                <a:lnTo>
                  <a:pt x="3849" y="3819"/>
                </a:lnTo>
                <a:lnTo>
                  <a:pt x="3853" y="3790"/>
                </a:lnTo>
                <a:lnTo>
                  <a:pt x="3853" y="2596"/>
                </a:lnTo>
                <a:lnTo>
                  <a:pt x="3849" y="2566"/>
                </a:lnTo>
                <a:lnTo>
                  <a:pt x="3840" y="2539"/>
                </a:lnTo>
                <a:lnTo>
                  <a:pt x="3825" y="2515"/>
                </a:lnTo>
                <a:lnTo>
                  <a:pt x="3804" y="2494"/>
                </a:lnTo>
                <a:lnTo>
                  <a:pt x="3780" y="2479"/>
                </a:lnTo>
                <a:lnTo>
                  <a:pt x="3753" y="2469"/>
                </a:lnTo>
                <a:lnTo>
                  <a:pt x="3722" y="2466"/>
                </a:lnTo>
                <a:lnTo>
                  <a:pt x="2279" y="2466"/>
                </a:lnTo>
                <a:lnTo>
                  <a:pt x="2261" y="2462"/>
                </a:lnTo>
                <a:lnTo>
                  <a:pt x="2246" y="2455"/>
                </a:lnTo>
                <a:lnTo>
                  <a:pt x="2234" y="2442"/>
                </a:lnTo>
                <a:lnTo>
                  <a:pt x="2227" y="2428"/>
                </a:lnTo>
                <a:lnTo>
                  <a:pt x="2223" y="2409"/>
                </a:lnTo>
                <a:lnTo>
                  <a:pt x="2227" y="2392"/>
                </a:lnTo>
                <a:lnTo>
                  <a:pt x="2234" y="2376"/>
                </a:lnTo>
                <a:lnTo>
                  <a:pt x="2246" y="2364"/>
                </a:lnTo>
                <a:lnTo>
                  <a:pt x="2261" y="2357"/>
                </a:lnTo>
                <a:lnTo>
                  <a:pt x="2279" y="2354"/>
                </a:lnTo>
                <a:lnTo>
                  <a:pt x="3722" y="2354"/>
                </a:lnTo>
                <a:lnTo>
                  <a:pt x="3761" y="2357"/>
                </a:lnTo>
                <a:lnTo>
                  <a:pt x="3799" y="2367"/>
                </a:lnTo>
                <a:lnTo>
                  <a:pt x="3833" y="2381"/>
                </a:lnTo>
                <a:lnTo>
                  <a:pt x="3865" y="2401"/>
                </a:lnTo>
                <a:lnTo>
                  <a:pt x="3893" y="2425"/>
                </a:lnTo>
                <a:lnTo>
                  <a:pt x="3918" y="2453"/>
                </a:lnTo>
                <a:lnTo>
                  <a:pt x="3937" y="2485"/>
                </a:lnTo>
                <a:lnTo>
                  <a:pt x="3952" y="2519"/>
                </a:lnTo>
                <a:lnTo>
                  <a:pt x="3962" y="2557"/>
                </a:lnTo>
                <a:lnTo>
                  <a:pt x="3964" y="2596"/>
                </a:lnTo>
                <a:lnTo>
                  <a:pt x="3964" y="3790"/>
                </a:lnTo>
                <a:lnTo>
                  <a:pt x="3962" y="3829"/>
                </a:lnTo>
                <a:lnTo>
                  <a:pt x="3952" y="3866"/>
                </a:lnTo>
                <a:lnTo>
                  <a:pt x="3937" y="3901"/>
                </a:lnTo>
                <a:lnTo>
                  <a:pt x="3918" y="3933"/>
                </a:lnTo>
                <a:lnTo>
                  <a:pt x="3893" y="3961"/>
                </a:lnTo>
                <a:lnTo>
                  <a:pt x="3865" y="3986"/>
                </a:lnTo>
                <a:lnTo>
                  <a:pt x="3833" y="4005"/>
                </a:lnTo>
                <a:lnTo>
                  <a:pt x="3799" y="4020"/>
                </a:lnTo>
                <a:lnTo>
                  <a:pt x="3761" y="4028"/>
                </a:lnTo>
                <a:lnTo>
                  <a:pt x="3722" y="4032"/>
                </a:lnTo>
                <a:lnTo>
                  <a:pt x="559" y="4032"/>
                </a:lnTo>
                <a:lnTo>
                  <a:pt x="520" y="4028"/>
                </a:lnTo>
                <a:lnTo>
                  <a:pt x="482" y="4020"/>
                </a:lnTo>
                <a:lnTo>
                  <a:pt x="448" y="4005"/>
                </a:lnTo>
                <a:lnTo>
                  <a:pt x="416" y="3986"/>
                </a:lnTo>
                <a:lnTo>
                  <a:pt x="388" y="3961"/>
                </a:lnTo>
                <a:lnTo>
                  <a:pt x="363" y="3933"/>
                </a:lnTo>
                <a:lnTo>
                  <a:pt x="344" y="3901"/>
                </a:lnTo>
                <a:lnTo>
                  <a:pt x="329" y="3866"/>
                </a:lnTo>
                <a:lnTo>
                  <a:pt x="319" y="3829"/>
                </a:lnTo>
                <a:lnTo>
                  <a:pt x="317" y="3790"/>
                </a:lnTo>
                <a:lnTo>
                  <a:pt x="317" y="2596"/>
                </a:lnTo>
                <a:lnTo>
                  <a:pt x="319" y="2557"/>
                </a:lnTo>
                <a:lnTo>
                  <a:pt x="329" y="2519"/>
                </a:lnTo>
                <a:lnTo>
                  <a:pt x="344" y="2485"/>
                </a:lnTo>
                <a:lnTo>
                  <a:pt x="363" y="2453"/>
                </a:lnTo>
                <a:lnTo>
                  <a:pt x="388" y="2425"/>
                </a:lnTo>
                <a:lnTo>
                  <a:pt x="416" y="2401"/>
                </a:lnTo>
                <a:lnTo>
                  <a:pt x="448" y="2381"/>
                </a:lnTo>
                <a:lnTo>
                  <a:pt x="482" y="2367"/>
                </a:lnTo>
                <a:lnTo>
                  <a:pt x="520" y="2357"/>
                </a:lnTo>
                <a:lnTo>
                  <a:pt x="559" y="2354"/>
                </a:lnTo>
                <a:lnTo>
                  <a:pt x="1664" y="2354"/>
                </a:lnTo>
                <a:lnTo>
                  <a:pt x="1689" y="2351"/>
                </a:lnTo>
                <a:lnTo>
                  <a:pt x="1711" y="2342"/>
                </a:lnTo>
                <a:lnTo>
                  <a:pt x="1730" y="2328"/>
                </a:lnTo>
                <a:lnTo>
                  <a:pt x="1744" y="2313"/>
                </a:lnTo>
                <a:lnTo>
                  <a:pt x="1752" y="2296"/>
                </a:lnTo>
                <a:lnTo>
                  <a:pt x="1758" y="2277"/>
                </a:lnTo>
                <a:lnTo>
                  <a:pt x="1760" y="2258"/>
                </a:lnTo>
                <a:lnTo>
                  <a:pt x="1757" y="2232"/>
                </a:lnTo>
                <a:lnTo>
                  <a:pt x="1747" y="2210"/>
                </a:lnTo>
                <a:lnTo>
                  <a:pt x="1731" y="2189"/>
                </a:lnTo>
                <a:lnTo>
                  <a:pt x="1730" y="2188"/>
                </a:lnTo>
                <a:lnTo>
                  <a:pt x="1729" y="2187"/>
                </a:lnTo>
                <a:lnTo>
                  <a:pt x="1728" y="2186"/>
                </a:lnTo>
                <a:lnTo>
                  <a:pt x="1700" y="2153"/>
                </a:lnTo>
                <a:lnTo>
                  <a:pt x="1676" y="2116"/>
                </a:lnTo>
                <a:lnTo>
                  <a:pt x="1658" y="2077"/>
                </a:lnTo>
                <a:lnTo>
                  <a:pt x="1645" y="2037"/>
                </a:lnTo>
                <a:lnTo>
                  <a:pt x="1636" y="1993"/>
                </a:lnTo>
                <a:lnTo>
                  <a:pt x="1634" y="1949"/>
                </a:lnTo>
                <a:lnTo>
                  <a:pt x="1637" y="1897"/>
                </a:lnTo>
                <a:lnTo>
                  <a:pt x="1648" y="1850"/>
                </a:lnTo>
                <a:lnTo>
                  <a:pt x="1665" y="1803"/>
                </a:lnTo>
                <a:lnTo>
                  <a:pt x="1689" y="1762"/>
                </a:lnTo>
                <a:lnTo>
                  <a:pt x="1718" y="1723"/>
                </a:lnTo>
                <a:lnTo>
                  <a:pt x="1752" y="1690"/>
                </a:lnTo>
                <a:lnTo>
                  <a:pt x="1790" y="1660"/>
                </a:lnTo>
                <a:lnTo>
                  <a:pt x="1833" y="1637"/>
                </a:lnTo>
                <a:lnTo>
                  <a:pt x="1878" y="1619"/>
                </a:lnTo>
                <a:lnTo>
                  <a:pt x="1927" y="1609"/>
                </a:lnTo>
                <a:lnTo>
                  <a:pt x="1977" y="1604"/>
                </a:lnTo>
                <a:lnTo>
                  <a:pt x="2767" y="1604"/>
                </a:lnTo>
                <a:lnTo>
                  <a:pt x="2810" y="1602"/>
                </a:lnTo>
                <a:lnTo>
                  <a:pt x="2850" y="1593"/>
                </a:lnTo>
                <a:lnTo>
                  <a:pt x="2891" y="1581"/>
                </a:lnTo>
                <a:lnTo>
                  <a:pt x="2927" y="1563"/>
                </a:lnTo>
                <a:lnTo>
                  <a:pt x="2963" y="1541"/>
                </a:lnTo>
                <a:lnTo>
                  <a:pt x="2995" y="1514"/>
                </a:lnTo>
                <a:lnTo>
                  <a:pt x="3024" y="1483"/>
                </a:lnTo>
                <a:lnTo>
                  <a:pt x="3048" y="1449"/>
                </a:lnTo>
                <a:lnTo>
                  <a:pt x="3070" y="1408"/>
                </a:lnTo>
                <a:lnTo>
                  <a:pt x="3086" y="1365"/>
                </a:lnTo>
                <a:lnTo>
                  <a:pt x="3095" y="1320"/>
                </a:lnTo>
                <a:lnTo>
                  <a:pt x="3099" y="1273"/>
                </a:lnTo>
                <a:lnTo>
                  <a:pt x="3095" y="1224"/>
                </a:lnTo>
                <a:lnTo>
                  <a:pt x="3085" y="1178"/>
                </a:lnTo>
                <a:lnTo>
                  <a:pt x="3068" y="1134"/>
                </a:lnTo>
                <a:lnTo>
                  <a:pt x="3045" y="1092"/>
                </a:lnTo>
                <a:lnTo>
                  <a:pt x="3018" y="1056"/>
                </a:lnTo>
                <a:lnTo>
                  <a:pt x="2985" y="1023"/>
                </a:lnTo>
                <a:lnTo>
                  <a:pt x="2947" y="995"/>
                </a:lnTo>
                <a:lnTo>
                  <a:pt x="2907" y="973"/>
                </a:lnTo>
                <a:lnTo>
                  <a:pt x="2863" y="955"/>
                </a:lnTo>
                <a:lnTo>
                  <a:pt x="2816" y="946"/>
                </a:lnTo>
                <a:lnTo>
                  <a:pt x="2767" y="942"/>
                </a:lnTo>
                <a:lnTo>
                  <a:pt x="2766" y="942"/>
                </a:lnTo>
                <a:lnTo>
                  <a:pt x="2764" y="942"/>
                </a:lnTo>
                <a:lnTo>
                  <a:pt x="2762" y="942"/>
                </a:lnTo>
                <a:lnTo>
                  <a:pt x="2760" y="942"/>
                </a:lnTo>
                <a:lnTo>
                  <a:pt x="2759" y="942"/>
                </a:lnTo>
                <a:lnTo>
                  <a:pt x="2744" y="941"/>
                </a:lnTo>
                <a:lnTo>
                  <a:pt x="2731" y="935"/>
                </a:lnTo>
                <a:lnTo>
                  <a:pt x="2718" y="926"/>
                </a:lnTo>
                <a:lnTo>
                  <a:pt x="2710" y="914"/>
                </a:lnTo>
                <a:lnTo>
                  <a:pt x="2704" y="900"/>
                </a:lnTo>
                <a:lnTo>
                  <a:pt x="2702" y="886"/>
                </a:lnTo>
                <a:lnTo>
                  <a:pt x="2699" y="811"/>
                </a:lnTo>
                <a:lnTo>
                  <a:pt x="2688" y="739"/>
                </a:lnTo>
                <a:lnTo>
                  <a:pt x="2671" y="668"/>
                </a:lnTo>
                <a:lnTo>
                  <a:pt x="2649" y="601"/>
                </a:lnTo>
                <a:lnTo>
                  <a:pt x="2619" y="536"/>
                </a:lnTo>
                <a:lnTo>
                  <a:pt x="2585" y="474"/>
                </a:lnTo>
                <a:lnTo>
                  <a:pt x="2545" y="417"/>
                </a:lnTo>
                <a:lnTo>
                  <a:pt x="2501" y="363"/>
                </a:lnTo>
                <a:lnTo>
                  <a:pt x="2450" y="314"/>
                </a:lnTo>
                <a:lnTo>
                  <a:pt x="2398" y="269"/>
                </a:lnTo>
                <a:lnTo>
                  <a:pt x="2340" y="228"/>
                </a:lnTo>
                <a:lnTo>
                  <a:pt x="2279" y="194"/>
                </a:lnTo>
                <a:lnTo>
                  <a:pt x="2214" y="165"/>
                </a:lnTo>
                <a:lnTo>
                  <a:pt x="2147" y="142"/>
                </a:lnTo>
                <a:lnTo>
                  <a:pt x="2078" y="126"/>
                </a:lnTo>
                <a:lnTo>
                  <a:pt x="2005" y="115"/>
                </a:lnTo>
                <a:lnTo>
                  <a:pt x="1931" y="111"/>
                </a:lnTo>
                <a:lnTo>
                  <a:pt x="1862" y="115"/>
                </a:lnTo>
                <a:lnTo>
                  <a:pt x="1795" y="123"/>
                </a:lnTo>
                <a:lnTo>
                  <a:pt x="1729" y="138"/>
                </a:lnTo>
                <a:lnTo>
                  <a:pt x="1664" y="159"/>
                </a:lnTo>
                <a:lnTo>
                  <a:pt x="1603" y="184"/>
                </a:lnTo>
                <a:lnTo>
                  <a:pt x="1544" y="216"/>
                </a:lnTo>
                <a:lnTo>
                  <a:pt x="1488" y="252"/>
                </a:lnTo>
                <a:lnTo>
                  <a:pt x="1436" y="292"/>
                </a:lnTo>
                <a:lnTo>
                  <a:pt x="1385" y="337"/>
                </a:lnTo>
                <a:lnTo>
                  <a:pt x="1340" y="387"/>
                </a:lnTo>
                <a:lnTo>
                  <a:pt x="1300" y="440"/>
                </a:lnTo>
                <a:lnTo>
                  <a:pt x="1263" y="497"/>
                </a:lnTo>
                <a:lnTo>
                  <a:pt x="1231" y="557"/>
                </a:lnTo>
                <a:lnTo>
                  <a:pt x="1206" y="622"/>
                </a:lnTo>
                <a:lnTo>
                  <a:pt x="1198" y="634"/>
                </a:lnTo>
                <a:lnTo>
                  <a:pt x="1189" y="645"/>
                </a:lnTo>
                <a:lnTo>
                  <a:pt x="1175" y="654"/>
                </a:lnTo>
                <a:lnTo>
                  <a:pt x="1162" y="657"/>
                </a:lnTo>
                <a:lnTo>
                  <a:pt x="1146" y="657"/>
                </a:lnTo>
                <a:lnTo>
                  <a:pt x="1131" y="654"/>
                </a:lnTo>
                <a:lnTo>
                  <a:pt x="1088" y="638"/>
                </a:lnTo>
                <a:lnTo>
                  <a:pt x="1043" y="627"/>
                </a:lnTo>
                <a:lnTo>
                  <a:pt x="998" y="621"/>
                </a:lnTo>
                <a:lnTo>
                  <a:pt x="951" y="618"/>
                </a:lnTo>
                <a:lnTo>
                  <a:pt x="893" y="622"/>
                </a:lnTo>
                <a:lnTo>
                  <a:pt x="838" y="632"/>
                </a:lnTo>
                <a:lnTo>
                  <a:pt x="784" y="648"/>
                </a:lnTo>
                <a:lnTo>
                  <a:pt x="734" y="671"/>
                </a:lnTo>
                <a:lnTo>
                  <a:pt x="687" y="698"/>
                </a:lnTo>
                <a:lnTo>
                  <a:pt x="644" y="731"/>
                </a:lnTo>
                <a:lnTo>
                  <a:pt x="605" y="769"/>
                </a:lnTo>
                <a:lnTo>
                  <a:pt x="571" y="810"/>
                </a:lnTo>
                <a:lnTo>
                  <a:pt x="542" y="856"/>
                </a:lnTo>
                <a:lnTo>
                  <a:pt x="518" y="905"/>
                </a:lnTo>
                <a:lnTo>
                  <a:pt x="500" y="958"/>
                </a:lnTo>
                <a:lnTo>
                  <a:pt x="488" y="1013"/>
                </a:lnTo>
                <a:lnTo>
                  <a:pt x="483" y="1072"/>
                </a:lnTo>
                <a:lnTo>
                  <a:pt x="479" y="1087"/>
                </a:lnTo>
                <a:lnTo>
                  <a:pt x="472" y="1102"/>
                </a:lnTo>
                <a:lnTo>
                  <a:pt x="461" y="1114"/>
                </a:lnTo>
                <a:lnTo>
                  <a:pt x="446" y="1123"/>
                </a:lnTo>
                <a:lnTo>
                  <a:pt x="430" y="1127"/>
                </a:lnTo>
                <a:lnTo>
                  <a:pt x="413" y="1125"/>
                </a:lnTo>
                <a:lnTo>
                  <a:pt x="393" y="1122"/>
                </a:lnTo>
                <a:lnTo>
                  <a:pt x="373" y="1119"/>
                </a:lnTo>
                <a:lnTo>
                  <a:pt x="355" y="1118"/>
                </a:lnTo>
                <a:lnTo>
                  <a:pt x="315" y="1122"/>
                </a:lnTo>
                <a:lnTo>
                  <a:pt x="278" y="1130"/>
                </a:lnTo>
                <a:lnTo>
                  <a:pt x="242" y="1145"/>
                </a:lnTo>
                <a:lnTo>
                  <a:pt x="210" y="1166"/>
                </a:lnTo>
                <a:lnTo>
                  <a:pt x="182" y="1190"/>
                </a:lnTo>
                <a:lnTo>
                  <a:pt x="158" y="1218"/>
                </a:lnTo>
                <a:lnTo>
                  <a:pt x="138" y="1250"/>
                </a:lnTo>
                <a:lnTo>
                  <a:pt x="124" y="1284"/>
                </a:lnTo>
                <a:lnTo>
                  <a:pt x="114" y="1322"/>
                </a:lnTo>
                <a:lnTo>
                  <a:pt x="111" y="1361"/>
                </a:lnTo>
                <a:lnTo>
                  <a:pt x="114" y="1401"/>
                </a:lnTo>
                <a:lnTo>
                  <a:pt x="124" y="1438"/>
                </a:lnTo>
                <a:lnTo>
                  <a:pt x="138" y="1474"/>
                </a:lnTo>
                <a:lnTo>
                  <a:pt x="158" y="1505"/>
                </a:lnTo>
                <a:lnTo>
                  <a:pt x="182" y="1533"/>
                </a:lnTo>
                <a:lnTo>
                  <a:pt x="210" y="1558"/>
                </a:lnTo>
                <a:lnTo>
                  <a:pt x="242" y="1577"/>
                </a:lnTo>
                <a:lnTo>
                  <a:pt x="278" y="1592"/>
                </a:lnTo>
                <a:lnTo>
                  <a:pt x="315" y="1602"/>
                </a:lnTo>
                <a:lnTo>
                  <a:pt x="355" y="1604"/>
                </a:lnTo>
                <a:lnTo>
                  <a:pt x="1586" y="1604"/>
                </a:lnTo>
                <a:lnTo>
                  <a:pt x="1603" y="1608"/>
                </a:lnTo>
                <a:lnTo>
                  <a:pt x="1619" y="1615"/>
                </a:lnTo>
                <a:lnTo>
                  <a:pt x="1631" y="1627"/>
                </a:lnTo>
                <a:lnTo>
                  <a:pt x="1639" y="1643"/>
                </a:lnTo>
                <a:lnTo>
                  <a:pt x="1642" y="1660"/>
                </a:lnTo>
                <a:lnTo>
                  <a:pt x="1639" y="1678"/>
                </a:lnTo>
                <a:lnTo>
                  <a:pt x="1631" y="1693"/>
                </a:lnTo>
                <a:lnTo>
                  <a:pt x="1619" y="1706"/>
                </a:lnTo>
                <a:lnTo>
                  <a:pt x="1603" y="1713"/>
                </a:lnTo>
                <a:lnTo>
                  <a:pt x="1586" y="1717"/>
                </a:lnTo>
                <a:lnTo>
                  <a:pt x="355" y="1717"/>
                </a:lnTo>
                <a:lnTo>
                  <a:pt x="302" y="1713"/>
                </a:lnTo>
                <a:lnTo>
                  <a:pt x="252" y="1701"/>
                </a:lnTo>
                <a:lnTo>
                  <a:pt x="205" y="1684"/>
                </a:lnTo>
                <a:lnTo>
                  <a:pt x="161" y="1659"/>
                </a:lnTo>
                <a:lnTo>
                  <a:pt x="121" y="1629"/>
                </a:lnTo>
                <a:lnTo>
                  <a:pt x="87" y="1594"/>
                </a:lnTo>
                <a:lnTo>
                  <a:pt x="56" y="1554"/>
                </a:lnTo>
                <a:lnTo>
                  <a:pt x="33" y="1511"/>
                </a:lnTo>
                <a:lnTo>
                  <a:pt x="15" y="1464"/>
                </a:lnTo>
                <a:lnTo>
                  <a:pt x="4" y="1414"/>
                </a:lnTo>
                <a:lnTo>
                  <a:pt x="0" y="1361"/>
                </a:lnTo>
                <a:lnTo>
                  <a:pt x="2" y="1312"/>
                </a:lnTo>
                <a:lnTo>
                  <a:pt x="13" y="1265"/>
                </a:lnTo>
                <a:lnTo>
                  <a:pt x="29" y="1219"/>
                </a:lnTo>
                <a:lnTo>
                  <a:pt x="51" y="1177"/>
                </a:lnTo>
                <a:lnTo>
                  <a:pt x="79" y="1139"/>
                </a:lnTo>
                <a:lnTo>
                  <a:pt x="111" y="1103"/>
                </a:lnTo>
                <a:lnTo>
                  <a:pt x="148" y="1074"/>
                </a:lnTo>
                <a:lnTo>
                  <a:pt x="187" y="1048"/>
                </a:lnTo>
                <a:lnTo>
                  <a:pt x="231" y="1029"/>
                </a:lnTo>
                <a:lnTo>
                  <a:pt x="278" y="1015"/>
                </a:lnTo>
                <a:lnTo>
                  <a:pt x="325" y="1008"/>
                </a:lnTo>
                <a:lnTo>
                  <a:pt x="375" y="1008"/>
                </a:lnTo>
                <a:lnTo>
                  <a:pt x="389" y="943"/>
                </a:lnTo>
                <a:lnTo>
                  <a:pt x="407" y="881"/>
                </a:lnTo>
                <a:lnTo>
                  <a:pt x="433" y="822"/>
                </a:lnTo>
                <a:lnTo>
                  <a:pt x="465" y="769"/>
                </a:lnTo>
                <a:lnTo>
                  <a:pt x="501" y="717"/>
                </a:lnTo>
                <a:lnTo>
                  <a:pt x="544" y="671"/>
                </a:lnTo>
                <a:lnTo>
                  <a:pt x="592" y="630"/>
                </a:lnTo>
                <a:lnTo>
                  <a:pt x="643" y="594"/>
                </a:lnTo>
                <a:lnTo>
                  <a:pt x="698" y="563"/>
                </a:lnTo>
                <a:lnTo>
                  <a:pt x="757" y="539"/>
                </a:lnTo>
                <a:lnTo>
                  <a:pt x="819" y="522"/>
                </a:lnTo>
                <a:lnTo>
                  <a:pt x="884" y="511"/>
                </a:lnTo>
                <a:lnTo>
                  <a:pt x="951" y="506"/>
                </a:lnTo>
                <a:lnTo>
                  <a:pt x="1009" y="509"/>
                </a:lnTo>
                <a:lnTo>
                  <a:pt x="1065" y="518"/>
                </a:lnTo>
                <a:lnTo>
                  <a:pt x="1121" y="531"/>
                </a:lnTo>
                <a:lnTo>
                  <a:pt x="1153" y="464"/>
                </a:lnTo>
                <a:lnTo>
                  <a:pt x="1191" y="402"/>
                </a:lnTo>
                <a:lnTo>
                  <a:pt x="1234" y="342"/>
                </a:lnTo>
                <a:lnTo>
                  <a:pt x="1280" y="286"/>
                </a:lnTo>
                <a:lnTo>
                  <a:pt x="1332" y="235"/>
                </a:lnTo>
                <a:lnTo>
                  <a:pt x="1387" y="188"/>
                </a:lnTo>
                <a:lnTo>
                  <a:pt x="1445" y="145"/>
                </a:lnTo>
                <a:lnTo>
                  <a:pt x="1508" y="109"/>
                </a:lnTo>
                <a:lnTo>
                  <a:pt x="1573" y="76"/>
                </a:lnTo>
                <a:lnTo>
                  <a:pt x="1641" y="49"/>
                </a:lnTo>
                <a:lnTo>
                  <a:pt x="1711" y="28"/>
                </a:lnTo>
                <a:lnTo>
                  <a:pt x="1783" y="12"/>
                </a:lnTo>
                <a:lnTo>
                  <a:pt x="1856" y="4"/>
                </a:lnTo>
                <a:lnTo>
                  <a:pt x="1931"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9">
            <a:extLst>
              <a:ext uri="{FF2B5EF4-FFF2-40B4-BE49-F238E27FC236}">
                <a16:creationId xmlns:a16="http://schemas.microsoft.com/office/drawing/2014/main" id="{D2F86B3E-376E-47D6-A62C-A5A1EC7173DD}"/>
              </a:ext>
            </a:extLst>
          </p:cNvPr>
          <p:cNvSpPr>
            <a:spLocks noChangeAspect="1" noEditPoints="1"/>
          </p:cNvSpPr>
          <p:nvPr/>
        </p:nvSpPr>
        <p:spPr bwMode="auto">
          <a:xfrm>
            <a:off x="6226237" y="701590"/>
            <a:ext cx="683610" cy="697316"/>
          </a:xfrm>
          <a:custGeom>
            <a:avLst/>
            <a:gdLst>
              <a:gd name="T0" fmla="*/ 751 w 4190"/>
              <a:gd name="T1" fmla="*/ 1783 h 4805"/>
              <a:gd name="T2" fmla="*/ 751 w 4190"/>
              <a:gd name="T3" fmla="*/ 1783 h 4805"/>
              <a:gd name="T4" fmla="*/ 2405 w 4190"/>
              <a:gd name="T5" fmla="*/ 3438 h 4805"/>
              <a:gd name="T6" fmla="*/ 4059 w 4190"/>
              <a:gd name="T7" fmla="*/ 1783 h 4805"/>
              <a:gd name="T8" fmla="*/ 2405 w 4190"/>
              <a:gd name="T9" fmla="*/ 129 h 4805"/>
              <a:gd name="T10" fmla="*/ 751 w 4190"/>
              <a:gd name="T11" fmla="*/ 1783 h 4805"/>
              <a:gd name="T12" fmla="*/ 751 w 4190"/>
              <a:gd name="T13" fmla="*/ 1783 h 4805"/>
              <a:gd name="T14" fmla="*/ 620 w 4190"/>
              <a:gd name="T15" fmla="*/ 1783 h 4805"/>
              <a:gd name="T16" fmla="*/ 620 w 4190"/>
              <a:gd name="T17" fmla="*/ 1783 h 4805"/>
              <a:gd name="T18" fmla="*/ 2405 w 4190"/>
              <a:gd name="T19" fmla="*/ 0 h 4805"/>
              <a:gd name="T20" fmla="*/ 4190 w 4190"/>
              <a:gd name="T21" fmla="*/ 1783 h 4805"/>
              <a:gd name="T22" fmla="*/ 2405 w 4190"/>
              <a:gd name="T23" fmla="*/ 3568 h 4805"/>
              <a:gd name="T24" fmla="*/ 620 w 4190"/>
              <a:gd name="T25" fmla="*/ 1783 h 4805"/>
              <a:gd name="T26" fmla="*/ 620 w 4190"/>
              <a:gd name="T27" fmla="*/ 1783 h 4805"/>
              <a:gd name="T28" fmla="*/ 4107 w 4190"/>
              <a:gd name="T29" fmla="*/ 3391 h 4805"/>
              <a:gd name="T30" fmla="*/ 4107 w 4190"/>
              <a:gd name="T31" fmla="*/ 3391 h 4805"/>
              <a:gd name="T32" fmla="*/ 4107 w 4190"/>
              <a:gd name="T33" fmla="*/ 3483 h 4805"/>
              <a:gd name="T34" fmla="*/ 2470 w 4190"/>
              <a:gd name="T35" fmla="*/ 4187 h 4805"/>
              <a:gd name="T36" fmla="*/ 2470 w 4190"/>
              <a:gd name="T37" fmla="*/ 4413 h 4805"/>
              <a:gd name="T38" fmla="*/ 3308 w 4190"/>
              <a:gd name="T39" fmla="*/ 4682 h 4805"/>
              <a:gd name="T40" fmla="*/ 3319 w 4190"/>
              <a:gd name="T41" fmla="*/ 4773 h 4805"/>
              <a:gd name="T42" fmla="*/ 3268 w 4190"/>
              <a:gd name="T43" fmla="*/ 4799 h 4805"/>
              <a:gd name="T44" fmla="*/ 3228 w 4190"/>
              <a:gd name="T45" fmla="*/ 4785 h 4805"/>
              <a:gd name="T46" fmla="*/ 2403 w 4190"/>
              <a:gd name="T47" fmla="*/ 4541 h 4805"/>
              <a:gd name="T48" fmla="*/ 1579 w 4190"/>
              <a:gd name="T49" fmla="*/ 4783 h 4805"/>
              <a:gd name="T50" fmla="*/ 1488 w 4190"/>
              <a:gd name="T51" fmla="*/ 4771 h 4805"/>
              <a:gd name="T52" fmla="*/ 1500 w 4190"/>
              <a:gd name="T53" fmla="*/ 4680 h 4805"/>
              <a:gd name="T54" fmla="*/ 2340 w 4190"/>
              <a:gd name="T55" fmla="*/ 4413 h 4805"/>
              <a:gd name="T56" fmla="*/ 2340 w 4190"/>
              <a:gd name="T57" fmla="*/ 4187 h 4805"/>
              <a:gd name="T58" fmla="*/ 0 w 4190"/>
              <a:gd name="T59" fmla="*/ 1783 h 4805"/>
              <a:gd name="T60" fmla="*/ 704 w 4190"/>
              <a:gd name="T61" fmla="*/ 82 h 4805"/>
              <a:gd name="T62" fmla="*/ 796 w 4190"/>
              <a:gd name="T63" fmla="*/ 82 h 4805"/>
              <a:gd name="T64" fmla="*/ 1029 w 4190"/>
              <a:gd name="T65" fmla="*/ 315 h 4805"/>
              <a:gd name="T66" fmla="*/ 1029 w 4190"/>
              <a:gd name="T67" fmla="*/ 407 h 4805"/>
              <a:gd name="T68" fmla="*/ 937 w 4190"/>
              <a:gd name="T69" fmla="*/ 407 h 4805"/>
              <a:gd name="T70" fmla="*/ 751 w 4190"/>
              <a:gd name="T71" fmla="*/ 221 h 4805"/>
              <a:gd name="T72" fmla="*/ 130 w 4190"/>
              <a:gd name="T73" fmla="*/ 1783 h 4805"/>
              <a:gd name="T74" fmla="*/ 2405 w 4190"/>
              <a:gd name="T75" fmla="*/ 4058 h 4805"/>
              <a:gd name="T76" fmla="*/ 3968 w 4190"/>
              <a:gd name="T77" fmla="*/ 3436 h 4805"/>
              <a:gd name="T78" fmla="*/ 3767 w 4190"/>
              <a:gd name="T79" fmla="*/ 3234 h 4805"/>
              <a:gd name="T80" fmla="*/ 3767 w 4190"/>
              <a:gd name="T81" fmla="*/ 3142 h 4805"/>
              <a:gd name="T82" fmla="*/ 3859 w 4190"/>
              <a:gd name="T83" fmla="*/ 3142 h 4805"/>
              <a:gd name="T84" fmla="*/ 4107 w 4190"/>
              <a:gd name="T85" fmla="*/ 3391 h 4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90" h="4805">
                <a:moveTo>
                  <a:pt x="751" y="1783"/>
                </a:moveTo>
                <a:lnTo>
                  <a:pt x="751" y="1783"/>
                </a:lnTo>
                <a:cubicBezTo>
                  <a:pt x="751" y="2695"/>
                  <a:pt x="1493" y="3438"/>
                  <a:pt x="2405" y="3438"/>
                </a:cubicBezTo>
                <a:cubicBezTo>
                  <a:pt x="3317" y="3438"/>
                  <a:pt x="4059" y="2695"/>
                  <a:pt x="4059" y="1783"/>
                </a:cubicBezTo>
                <a:cubicBezTo>
                  <a:pt x="4059" y="871"/>
                  <a:pt x="3317" y="129"/>
                  <a:pt x="2405" y="129"/>
                </a:cubicBezTo>
                <a:cubicBezTo>
                  <a:pt x="1493" y="129"/>
                  <a:pt x="751" y="871"/>
                  <a:pt x="751" y="1783"/>
                </a:cubicBezTo>
                <a:lnTo>
                  <a:pt x="751" y="1783"/>
                </a:lnTo>
                <a:close/>
                <a:moveTo>
                  <a:pt x="620" y="1783"/>
                </a:moveTo>
                <a:lnTo>
                  <a:pt x="620" y="1783"/>
                </a:lnTo>
                <a:cubicBezTo>
                  <a:pt x="620" y="799"/>
                  <a:pt x="1421" y="0"/>
                  <a:pt x="2405" y="0"/>
                </a:cubicBezTo>
                <a:cubicBezTo>
                  <a:pt x="3389" y="0"/>
                  <a:pt x="4190" y="799"/>
                  <a:pt x="4190" y="1783"/>
                </a:cubicBezTo>
                <a:cubicBezTo>
                  <a:pt x="4190" y="2767"/>
                  <a:pt x="3389" y="3568"/>
                  <a:pt x="2405" y="3568"/>
                </a:cubicBezTo>
                <a:cubicBezTo>
                  <a:pt x="1421" y="3568"/>
                  <a:pt x="620" y="2767"/>
                  <a:pt x="620" y="1783"/>
                </a:cubicBezTo>
                <a:lnTo>
                  <a:pt x="620" y="1783"/>
                </a:lnTo>
                <a:close/>
                <a:moveTo>
                  <a:pt x="4107" y="3391"/>
                </a:moveTo>
                <a:lnTo>
                  <a:pt x="4107" y="3391"/>
                </a:lnTo>
                <a:cubicBezTo>
                  <a:pt x="4133" y="3416"/>
                  <a:pt x="4133" y="3457"/>
                  <a:pt x="4107" y="3483"/>
                </a:cubicBezTo>
                <a:cubicBezTo>
                  <a:pt x="3668" y="3923"/>
                  <a:pt x="3089" y="4171"/>
                  <a:pt x="2470" y="4187"/>
                </a:cubicBezTo>
                <a:lnTo>
                  <a:pt x="2470" y="4413"/>
                </a:lnTo>
                <a:cubicBezTo>
                  <a:pt x="2798" y="4425"/>
                  <a:pt x="3100" y="4521"/>
                  <a:pt x="3308" y="4682"/>
                </a:cubicBezTo>
                <a:cubicBezTo>
                  <a:pt x="3336" y="4704"/>
                  <a:pt x="3341" y="4745"/>
                  <a:pt x="3319" y="4773"/>
                </a:cubicBezTo>
                <a:cubicBezTo>
                  <a:pt x="3306" y="4790"/>
                  <a:pt x="3287" y="4799"/>
                  <a:pt x="3268" y="4799"/>
                </a:cubicBezTo>
                <a:cubicBezTo>
                  <a:pt x="3254" y="4799"/>
                  <a:pt x="3240" y="4794"/>
                  <a:pt x="3228" y="4785"/>
                </a:cubicBezTo>
                <a:cubicBezTo>
                  <a:pt x="3028" y="4630"/>
                  <a:pt x="2727" y="4541"/>
                  <a:pt x="2403" y="4541"/>
                </a:cubicBezTo>
                <a:cubicBezTo>
                  <a:pt x="2079" y="4541"/>
                  <a:pt x="1779" y="4629"/>
                  <a:pt x="1579" y="4783"/>
                </a:cubicBezTo>
                <a:cubicBezTo>
                  <a:pt x="1551" y="4805"/>
                  <a:pt x="1510" y="4800"/>
                  <a:pt x="1488" y="4771"/>
                </a:cubicBezTo>
                <a:cubicBezTo>
                  <a:pt x="1466" y="4743"/>
                  <a:pt x="1471" y="4702"/>
                  <a:pt x="1500" y="4680"/>
                </a:cubicBezTo>
                <a:cubicBezTo>
                  <a:pt x="1709" y="4519"/>
                  <a:pt x="2012" y="4424"/>
                  <a:pt x="2340" y="4413"/>
                </a:cubicBezTo>
                <a:lnTo>
                  <a:pt x="2340" y="4187"/>
                </a:lnTo>
                <a:cubicBezTo>
                  <a:pt x="1044" y="4152"/>
                  <a:pt x="0" y="3088"/>
                  <a:pt x="0" y="1783"/>
                </a:cubicBezTo>
                <a:cubicBezTo>
                  <a:pt x="0" y="1141"/>
                  <a:pt x="250" y="537"/>
                  <a:pt x="704" y="82"/>
                </a:cubicBezTo>
                <a:cubicBezTo>
                  <a:pt x="730" y="57"/>
                  <a:pt x="771" y="57"/>
                  <a:pt x="796" y="82"/>
                </a:cubicBezTo>
                <a:lnTo>
                  <a:pt x="1029" y="315"/>
                </a:lnTo>
                <a:cubicBezTo>
                  <a:pt x="1055" y="341"/>
                  <a:pt x="1055" y="382"/>
                  <a:pt x="1029" y="407"/>
                </a:cubicBezTo>
                <a:cubicBezTo>
                  <a:pt x="1004" y="433"/>
                  <a:pt x="963" y="433"/>
                  <a:pt x="937" y="407"/>
                </a:cubicBezTo>
                <a:lnTo>
                  <a:pt x="751" y="221"/>
                </a:lnTo>
                <a:cubicBezTo>
                  <a:pt x="350" y="645"/>
                  <a:pt x="130" y="1197"/>
                  <a:pt x="130" y="1783"/>
                </a:cubicBezTo>
                <a:cubicBezTo>
                  <a:pt x="130" y="3038"/>
                  <a:pt x="1150" y="4058"/>
                  <a:pt x="2405" y="4058"/>
                </a:cubicBezTo>
                <a:cubicBezTo>
                  <a:pt x="2992" y="4058"/>
                  <a:pt x="3544" y="3838"/>
                  <a:pt x="3968" y="3436"/>
                </a:cubicBezTo>
                <a:lnTo>
                  <a:pt x="3767" y="3234"/>
                </a:lnTo>
                <a:cubicBezTo>
                  <a:pt x="3741" y="3209"/>
                  <a:pt x="3741" y="3168"/>
                  <a:pt x="3767" y="3142"/>
                </a:cubicBezTo>
                <a:cubicBezTo>
                  <a:pt x="3792" y="3117"/>
                  <a:pt x="3833" y="3117"/>
                  <a:pt x="3859" y="3142"/>
                </a:cubicBezTo>
                <a:lnTo>
                  <a:pt x="4107" y="3391"/>
                </a:lnTo>
                <a:close/>
              </a:path>
            </a:pathLst>
          </a:custGeom>
          <a:solidFill>
            <a:schemeClr val="tx2"/>
          </a:solid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TextBox 59">
            <a:extLst>
              <a:ext uri="{FF2B5EF4-FFF2-40B4-BE49-F238E27FC236}">
                <a16:creationId xmlns:a16="http://schemas.microsoft.com/office/drawing/2014/main" id="{0573FCB7-B53D-401B-8D31-7545A1B52F86}"/>
              </a:ext>
            </a:extLst>
          </p:cNvPr>
          <p:cNvSpPr txBox="1"/>
          <p:nvPr/>
        </p:nvSpPr>
        <p:spPr>
          <a:xfrm>
            <a:off x="6340770" y="717451"/>
            <a:ext cx="575568" cy="461665"/>
          </a:xfrm>
          <a:prstGeom prst="rect">
            <a:avLst/>
          </a:prstGeom>
          <a:noFill/>
        </p:spPr>
        <p:txBody>
          <a:bodyPr wrap="square" rtlCol="0">
            <a:spAutoFit/>
          </a:bodyPr>
          <a:lstStyle/>
          <a:p>
            <a:pPr algn="ctr"/>
            <a:r>
              <a:rPr lang="en-US" sz="2400">
                <a:solidFill>
                  <a:schemeClr val="accent1">
                    <a:lumMod val="75000"/>
                  </a:schemeClr>
                </a:solidFill>
              </a:rPr>
              <a:t>@</a:t>
            </a:r>
          </a:p>
        </p:txBody>
      </p:sp>
      <p:cxnSp>
        <p:nvCxnSpPr>
          <p:cNvPr id="61" name="Connector: Curved 60">
            <a:extLst>
              <a:ext uri="{FF2B5EF4-FFF2-40B4-BE49-F238E27FC236}">
                <a16:creationId xmlns:a16="http://schemas.microsoft.com/office/drawing/2014/main" id="{34637CC9-0ED3-4751-A661-428E7D6A74A2}"/>
              </a:ext>
            </a:extLst>
          </p:cNvPr>
          <p:cNvCxnSpPr>
            <a:cxnSpLocks/>
            <a:stCxn id="59" idx="10"/>
            <a:endCxn id="58" idx="44"/>
          </p:cNvCxnSpPr>
          <p:nvPr/>
        </p:nvCxnSpPr>
        <p:spPr>
          <a:xfrm>
            <a:off x="6909847" y="960344"/>
            <a:ext cx="997521" cy="250344"/>
          </a:xfrm>
          <a:prstGeom prst="curvedConnector5">
            <a:avLst>
              <a:gd name="adj1" fmla="val 45940"/>
              <a:gd name="adj2" fmla="val 195935"/>
              <a:gd name="adj3" fmla="val 122917"/>
            </a:avLst>
          </a:prstGeom>
          <a:ln w="19050">
            <a:solidFill>
              <a:schemeClr val="tx2"/>
            </a:solidFill>
          </a:ln>
        </p:spPr>
        <p:style>
          <a:lnRef idx="1">
            <a:schemeClr val="dk1"/>
          </a:lnRef>
          <a:fillRef idx="0">
            <a:schemeClr val="dk1"/>
          </a:fillRef>
          <a:effectRef idx="0">
            <a:schemeClr val="dk1"/>
          </a:effectRef>
          <a:fontRef idx="minor">
            <a:schemeClr val="tx1"/>
          </a:fontRef>
        </p:style>
      </p:cxnSp>
      <p:grpSp>
        <p:nvGrpSpPr>
          <p:cNvPr id="32" name="Group 31">
            <a:extLst>
              <a:ext uri="{FF2B5EF4-FFF2-40B4-BE49-F238E27FC236}">
                <a16:creationId xmlns:a16="http://schemas.microsoft.com/office/drawing/2014/main" id="{E76C7BF9-6E5D-45FB-B0B8-061AD860E0FE}"/>
              </a:ext>
            </a:extLst>
          </p:cNvPr>
          <p:cNvGrpSpPr/>
          <p:nvPr/>
        </p:nvGrpSpPr>
        <p:grpSpPr>
          <a:xfrm>
            <a:off x="3777368" y="277676"/>
            <a:ext cx="1595596" cy="1532762"/>
            <a:chOff x="3767843" y="277676"/>
            <a:chExt cx="1595596" cy="1532762"/>
          </a:xfrm>
        </p:grpSpPr>
        <p:sp>
          <p:nvSpPr>
            <p:cNvPr id="33" name="Oval 32">
              <a:extLst>
                <a:ext uri="{FF2B5EF4-FFF2-40B4-BE49-F238E27FC236}">
                  <a16:creationId xmlns:a16="http://schemas.microsoft.com/office/drawing/2014/main" id="{A2866664-099F-45A9-BCE8-4019AF98A544}"/>
                </a:ext>
              </a:extLst>
            </p:cNvPr>
            <p:cNvSpPr/>
            <p:nvPr/>
          </p:nvSpPr>
          <p:spPr>
            <a:xfrm>
              <a:off x="3767843" y="277676"/>
              <a:ext cx="1595596" cy="1532762"/>
            </a:xfrm>
            <a:prstGeom prst="ellipse">
              <a:avLst/>
            </a:prstGeom>
            <a:solidFill>
              <a:schemeClr val="bg1">
                <a:lumMod val="85000"/>
              </a:schemeClr>
            </a:solidFill>
            <a:ln w="28575" cap="flat" cmpd="sng" algn="ctr">
              <a:solidFill>
                <a:srgbClr val="FFCC3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endParaRPr lang="en-US">
                <a:solidFill>
                  <a:schemeClr val="tx1"/>
                </a:solidFill>
              </a:endParaRPr>
            </a:p>
          </p:txBody>
        </p:sp>
        <p:pic>
          <p:nvPicPr>
            <p:cNvPr id="34" name="Picture 33">
              <a:extLst>
                <a:ext uri="{FF2B5EF4-FFF2-40B4-BE49-F238E27FC236}">
                  <a16:creationId xmlns:a16="http://schemas.microsoft.com/office/drawing/2014/main" id="{F08071CA-8C94-48DA-97C2-55F3B92BF5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62782" y="537328"/>
              <a:ext cx="1015180" cy="895547"/>
            </a:xfrm>
            <a:prstGeom prst="rect">
              <a:avLst/>
            </a:prstGeom>
          </p:spPr>
        </p:pic>
      </p:grpSp>
      <p:sp>
        <p:nvSpPr>
          <p:cNvPr id="35" name="Rectangle: Rounded Corners 34">
            <a:extLst>
              <a:ext uri="{FF2B5EF4-FFF2-40B4-BE49-F238E27FC236}">
                <a16:creationId xmlns:a16="http://schemas.microsoft.com/office/drawing/2014/main" id="{160AE25B-320B-4491-A940-998E483848BC}"/>
              </a:ext>
            </a:extLst>
          </p:cNvPr>
          <p:cNvSpPr/>
          <p:nvPr/>
        </p:nvSpPr>
        <p:spPr>
          <a:xfrm>
            <a:off x="3667125" y="1552574"/>
            <a:ext cx="1819275" cy="352425"/>
          </a:xfrm>
          <a:prstGeom prst="roundRect">
            <a:avLst/>
          </a:prstGeom>
          <a:solidFill>
            <a:srgbClr val="DD5757"/>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Customer Churn</a:t>
            </a:r>
          </a:p>
        </p:txBody>
      </p:sp>
      <p:grpSp>
        <p:nvGrpSpPr>
          <p:cNvPr id="36" name="Group 35">
            <a:extLst>
              <a:ext uri="{FF2B5EF4-FFF2-40B4-BE49-F238E27FC236}">
                <a16:creationId xmlns:a16="http://schemas.microsoft.com/office/drawing/2014/main" id="{70FE4904-6703-4000-91DC-7569EF96DFB9}"/>
              </a:ext>
            </a:extLst>
          </p:cNvPr>
          <p:cNvGrpSpPr/>
          <p:nvPr/>
        </p:nvGrpSpPr>
        <p:grpSpPr>
          <a:xfrm>
            <a:off x="1822743" y="3082569"/>
            <a:ext cx="5351056" cy="1542459"/>
            <a:chOff x="1822743" y="2511069"/>
            <a:chExt cx="5351056" cy="1542459"/>
          </a:xfrm>
        </p:grpSpPr>
        <p:grpSp>
          <p:nvGrpSpPr>
            <p:cNvPr id="37" name="Group 36">
              <a:extLst>
                <a:ext uri="{FF2B5EF4-FFF2-40B4-BE49-F238E27FC236}">
                  <a16:creationId xmlns:a16="http://schemas.microsoft.com/office/drawing/2014/main" id="{05900186-D3D9-4505-9F2C-622CC3B5DA58}"/>
                </a:ext>
              </a:extLst>
            </p:cNvPr>
            <p:cNvGrpSpPr/>
            <p:nvPr/>
          </p:nvGrpSpPr>
          <p:grpSpPr>
            <a:xfrm>
              <a:off x="5918791" y="2587882"/>
              <a:ext cx="1255008" cy="1371376"/>
              <a:chOff x="4042848" y="1805361"/>
              <a:chExt cx="1071962" cy="1229979"/>
            </a:xfrm>
          </p:grpSpPr>
          <p:sp>
            <p:nvSpPr>
              <p:cNvPr id="40" name="Oval 39">
                <a:extLst>
                  <a:ext uri="{FF2B5EF4-FFF2-40B4-BE49-F238E27FC236}">
                    <a16:creationId xmlns:a16="http://schemas.microsoft.com/office/drawing/2014/main" id="{8D95A2A4-3177-4014-8823-D4D10F02ABA9}"/>
                  </a:ext>
                </a:extLst>
              </p:cNvPr>
              <p:cNvSpPr/>
              <p:nvPr/>
            </p:nvSpPr>
            <p:spPr>
              <a:xfrm>
                <a:off x="4160340" y="189097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41" name="Group 40">
                <a:extLst>
                  <a:ext uri="{FF2B5EF4-FFF2-40B4-BE49-F238E27FC236}">
                    <a16:creationId xmlns:a16="http://schemas.microsoft.com/office/drawing/2014/main" id="{8F51A422-DD2A-4FB1-AC4E-BDF2E69E28FD}"/>
                  </a:ext>
                </a:extLst>
              </p:cNvPr>
              <p:cNvGrpSpPr/>
              <p:nvPr/>
            </p:nvGrpSpPr>
            <p:grpSpPr>
              <a:xfrm>
                <a:off x="4042848" y="1805361"/>
                <a:ext cx="1071962" cy="1229979"/>
                <a:chOff x="4868460" y="1940790"/>
                <a:chExt cx="1230587" cy="1411988"/>
              </a:xfrm>
            </p:grpSpPr>
            <p:pic>
              <p:nvPicPr>
                <p:cNvPr id="42" name="Picture 41">
                  <a:extLst>
                    <a:ext uri="{FF2B5EF4-FFF2-40B4-BE49-F238E27FC236}">
                      <a16:creationId xmlns:a16="http://schemas.microsoft.com/office/drawing/2014/main" id="{7C6B5A5A-7232-4644-B4C0-9D94C5AB158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43" name="Picture 42">
                  <a:extLst>
                    <a:ext uri="{FF2B5EF4-FFF2-40B4-BE49-F238E27FC236}">
                      <a16:creationId xmlns:a16="http://schemas.microsoft.com/office/drawing/2014/main" id="{3FE62E63-56E7-4B84-9018-F8CD5A86E324}"/>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pic>
          <p:nvPicPr>
            <p:cNvPr id="38" name="Picture 37">
              <a:extLst>
                <a:ext uri="{FF2B5EF4-FFF2-40B4-BE49-F238E27FC236}">
                  <a16:creationId xmlns:a16="http://schemas.microsoft.com/office/drawing/2014/main" id="{A531B039-9920-42E6-AD08-621A54BAF1F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746836" y="2636665"/>
              <a:ext cx="1666244" cy="1115203"/>
            </a:xfrm>
            <a:prstGeom prst="rect">
              <a:avLst/>
            </a:prstGeom>
          </p:spPr>
        </p:pic>
        <p:pic>
          <p:nvPicPr>
            <p:cNvPr id="39" name="Picture 38">
              <a:extLst>
                <a:ext uri="{FF2B5EF4-FFF2-40B4-BE49-F238E27FC236}">
                  <a16:creationId xmlns:a16="http://schemas.microsoft.com/office/drawing/2014/main" id="{7DD9DA19-16A6-485B-96BE-DA501E37DCC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822743" y="2511069"/>
              <a:ext cx="1562081" cy="1542459"/>
            </a:xfrm>
            <a:prstGeom prst="rect">
              <a:avLst/>
            </a:prstGeom>
          </p:spPr>
        </p:pic>
      </p:grpSp>
      <p:sp>
        <p:nvSpPr>
          <p:cNvPr id="47" name="Rectangle 46">
            <a:extLst>
              <a:ext uri="{FF2B5EF4-FFF2-40B4-BE49-F238E27FC236}">
                <a16:creationId xmlns:a16="http://schemas.microsoft.com/office/drawing/2014/main" id="{211FAE80-68ED-46A6-BBE9-E55AC2381CCE}"/>
              </a:ext>
            </a:extLst>
          </p:cNvPr>
          <p:cNvSpPr/>
          <p:nvPr/>
        </p:nvSpPr>
        <p:spPr>
          <a:xfrm>
            <a:off x="2242928" y="2079317"/>
            <a:ext cx="4667670" cy="742950"/>
          </a:xfrm>
          <a:prstGeom prst="rect">
            <a:avLst/>
          </a:prstGeom>
          <a:solidFill>
            <a:srgbClr val="FFCC32"/>
          </a:solidFill>
          <a:ln w="19050" cap="flat" cmpd="sng" algn="ctr">
            <a:solidFill>
              <a:srgbClr val="FFCC3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t" anchorCtr="0" forceAA="0" compatLnSpc="1">
            <a:prstTxWarp prst="textNoShape">
              <a:avLst/>
            </a:prstTxWarp>
            <a:noAutofit/>
          </a:bodyPr>
          <a:lstStyle/>
          <a:p>
            <a:pPr algn="ctr"/>
            <a:r>
              <a:rPr lang="en-US" b="1">
                <a:solidFill>
                  <a:schemeClr val="tx1"/>
                </a:solidFill>
              </a:rPr>
              <a:t>Analysis Goal</a:t>
            </a:r>
          </a:p>
          <a:p>
            <a:pPr algn="ctr"/>
            <a:r>
              <a:rPr lang="en-US">
                <a:solidFill>
                  <a:schemeClr val="tx1"/>
                </a:solidFill>
              </a:rPr>
              <a:t>Identify the customers who are likely to churn.</a:t>
            </a:r>
          </a:p>
        </p:txBody>
      </p:sp>
    </p:spTree>
    <p:extLst>
      <p:ext uri="{BB962C8B-B14F-4D97-AF65-F5344CB8AC3E}">
        <p14:creationId xmlns:p14="http://schemas.microsoft.com/office/powerpoint/2010/main" val="155606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AB8EE38-5855-A555-049E-CEF9D439D904}"/>
              </a:ext>
            </a:extLst>
          </p:cNvPr>
          <p:cNvGraphicFramePr>
            <a:graphicFrameLocks noGrp="1"/>
          </p:cNvGraphicFramePr>
          <p:nvPr>
            <p:extLst>
              <p:ext uri="{D42A27DB-BD31-4B8C-83A1-F6EECF244321}">
                <p14:modId xmlns:p14="http://schemas.microsoft.com/office/powerpoint/2010/main" val="388810055"/>
              </p:ext>
            </p:extLst>
          </p:nvPr>
        </p:nvGraphicFramePr>
        <p:xfrm>
          <a:off x="3165997" y="2392985"/>
          <a:ext cx="2796793" cy="1793875"/>
        </p:xfrm>
        <a:graphic>
          <a:graphicData uri="http://schemas.openxmlformats.org/drawingml/2006/table">
            <a:tbl>
              <a:tblPr firstRow="1" bandRow="1">
                <a:tableStyleId>{5C22544A-7EE6-4342-B048-85BDC9FD1C3A}</a:tableStyleId>
              </a:tblPr>
              <a:tblGrid>
                <a:gridCol w="504824">
                  <a:extLst>
                    <a:ext uri="{9D8B030D-6E8A-4147-A177-3AD203B41FA5}">
                      <a16:colId xmlns:a16="http://schemas.microsoft.com/office/drawing/2014/main" val="20000"/>
                    </a:ext>
                  </a:extLst>
                </a:gridCol>
                <a:gridCol w="514350">
                  <a:extLst>
                    <a:ext uri="{9D8B030D-6E8A-4147-A177-3AD203B41FA5}">
                      <a16:colId xmlns:a16="http://schemas.microsoft.com/office/drawing/2014/main" val="3726897833"/>
                    </a:ext>
                  </a:extLst>
                </a:gridCol>
                <a:gridCol w="504825">
                  <a:extLst>
                    <a:ext uri="{9D8B030D-6E8A-4147-A177-3AD203B41FA5}">
                      <a16:colId xmlns:a16="http://schemas.microsoft.com/office/drawing/2014/main" val="3952468349"/>
                    </a:ext>
                  </a:extLst>
                </a:gridCol>
                <a:gridCol w="523875">
                  <a:extLst>
                    <a:ext uri="{9D8B030D-6E8A-4147-A177-3AD203B41FA5}">
                      <a16:colId xmlns:a16="http://schemas.microsoft.com/office/drawing/2014/main" val="2922009219"/>
                    </a:ext>
                  </a:extLst>
                </a:gridCol>
                <a:gridCol w="748919">
                  <a:extLst>
                    <a:ext uri="{9D8B030D-6E8A-4147-A177-3AD203B41FA5}">
                      <a16:colId xmlns:a16="http://schemas.microsoft.com/office/drawing/2014/main" val="20001"/>
                    </a:ext>
                  </a:extLst>
                </a:gridCol>
              </a:tblGrid>
              <a:tr h="346075">
                <a:tc gridSpan="4">
                  <a:txBody>
                    <a:bodyPr/>
                    <a:lstStyle/>
                    <a:p>
                      <a:pPr algn="ctr"/>
                      <a:r>
                        <a:rPr lang="en-US" sz="1600" b="1" i="0">
                          <a:solidFill>
                            <a:schemeClr val="tx1"/>
                          </a:solidFill>
                          <a:latin typeface="+mn-lt"/>
                        </a:rPr>
                        <a:t>Inputs</a:t>
                      </a:r>
                    </a:p>
                  </a:txBody>
                  <a:tcPr marT="0" marB="0" anchor="ctr">
                    <a:lnL w="12700" cmpd="sng">
                      <a:solidFill>
                        <a:srgbClr val="000000"/>
                      </a:solid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a:txBody>
                    <a:bodyPr/>
                    <a:lstStyle/>
                    <a:p>
                      <a:pPr algn="ctr"/>
                      <a:r>
                        <a:rPr lang="en-US" sz="1600" b="1" i="0">
                          <a:solidFill>
                            <a:srgbClr val="000000"/>
                          </a:solidFill>
                          <a:latin typeface="+mn-lt"/>
                        </a:rPr>
                        <a:t>Target</a:t>
                      </a:r>
                    </a:p>
                  </a:txBody>
                  <a:tcPr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solidFill>
                      <a:schemeClr val="accent1">
                        <a:lumMod val="60000"/>
                        <a:lumOff val="40000"/>
                      </a:schemeClr>
                    </a:solidFill>
                  </a:tcPr>
                </a:tc>
                <a:extLst>
                  <a:ext uri="{0D108BD9-81ED-4DB2-BD59-A6C34878D82A}">
                    <a16:rowId xmlns:a16="http://schemas.microsoft.com/office/drawing/2014/main" val="10001"/>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85000"/>
                      </a:schemeClr>
                    </a:solidFill>
                  </a:tcPr>
                </a:tc>
                <a:extLst>
                  <a:ext uri="{0D108BD9-81ED-4DB2-BD59-A6C34878D82A}">
                    <a16:rowId xmlns:a16="http://schemas.microsoft.com/office/drawing/2014/main" val="10002"/>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85000"/>
                      </a:schemeClr>
                    </a:solidFill>
                  </a:tcPr>
                </a:tc>
                <a:extLst>
                  <a:ext uri="{0D108BD9-81ED-4DB2-BD59-A6C34878D82A}">
                    <a16:rowId xmlns:a16="http://schemas.microsoft.com/office/drawing/2014/main" val="10003"/>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62768308"/>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83004756"/>
                  </a:ext>
                </a:extLst>
              </a:tr>
            </a:tbl>
          </a:graphicData>
        </a:graphic>
      </p:graphicFrame>
      <p:graphicFrame>
        <p:nvGraphicFramePr>
          <p:cNvPr id="146" name="Table 145">
            <a:extLst>
              <a:ext uri="{FF2B5EF4-FFF2-40B4-BE49-F238E27FC236}">
                <a16:creationId xmlns:a16="http://schemas.microsoft.com/office/drawing/2014/main" id="{D4C313F1-F75E-4575-855B-700701BC5338}"/>
              </a:ext>
            </a:extLst>
          </p:cNvPr>
          <p:cNvGraphicFramePr>
            <a:graphicFrameLocks noGrp="1"/>
          </p:cNvGraphicFramePr>
          <p:nvPr>
            <p:extLst>
              <p:ext uri="{D42A27DB-BD31-4B8C-83A1-F6EECF244321}">
                <p14:modId xmlns:p14="http://schemas.microsoft.com/office/powerpoint/2010/main" val="2861166448"/>
              </p:ext>
            </p:extLst>
          </p:nvPr>
        </p:nvGraphicFramePr>
        <p:xfrm>
          <a:off x="3165997" y="2392985"/>
          <a:ext cx="2796793" cy="1793875"/>
        </p:xfrm>
        <a:graphic>
          <a:graphicData uri="http://schemas.openxmlformats.org/drawingml/2006/table">
            <a:tbl>
              <a:tblPr firstRow="1" bandRow="1">
                <a:tableStyleId>{5C22544A-7EE6-4342-B048-85BDC9FD1C3A}</a:tableStyleId>
              </a:tblPr>
              <a:tblGrid>
                <a:gridCol w="504824">
                  <a:extLst>
                    <a:ext uri="{9D8B030D-6E8A-4147-A177-3AD203B41FA5}">
                      <a16:colId xmlns:a16="http://schemas.microsoft.com/office/drawing/2014/main" val="20000"/>
                    </a:ext>
                  </a:extLst>
                </a:gridCol>
                <a:gridCol w="514350">
                  <a:extLst>
                    <a:ext uri="{9D8B030D-6E8A-4147-A177-3AD203B41FA5}">
                      <a16:colId xmlns:a16="http://schemas.microsoft.com/office/drawing/2014/main" val="3726897833"/>
                    </a:ext>
                  </a:extLst>
                </a:gridCol>
                <a:gridCol w="504825">
                  <a:extLst>
                    <a:ext uri="{9D8B030D-6E8A-4147-A177-3AD203B41FA5}">
                      <a16:colId xmlns:a16="http://schemas.microsoft.com/office/drawing/2014/main" val="3952468349"/>
                    </a:ext>
                  </a:extLst>
                </a:gridCol>
                <a:gridCol w="523875">
                  <a:extLst>
                    <a:ext uri="{9D8B030D-6E8A-4147-A177-3AD203B41FA5}">
                      <a16:colId xmlns:a16="http://schemas.microsoft.com/office/drawing/2014/main" val="2922009219"/>
                    </a:ext>
                  </a:extLst>
                </a:gridCol>
                <a:gridCol w="748919">
                  <a:extLst>
                    <a:ext uri="{9D8B030D-6E8A-4147-A177-3AD203B41FA5}">
                      <a16:colId xmlns:a16="http://schemas.microsoft.com/office/drawing/2014/main" val="20001"/>
                    </a:ext>
                  </a:extLst>
                </a:gridCol>
              </a:tblGrid>
              <a:tr h="346075">
                <a:tc gridSpan="4">
                  <a:txBody>
                    <a:bodyPr/>
                    <a:lstStyle/>
                    <a:p>
                      <a:pPr algn="ctr"/>
                      <a:r>
                        <a:rPr lang="en-US" sz="1600" b="1" i="0">
                          <a:solidFill>
                            <a:schemeClr val="tx1"/>
                          </a:solidFill>
                          <a:latin typeface="+mn-lt"/>
                        </a:rPr>
                        <a:t>Inputs</a:t>
                      </a:r>
                    </a:p>
                  </a:txBody>
                  <a:tcPr marT="0" marB="0" anchor="ctr">
                    <a:lnL w="12700" cmpd="sng">
                      <a:solidFill>
                        <a:srgbClr val="000000"/>
                      </a:solid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60000"/>
                        <a:lumOff val="40000"/>
                      </a:schemeClr>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a:txBody>
                    <a:bodyPr/>
                    <a:lstStyle/>
                    <a:p>
                      <a:pPr algn="ctr"/>
                      <a:r>
                        <a:rPr lang="en-US" sz="1600" b="1" i="0">
                          <a:solidFill>
                            <a:srgbClr val="000000"/>
                          </a:solidFill>
                          <a:latin typeface="+mn-lt"/>
                        </a:rPr>
                        <a:t>Target</a:t>
                      </a:r>
                    </a:p>
                  </a:txBody>
                  <a:tcPr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solidFill>
                      <a:schemeClr val="bg2"/>
                    </a:solidFill>
                  </a:tcPr>
                </a:tc>
                <a:extLst>
                  <a:ext uri="{0D108BD9-81ED-4DB2-BD59-A6C34878D82A}">
                    <a16:rowId xmlns:a16="http://schemas.microsoft.com/office/drawing/2014/main" val="10001"/>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85000"/>
                      </a:schemeClr>
                    </a:solidFill>
                  </a:tcPr>
                </a:tc>
                <a:extLst>
                  <a:ext uri="{0D108BD9-81ED-4DB2-BD59-A6C34878D82A}">
                    <a16:rowId xmlns:a16="http://schemas.microsoft.com/office/drawing/2014/main" val="10002"/>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85000"/>
                      </a:schemeClr>
                    </a:solidFill>
                  </a:tcPr>
                </a:tc>
                <a:extLst>
                  <a:ext uri="{0D108BD9-81ED-4DB2-BD59-A6C34878D82A}">
                    <a16:rowId xmlns:a16="http://schemas.microsoft.com/office/drawing/2014/main" val="10003"/>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62768308"/>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83004756"/>
                  </a:ext>
                </a:extLst>
              </a:tr>
            </a:tbl>
          </a:graphicData>
        </a:graphic>
      </p:graphicFrame>
      <p:graphicFrame>
        <p:nvGraphicFramePr>
          <p:cNvPr id="2" name="Table 1">
            <a:extLst>
              <a:ext uri="{FF2B5EF4-FFF2-40B4-BE49-F238E27FC236}">
                <a16:creationId xmlns:a16="http://schemas.microsoft.com/office/drawing/2014/main" id="{FC1E3EAB-11FD-FDD1-2C0E-AE623D1D9578}"/>
              </a:ext>
            </a:extLst>
          </p:cNvPr>
          <p:cNvGraphicFramePr>
            <a:graphicFrameLocks noGrp="1"/>
          </p:cNvGraphicFramePr>
          <p:nvPr>
            <p:extLst>
              <p:ext uri="{D42A27DB-BD31-4B8C-83A1-F6EECF244321}">
                <p14:modId xmlns:p14="http://schemas.microsoft.com/office/powerpoint/2010/main" val="1936793243"/>
              </p:ext>
            </p:extLst>
          </p:nvPr>
        </p:nvGraphicFramePr>
        <p:xfrm>
          <a:off x="3165997" y="2392985"/>
          <a:ext cx="2796793" cy="1793875"/>
        </p:xfrm>
        <a:graphic>
          <a:graphicData uri="http://schemas.openxmlformats.org/drawingml/2006/table">
            <a:tbl>
              <a:tblPr firstRow="1" bandRow="1">
                <a:tableStyleId>{5C22544A-7EE6-4342-B048-85BDC9FD1C3A}</a:tableStyleId>
              </a:tblPr>
              <a:tblGrid>
                <a:gridCol w="504824">
                  <a:extLst>
                    <a:ext uri="{9D8B030D-6E8A-4147-A177-3AD203B41FA5}">
                      <a16:colId xmlns:a16="http://schemas.microsoft.com/office/drawing/2014/main" val="20000"/>
                    </a:ext>
                  </a:extLst>
                </a:gridCol>
                <a:gridCol w="514350">
                  <a:extLst>
                    <a:ext uri="{9D8B030D-6E8A-4147-A177-3AD203B41FA5}">
                      <a16:colId xmlns:a16="http://schemas.microsoft.com/office/drawing/2014/main" val="3726897833"/>
                    </a:ext>
                  </a:extLst>
                </a:gridCol>
                <a:gridCol w="504825">
                  <a:extLst>
                    <a:ext uri="{9D8B030D-6E8A-4147-A177-3AD203B41FA5}">
                      <a16:colId xmlns:a16="http://schemas.microsoft.com/office/drawing/2014/main" val="3952468349"/>
                    </a:ext>
                  </a:extLst>
                </a:gridCol>
                <a:gridCol w="523875">
                  <a:extLst>
                    <a:ext uri="{9D8B030D-6E8A-4147-A177-3AD203B41FA5}">
                      <a16:colId xmlns:a16="http://schemas.microsoft.com/office/drawing/2014/main" val="2922009219"/>
                    </a:ext>
                  </a:extLst>
                </a:gridCol>
                <a:gridCol w="748919">
                  <a:extLst>
                    <a:ext uri="{9D8B030D-6E8A-4147-A177-3AD203B41FA5}">
                      <a16:colId xmlns:a16="http://schemas.microsoft.com/office/drawing/2014/main" val="20001"/>
                    </a:ext>
                  </a:extLst>
                </a:gridCol>
              </a:tblGrid>
              <a:tr h="346075">
                <a:tc gridSpan="4">
                  <a:txBody>
                    <a:bodyPr/>
                    <a:lstStyle/>
                    <a:p>
                      <a:pPr algn="ctr"/>
                      <a:r>
                        <a:rPr lang="en-US" sz="1600" b="1" i="0">
                          <a:solidFill>
                            <a:schemeClr val="tx1"/>
                          </a:solidFill>
                          <a:latin typeface="+mn-lt"/>
                        </a:rPr>
                        <a:t>Inputs</a:t>
                      </a:r>
                    </a:p>
                  </a:txBody>
                  <a:tcPr marT="0" marB="0" anchor="ctr">
                    <a:lnL w="12700" cmpd="sng">
                      <a:solidFill>
                        <a:srgbClr val="000000"/>
                      </a:solid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a:txBody>
                    <a:bodyPr/>
                    <a:lstStyle/>
                    <a:p>
                      <a:pPr algn="ctr"/>
                      <a:r>
                        <a:rPr lang="en-US" sz="1600" b="1" i="0">
                          <a:solidFill>
                            <a:srgbClr val="000000"/>
                          </a:solidFill>
                          <a:latin typeface="+mn-lt"/>
                        </a:rPr>
                        <a:t>Target</a:t>
                      </a:r>
                    </a:p>
                  </a:txBody>
                  <a:tcPr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solidFill>
                      <a:schemeClr val="bg2"/>
                    </a:solidFill>
                  </a:tcPr>
                </a:tc>
                <a:extLst>
                  <a:ext uri="{0D108BD9-81ED-4DB2-BD59-A6C34878D82A}">
                    <a16:rowId xmlns:a16="http://schemas.microsoft.com/office/drawing/2014/main" val="10001"/>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85000"/>
                      </a:schemeClr>
                    </a:solidFill>
                  </a:tcPr>
                </a:tc>
                <a:extLst>
                  <a:ext uri="{0D108BD9-81ED-4DB2-BD59-A6C34878D82A}">
                    <a16:rowId xmlns:a16="http://schemas.microsoft.com/office/drawing/2014/main" val="10002"/>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85000"/>
                      </a:schemeClr>
                    </a:solidFill>
                  </a:tcPr>
                </a:tc>
                <a:extLst>
                  <a:ext uri="{0D108BD9-81ED-4DB2-BD59-A6C34878D82A}">
                    <a16:rowId xmlns:a16="http://schemas.microsoft.com/office/drawing/2014/main" val="10003"/>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62768308"/>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83004756"/>
                  </a:ext>
                </a:extLst>
              </a:tr>
            </a:tbl>
          </a:graphicData>
        </a:graphic>
      </p:graphicFrame>
      <p:sp>
        <p:nvSpPr>
          <p:cNvPr id="3" name="TextBox 2">
            <a:extLst>
              <a:ext uri="{FF2B5EF4-FFF2-40B4-BE49-F238E27FC236}">
                <a16:creationId xmlns:a16="http://schemas.microsoft.com/office/drawing/2014/main" id="{0096566D-3941-4811-A9B6-1662BD78898C}"/>
              </a:ext>
            </a:extLst>
          </p:cNvPr>
          <p:cNvSpPr txBox="1"/>
          <p:nvPr/>
        </p:nvSpPr>
        <p:spPr>
          <a:xfrm>
            <a:off x="3117979" y="2022603"/>
            <a:ext cx="2819400" cy="369332"/>
          </a:xfrm>
          <a:prstGeom prst="rect">
            <a:avLst/>
          </a:prstGeom>
          <a:noFill/>
        </p:spPr>
        <p:txBody>
          <a:bodyPr wrap="square" rtlCol="0">
            <a:spAutoFit/>
          </a:bodyPr>
          <a:lstStyle/>
          <a:p>
            <a:r>
              <a:rPr lang="en-US"/>
              <a:t>commsdata</a:t>
            </a:r>
          </a:p>
        </p:txBody>
      </p:sp>
      <p:sp>
        <p:nvSpPr>
          <p:cNvPr id="44" name="Rectangle 43">
            <a:extLst>
              <a:ext uri="{FF2B5EF4-FFF2-40B4-BE49-F238E27FC236}">
                <a16:creationId xmlns:a16="http://schemas.microsoft.com/office/drawing/2014/main" id="{5D190831-FA90-463B-A230-224BA83EED41}"/>
              </a:ext>
            </a:extLst>
          </p:cNvPr>
          <p:cNvSpPr/>
          <p:nvPr/>
        </p:nvSpPr>
        <p:spPr>
          <a:xfrm>
            <a:off x="0" y="697584"/>
            <a:ext cx="9144000" cy="688156"/>
          </a:xfrm>
          <a:prstGeom prst="rect">
            <a:avLst/>
          </a:prstGeom>
          <a:solidFill>
            <a:schemeClr val="bg1">
              <a:lumMod val="9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45" name="Freeform 13">
            <a:extLst>
              <a:ext uri="{FF2B5EF4-FFF2-40B4-BE49-F238E27FC236}">
                <a16:creationId xmlns:a16="http://schemas.microsoft.com/office/drawing/2014/main" id="{1DFBE849-C6A8-4CE5-A4C0-9B599ED372DE}"/>
              </a:ext>
            </a:extLst>
          </p:cNvPr>
          <p:cNvSpPr>
            <a:spLocks noChangeAspect="1" noEditPoints="1"/>
          </p:cNvSpPr>
          <p:nvPr/>
        </p:nvSpPr>
        <p:spPr bwMode="auto">
          <a:xfrm>
            <a:off x="2725186" y="698094"/>
            <a:ext cx="847574" cy="353144"/>
          </a:xfrm>
          <a:custGeom>
            <a:avLst/>
            <a:gdLst>
              <a:gd name="T0" fmla="*/ 4282 w 4799"/>
              <a:gd name="T1" fmla="*/ 2418 h 2551"/>
              <a:gd name="T2" fmla="*/ 4282 w 4799"/>
              <a:gd name="T3" fmla="*/ 2418 h 2551"/>
              <a:gd name="T4" fmla="*/ 650 w 4799"/>
              <a:gd name="T5" fmla="*/ 2417 h 2551"/>
              <a:gd name="T6" fmla="*/ 133 w 4799"/>
              <a:gd name="T7" fmla="*/ 1901 h 2551"/>
              <a:gd name="T8" fmla="*/ 650 w 4799"/>
              <a:gd name="T9" fmla="*/ 1384 h 2551"/>
              <a:gd name="T10" fmla="*/ 662 w 4799"/>
              <a:gd name="T11" fmla="*/ 1385 h 2551"/>
              <a:gd name="T12" fmla="*/ 710 w 4799"/>
              <a:gd name="T13" fmla="*/ 1362 h 2551"/>
              <a:gd name="T14" fmla="*/ 730 w 4799"/>
              <a:gd name="T15" fmla="*/ 1311 h 2551"/>
              <a:gd name="T16" fmla="*/ 1908 w 4799"/>
              <a:gd name="T17" fmla="*/ 133 h 2551"/>
              <a:gd name="T18" fmla="*/ 3017 w 4799"/>
              <a:gd name="T19" fmla="*/ 913 h 2551"/>
              <a:gd name="T20" fmla="*/ 3053 w 4799"/>
              <a:gd name="T21" fmla="*/ 952 h 2551"/>
              <a:gd name="T22" fmla="*/ 3105 w 4799"/>
              <a:gd name="T23" fmla="*/ 952 h 2551"/>
              <a:gd name="T24" fmla="*/ 3384 w 4799"/>
              <a:gd name="T25" fmla="*/ 896 h 2551"/>
              <a:gd name="T26" fmla="*/ 4107 w 4799"/>
              <a:gd name="T27" fmla="*/ 1601 h 2551"/>
              <a:gd name="T28" fmla="*/ 4134 w 4799"/>
              <a:gd name="T29" fmla="*/ 1650 h 2551"/>
              <a:gd name="T30" fmla="*/ 4189 w 4799"/>
              <a:gd name="T31" fmla="*/ 1662 h 2551"/>
              <a:gd name="T32" fmla="*/ 4196 w 4799"/>
              <a:gd name="T33" fmla="*/ 1660 h 2551"/>
              <a:gd name="T34" fmla="*/ 4282 w 4799"/>
              <a:gd name="T35" fmla="*/ 1650 h 2551"/>
              <a:gd name="T36" fmla="*/ 4666 w 4799"/>
              <a:gd name="T37" fmla="*/ 2034 h 2551"/>
              <a:gd name="T38" fmla="*/ 4282 w 4799"/>
              <a:gd name="T39" fmla="*/ 2418 h 2551"/>
              <a:gd name="T40" fmla="*/ 4282 w 4799"/>
              <a:gd name="T41" fmla="*/ 2418 h 2551"/>
              <a:gd name="T42" fmla="*/ 4282 w 4799"/>
              <a:gd name="T43" fmla="*/ 1517 h 2551"/>
              <a:gd name="T44" fmla="*/ 4282 w 4799"/>
              <a:gd name="T45" fmla="*/ 1517 h 2551"/>
              <a:gd name="T46" fmla="*/ 4235 w 4799"/>
              <a:gd name="T47" fmla="*/ 1519 h 2551"/>
              <a:gd name="T48" fmla="*/ 3384 w 4799"/>
              <a:gd name="T49" fmla="*/ 763 h 2551"/>
              <a:gd name="T50" fmla="*/ 3118 w 4799"/>
              <a:gd name="T51" fmla="*/ 805 h 2551"/>
              <a:gd name="T52" fmla="*/ 1908 w 4799"/>
              <a:gd name="T53" fmla="*/ 0 h 2551"/>
              <a:gd name="T54" fmla="*/ 598 w 4799"/>
              <a:gd name="T55" fmla="*/ 1253 h 2551"/>
              <a:gd name="T56" fmla="*/ 0 w 4799"/>
              <a:gd name="T57" fmla="*/ 1901 h 2551"/>
              <a:gd name="T58" fmla="*/ 650 w 4799"/>
              <a:gd name="T59" fmla="*/ 2551 h 2551"/>
              <a:gd name="T60" fmla="*/ 4282 w 4799"/>
              <a:gd name="T61" fmla="*/ 2551 h 2551"/>
              <a:gd name="T62" fmla="*/ 4799 w 4799"/>
              <a:gd name="T63" fmla="*/ 2034 h 2551"/>
              <a:gd name="T64" fmla="*/ 4282 w 4799"/>
              <a:gd name="T65" fmla="*/ 1517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99" h="2551">
                <a:moveTo>
                  <a:pt x="4282" y="2418"/>
                </a:moveTo>
                <a:lnTo>
                  <a:pt x="4282" y="2418"/>
                </a:lnTo>
                <a:lnTo>
                  <a:pt x="650" y="2417"/>
                </a:lnTo>
                <a:cubicBezTo>
                  <a:pt x="365" y="2417"/>
                  <a:pt x="133" y="2186"/>
                  <a:pt x="133" y="1901"/>
                </a:cubicBezTo>
                <a:cubicBezTo>
                  <a:pt x="133" y="1616"/>
                  <a:pt x="365" y="1384"/>
                  <a:pt x="650" y="1384"/>
                </a:cubicBezTo>
                <a:lnTo>
                  <a:pt x="662" y="1385"/>
                </a:lnTo>
                <a:cubicBezTo>
                  <a:pt x="680" y="1384"/>
                  <a:pt x="697" y="1375"/>
                  <a:pt x="710" y="1362"/>
                </a:cubicBezTo>
                <a:cubicBezTo>
                  <a:pt x="723" y="1350"/>
                  <a:pt x="730" y="1329"/>
                  <a:pt x="730" y="1311"/>
                </a:cubicBezTo>
                <a:cubicBezTo>
                  <a:pt x="730" y="662"/>
                  <a:pt x="1259" y="133"/>
                  <a:pt x="1908" y="133"/>
                </a:cubicBezTo>
                <a:cubicBezTo>
                  <a:pt x="2404" y="133"/>
                  <a:pt x="2849" y="447"/>
                  <a:pt x="3017" y="913"/>
                </a:cubicBezTo>
                <a:cubicBezTo>
                  <a:pt x="3023" y="930"/>
                  <a:pt x="3036" y="944"/>
                  <a:pt x="3053" y="952"/>
                </a:cubicBezTo>
                <a:cubicBezTo>
                  <a:pt x="3069" y="959"/>
                  <a:pt x="3088" y="959"/>
                  <a:pt x="3105" y="952"/>
                </a:cubicBezTo>
                <a:cubicBezTo>
                  <a:pt x="3194" y="915"/>
                  <a:pt x="3287" y="896"/>
                  <a:pt x="3384" y="896"/>
                </a:cubicBezTo>
                <a:cubicBezTo>
                  <a:pt x="3776" y="896"/>
                  <a:pt x="4094" y="1204"/>
                  <a:pt x="4107" y="1601"/>
                </a:cubicBezTo>
                <a:cubicBezTo>
                  <a:pt x="4108" y="1621"/>
                  <a:pt x="4118" y="1639"/>
                  <a:pt x="4134" y="1650"/>
                </a:cubicBezTo>
                <a:cubicBezTo>
                  <a:pt x="4149" y="1662"/>
                  <a:pt x="4169" y="1666"/>
                  <a:pt x="4189" y="1662"/>
                </a:cubicBezTo>
                <a:lnTo>
                  <a:pt x="4196" y="1660"/>
                </a:lnTo>
                <a:cubicBezTo>
                  <a:pt x="4225" y="1654"/>
                  <a:pt x="4253" y="1650"/>
                  <a:pt x="4282" y="1650"/>
                </a:cubicBezTo>
                <a:cubicBezTo>
                  <a:pt x="4494" y="1650"/>
                  <a:pt x="4666" y="1822"/>
                  <a:pt x="4666" y="2034"/>
                </a:cubicBezTo>
                <a:cubicBezTo>
                  <a:pt x="4666" y="2246"/>
                  <a:pt x="4494" y="2418"/>
                  <a:pt x="4282" y="2418"/>
                </a:cubicBezTo>
                <a:lnTo>
                  <a:pt x="4282" y="2418"/>
                </a:lnTo>
                <a:close/>
                <a:moveTo>
                  <a:pt x="4282" y="1517"/>
                </a:moveTo>
                <a:lnTo>
                  <a:pt x="4282" y="1517"/>
                </a:lnTo>
                <a:cubicBezTo>
                  <a:pt x="4266" y="1517"/>
                  <a:pt x="4250" y="1517"/>
                  <a:pt x="4235" y="1519"/>
                </a:cubicBezTo>
                <a:cubicBezTo>
                  <a:pt x="4185" y="1089"/>
                  <a:pt x="3824" y="763"/>
                  <a:pt x="3384" y="763"/>
                </a:cubicBezTo>
                <a:cubicBezTo>
                  <a:pt x="3293" y="763"/>
                  <a:pt x="3204" y="777"/>
                  <a:pt x="3118" y="805"/>
                </a:cubicBezTo>
                <a:cubicBezTo>
                  <a:pt x="2915" y="321"/>
                  <a:pt x="2437" y="0"/>
                  <a:pt x="1908" y="0"/>
                </a:cubicBezTo>
                <a:cubicBezTo>
                  <a:pt x="1204" y="0"/>
                  <a:pt x="629" y="557"/>
                  <a:pt x="598" y="1253"/>
                </a:cubicBezTo>
                <a:cubicBezTo>
                  <a:pt x="264" y="1279"/>
                  <a:pt x="0" y="1560"/>
                  <a:pt x="0" y="1901"/>
                </a:cubicBezTo>
                <a:cubicBezTo>
                  <a:pt x="0" y="2259"/>
                  <a:pt x="291" y="2551"/>
                  <a:pt x="650" y="2551"/>
                </a:cubicBezTo>
                <a:lnTo>
                  <a:pt x="4282" y="2551"/>
                </a:lnTo>
                <a:cubicBezTo>
                  <a:pt x="4567" y="2551"/>
                  <a:pt x="4799" y="2319"/>
                  <a:pt x="4799" y="2034"/>
                </a:cubicBezTo>
                <a:cubicBezTo>
                  <a:pt x="4799" y="1749"/>
                  <a:pt x="4567" y="1517"/>
                  <a:pt x="4282" y="1517"/>
                </a:cubicBezTo>
                <a:close/>
              </a:path>
            </a:pathLst>
          </a:custGeom>
          <a:solidFill>
            <a:schemeClr val="tx2"/>
          </a:solid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18A31A41-A9D9-4F1A-BBCD-0047C874B553}"/>
              </a:ext>
            </a:extLst>
          </p:cNvPr>
          <p:cNvSpPr>
            <a:spLocks noChangeAspect="1" noEditPoints="1"/>
          </p:cNvSpPr>
          <p:nvPr/>
        </p:nvSpPr>
        <p:spPr bwMode="auto">
          <a:xfrm>
            <a:off x="1611984" y="979454"/>
            <a:ext cx="851304" cy="452003"/>
          </a:xfrm>
          <a:custGeom>
            <a:avLst/>
            <a:gdLst>
              <a:gd name="T0" fmla="*/ 837 w 4164"/>
              <a:gd name="T1" fmla="*/ 433 h 2589"/>
              <a:gd name="T2" fmla="*/ 825 w 4164"/>
              <a:gd name="T3" fmla="*/ 1810 h 2589"/>
              <a:gd name="T4" fmla="*/ 849 w 4164"/>
              <a:gd name="T5" fmla="*/ 1844 h 2589"/>
              <a:gd name="T6" fmla="*/ 3232 w 4164"/>
              <a:gd name="T7" fmla="*/ 1844 h 2589"/>
              <a:gd name="T8" fmla="*/ 3254 w 4164"/>
              <a:gd name="T9" fmla="*/ 1810 h 2589"/>
              <a:gd name="T10" fmla="*/ 3243 w 4164"/>
              <a:gd name="T11" fmla="*/ 433 h 2589"/>
              <a:gd name="T12" fmla="*/ 863 w 4164"/>
              <a:gd name="T13" fmla="*/ 421 h 2589"/>
              <a:gd name="T14" fmla="*/ 3247 w 4164"/>
              <a:gd name="T15" fmla="*/ 310 h 2589"/>
              <a:gd name="T16" fmla="*/ 3324 w 4164"/>
              <a:gd name="T17" fmla="*/ 352 h 2589"/>
              <a:gd name="T18" fmla="*/ 3365 w 4164"/>
              <a:gd name="T19" fmla="*/ 428 h 2589"/>
              <a:gd name="T20" fmla="*/ 3365 w 4164"/>
              <a:gd name="T21" fmla="*/ 1840 h 2589"/>
              <a:gd name="T22" fmla="*/ 3324 w 4164"/>
              <a:gd name="T23" fmla="*/ 1917 h 2589"/>
              <a:gd name="T24" fmla="*/ 3247 w 4164"/>
              <a:gd name="T25" fmla="*/ 1958 h 2589"/>
              <a:gd name="T26" fmla="*/ 833 w 4164"/>
              <a:gd name="T27" fmla="*/ 1958 h 2589"/>
              <a:gd name="T28" fmla="*/ 756 w 4164"/>
              <a:gd name="T29" fmla="*/ 1917 h 2589"/>
              <a:gd name="T30" fmla="*/ 714 w 4164"/>
              <a:gd name="T31" fmla="*/ 1840 h 2589"/>
              <a:gd name="T32" fmla="*/ 714 w 4164"/>
              <a:gd name="T33" fmla="*/ 428 h 2589"/>
              <a:gd name="T34" fmla="*/ 756 w 4164"/>
              <a:gd name="T35" fmla="*/ 352 h 2589"/>
              <a:gd name="T36" fmla="*/ 833 w 4164"/>
              <a:gd name="T37" fmla="*/ 310 h 2589"/>
              <a:gd name="T38" fmla="*/ 676 w 4164"/>
              <a:gd name="T39" fmla="*/ 117 h 2589"/>
              <a:gd name="T40" fmla="*/ 604 w 4164"/>
              <a:gd name="T41" fmla="*/ 162 h 2589"/>
              <a:gd name="T42" fmla="*/ 575 w 4164"/>
              <a:gd name="T43" fmla="*/ 244 h 2589"/>
              <a:gd name="T44" fmla="*/ 589 w 4164"/>
              <a:gd name="T45" fmla="*/ 2142 h 2589"/>
              <a:gd name="T46" fmla="*/ 649 w 4164"/>
              <a:gd name="T47" fmla="*/ 2203 h 2589"/>
              <a:gd name="T48" fmla="*/ 1605 w 4164"/>
              <a:gd name="T49" fmla="*/ 2215 h 2589"/>
              <a:gd name="T50" fmla="*/ 1650 w 4164"/>
              <a:gd name="T51" fmla="*/ 2239 h 2589"/>
              <a:gd name="T52" fmla="*/ 1662 w 4164"/>
              <a:gd name="T53" fmla="*/ 2275 h 2589"/>
              <a:gd name="T54" fmla="*/ 1662 w 4164"/>
              <a:gd name="T55" fmla="*/ 2282 h 2589"/>
              <a:gd name="T56" fmla="*/ 1639 w 4164"/>
              <a:gd name="T57" fmla="*/ 2329 h 2589"/>
              <a:gd name="T58" fmla="*/ 191 w 4164"/>
              <a:gd name="T59" fmla="*/ 2340 h 2589"/>
              <a:gd name="T60" fmla="*/ 3971 w 4164"/>
              <a:gd name="T61" fmla="*/ 2340 h 2589"/>
              <a:gd name="T62" fmla="*/ 2522 w 4164"/>
              <a:gd name="T63" fmla="*/ 2328 h 2589"/>
              <a:gd name="T64" fmla="*/ 2498 w 4164"/>
              <a:gd name="T65" fmla="*/ 2286 h 2589"/>
              <a:gd name="T66" fmla="*/ 2508 w 4164"/>
              <a:gd name="T67" fmla="*/ 2239 h 2589"/>
              <a:gd name="T68" fmla="*/ 2554 w 4164"/>
              <a:gd name="T69" fmla="*/ 2215 h 2589"/>
              <a:gd name="T70" fmla="*/ 3442 w 4164"/>
              <a:gd name="T71" fmla="*/ 2203 h 2589"/>
              <a:gd name="T72" fmla="*/ 3502 w 4164"/>
              <a:gd name="T73" fmla="*/ 2142 h 2589"/>
              <a:gd name="T74" fmla="*/ 3515 w 4164"/>
              <a:gd name="T75" fmla="*/ 244 h 2589"/>
              <a:gd name="T76" fmla="*/ 3486 w 4164"/>
              <a:gd name="T77" fmla="*/ 162 h 2589"/>
              <a:gd name="T78" fmla="*/ 3414 w 4164"/>
              <a:gd name="T79" fmla="*/ 117 h 2589"/>
              <a:gd name="T80" fmla="*/ 707 w 4164"/>
              <a:gd name="T81" fmla="*/ 0 h 2589"/>
              <a:gd name="T82" fmla="*/ 3470 w 4164"/>
              <a:gd name="T83" fmla="*/ 15 h 2589"/>
              <a:gd name="T84" fmla="*/ 3572 w 4164"/>
              <a:gd name="T85" fmla="*/ 87 h 2589"/>
              <a:gd name="T86" fmla="*/ 3625 w 4164"/>
              <a:gd name="T87" fmla="*/ 200 h 2589"/>
              <a:gd name="T88" fmla="*/ 3626 w 4164"/>
              <a:gd name="T89" fmla="*/ 2123 h 2589"/>
              <a:gd name="T90" fmla="*/ 3585 w 4164"/>
              <a:gd name="T91" fmla="*/ 2225 h 2589"/>
              <a:gd name="T92" fmla="*/ 4139 w 4164"/>
              <a:gd name="T93" fmla="*/ 2235 h 2589"/>
              <a:gd name="T94" fmla="*/ 4164 w 4164"/>
              <a:gd name="T95" fmla="*/ 2277 h 2589"/>
              <a:gd name="T96" fmla="*/ 4148 w 4164"/>
              <a:gd name="T97" fmla="*/ 2323 h 2589"/>
              <a:gd name="T98" fmla="*/ 3879 w 4164"/>
              <a:gd name="T99" fmla="*/ 2586 h 2589"/>
              <a:gd name="T100" fmla="*/ 278 w 4164"/>
              <a:gd name="T101" fmla="*/ 2586 h 2589"/>
              <a:gd name="T102" fmla="*/ 15 w 4164"/>
              <a:gd name="T103" fmla="*/ 2323 h 2589"/>
              <a:gd name="T104" fmla="*/ 0 w 4164"/>
              <a:gd name="T105" fmla="*/ 2276 h 2589"/>
              <a:gd name="T106" fmla="*/ 25 w 4164"/>
              <a:gd name="T107" fmla="*/ 2234 h 2589"/>
              <a:gd name="T108" fmla="*/ 506 w 4164"/>
              <a:gd name="T109" fmla="*/ 2225 h 2589"/>
              <a:gd name="T110" fmla="*/ 464 w 4164"/>
              <a:gd name="T111" fmla="*/ 2123 h 2589"/>
              <a:gd name="T112" fmla="*/ 466 w 4164"/>
              <a:gd name="T113" fmla="*/ 200 h 2589"/>
              <a:gd name="T114" fmla="*/ 519 w 4164"/>
              <a:gd name="T115" fmla="*/ 87 h 2589"/>
              <a:gd name="T116" fmla="*/ 621 w 4164"/>
              <a:gd name="T117" fmla="*/ 15 h 2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64" h="2589">
                <a:moveTo>
                  <a:pt x="863" y="421"/>
                </a:moveTo>
                <a:lnTo>
                  <a:pt x="849" y="425"/>
                </a:lnTo>
                <a:lnTo>
                  <a:pt x="837" y="433"/>
                </a:lnTo>
                <a:lnTo>
                  <a:pt x="829" y="444"/>
                </a:lnTo>
                <a:lnTo>
                  <a:pt x="825" y="459"/>
                </a:lnTo>
                <a:lnTo>
                  <a:pt x="825" y="1810"/>
                </a:lnTo>
                <a:lnTo>
                  <a:pt x="829" y="1824"/>
                </a:lnTo>
                <a:lnTo>
                  <a:pt x="837" y="1835"/>
                </a:lnTo>
                <a:lnTo>
                  <a:pt x="849" y="1844"/>
                </a:lnTo>
                <a:lnTo>
                  <a:pt x="863" y="1847"/>
                </a:lnTo>
                <a:lnTo>
                  <a:pt x="3216" y="1847"/>
                </a:lnTo>
                <a:lnTo>
                  <a:pt x="3232" y="1844"/>
                </a:lnTo>
                <a:lnTo>
                  <a:pt x="3243" y="1835"/>
                </a:lnTo>
                <a:lnTo>
                  <a:pt x="3250" y="1824"/>
                </a:lnTo>
                <a:lnTo>
                  <a:pt x="3254" y="1810"/>
                </a:lnTo>
                <a:lnTo>
                  <a:pt x="3254" y="459"/>
                </a:lnTo>
                <a:lnTo>
                  <a:pt x="3250" y="444"/>
                </a:lnTo>
                <a:lnTo>
                  <a:pt x="3243" y="433"/>
                </a:lnTo>
                <a:lnTo>
                  <a:pt x="3232" y="425"/>
                </a:lnTo>
                <a:lnTo>
                  <a:pt x="3216" y="421"/>
                </a:lnTo>
                <a:lnTo>
                  <a:pt x="863" y="421"/>
                </a:lnTo>
                <a:close/>
                <a:moveTo>
                  <a:pt x="863" y="306"/>
                </a:moveTo>
                <a:lnTo>
                  <a:pt x="3216" y="306"/>
                </a:lnTo>
                <a:lnTo>
                  <a:pt x="3247" y="310"/>
                </a:lnTo>
                <a:lnTo>
                  <a:pt x="3276" y="319"/>
                </a:lnTo>
                <a:lnTo>
                  <a:pt x="3301" y="333"/>
                </a:lnTo>
                <a:lnTo>
                  <a:pt x="3324" y="352"/>
                </a:lnTo>
                <a:lnTo>
                  <a:pt x="3343" y="373"/>
                </a:lnTo>
                <a:lnTo>
                  <a:pt x="3356" y="400"/>
                </a:lnTo>
                <a:lnTo>
                  <a:pt x="3365" y="428"/>
                </a:lnTo>
                <a:lnTo>
                  <a:pt x="3368" y="459"/>
                </a:lnTo>
                <a:lnTo>
                  <a:pt x="3368" y="1810"/>
                </a:lnTo>
                <a:lnTo>
                  <a:pt x="3365" y="1840"/>
                </a:lnTo>
                <a:lnTo>
                  <a:pt x="3356" y="1868"/>
                </a:lnTo>
                <a:lnTo>
                  <a:pt x="3343" y="1895"/>
                </a:lnTo>
                <a:lnTo>
                  <a:pt x="3324" y="1917"/>
                </a:lnTo>
                <a:lnTo>
                  <a:pt x="3301" y="1935"/>
                </a:lnTo>
                <a:lnTo>
                  <a:pt x="3276" y="1949"/>
                </a:lnTo>
                <a:lnTo>
                  <a:pt x="3247" y="1958"/>
                </a:lnTo>
                <a:lnTo>
                  <a:pt x="3216" y="1962"/>
                </a:lnTo>
                <a:lnTo>
                  <a:pt x="863" y="1962"/>
                </a:lnTo>
                <a:lnTo>
                  <a:pt x="833" y="1958"/>
                </a:lnTo>
                <a:lnTo>
                  <a:pt x="804" y="1949"/>
                </a:lnTo>
                <a:lnTo>
                  <a:pt x="779" y="1935"/>
                </a:lnTo>
                <a:lnTo>
                  <a:pt x="756" y="1917"/>
                </a:lnTo>
                <a:lnTo>
                  <a:pt x="737" y="1895"/>
                </a:lnTo>
                <a:lnTo>
                  <a:pt x="723" y="1868"/>
                </a:lnTo>
                <a:lnTo>
                  <a:pt x="714" y="1840"/>
                </a:lnTo>
                <a:lnTo>
                  <a:pt x="712" y="1810"/>
                </a:lnTo>
                <a:lnTo>
                  <a:pt x="712" y="459"/>
                </a:lnTo>
                <a:lnTo>
                  <a:pt x="714" y="428"/>
                </a:lnTo>
                <a:lnTo>
                  <a:pt x="723" y="400"/>
                </a:lnTo>
                <a:lnTo>
                  <a:pt x="737" y="373"/>
                </a:lnTo>
                <a:lnTo>
                  <a:pt x="756" y="352"/>
                </a:lnTo>
                <a:lnTo>
                  <a:pt x="779" y="333"/>
                </a:lnTo>
                <a:lnTo>
                  <a:pt x="804" y="319"/>
                </a:lnTo>
                <a:lnTo>
                  <a:pt x="833" y="310"/>
                </a:lnTo>
                <a:lnTo>
                  <a:pt x="863" y="306"/>
                </a:lnTo>
                <a:close/>
                <a:moveTo>
                  <a:pt x="707" y="114"/>
                </a:moveTo>
                <a:lnTo>
                  <a:pt x="676" y="117"/>
                </a:lnTo>
                <a:lnTo>
                  <a:pt x="649" y="127"/>
                </a:lnTo>
                <a:lnTo>
                  <a:pt x="625" y="142"/>
                </a:lnTo>
                <a:lnTo>
                  <a:pt x="604" y="162"/>
                </a:lnTo>
                <a:lnTo>
                  <a:pt x="589" y="188"/>
                </a:lnTo>
                <a:lnTo>
                  <a:pt x="579" y="214"/>
                </a:lnTo>
                <a:lnTo>
                  <a:pt x="575" y="244"/>
                </a:lnTo>
                <a:lnTo>
                  <a:pt x="575" y="2085"/>
                </a:lnTo>
                <a:lnTo>
                  <a:pt x="579" y="2114"/>
                </a:lnTo>
                <a:lnTo>
                  <a:pt x="589" y="2142"/>
                </a:lnTo>
                <a:lnTo>
                  <a:pt x="604" y="2166"/>
                </a:lnTo>
                <a:lnTo>
                  <a:pt x="625" y="2188"/>
                </a:lnTo>
                <a:lnTo>
                  <a:pt x="649" y="2203"/>
                </a:lnTo>
                <a:lnTo>
                  <a:pt x="676" y="2213"/>
                </a:lnTo>
                <a:lnTo>
                  <a:pt x="707" y="2215"/>
                </a:lnTo>
                <a:lnTo>
                  <a:pt x="1605" y="2215"/>
                </a:lnTo>
                <a:lnTo>
                  <a:pt x="1623" y="2219"/>
                </a:lnTo>
                <a:lnTo>
                  <a:pt x="1639" y="2227"/>
                </a:lnTo>
                <a:lnTo>
                  <a:pt x="1650" y="2239"/>
                </a:lnTo>
                <a:lnTo>
                  <a:pt x="1659" y="2254"/>
                </a:lnTo>
                <a:lnTo>
                  <a:pt x="1662" y="2273"/>
                </a:lnTo>
                <a:lnTo>
                  <a:pt x="1662" y="2275"/>
                </a:lnTo>
                <a:lnTo>
                  <a:pt x="1661" y="2277"/>
                </a:lnTo>
                <a:lnTo>
                  <a:pt x="1662" y="2280"/>
                </a:lnTo>
                <a:lnTo>
                  <a:pt x="1662" y="2282"/>
                </a:lnTo>
                <a:lnTo>
                  <a:pt x="1659" y="2301"/>
                </a:lnTo>
                <a:lnTo>
                  <a:pt x="1652" y="2316"/>
                </a:lnTo>
                <a:lnTo>
                  <a:pt x="1639" y="2329"/>
                </a:lnTo>
                <a:lnTo>
                  <a:pt x="1623" y="2336"/>
                </a:lnTo>
                <a:lnTo>
                  <a:pt x="1605" y="2340"/>
                </a:lnTo>
                <a:lnTo>
                  <a:pt x="191" y="2340"/>
                </a:lnTo>
                <a:lnTo>
                  <a:pt x="317" y="2474"/>
                </a:lnTo>
                <a:lnTo>
                  <a:pt x="3840" y="2474"/>
                </a:lnTo>
                <a:lnTo>
                  <a:pt x="3971" y="2340"/>
                </a:lnTo>
                <a:lnTo>
                  <a:pt x="2558" y="2340"/>
                </a:lnTo>
                <a:lnTo>
                  <a:pt x="2539" y="2336"/>
                </a:lnTo>
                <a:lnTo>
                  <a:pt x="2522" y="2328"/>
                </a:lnTo>
                <a:lnTo>
                  <a:pt x="2511" y="2315"/>
                </a:lnTo>
                <a:lnTo>
                  <a:pt x="2503" y="2297"/>
                </a:lnTo>
                <a:lnTo>
                  <a:pt x="2498" y="2286"/>
                </a:lnTo>
                <a:lnTo>
                  <a:pt x="2497" y="2273"/>
                </a:lnTo>
                <a:lnTo>
                  <a:pt x="2500" y="2254"/>
                </a:lnTo>
                <a:lnTo>
                  <a:pt x="2508" y="2239"/>
                </a:lnTo>
                <a:lnTo>
                  <a:pt x="2520" y="2227"/>
                </a:lnTo>
                <a:lnTo>
                  <a:pt x="2536" y="2219"/>
                </a:lnTo>
                <a:lnTo>
                  <a:pt x="2554" y="2215"/>
                </a:lnTo>
                <a:lnTo>
                  <a:pt x="3384" y="2215"/>
                </a:lnTo>
                <a:lnTo>
                  <a:pt x="3414" y="2213"/>
                </a:lnTo>
                <a:lnTo>
                  <a:pt x="3442" y="2203"/>
                </a:lnTo>
                <a:lnTo>
                  <a:pt x="3466" y="2188"/>
                </a:lnTo>
                <a:lnTo>
                  <a:pt x="3486" y="2166"/>
                </a:lnTo>
                <a:lnTo>
                  <a:pt x="3502" y="2142"/>
                </a:lnTo>
                <a:lnTo>
                  <a:pt x="3512" y="2114"/>
                </a:lnTo>
                <a:lnTo>
                  <a:pt x="3515" y="2085"/>
                </a:lnTo>
                <a:lnTo>
                  <a:pt x="3515" y="244"/>
                </a:lnTo>
                <a:lnTo>
                  <a:pt x="3512" y="214"/>
                </a:lnTo>
                <a:lnTo>
                  <a:pt x="3502" y="188"/>
                </a:lnTo>
                <a:lnTo>
                  <a:pt x="3486" y="162"/>
                </a:lnTo>
                <a:lnTo>
                  <a:pt x="3466" y="142"/>
                </a:lnTo>
                <a:lnTo>
                  <a:pt x="3442" y="127"/>
                </a:lnTo>
                <a:lnTo>
                  <a:pt x="3414" y="117"/>
                </a:lnTo>
                <a:lnTo>
                  <a:pt x="3384" y="114"/>
                </a:lnTo>
                <a:lnTo>
                  <a:pt x="707" y="114"/>
                </a:lnTo>
                <a:close/>
                <a:moveTo>
                  <a:pt x="707" y="0"/>
                </a:moveTo>
                <a:lnTo>
                  <a:pt x="3384" y="0"/>
                </a:lnTo>
                <a:lnTo>
                  <a:pt x="3428" y="3"/>
                </a:lnTo>
                <a:lnTo>
                  <a:pt x="3470" y="15"/>
                </a:lnTo>
                <a:lnTo>
                  <a:pt x="3508" y="32"/>
                </a:lnTo>
                <a:lnTo>
                  <a:pt x="3542" y="58"/>
                </a:lnTo>
                <a:lnTo>
                  <a:pt x="3572" y="87"/>
                </a:lnTo>
                <a:lnTo>
                  <a:pt x="3596" y="121"/>
                </a:lnTo>
                <a:lnTo>
                  <a:pt x="3614" y="159"/>
                </a:lnTo>
                <a:lnTo>
                  <a:pt x="3625" y="200"/>
                </a:lnTo>
                <a:lnTo>
                  <a:pt x="3629" y="244"/>
                </a:lnTo>
                <a:lnTo>
                  <a:pt x="3629" y="2085"/>
                </a:lnTo>
                <a:lnTo>
                  <a:pt x="3626" y="2123"/>
                </a:lnTo>
                <a:lnTo>
                  <a:pt x="3618" y="2160"/>
                </a:lnTo>
                <a:lnTo>
                  <a:pt x="3604" y="2194"/>
                </a:lnTo>
                <a:lnTo>
                  <a:pt x="3585" y="2225"/>
                </a:lnTo>
                <a:lnTo>
                  <a:pt x="4107" y="2225"/>
                </a:lnTo>
                <a:lnTo>
                  <a:pt x="4124" y="2228"/>
                </a:lnTo>
                <a:lnTo>
                  <a:pt x="4139" y="2235"/>
                </a:lnTo>
                <a:lnTo>
                  <a:pt x="4150" y="2246"/>
                </a:lnTo>
                <a:lnTo>
                  <a:pt x="4159" y="2261"/>
                </a:lnTo>
                <a:lnTo>
                  <a:pt x="4164" y="2277"/>
                </a:lnTo>
                <a:lnTo>
                  <a:pt x="4163" y="2294"/>
                </a:lnTo>
                <a:lnTo>
                  <a:pt x="4158" y="2309"/>
                </a:lnTo>
                <a:lnTo>
                  <a:pt x="4148" y="2323"/>
                </a:lnTo>
                <a:lnTo>
                  <a:pt x="3905" y="2571"/>
                </a:lnTo>
                <a:lnTo>
                  <a:pt x="3893" y="2580"/>
                </a:lnTo>
                <a:lnTo>
                  <a:pt x="3879" y="2586"/>
                </a:lnTo>
                <a:lnTo>
                  <a:pt x="3865" y="2589"/>
                </a:lnTo>
                <a:lnTo>
                  <a:pt x="293" y="2589"/>
                </a:lnTo>
                <a:lnTo>
                  <a:pt x="278" y="2586"/>
                </a:lnTo>
                <a:lnTo>
                  <a:pt x="262" y="2580"/>
                </a:lnTo>
                <a:lnTo>
                  <a:pt x="251" y="2570"/>
                </a:lnTo>
                <a:lnTo>
                  <a:pt x="15" y="2323"/>
                </a:lnTo>
                <a:lnTo>
                  <a:pt x="6" y="2309"/>
                </a:lnTo>
                <a:lnTo>
                  <a:pt x="1" y="2292"/>
                </a:lnTo>
                <a:lnTo>
                  <a:pt x="0" y="2276"/>
                </a:lnTo>
                <a:lnTo>
                  <a:pt x="5" y="2259"/>
                </a:lnTo>
                <a:lnTo>
                  <a:pt x="14" y="2246"/>
                </a:lnTo>
                <a:lnTo>
                  <a:pt x="25" y="2234"/>
                </a:lnTo>
                <a:lnTo>
                  <a:pt x="40" y="2228"/>
                </a:lnTo>
                <a:lnTo>
                  <a:pt x="57" y="2225"/>
                </a:lnTo>
                <a:lnTo>
                  <a:pt x="506" y="2225"/>
                </a:lnTo>
                <a:lnTo>
                  <a:pt x="487" y="2194"/>
                </a:lnTo>
                <a:lnTo>
                  <a:pt x="473" y="2160"/>
                </a:lnTo>
                <a:lnTo>
                  <a:pt x="464" y="2123"/>
                </a:lnTo>
                <a:lnTo>
                  <a:pt x="462" y="2085"/>
                </a:lnTo>
                <a:lnTo>
                  <a:pt x="462" y="244"/>
                </a:lnTo>
                <a:lnTo>
                  <a:pt x="466" y="200"/>
                </a:lnTo>
                <a:lnTo>
                  <a:pt x="477" y="159"/>
                </a:lnTo>
                <a:lnTo>
                  <a:pt x="495" y="121"/>
                </a:lnTo>
                <a:lnTo>
                  <a:pt x="519" y="87"/>
                </a:lnTo>
                <a:lnTo>
                  <a:pt x="549" y="58"/>
                </a:lnTo>
                <a:lnTo>
                  <a:pt x="583" y="32"/>
                </a:lnTo>
                <a:lnTo>
                  <a:pt x="621" y="15"/>
                </a:lnTo>
                <a:lnTo>
                  <a:pt x="662" y="3"/>
                </a:lnTo>
                <a:lnTo>
                  <a:pt x="707" y="0"/>
                </a:lnTo>
                <a:close/>
              </a:path>
            </a:pathLst>
          </a:custGeom>
          <a:solidFill>
            <a:schemeClr val="tx2">
              <a:lumMod val="75000"/>
              <a:lumOff val="25000"/>
            </a:schemeClr>
          </a:solidFill>
          <a:ln w="0">
            <a:solidFill>
              <a:schemeClr val="tx2">
                <a:lumMod val="75000"/>
                <a:lumOff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49" name="Connector: Elbow 48">
            <a:extLst>
              <a:ext uri="{FF2B5EF4-FFF2-40B4-BE49-F238E27FC236}">
                <a16:creationId xmlns:a16="http://schemas.microsoft.com/office/drawing/2014/main" id="{5D908270-0412-454F-A5F7-D89CBF4BE7AF}"/>
              </a:ext>
            </a:extLst>
          </p:cNvPr>
          <p:cNvCxnSpPr/>
          <p:nvPr/>
        </p:nvCxnSpPr>
        <p:spPr>
          <a:xfrm rot="10800000" flipV="1">
            <a:off x="2342194" y="771834"/>
            <a:ext cx="530870" cy="361711"/>
          </a:xfrm>
          <a:prstGeom prst="bentConnector3">
            <a:avLst>
              <a:gd name="adj1" fmla="val 57407"/>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F873B3A-0BE6-4504-9B7F-752CA0F48F04}"/>
              </a:ext>
            </a:extLst>
          </p:cNvPr>
          <p:cNvCxnSpPr>
            <a:cxnSpLocks/>
          </p:cNvCxnSpPr>
          <p:nvPr/>
        </p:nvCxnSpPr>
        <p:spPr>
          <a:xfrm>
            <a:off x="2796835" y="1149999"/>
            <a:ext cx="747643" cy="0"/>
          </a:xfrm>
          <a:prstGeom prst="line">
            <a:avLst/>
          </a:prstGeom>
          <a:ln w="19050">
            <a:solidFill>
              <a:schemeClr val="tx2">
                <a:lumMod val="75000"/>
                <a:lumOff val="25000"/>
              </a:schemeClr>
            </a:solidFill>
            <a:prstDash val="dash"/>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22D8C350-A08C-4983-A4E6-A642568F0D61}"/>
              </a:ext>
            </a:extLst>
          </p:cNvPr>
          <p:cNvCxnSpPr>
            <a:cxnSpLocks/>
          </p:cNvCxnSpPr>
          <p:nvPr/>
        </p:nvCxnSpPr>
        <p:spPr>
          <a:xfrm>
            <a:off x="2933376" y="1237721"/>
            <a:ext cx="658236" cy="0"/>
          </a:xfrm>
          <a:prstGeom prst="line">
            <a:avLst/>
          </a:prstGeom>
          <a:ln w="19050">
            <a:solidFill>
              <a:schemeClr val="tx2">
                <a:lumMod val="75000"/>
                <a:lumOff val="25000"/>
              </a:schemeClr>
            </a:solidFill>
            <a:prstDash val="dash"/>
          </a:ln>
        </p:spPr>
        <p:style>
          <a:lnRef idx="1">
            <a:schemeClr val="dk1"/>
          </a:lnRef>
          <a:fillRef idx="0">
            <a:schemeClr val="dk1"/>
          </a:fillRef>
          <a:effectRef idx="0">
            <a:schemeClr val="dk1"/>
          </a:effectRef>
          <a:fontRef idx="minor">
            <a:schemeClr val="tx1"/>
          </a:fontRef>
        </p:style>
      </p:cxnSp>
      <p:pic>
        <p:nvPicPr>
          <p:cNvPr id="52" name="Picture 51">
            <a:extLst>
              <a:ext uri="{FF2B5EF4-FFF2-40B4-BE49-F238E27FC236}">
                <a16:creationId xmlns:a16="http://schemas.microsoft.com/office/drawing/2014/main" id="{A0716F2C-C953-444B-ABAE-2ACCA87250EE}"/>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441998" y="782939"/>
            <a:ext cx="647719" cy="667833"/>
          </a:xfrm>
          <a:prstGeom prst="rect">
            <a:avLst/>
          </a:prstGeom>
        </p:spPr>
      </p:pic>
      <p:sp>
        <p:nvSpPr>
          <p:cNvPr id="53" name="Freeform 6">
            <a:extLst>
              <a:ext uri="{FF2B5EF4-FFF2-40B4-BE49-F238E27FC236}">
                <a16:creationId xmlns:a16="http://schemas.microsoft.com/office/drawing/2014/main" id="{F8FC9C4D-F988-4CB0-9A76-0B762AC0B6D3}"/>
              </a:ext>
            </a:extLst>
          </p:cNvPr>
          <p:cNvSpPr>
            <a:spLocks noChangeAspect="1" noEditPoints="1"/>
          </p:cNvSpPr>
          <p:nvPr/>
        </p:nvSpPr>
        <p:spPr bwMode="auto">
          <a:xfrm rot="20625851">
            <a:off x="1177229" y="646331"/>
            <a:ext cx="426668" cy="541448"/>
          </a:xfrm>
          <a:custGeom>
            <a:avLst/>
            <a:gdLst>
              <a:gd name="T0" fmla="*/ 741 w 2478"/>
              <a:gd name="T1" fmla="*/ 3516 h 4032"/>
              <a:gd name="T2" fmla="*/ 774 w 2478"/>
              <a:gd name="T3" fmla="*/ 3668 h 4032"/>
              <a:gd name="T4" fmla="*/ 929 w 2478"/>
              <a:gd name="T5" fmla="*/ 3668 h 4032"/>
              <a:gd name="T6" fmla="*/ 963 w 2478"/>
              <a:gd name="T7" fmla="*/ 3516 h 4032"/>
              <a:gd name="T8" fmla="*/ 852 w 2478"/>
              <a:gd name="T9" fmla="*/ 3336 h 4032"/>
              <a:gd name="T10" fmla="*/ 1054 w 2478"/>
              <a:gd name="T11" fmla="*/ 3453 h 4032"/>
              <a:gd name="T12" fmla="*/ 1054 w 2478"/>
              <a:gd name="T13" fmla="*/ 3689 h 4032"/>
              <a:gd name="T14" fmla="*/ 852 w 2478"/>
              <a:gd name="T15" fmla="*/ 3806 h 4032"/>
              <a:gd name="T16" fmla="*/ 649 w 2478"/>
              <a:gd name="T17" fmla="*/ 3689 h 4032"/>
              <a:gd name="T18" fmla="*/ 649 w 2478"/>
              <a:gd name="T19" fmla="*/ 3453 h 4032"/>
              <a:gd name="T20" fmla="*/ 852 w 2478"/>
              <a:gd name="T21" fmla="*/ 3336 h 4032"/>
              <a:gd name="T22" fmla="*/ 293 w 2478"/>
              <a:gd name="T23" fmla="*/ 3121 h 4032"/>
              <a:gd name="T24" fmla="*/ 1382 w 2478"/>
              <a:gd name="T25" fmla="*/ 3156 h 4032"/>
              <a:gd name="T26" fmla="*/ 1394 w 2478"/>
              <a:gd name="T27" fmla="*/ 1258 h 4032"/>
              <a:gd name="T28" fmla="*/ 1397 w 2478"/>
              <a:gd name="T29" fmla="*/ 1139 h 4032"/>
              <a:gd name="T30" fmla="*/ 1514 w 2478"/>
              <a:gd name="T31" fmla="*/ 1255 h 4032"/>
              <a:gd name="T32" fmla="*/ 1473 w 2478"/>
              <a:gd name="T33" fmla="*/ 3227 h 4032"/>
              <a:gd name="T34" fmla="*/ 303 w 2478"/>
              <a:gd name="T35" fmla="*/ 3267 h 4032"/>
              <a:gd name="T36" fmla="*/ 186 w 2478"/>
              <a:gd name="T37" fmla="*/ 3151 h 4032"/>
              <a:gd name="T38" fmla="*/ 227 w 2478"/>
              <a:gd name="T39" fmla="*/ 1179 h 4032"/>
              <a:gd name="T40" fmla="*/ 1037 w 2478"/>
              <a:gd name="T41" fmla="*/ 966 h 4032"/>
              <a:gd name="T42" fmla="*/ 1091 w 2478"/>
              <a:gd name="T43" fmla="*/ 1040 h 4032"/>
              <a:gd name="T44" fmla="*/ 636 w 2478"/>
              <a:gd name="T45" fmla="*/ 1074 h 4032"/>
              <a:gd name="T46" fmla="*/ 609 w 2478"/>
              <a:gd name="T47" fmla="*/ 988 h 4032"/>
              <a:gd name="T48" fmla="*/ 186 w 2478"/>
              <a:gd name="T49" fmla="*/ 894 h 4032"/>
              <a:gd name="T50" fmla="*/ 110 w 2478"/>
              <a:gd name="T51" fmla="*/ 3786 h 4032"/>
              <a:gd name="T52" fmla="*/ 214 w 2478"/>
              <a:gd name="T53" fmla="*/ 3917 h 4032"/>
              <a:gd name="T54" fmla="*/ 1553 w 2478"/>
              <a:gd name="T55" fmla="*/ 3871 h 4032"/>
              <a:gd name="T56" fmla="*/ 1569 w 2478"/>
              <a:gd name="T57" fmla="*/ 955 h 4032"/>
              <a:gd name="T58" fmla="*/ 246 w 2478"/>
              <a:gd name="T59" fmla="*/ 880 h 4032"/>
              <a:gd name="T60" fmla="*/ 1593 w 2478"/>
              <a:gd name="T61" fmla="*/ 816 h 4032"/>
              <a:gd name="T62" fmla="*/ 1693 w 2478"/>
              <a:gd name="T63" fmla="*/ 1015 h 4032"/>
              <a:gd name="T64" fmla="*/ 1621 w 2478"/>
              <a:gd name="T65" fmla="*/ 3960 h 4032"/>
              <a:gd name="T66" fmla="*/ 246 w 2478"/>
              <a:gd name="T67" fmla="*/ 4032 h 4032"/>
              <a:gd name="T68" fmla="*/ 46 w 2478"/>
              <a:gd name="T69" fmla="*/ 3932 h 4032"/>
              <a:gd name="T70" fmla="*/ 2 w 2478"/>
              <a:gd name="T71" fmla="*/ 975 h 4032"/>
              <a:gd name="T72" fmla="*/ 132 w 2478"/>
              <a:gd name="T73" fmla="*/ 797 h 4032"/>
              <a:gd name="T74" fmla="*/ 1647 w 2478"/>
              <a:gd name="T75" fmla="*/ 601 h 4032"/>
              <a:gd name="T76" fmla="*/ 1855 w 2478"/>
              <a:gd name="T77" fmla="*/ 784 h 4032"/>
              <a:gd name="T78" fmla="*/ 1862 w 2478"/>
              <a:gd name="T79" fmla="*/ 935 h 4032"/>
              <a:gd name="T80" fmla="*/ 1786 w 2478"/>
              <a:gd name="T81" fmla="*/ 918 h 4032"/>
              <a:gd name="T82" fmla="*/ 1660 w 2478"/>
              <a:gd name="T83" fmla="*/ 731 h 4032"/>
              <a:gd name="T84" fmla="*/ 1499 w 2478"/>
              <a:gd name="T85" fmla="*/ 662 h 4032"/>
              <a:gd name="T86" fmla="*/ 1536 w 2478"/>
              <a:gd name="T87" fmla="*/ 580 h 4032"/>
              <a:gd name="T88" fmla="*/ 1840 w 2478"/>
              <a:gd name="T89" fmla="*/ 365 h 4032"/>
              <a:gd name="T90" fmla="*/ 2111 w 2478"/>
              <a:gd name="T91" fmla="*/ 641 h 4032"/>
              <a:gd name="T92" fmla="*/ 2188 w 2478"/>
              <a:gd name="T93" fmla="*/ 1030 h 4032"/>
              <a:gd name="T94" fmla="*/ 2127 w 2478"/>
              <a:gd name="T95" fmla="*/ 1079 h 4032"/>
              <a:gd name="T96" fmla="*/ 2081 w 2478"/>
              <a:gd name="T97" fmla="*/ 957 h 4032"/>
              <a:gd name="T98" fmla="*/ 1971 w 2478"/>
              <a:gd name="T99" fmla="*/ 626 h 4032"/>
              <a:gd name="T100" fmla="*/ 1691 w 2478"/>
              <a:gd name="T101" fmla="*/ 422 h 4032"/>
              <a:gd name="T102" fmla="*/ 1523 w 2478"/>
              <a:gd name="T103" fmla="*/ 353 h 4032"/>
              <a:gd name="T104" fmla="*/ 1583 w 2478"/>
              <a:gd name="T105" fmla="*/ 286 h 4032"/>
              <a:gd name="T106" fmla="*/ 1995 w 2478"/>
              <a:gd name="T107" fmla="*/ 125 h 4032"/>
              <a:gd name="T108" fmla="*/ 2330 w 2478"/>
              <a:gd name="T109" fmla="*/ 447 h 4032"/>
              <a:gd name="T110" fmla="*/ 2476 w 2478"/>
              <a:gd name="T111" fmla="*/ 894 h 4032"/>
              <a:gd name="T112" fmla="*/ 2434 w 2478"/>
              <a:gd name="T113" fmla="*/ 1107 h 4032"/>
              <a:gd name="T114" fmla="*/ 2363 w 2478"/>
              <a:gd name="T115" fmla="*/ 1065 h 4032"/>
              <a:gd name="T116" fmla="*/ 2318 w 2478"/>
              <a:gd name="T117" fmla="*/ 676 h 4032"/>
              <a:gd name="T118" fmla="*/ 2075 w 2478"/>
              <a:gd name="T119" fmla="*/ 316 h 4032"/>
              <a:gd name="T120" fmla="*/ 1677 w 2478"/>
              <a:gd name="T121" fmla="*/ 122 h 4032"/>
              <a:gd name="T122" fmla="*/ 1551 w 2478"/>
              <a:gd name="T123" fmla="*/ 50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78" h="4032">
                <a:moveTo>
                  <a:pt x="852" y="3447"/>
                </a:moveTo>
                <a:lnTo>
                  <a:pt x="823" y="3450"/>
                </a:lnTo>
                <a:lnTo>
                  <a:pt x="797" y="3460"/>
                </a:lnTo>
                <a:lnTo>
                  <a:pt x="774" y="3475"/>
                </a:lnTo>
                <a:lnTo>
                  <a:pt x="756" y="3493"/>
                </a:lnTo>
                <a:lnTo>
                  <a:pt x="741" y="3516"/>
                </a:lnTo>
                <a:lnTo>
                  <a:pt x="731" y="3542"/>
                </a:lnTo>
                <a:lnTo>
                  <a:pt x="727" y="3571"/>
                </a:lnTo>
                <a:lnTo>
                  <a:pt x="731" y="3599"/>
                </a:lnTo>
                <a:lnTo>
                  <a:pt x="741" y="3625"/>
                </a:lnTo>
                <a:lnTo>
                  <a:pt x="756" y="3648"/>
                </a:lnTo>
                <a:lnTo>
                  <a:pt x="774" y="3668"/>
                </a:lnTo>
                <a:lnTo>
                  <a:pt x="797" y="3683"/>
                </a:lnTo>
                <a:lnTo>
                  <a:pt x="823" y="3691"/>
                </a:lnTo>
                <a:lnTo>
                  <a:pt x="852" y="3695"/>
                </a:lnTo>
                <a:lnTo>
                  <a:pt x="880" y="3691"/>
                </a:lnTo>
                <a:lnTo>
                  <a:pt x="906" y="3683"/>
                </a:lnTo>
                <a:lnTo>
                  <a:pt x="929" y="3668"/>
                </a:lnTo>
                <a:lnTo>
                  <a:pt x="949" y="3648"/>
                </a:lnTo>
                <a:lnTo>
                  <a:pt x="963" y="3625"/>
                </a:lnTo>
                <a:lnTo>
                  <a:pt x="972" y="3599"/>
                </a:lnTo>
                <a:lnTo>
                  <a:pt x="976" y="3571"/>
                </a:lnTo>
                <a:lnTo>
                  <a:pt x="972" y="3542"/>
                </a:lnTo>
                <a:lnTo>
                  <a:pt x="963" y="3516"/>
                </a:lnTo>
                <a:lnTo>
                  <a:pt x="949" y="3493"/>
                </a:lnTo>
                <a:lnTo>
                  <a:pt x="929" y="3475"/>
                </a:lnTo>
                <a:lnTo>
                  <a:pt x="906" y="3460"/>
                </a:lnTo>
                <a:lnTo>
                  <a:pt x="880" y="3450"/>
                </a:lnTo>
                <a:lnTo>
                  <a:pt x="852" y="3447"/>
                </a:lnTo>
                <a:close/>
                <a:moveTo>
                  <a:pt x="852" y="3336"/>
                </a:moveTo>
                <a:lnTo>
                  <a:pt x="894" y="3340"/>
                </a:lnTo>
                <a:lnTo>
                  <a:pt x="934" y="3351"/>
                </a:lnTo>
                <a:lnTo>
                  <a:pt x="970" y="3369"/>
                </a:lnTo>
                <a:lnTo>
                  <a:pt x="1003" y="3392"/>
                </a:lnTo>
                <a:lnTo>
                  <a:pt x="1031" y="3420"/>
                </a:lnTo>
                <a:lnTo>
                  <a:pt x="1054" y="3453"/>
                </a:lnTo>
                <a:lnTo>
                  <a:pt x="1072" y="3490"/>
                </a:lnTo>
                <a:lnTo>
                  <a:pt x="1083" y="3529"/>
                </a:lnTo>
                <a:lnTo>
                  <a:pt x="1087" y="3571"/>
                </a:lnTo>
                <a:lnTo>
                  <a:pt x="1083" y="3613"/>
                </a:lnTo>
                <a:lnTo>
                  <a:pt x="1072" y="3653"/>
                </a:lnTo>
                <a:lnTo>
                  <a:pt x="1054" y="3689"/>
                </a:lnTo>
                <a:lnTo>
                  <a:pt x="1031" y="3722"/>
                </a:lnTo>
                <a:lnTo>
                  <a:pt x="1003" y="3750"/>
                </a:lnTo>
                <a:lnTo>
                  <a:pt x="970" y="3773"/>
                </a:lnTo>
                <a:lnTo>
                  <a:pt x="934" y="3791"/>
                </a:lnTo>
                <a:lnTo>
                  <a:pt x="894" y="3802"/>
                </a:lnTo>
                <a:lnTo>
                  <a:pt x="852" y="3806"/>
                </a:lnTo>
                <a:lnTo>
                  <a:pt x="809" y="3802"/>
                </a:lnTo>
                <a:lnTo>
                  <a:pt x="770" y="3791"/>
                </a:lnTo>
                <a:lnTo>
                  <a:pt x="734" y="3773"/>
                </a:lnTo>
                <a:lnTo>
                  <a:pt x="701" y="3750"/>
                </a:lnTo>
                <a:lnTo>
                  <a:pt x="672" y="3722"/>
                </a:lnTo>
                <a:lnTo>
                  <a:pt x="649" y="3689"/>
                </a:lnTo>
                <a:lnTo>
                  <a:pt x="632" y="3653"/>
                </a:lnTo>
                <a:lnTo>
                  <a:pt x="621" y="3613"/>
                </a:lnTo>
                <a:lnTo>
                  <a:pt x="617" y="3571"/>
                </a:lnTo>
                <a:lnTo>
                  <a:pt x="621" y="3529"/>
                </a:lnTo>
                <a:lnTo>
                  <a:pt x="632" y="3490"/>
                </a:lnTo>
                <a:lnTo>
                  <a:pt x="649" y="3453"/>
                </a:lnTo>
                <a:lnTo>
                  <a:pt x="672" y="3420"/>
                </a:lnTo>
                <a:lnTo>
                  <a:pt x="701" y="3392"/>
                </a:lnTo>
                <a:lnTo>
                  <a:pt x="734" y="3369"/>
                </a:lnTo>
                <a:lnTo>
                  <a:pt x="770" y="3351"/>
                </a:lnTo>
                <a:lnTo>
                  <a:pt x="809" y="3340"/>
                </a:lnTo>
                <a:lnTo>
                  <a:pt x="852" y="3336"/>
                </a:lnTo>
                <a:close/>
                <a:moveTo>
                  <a:pt x="333" y="1246"/>
                </a:moveTo>
                <a:lnTo>
                  <a:pt x="318" y="1250"/>
                </a:lnTo>
                <a:lnTo>
                  <a:pt x="306" y="1258"/>
                </a:lnTo>
                <a:lnTo>
                  <a:pt x="297" y="1271"/>
                </a:lnTo>
                <a:lnTo>
                  <a:pt x="293" y="1285"/>
                </a:lnTo>
                <a:lnTo>
                  <a:pt x="293" y="3121"/>
                </a:lnTo>
                <a:lnTo>
                  <a:pt x="297" y="3135"/>
                </a:lnTo>
                <a:lnTo>
                  <a:pt x="306" y="3147"/>
                </a:lnTo>
                <a:lnTo>
                  <a:pt x="318" y="3156"/>
                </a:lnTo>
                <a:lnTo>
                  <a:pt x="333" y="3160"/>
                </a:lnTo>
                <a:lnTo>
                  <a:pt x="1367" y="3160"/>
                </a:lnTo>
                <a:lnTo>
                  <a:pt x="1382" y="3156"/>
                </a:lnTo>
                <a:lnTo>
                  <a:pt x="1395" y="3147"/>
                </a:lnTo>
                <a:lnTo>
                  <a:pt x="1402" y="3135"/>
                </a:lnTo>
                <a:lnTo>
                  <a:pt x="1406" y="3121"/>
                </a:lnTo>
                <a:lnTo>
                  <a:pt x="1406" y="1285"/>
                </a:lnTo>
                <a:lnTo>
                  <a:pt x="1402" y="1271"/>
                </a:lnTo>
                <a:lnTo>
                  <a:pt x="1394" y="1258"/>
                </a:lnTo>
                <a:lnTo>
                  <a:pt x="1382" y="1250"/>
                </a:lnTo>
                <a:lnTo>
                  <a:pt x="1367" y="1246"/>
                </a:lnTo>
                <a:lnTo>
                  <a:pt x="333" y="1246"/>
                </a:lnTo>
                <a:close/>
                <a:moveTo>
                  <a:pt x="333" y="1135"/>
                </a:moveTo>
                <a:lnTo>
                  <a:pt x="1367" y="1135"/>
                </a:lnTo>
                <a:lnTo>
                  <a:pt x="1397" y="1139"/>
                </a:lnTo>
                <a:lnTo>
                  <a:pt x="1426" y="1147"/>
                </a:lnTo>
                <a:lnTo>
                  <a:pt x="1451" y="1161"/>
                </a:lnTo>
                <a:lnTo>
                  <a:pt x="1473" y="1179"/>
                </a:lnTo>
                <a:lnTo>
                  <a:pt x="1492" y="1202"/>
                </a:lnTo>
                <a:lnTo>
                  <a:pt x="1505" y="1227"/>
                </a:lnTo>
                <a:lnTo>
                  <a:pt x="1514" y="1255"/>
                </a:lnTo>
                <a:lnTo>
                  <a:pt x="1517" y="1285"/>
                </a:lnTo>
                <a:lnTo>
                  <a:pt x="1517" y="3121"/>
                </a:lnTo>
                <a:lnTo>
                  <a:pt x="1514" y="3151"/>
                </a:lnTo>
                <a:lnTo>
                  <a:pt x="1505" y="3179"/>
                </a:lnTo>
                <a:lnTo>
                  <a:pt x="1492" y="3204"/>
                </a:lnTo>
                <a:lnTo>
                  <a:pt x="1473" y="3227"/>
                </a:lnTo>
                <a:lnTo>
                  <a:pt x="1451" y="3245"/>
                </a:lnTo>
                <a:lnTo>
                  <a:pt x="1426" y="3259"/>
                </a:lnTo>
                <a:lnTo>
                  <a:pt x="1397" y="3267"/>
                </a:lnTo>
                <a:lnTo>
                  <a:pt x="1367" y="3271"/>
                </a:lnTo>
                <a:lnTo>
                  <a:pt x="333" y="3271"/>
                </a:lnTo>
                <a:lnTo>
                  <a:pt x="303" y="3267"/>
                </a:lnTo>
                <a:lnTo>
                  <a:pt x="275" y="3259"/>
                </a:lnTo>
                <a:lnTo>
                  <a:pt x="249" y="3245"/>
                </a:lnTo>
                <a:lnTo>
                  <a:pt x="227" y="3227"/>
                </a:lnTo>
                <a:lnTo>
                  <a:pt x="209" y="3204"/>
                </a:lnTo>
                <a:lnTo>
                  <a:pt x="194" y="3179"/>
                </a:lnTo>
                <a:lnTo>
                  <a:pt x="186" y="3151"/>
                </a:lnTo>
                <a:lnTo>
                  <a:pt x="183" y="3121"/>
                </a:lnTo>
                <a:lnTo>
                  <a:pt x="183" y="1285"/>
                </a:lnTo>
                <a:lnTo>
                  <a:pt x="186" y="1255"/>
                </a:lnTo>
                <a:lnTo>
                  <a:pt x="194" y="1227"/>
                </a:lnTo>
                <a:lnTo>
                  <a:pt x="209" y="1202"/>
                </a:lnTo>
                <a:lnTo>
                  <a:pt x="227" y="1179"/>
                </a:lnTo>
                <a:lnTo>
                  <a:pt x="249" y="1161"/>
                </a:lnTo>
                <a:lnTo>
                  <a:pt x="275" y="1147"/>
                </a:lnTo>
                <a:lnTo>
                  <a:pt x="303" y="1139"/>
                </a:lnTo>
                <a:lnTo>
                  <a:pt x="333" y="1135"/>
                </a:lnTo>
                <a:close/>
                <a:moveTo>
                  <a:pt x="654" y="966"/>
                </a:moveTo>
                <a:lnTo>
                  <a:pt x="1037" y="966"/>
                </a:lnTo>
                <a:lnTo>
                  <a:pt x="1055" y="969"/>
                </a:lnTo>
                <a:lnTo>
                  <a:pt x="1070" y="977"/>
                </a:lnTo>
                <a:lnTo>
                  <a:pt x="1082" y="988"/>
                </a:lnTo>
                <a:lnTo>
                  <a:pt x="1091" y="1004"/>
                </a:lnTo>
                <a:lnTo>
                  <a:pt x="1093" y="1021"/>
                </a:lnTo>
                <a:lnTo>
                  <a:pt x="1091" y="1040"/>
                </a:lnTo>
                <a:lnTo>
                  <a:pt x="1082" y="1054"/>
                </a:lnTo>
                <a:lnTo>
                  <a:pt x="1070" y="1067"/>
                </a:lnTo>
                <a:lnTo>
                  <a:pt x="1055" y="1074"/>
                </a:lnTo>
                <a:lnTo>
                  <a:pt x="1037" y="1078"/>
                </a:lnTo>
                <a:lnTo>
                  <a:pt x="654" y="1078"/>
                </a:lnTo>
                <a:lnTo>
                  <a:pt x="636" y="1074"/>
                </a:lnTo>
                <a:lnTo>
                  <a:pt x="621" y="1067"/>
                </a:lnTo>
                <a:lnTo>
                  <a:pt x="609" y="1054"/>
                </a:lnTo>
                <a:lnTo>
                  <a:pt x="602" y="1040"/>
                </a:lnTo>
                <a:lnTo>
                  <a:pt x="598" y="1021"/>
                </a:lnTo>
                <a:lnTo>
                  <a:pt x="602" y="1004"/>
                </a:lnTo>
                <a:lnTo>
                  <a:pt x="609" y="988"/>
                </a:lnTo>
                <a:lnTo>
                  <a:pt x="621" y="977"/>
                </a:lnTo>
                <a:lnTo>
                  <a:pt x="636" y="969"/>
                </a:lnTo>
                <a:lnTo>
                  <a:pt x="654" y="966"/>
                </a:lnTo>
                <a:close/>
                <a:moveTo>
                  <a:pt x="246" y="880"/>
                </a:moveTo>
                <a:lnTo>
                  <a:pt x="214" y="883"/>
                </a:lnTo>
                <a:lnTo>
                  <a:pt x="186" y="894"/>
                </a:lnTo>
                <a:lnTo>
                  <a:pt x="161" y="910"/>
                </a:lnTo>
                <a:lnTo>
                  <a:pt x="141" y="931"/>
                </a:lnTo>
                <a:lnTo>
                  <a:pt x="125" y="955"/>
                </a:lnTo>
                <a:lnTo>
                  <a:pt x="114" y="985"/>
                </a:lnTo>
                <a:lnTo>
                  <a:pt x="110" y="1015"/>
                </a:lnTo>
                <a:lnTo>
                  <a:pt x="110" y="3786"/>
                </a:lnTo>
                <a:lnTo>
                  <a:pt x="114" y="3817"/>
                </a:lnTo>
                <a:lnTo>
                  <a:pt x="125" y="3845"/>
                </a:lnTo>
                <a:lnTo>
                  <a:pt x="141" y="3871"/>
                </a:lnTo>
                <a:lnTo>
                  <a:pt x="161" y="3891"/>
                </a:lnTo>
                <a:lnTo>
                  <a:pt x="186" y="3907"/>
                </a:lnTo>
                <a:lnTo>
                  <a:pt x="214" y="3917"/>
                </a:lnTo>
                <a:lnTo>
                  <a:pt x="246" y="3921"/>
                </a:lnTo>
                <a:lnTo>
                  <a:pt x="1448" y="3921"/>
                </a:lnTo>
                <a:lnTo>
                  <a:pt x="1479" y="3917"/>
                </a:lnTo>
                <a:lnTo>
                  <a:pt x="1507" y="3907"/>
                </a:lnTo>
                <a:lnTo>
                  <a:pt x="1532" y="3891"/>
                </a:lnTo>
                <a:lnTo>
                  <a:pt x="1553" y="3871"/>
                </a:lnTo>
                <a:lnTo>
                  <a:pt x="1569" y="3845"/>
                </a:lnTo>
                <a:lnTo>
                  <a:pt x="1580" y="3817"/>
                </a:lnTo>
                <a:lnTo>
                  <a:pt x="1583" y="3786"/>
                </a:lnTo>
                <a:lnTo>
                  <a:pt x="1583" y="1015"/>
                </a:lnTo>
                <a:lnTo>
                  <a:pt x="1580" y="985"/>
                </a:lnTo>
                <a:lnTo>
                  <a:pt x="1569" y="955"/>
                </a:lnTo>
                <a:lnTo>
                  <a:pt x="1553" y="931"/>
                </a:lnTo>
                <a:lnTo>
                  <a:pt x="1532" y="910"/>
                </a:lnTo>
                <a:lnTo>
                  <a:pt x="1507" y="894"/>
                </a:lnTo>
                <a:lnTo>
                  <a:pt x="1479" y="883"/>
                </a:lnTo>
                <a:lnTo>
                  <a:pt x="1448" y="880"/>
                </a:lnTo>
                <a:lnTo>
                  <a:pt x="246" y="880"/>
                </a:lnTo>
                <a:close/>
                <a:moveTo>
                  <a:pt x="246" y="770"/>
                </a:moveTo>
                <a:lnTo>
                  <a:pt x="1448" y="770"/>
                </a:lnTo>
                <a:lnTo>
                  <a:pt x="1488" y="772"/>
                </a:lnTo>
                <a:lnTo>
                  <a:pt x="1526" y="782"/>
                </a:lnTo>
                <a:lnTo>
                  <a:pt x="1561" y="797"/>
                </a:lnTo>
                <a:lnTo>
                  <a:pt x="1593" y="816"/>
                </a:lnTo>
                <a:lnTo>
                  <a:pt x="1621" y="842"/>
                </a:lnTo>
                <a:lnTo>
                  <a:pt x="1647" y="870"/>
                </a:lnTo>
                <a:lnTo>
                  <a:pt x="1666" y="902"/>
                </a:lnTo>
                <a:lnTo>
                  <a:pt x="1681" y="937"/>
                </a:lnTo>
                <a:lnTo>
                  <a:pt x="1691" y="975"/>
                </a:lnTo>
                <a:lnTo>
                  <a:pt x="1693" y="1015"/>
                </a:lnTo>
                <a:lnTo>
                  <a:pt x="1693" y="3786"/>
                </a:lnTo>
                <a:lnTo>
                  <a:pt x="1691" y="3826"/>
                </a:lnTo>
                <a:lnTo>
                  <a:pt x="1681" y="3863"/>
                </a:lnTo>
                <a:lnTo>
                  <a:pt x="1666" y="3899"/>
                </a:lnTo>
                <a:lnTo>
                  <a:pt x="1647" y="3932"/>
                </a:lnTo>
                <a:lnTo>
                  <a:pt x="1621" y="3960"/>
                </a:lnTo>
                <a:lnTo>
                  <a:pt x="1593" y="3984"/>
                </a:lnTo>
                <a:lnTo>
                  <a:pt x="1561" y="4005"/>
                </a:lnTo>
                <a:lnTo>
                  <a:pt x="1526" y="4020"/>
                </a:lnTo>
                <a:lnTo>
                  <a:pt x="1488" y="4028"/>
                </a:lnTo>
                <a:lnTo>
                  <a:pt x="1448" y="4032"/>
                </a:lnTo>
                <a:lnTo>
                  <a:pt x="246" y="4032"/>
                </a:lnTo>
                <a:lnTo>
                  <a:pt x="205" y="4028"/>
                </a:lnTo>
                <a:lnTo>
                  <a:pt x="167" y="4020"/>
                </a:lnTo>
                <a:lnTo>
                  <a:pt x="132" y="4005"/>
                </a:lnTo>
                <a:lnTo>
                  <a:pt x="100" y="3984"/>
                </a:lnTo>
                <a:lnTo>
                  <a:pt x="72" y="3960"/>
                </a:lnTo>
                <a:lnTo>
                  <a:pt x="46" y="3932"/>
                </a:lnTo>
                <a:lnTo>
                  <a:pt x="27" y="3899"/>
                </a:lnTo>
                <a:lnTo>
                  <a:pt x="12" y="3863"/>
                </a:lnTo>
                <a:lnTo>
                  <a:pt x="2" y="3826"/>
                </a:lnTo>
                <a:lnTo>
                  <a:pt x="0" y="3786"/>
                </a:lnTo>
                <a:lnTo>
                  <a:pt x="0" y="1015"/>
                </a:lnTo>
                <a:lnTo>
                  <a:pt x="2" y="975"/>
                </a:lnTo>
                <a:lnTo>
                  <a:pt x="12" y="937"/>
                </a:lnTo>
                <a:lnTo>
                  <a:pt x="27" y="902"/>
                </a:lnTo>
                <a:lnTo>
                  <a:pt x="46" y="870"/>
                </a:lnTo>
                <a:lnTo>
                  <a:pt x="72" y="842"/>
                </a:lnTo>
                <a:lnTo>
                  <a:pt x="100" y="816"/>
                </a:lnTo>
                <a:lnTo>
                  <a:pt x="132" y="797"/>
                </a:lnTo>
                <a:lnTo>
                  <a:pt x="167" y="782"/>
                </a:lnTo>
                <a:lnTo>
                  <a:pt x="205" y="772"/>
                </a:lnTo>
                <a:lnTo>
                  <a:pt x="246" y="770"/>
                </a:lnTo>
                <a:close/>
                <a:moveTo>
                  <a:pt x="1553" y="579"/>
                </a:moveTo>
                <a:lnTo>
                  <a:pt x="1600" y="586"/>
                </a:lnTo>
                <a:lnTo>
                  <a:pt x="1647" y="601"/>
                </a:lnTo>
                <a:lnTo>
                  <a:pt x="1690" y="619"/>
                </a:lnTo>
                <a:lnTo>
                  <a:pt x="1731" y="644"/>
                </a:lnTo>
                <a:lnTo>
                  <a:pt x="1768" y="673"/>
                </a:lnTo>
                <a:lnTo>
                  <a:pt x="1801" y="706"/>
                </a:lnTo>
                <a:lnTo>
                  <a:pt x="1830" y="744"/>
                </a:lnTo>
                <a:lnTo>
                  <a:pt x="1855" y="784"/>
                </a:lnTo>
                <a:lnTo>
                  <a:pt x="1873" y="828"/>
                </a:lnTo>
                <a:lnTo>
                  <a:pt x="1888" y="875"/>
                </a:lnTo>
                <a:lnTo>
                  <a:pt x="1888" y="893"/>
                </a:lnTo>
                <a:lnTo>
                  <a:pt x="1884" y="909"/>
                </a:lnTo>
                <a:lnTo>
                  <a:pt x="1875" y="924"/>
                </a:lnTo>
                <a:lnTo>
                  <a:pt x="1862" y="935"/>
                </a:lnTo>
                <a:lnTo>
                  <a:pt x="1845" y="942"/>
                </a:lnTo>
                <a:lnTo>
                  <a:pt x="1839" y="942"/>
                </a:lnTo>
                <a:lnTo>
                  <a:pt x="1833" y="943"/>
                </a:lnTo>
                <a:lnTo>
                  <a:pt x="1814" y="940"/>
                </a:lnTo>
                <a:lnTo>
                  <a:pt x="1798" y="931"/>
                </a:lnTo>
                <a:lnTo>
                  <a:pt x="1786" y="918"/>
                </a:lnTo>
                <a:lnTo>
                  <a:pt x="1779" y="899"/>
                </a:lnTo>
                <a:lnTo>
                  <a:pt x="1765" y="859"/>
                </a:lnTo>
                <a:lnTo>
                  <a:pt x="1747" y="820"/>
                </a:lnTo>
                <a:lnTo>
                  <a:pt x="1723" y="786"/>
                </a:lnTo>
                <a:lnTo>
                  <a:pt x="1695" y="756"/>
                </a:lnTo>
                <a:lnTo>
                  <a:pt x="1660" y="731"/>
                </a:lnTo>
                <a:lnTo>
                  <a:pt x="1624" y="711"/>
                </a:lnTo>
                <a:lnTo>
                  <a:pt x="1583" y="696"/>
                </a:lnTo>
                <a:lnTo>
                  <a:pt x="1542" y="689"/>
                </a:lnTo>
                <a:lnTo>
                  <a:pt x="1525" y="684"/>
                </a:lnTo>
                <a:lnTo>
                  <a:pt x="1510" y="676"/>
                </a:lnTo>
                <a:lnTo>
                  <a:pt x="1499" y="662"/>
                </a:lnTo>
                <a:lnTo>
                  <a:pt x="1493" y="646"/>
                </a:lnTo>
                <a:lnTo>
                  <a:pt x="1492" y="628"/>
                </a:lnTo>
                <a:lnTo>
                  <a:pt x="1496" y="611"/>
                </a:lnTo>
                <a:lnTo>
                  <a:pt x="1506" y="597"/>
                </a:lnTo>
                <a:lnTo>
                  <a:pt x="1520" y="586"/>
                </a:lnTo>
                <a:lnTo>
                  <a:pt x="1536" y="580"/>
                </a:lnTo>
                <a:lnTo>
                  <a:pt x="1553" y="579"/>
                </a:lnTo>
                <a:close/>
                <a:moveTo>
                  <a:pt x="1583" y="286"/>
                </a:moveTo>
                <a:lnTo>
                  <a:pt x="1652" y="296"/>
                </a:lnTo>
                <a:lnTo>
                  <a:pt x="1718" y="313"/>
                </a:lnTo>
                <a:lnTo>
                  <a:pt x="1780" y="336"/>
                </a:lnTo>
                <a:lnTo>
                  <a:pt x="1840" y="365"/>
                </a:lnTo>
                <a:lnTo>
                  <a:pt x="1896" y="401"/>
                </a:lnTo>
                <a:lnTo>
                  <a:pt x="1948" y="440"/>
                </a:lnTo>
                <a:lnTo>
                  <a:pt x="1997" y="484"/>
                </a:lnTo>
                <a:lnTo>
                  <a:pt x="2039" y="533"/>
                </a:lnTo>
                <a:lnTo>
                  <a:pt x="2078" y="585"/>
                </a:lnTo>
                <a:lnTo>
                  <a:pt x="2111" y="641"/>
                </a:lnTo>
                <a:lnTo>
                  <a:pt x="2140" y="700"/>
                </a:lnTo>
                <a:lnTo>
                  <a:pt x="2162" y="762"/>
                </a:lnTo>
                <a:lnTo>
                  <a:pt x="2179" y="826"/>
                </a:lnTo>
                <a:lnTo>
                  <a:pt x="2188" y="893"/>
                </a:lnTo>
                <a:lnTo>
                  <a:pt x="2192" y="960"/>
                </a:lnTo>
                <a:lnTo>
                  <a:pt x="2188" y="1030"/>
                </a:lnTo>
                <a:lnTo>
                  <a:pt x="2184" y="1046"/>
                </a:lnTo>
                <a:lnTo>
                  <a:pt x="2175" y="1059"/>
                </a:lnTo>
                <a:lnTo>
                  <a:pt x="2164" y="1070"/>
                </a:lnTo>
                <a:lnTo>
                  <a:pt x="2149" y="1078"/>
                </a:lnTo>
                <a:lnTo>
                  <a:pt x="2132" y="1079"/>
                </a:lnTo>
                <a:lnTo>
                  <a:pt x="2127" y="1079"/>
                </a:lnTo>
                <a:lnTo>
                  <a:pt x="2110" y="1074"/>
                </a:lnTo>
                <a:lnTo>
                  <a:pt x="2096" y="1065"/>
                </a:lnTo>
                <a:lnTo>
                  <a:pt x="2085" y="1052"/>
                </a:lnTo>
                <a:lnTo>
                  <a:pt x="2078" y="1036"/>
                </a:lnTo>
                <a:lnTo>
                  <a:pt x="2077" y="1018"/>
                </a:lnTo>
                <a:lnTo>
                  <a:pt x="2081" y="957"/>
                </a:lnTo>
                <a:lnTo>
                  <a:pt x="2077" y="896"/>
                </a:lnTo>
                <a:lnTo>
                  <a:pt x="2067" y="837"/>
                </a:lnTo>
                <a:lnTo>
                  <a:pt x="2052" y="781"/>
                </a:lnTo>
                <a:lnTo>
                  <a:pt x="2030" y="726"/>
                </a:lnTo>
                <a:lnTo>
                  <a:pt x="2003" y="674"/>
                </a:lnTo>
                <a:lnTo>
                  <a:pt x="1971" y="626"/>
                </a:lnTo>
                <a:lnTo>
                  <a:pt x="1934" y="580"/>
                </a:lnTo>
                <a:lnTo>
                  <a:pt x="1894" y="539"/>
                </a:lnTo>
                <a:lnTo>
                  <a:pt x="1849" y="502"/>
                </a:lnTo>
                <a:lnTo>
                  <a:pt x="1800" y="470"/>
                </a:lnTo>
                <a:lnTo>
                  <a:pt x="1747" y="444"/>
                </a:lnTo>
                <a:lnTo>
                  <a:pt x="1691" y="422"/>
                </a:lnTo>
                <a:lnTo>
                  <a:pt x="1632" y="406"/>
                </a:lnTo>
                <a:lnTo>
                  <a:pt x="1571" y="396"/>
                </a:lnTo>
                <a:lnTo>
                  <a:pt x="1554" y="391"/>
                </a:lnTo>
                <a:lnTo>
                  <a:pt x="1540" y="381"/>
                </a:lnTo>
                <a:lnTo>
                  <a:pt x="1529" y="369"/>
                </a:lnTo>
                <a:lnTo>
                  <a:pt x="1523" y="353"/>
                </a:lnTo>
                <a:lnTo>
                  <a:pt x="1522" y="335"/>
                </a:lnTo>
                <a:lnTo>
                  <a:pt x="1527" y="318"/>
                </a:lnTo>
                <a:lnTo>
                  <a:pt x="1536" y="303"/>
                </a:lnTo>
                <a:lnTo>
                  <a:pt x="1549" y="293"/>
                </a:lnTo>
                <a:lnTo>
                  <a:pt x="1565" y="287"/>
                </a:lnTo>
                <a:lnTo>
                  <a:pt x="1583" y="286"/>
                </a:lnTo>
                <a:close/>
                <a:moveTo>
                  <a:pt x="1613" y="0"/>
                </a:moveTo>
                <a:lnTo>
                  <a:pt x="1695" y="12"/>
                </a:lnTo>
                <a:lnTo>
                  <a:pt x="1775" y="31"/>
                </a:lnTo>
                <a:lnTo>
                  <a:pt x="1851" y="56"/>
                </a:lnTo>
                <a:lnTo>
                  <a:pt x="1926" y="87"/>
                </a:lnTo>
                <a:lnTo>
                  <a:pt x="1995" y="125"/>
                </a:lnTo>
                <a:lnTo>
                  <a:pt x="2063" y="166"/>
                </a:lnTo>
                <a:lnTo>
                  <a:pt x="2125" y="214"/>
                </a:lnTo>
                <a:lnTo>
                  <a:pt x="2182" y="265"/>
                </a:lnTo>
                <a:lnTo>
                  <a:pt x="2237" y="323"/>
                </a:lnTo>
                <a:lnTo>
                  <a:pt x="2286" y="382"/>
                </a:lnTo>
                <a:lnTo>
                  <a:pt x="2330" y="447"/>
                </a:lnTo>
                <a:lnTo>
                  <a:pt x="2369" y="514"/>
                </a:lnTo>
                <a:lnTo>
                  <a:pt x="2402" y="585"/>
                </a:lnTo>
                <a:lnTo>
                  <a:pt x="2431" y="660"/>
                </a:lnTo>
                <a:lnTo>
                  <a:pt x="2453" y="736"/>
                </a:lnTo>
                <a:lnTo>
                  <a:pt x="2467" y="814"/>
                </a:lnTo>
                <a:lnTo>
                  <a:pt x="2476" y="894"/>
                </a:lnTo>
                <a:lnTo>
                  <a:pt x="2478" y="976"/>
                </a:lnTo>
                <a:lnTo>
                  <a:pt x="2473" y="1059"/>
                </a:lnTo>
                <a:lnTo>
                  <a:pt x="2470" y="1075"/>
                </a:lnTo>
                <a:lnTo>
                  <a:pt x="2461" y="1089"/>
                </a:lnTo>
                <a:lnTo>
                  <a:pt x="2449" y="1100"/>
                </a:lnTo>
                <a:lnTo>
                  <a:pt x="2434" y="1107"/>
                </a:lnTo>
                <a:lnTo>
                  <a:pt x="2418" y="1109"/>
                </a:lnTo>
                <a:lnTo>
                  <a:pt x="2412" y="1108"/>
                </a:lnTo>
                <a:lnTo>
                  <a:pt x="2395" y="1105"/>
                </a:lnTo>
                <a:lnTo>
                  <a:pt x="2380" y="1095"/>
                </a:lnTo>
                <a:lnTo>
                  <a:pt x="2371" y="1081"/>
                </a:lnTo>
                <a:lnTo>
                  <a:pt x="2363" y="1065"/>
                </a:lnTo>
                <a:lnTo>
                  <a:pt x="2363" y="1048"/>
                </a:lnTo>
                <a:lnTo>
                  <a:pt x="2367" y="970"/>
                </a:lnTo>
                <a:lnTo>
                  <a:pt x="2365" y="894"/>
                </a:lnTo>
                <a:lnTo>
                  <a:pt x="2356" y="819"/>
                </a:lnTo>
                <a:lnTo>
                  <a:pt x="2340" y="747"/>
                </a:lnTo>
                <a:lnTo>
                  <a:pt x="2318" y="676"/>
                </a:lnTo>
                <a:lnTo>
                  <a:pt x="2291" y="607"/>
                </a:lnTo>
                <a:lnTo>
                  <a:pt x="2258" y="542"/>
                </a:lnTo>
                <a:lnTo>
                  <a:pt x="2219" y="480"/>
                </a:lnTo>
                <a:lnTo>
                  <a:pt x="2176" y="422"/>
                </a:lnTo>
                <a:lnTo>
                  <a:pt x="2127" y="368"/>
                </a:lnTo>
                <a:lnTo>
                  <a:pt x="2075" y="316"/>
                </a:lnTo>
                <a:lnTo>
                  <a:pt x="2017" y="271"/>
                </a:lnTo>
                <a:lnTo>
                  <a:pt x="1956" y="230"/>
                </a:lnTo>
                <a:lnTo>
                  <a:pt x="1891" y="194"/>
                </a:lnTo>
                <a:lnTo>
                  <a:pt x="1824" y="165"/>
                </a:lnTo>
                <a:lnTo>
                  <a:pt x="1752" y="141"/>
                </a:lnTo>
                <a:lnTo>
                  <a:pt x="1677" y="122"/>
                </a:lnTo>
                <a:lnTo>
                  <a:pt x="1602" y="111"/>
                </a:lnTo>
                <a:lnTo>
                  <a:pt x="1584" y="106"/>
                </a:lnTo>
                <a:lnTo>
                  <a:pt x="1570" y="97"/>
                </a:lnTo>
                <a:lnTo>
                  <a:pt x="1559" y="83"/>
                </a:lnTo>
                <a:lnTo>
                  <a:pt x="1553" y="67"/>
                </a:lnTo>
                <a:lnTo>
                  <a:pt x="1551" y="50"/>
                </a:lnTo>
                <a:lnTo>
                  <a:pt x="1556" y="33"/>
                </a:lnTo>
                <a:lnTo>
                  <a:pt x="1566" y="18"/>
                </a:lnTo>
                <a:lnTo>
                  <a:pt x="1578" y="7"/>
                </a:lnTo>
                <a:lnTo>
                  <a:pt x="1594" y="1"/>
                </a:lnTo>
                <a:lnTo>
                  <a:pt x="1613"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54" name="Group 53">
            <a:extLst>
              <a:ext uri="{FF2B5EF4-FFF2-40B4-BE49-F238E27FC236}">
                <a16:creationId xmlns:a16="http://schemas.microsoft.com/office/drawing/2014/main" id="{B2B4FEC8-E56E-49E5-AA1C-CC40326EA9A2}"/>
              </a:ext>
            </a:extLst>
          </p:cNvPr>
          <p:cNvGrpSpPr/>
          <p:nvPr/>
        </p:nvGrpSpPr>
        <p:grpSpPr>
          <a:xfrm>
            <a:off x="452490" y="907167"/>
            <a:ext cx="631506" cy="442674"/>
            <a:chOff x="329939" y="907167"/>
            <a:chExt cx="631506" cy="442674"/>
          </a:xfrm>
        </p:grpSpPr>
        <p:pic>
          <p:nvPicPr>
            <p:cNvPr id="55" name="Picture 54">
              <a:extLst>
                <a:ext uri="{FF2B5EF4-FFF2-40B4-BE49-F238E27FC236}">
                  <a16:creationId xmlns:a16="http://schemas.microsoft.com/office/drawing/2014/main" id="{3F86EEBA-0C8C-4EBC-9C20-0DF50F7F3987}"/>
                </a:ext>
              </a:extLst>
            </p:cNvPr>
            <p:cNvPicPr>
              <a:picLocks noChangeAspect="1"/>
            </p:cNvPicPr>
            <p:nvPr/>
          </p:nvPicPr>
          <p:blipFill>
            <a:blip r:embed="rId4"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80385" y="948203"/>
              <a:ext cx="281060" cy="301292"/>
            </a:xfrm>
            <a:prstGeom prst="rect">
              <a:avLst/>
            </a:prstGeom>
          </p:spPr>
        </p:pic>
        <p:sp>
          <p:nvSpPr>
            <p:cNvPr id="56" name="Freeform 16">
              <a:extLst>
                <a:ext uri="{FF2B5EF4-FFF2-40B4-BE49-F238E27FC236}">
                  <a16:creationId xmlns:a16="http://schemas.microsoft.com/office/drawing/2014/main" id="{2D18DD5D-2B80-475B-BFEA-618EF8978E85}"/>
                </a:ext>
              </a:extLst>
            </p:cNvPr>
            <p:cNvSpPr>
              <a:spLocks noChangeAspect="1" noEditPoints="1"/>
            </p:cNvSpPr>
            <p:nvPr/>
          </p:nvSpPr>
          <p:spPr bwMode="auto">
            <a:xfrm>
              <a:off x="329939" y="907167"/>
              <a:ext cx="517317" cy="442674"/>
            </a:xfrm>
            <a:custGeom>
              <a:avLst/>
              <a:gdLst>
                <a:gd name="T0" fmla="*/ 1289 w 2648"/>
                <a:gd name="T1" fmla="*/ 3122 h 3456"/>
                <a:gd name="T2" fmla="*/ 1289 w 2648"/>
                <a:gd name="T3" fmla="*/ 3182 h 3456"/>
                <a:gd name="T4" fmla="*/ 1344 w 2648"/>
                <a:gd name="T5" fmla="*/ 3199 h 3456"/>
                <a:gd name="T6" fmla="*/ 1379 w 2648"/>
                <a:gd name="T7" fmla="*/ 3152 h 3456"/>
                <a:gd name="T8" fmla="*/ 1344 w 2648"/>
                <a:gd name="T9" fmla="*/ 3104 h 3456"/>
                <a:gd name="T10" fmla="*/ 1385 w 2648"/>
                <a:gd name="T11" fmla="*/ 3019 h 3456"/>
                <a:gd name="T12" fmla="*/ 1461 w 2648"/>
                <a:gd name="T13" fmla="*/ 3096 h 3456"/>
                <a:gd name="T14" fmla="*/ 1461 w 2648"/>
                <a:gd name="T15" fmla="*/ 3208 h 3456"/>
                <a:gd name="T16" fmla="*/ 1385 w 2648"/>
                <a:gd name="T17" fmla="*/ 3284 h 3456"/>
                <a:gd name="T18" fmla="*/ 1273 w 2648"/>
                <a:gd name="T19" fmla="*/ 3284 h 3456"/>
                <a:gd name="T20" fmla="*/ 1197 w 2648"/>
                <a:gd name="T21" fmla="*/ 3208 h 3456"/>
                <a:gd name="T22" fmla="*/ 1197 w 2648"/>
                <a:gd name="T23" fmla="*/ 3096 h 3456"/>
                <a:gd name="T24" fmla="*/ 1273 w 2648"/>
                <a:gd name="T25" fmla="*/ 3019 h 3456"/>
                <a:gd name="T26" fmla="*/ 322 w 2648"/>
                <a:gd name="T27" fmla="*/ 362 h 3456"/>
                <a:gd name="T28" fmla="*/ 298 w 2648"/>
                <a:gd name="T29" fmla="*/ 2806 h 3456"/>
                <a:gd name="T30" fmla="*/ 338 w 2648"/>
                <a:gd name="T31" fmla="*/ 2844 h 3456"/>
                <a:gd name="T32" fmla="*/ 2359 w 2648"/>
                <a:gd name="T33" fmla="*/ 2820 h 3456"/>
                <a:gd name="T34" fmla="*/ 2350 w 2648"/>
                <a:gd name="T35" fmla="*/ 371 h 3456"/>
                <a:gd name="T36" fmla="*/ 338 w 2648"/>
                <a:gd name="T37" fmla="*/ 266 h 3456"/>
                <a:gd name="T38" fmla="*/ 2398 w 2648"/>
                <a:gd name="T39" fmla="*/ 288 h 3456"/>
                <a:gd name="T40" fmla="*/ 2453 w 2648"/>
                <a:gd name="T41" fmla="*/ 372 h 3456"/>
                <a:gd name="T42" fmla="*/ 2446 w 2648"/>
                <a:gd name="T43" fmla="*/ 2857 h 3456"/>
                <a:gd name="T44" fmla="*/ 2375 w 2648"/>
                <a:gd name="T45" fmla="*/ 2927 h 3456"/>
                <a:gd name="T46" fmla="*/ 311 w 2648"/>
                <a:gd name="T47" fmla="*/ 2936 h 3456"/>
                <a:gd name="T48" fmla="*/ 228 w 2648"/>
                <a:gd name="T49" fmla="*/ 2879 h 3456"/>
                <a:gd name="T50" fmla="*/ 205 w 2648"/>
                <a:gd name="T51" fmla="*/ 398 h 3456"/>
                <a:gd name="T52" fmla="*/ 244 w 2648"/>
                <a:gd name="T53" fmla="*/ 305 h 3456"/>
                <a:gd name="T54" fmla="*/ 338 w 2648"/>
                <a:gd name="T55" fmla="*/ 266 h 3456"/>
                <a:gd name="T56" fmla="*/ 151 w 2648"/>
                <a:gd name="T57" fmla="*/ 116 h 3456"/>
                <a:gd name="T58" fmla="*/ 96 w 2648"/>
                <a:gd name="T59" fmla="*/ 197 h 3456"/>
                <a:gd name="T60" fmla="*/ 105 w 2648"/>
                <a:gd name="T61" fmla="*/ 3283 h 3456"/>
                <a:gd name="T62" fmla="*/ 173 w 2648"/>
                <a:gd name="T63" fmla="*/ 3352 h 3456"/>
                <a:gd name="T64" fmla="*/ 2452 w 2648"/>
                <a:gd name="T65" fmla="*/ 3360 h 3456"/>
                <a:gd name="T66" fmla="*/ 2533 w 2648"/>
                <a:gd name="T67" fmla="*/ 3305 h 3456"/>
                <a:gd name="T68" fmla="*/ 2554 w 2648"/>
                <a:gd name="T69" fmla="*/ 222 h 3456"/>
                <a:gd name="T70" fmla="*/ 2517 w 2648"/>
                <a:gd name="T71" fmla="*/ 132 h 3456"/>
                <a:gd name="T72" fmla="*/ 2426 w 2648"/>
                <a:gd name="T73" fmla="*/ 94 h 3456"/>
                <a:gd name="T74" fmla="*/ 2461 w 2648"/>
                <a:gd name="T75" fmla="*/ 3 h 3456"/>
                <a:gd name="T76" fmla="*/ 2583 w 2648"/>
                <a:gd name="T77" fmla="*/ 65 h 3456"/>
                <a:gd name="T78" fmla="*/ 2644 w 2648"/>
                <a:gd name="T79" fmla="*/ 186 h 3456"/>
                <a:gd name="T80" fmla="*/ 2636 w 2648"/>
                <a:gd name="T81" fmla="*/ 3304 h 3456"/>
                <a:gd name="T82" fmla="*/ 2557 w 2648"/>
                <a:gd name="T83" fmla="*/ 3413 h 3456"/>
                <a:gd name="T84" fmla="*/ 2426 w 2648"/>
                <a:gd name="T85" fmla="*/ 3456 h 3456"/>
                <a:gd name="T86" fmla="*/ 120 w 2648"/>
                <a:gd name="T87" fmla="*/ 3431 h 3456"/>
                <a:gd name="T88" fmla="*/ 25 w 2648"/>
                <a:gd name="T89" fmla="*/ 3336 h 3456"/>
                <a:gd name="T90" fmla="*/ 0 w 2648"/>
                <a:gd name="T91" fmla="*/ 222 h 3456"/>
                <a:gd name="T92" fmla="*/ 43 w 2648"/>
                <a:gd name="T93" fmla="*/ 91 h 3456"/>
                <a:gd name="T94" fmla="*/ 153 w 2648"/>
                <a:gd name="T95" fmla="*/ 12 h 3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48" h="3456">
                  <a:moveTo>
                    <a:pt x="1328" y="3102"/>
                  </a:moveTo>
                  <a:lnTo>
                    <a:pt x="1313" y="3104"/>
                  </a:lnTo>
                  <a:lnTo>
                    <a:pt x="1299" y="3111"/>
                  </a:lnTo>
                  <a:lnTo>
                    <a:pt x="1289" y="3122"/>
                  </a:lnTo>
                  <a:lnTo>
                    <a:pt x="1281" y="3137"/>
                  </a:lnTo>
                  <a:lnTo>
                    <a:pt x="1278" y="3152"/>
                  </a:lnTo>
                  <a:lnTo>
                    <a:pt x="1281" y="3168"/>
                  </a:lnTo>
                  <a:lnTo>
                    <a:pt x="1289" y="3182"/>
                  </a:lnTo>
                  <a:lnTo>
                    <a:pt x="1299" y="3193"/>
                  </a:lnTo>
                  <a:lnTo>
                    <a:pt x="1313" y="3199"/>
                  </a:lnTo>
                  <a:lnTo>
                    <a:pt x="1328" y="3203"/>
                  </a:lnTo>
                  <a:lnTo>
                    <a:pt x="1344" y="3199"/>
                  </a:lnTo>
                  <a:lnTo>
                    <a:pt x="1359" y="3193"/>
                  </a:lnTo>
                  <a:lnTo>
                    <a:pt x="1369" y="3182"/>
                  </a:lnTo>
                  <a:lnTo>
                    <a:pt x="1377" y="3168"/>
                  </a:lnTo>
                  <a:lnTo>
                    <a:pt x="1379" y="3152"/>
                  </a:lnTo>
                  <a:lnTo>
                    <a:pt x="1377" y="3137"/>
                  </a:lnTo>
                  <a:lnTo>
                    <a:pt x="1369" y="3122"/>
                  </a:lnTo>
                  <a:lnTo>
                    <a:pt x="1359" y="3111"/>
                  </a:lnTo>
                  <a:lnTo>
                    <a:pt x="1344" y="3104"/>
                  </a:lnTo>
                  <a:lnTo>
                    <a:pt x="1328" y="3102"/>
                  </a:lnTo>
                  <a:close/>
                  <a:moveTo>
                    <a:pt x="1328" y="3008"/>
                  </a:moveTo>
                  <a:lnTo>
                    <a:pt x="1358" y="3011"/>
                  </a:lnTo>
                  <a:lnTo>
                    <a:pt x="1385" y="3019"/>
                  </a:lnTo>
                  <a:lnTo>
                    <a:pt x="1409" y="3033"/>
                  </a:lnTo>
                  <a:lnTo>
                    <a:pt x="1431" y="3051"/>
                  </a:lnTo>
                  <a:lnTo>
                    <a:pt x="1448" y="3072"/>
                  </a:lnTo>
                  <a:lnTo>
                    <a:pt x="1461" y="3096"/>
                  </a:lnTo>
                  <a:lnTo>
                    <a:pt x="1470" y="3123"/>
                  </a:lnTo>
                  <a:lnTo>
                    <a:pt x="1473" y="3152"/>
                  </a:lnTo>
                  <a:lnTo>
                    <a:pt x="1470" y="3181"/>
                  </a:lnTo>
                  <a:lnTo>
                    <a:pt x="1461" y="3208"/>
                  </a:lnTo>
                  <a:lnTo>
                    <a:pt x="1448" y="3233"/>
                  </a:lnTo>
                  <a:lnTo>
                    <a:pt x="1431" y="3254"/>
                  </a:lnTo>
                  <a:lnTo>
                    <a:pt x="1409" y="3272"/>
                  </a:lnTo>
                  <a:lnTo>
                    <a:pt x="1385" y="3284"/>
                  </a:lnTo>
                  <a:lnTo>
                    <a:pt x="1358" y="3294"/>
                  </a:lnTo>
                  <a:lnTo>
                    <a:pt x="1328" y="3296"/>
                  </a:lnTo>
                  <a:lnTo>
                    <a:pt x="1300" y="3294"/>
                  </a:lnTo>
                  <a:lnTo>
                    <a:pt x="1273" y="3284"/>
                  </a:lnTo>
                  <a:lnTo>
                    <a:pt x="1248" y="3272"/>
                  </a:lnTo>
                  <a:lnTo>
                    <a:pt x="1227" y="3254"/>
                  </a:lnTo>
                  <a:lnTo>
                    <a:pt x="1209" y="3233"/>
                  </a:lnTo>
                  <a:lnTo>
                    <a:pt x="1197" y="3208"/>
                  </a:lnTo>
                  <a:lnTo>
                    <a:pt x="1188" y="3181"/>
                  </a:lnTo>
                  <a:lnTo>
                    <a:pt x="1185" y="3152"/>
                  </a:lnTo>
                  <a:lnTo>
                    <a:pt x="1188" y="3123"/>
                  </a:lnTo>
                  <a:lnTo>
                    <a:pt x="1197" y="3096"/>
                  </a:lnTo>
                  <a:lnTo>
                    <a:pt x="1209" y="3072"/>
                  </a:lnTo>
                  <a:lnTo>
                    <a:pt x="1227" y="3051"/>
                  </a:lnTo>
                  <a:lnTo>
                    <a:pt x="1248" y="3033"/>
                  </a:lnTo>
                  <a:lnTo>
                    <a:pt x="1273" y="3019"/>
                  </a:lnTo>
                  <a:lnTo>
                    <a:pt x="1300" y="3011"/>
                  </a:lnTo>
                  <a:lnTo>
                    <a:pt x="1328" y="3008"/>
                  </a:lnTo>
                  <a:close/>
                  <a:moveTo>
                    <a:pt x="338" y="359"/>
                  </a:moveTo>
                  <a:lnTo>
                    <a:pt x="322" y="362"/>
                  </a:lnTo>
                  <a:lnTo>
                    <a:pt x="310" y="371"/>
                  </a:lnTo>
                  <a:lnTo>
                    <a:pt x="301" y="383"/>
                  </a:lnTo>
                  <a:lnTo>
                    <a:pt x="298" y="398"/>
                  </a:lnTo>
                  <a:lnTo>
                    <a:pt x="298" y="2806"/>
                  </a:lnTo>
                  <a:lnTo>
                    <a:pt x="301" y="2820"/>
                  </a:lnTo>
                  <a:lnTo>
                    <a:pt x="310" y="2833"/>
                  </a:lnTo>
                  <a:lnTo>
                    <a:pt x="322" y="2841"/>
                  </a:lnTo>
                  <a:lnTo>
                    <a:pt x="338" y="2844"/>
                  </a:lnTo>
                  <a:lnTo>
                    <a:pt x="2323" y="2844"/>
                  </a:lnTo>
                  <a:lnTo>
                    <a:pt x="2338" y="2841"/>
                  </a:lnTo>
                  <a:lnTo>
                    <a:pt x="2350" y="2833"/>
                  </a:lnTo>
                  <a:lnTo>
                    <a:pt x="2359" y="2820"/>
                  </a:lnTo>
                  <a:lnTo>
                    <a:pt x="2362" y="2806"/>
                  </a:lnTo>
                  <a:lnTo>
                    <a:pt x="2362" y="398"/>
                  </a:lnTo>
                  <a:lnTo>
                    <a:pt x="2359" y="383"/>
                  </a:lnTo>
                  <a:lnTo>
                    <a:pt x="2350" y="371"/>
                  </a:lnTo>
                  <a:lnTo>
                    <a:pt x="2338" y="362"/>
                  </a:lnTo>
                  <a:lnTo>
                    <a:pt x="2323" y="359"/>
                  </a:lnTo>
                  <a:lnTo>
                    <a:pt x="338" y="359"/>
                  </a:lnTo>
                  <a:close/>
                  <a:moveTo>
                    <a:pt x="338" y="266"/>
                  </a:moveTo>
                  <a:lnTo>
                    <a:pt x="2323" y="266"/>
                  </a:lnTo>
                  <a:lnTo>
                    <a:pt x="2349" y="268"/>
                  </a:lnTo>
                  <a:lnTo>
                    <a:pt x="2375" y="276"/>
                  </a:lnTo>
                  <a:lnTo>
                    <a:pt x="2398" y="288"/>
                  </a:lnTo>
                  <a:lnTo>
                    <a:pt x="2416" y="305"/>
                  </a:lnTo>
                  <a:lnTo>
                    <a:pt x="2433" y="325"/>
                  </a:lnTo>
                  <a:lnTo>
                    <a:pt x="2446" y="347"/>
                  </a:lnTo>
                  <a:lnTo>
                    <a:pt x="2453" y="372"/>
                  </a:lnTo>
                  <a:lnTo>
                    <a:pt x="2456" y="398"/>
                  </a:lnTo>
                  <a:lnTo>
                    <a:pt x="2456" y="2806"/>
                  </a:lnTo>
                  <a:lnTo>
                    <a:pt x="2453" y="2832"/>
                  </a:lnTo>
                  <a:lnTo>
                    <a:pt x="2446" y="2857"/>
                  </a:lnTo>
                  <a:lnTo>
                    <a:pt x="2433" y="2879"/>
                  </a:lnTo>
                  <a:lnTo>
                    <a:pt x="2416" y="2899"/>
                  </a:lnTo>
                  <a:lnTo>
                    <a:pt x="2398" y="2916"/>
                  </a:lnTo>
                  <a:lnTo>
                    <a:pt x="2375" y="2927"/>
                  </a:lnTo>
                  <a:lnTo>
                    <a:pt x="2349" y="2936"/>
                  </a:lnTo>
                  <a:lnTo>
                    <a:pt x="2323" y="2938"/>
                  </a:lnTo>
                  <a:lnTo>
                    <a:pt x="338" y="2938"/>
                  </a:lnTo>
                  <a:lnTo>
                    <a:pt x="311" y="2936"/>
                  </a:lnTo>
                  <a:lnTo>
                    <a:pt x="286" y="2927"/>
                  </a:lnTo>
                  <a:lnTo>
                    <a:pt x="264" y="2916"/>
                  </a:lnTo>
                  <a:lnTo>
                    <a:pt x="244" y="2899"/>
                  </a:lnTo>
                  <a:lnTo>
                    <a:pt x="228" y="2879"/>
                  </a:lnTo>
                  <a:lnTo>
                    <a:pt x="215" y="2857"/>
                  </a:lnTo>
                  <a:lnTo>
                    <a:pt x="208" y="2832"/>
                  </a:lnTo>
                  <a:lnTo>
                    <a:pt x="205" y="2806"/>
                  </a:lnTo>
                  <a:lnTo>
                    <a:pt x="205" y="398"/>
                  </a:lnTo>
                  <a:lnTo>
                    <a:pt x="208" y="372"/>
                  </a:lnTo>
                  <a:lnTo>
                    <a:pt x="215" y="347"/>
                  </a:lnTo>
                  <a:lnTo>
                    <a:pt x="228" y="325"/>
                  </a:lnTo>
                  <a:lnTo>
                    <a:pt x="244" y="305"/>
                  </a:lnTo>
                  <a:lnTo>
                    <a:pt x="264" y="288"/>
                  </a:lnTo>
                  <a:lnTo>
                    <a:pt x="286" y="276"/>
                  </a:lnTo>
                  <a:lnTo>
                    <a:pt x="311" y="268"/>
                  </a:lnTo>
                  <a:lnTo>
                    <a:pt x="338" y="266"/>
                  </a:lnTo>
                  <a:close/>
                  <a:moveTo>
                    <a:pt x="223" y="94"/>
                  </a:moveTo>
                  <a:lnTo>
                    <a:pt x="197" y="96"/>
                  </a:lnTo>
                  <a:lnTo>
                    <a:pt x="173" y="104"/>
                  </a:lnTo>
                  <a:lnTo>
                    <a:pt x="151" y="116"/>
                  </a:lnTo>
                  <a:lnTo>
                    <a:pt x="132" y="132"/>
                  </a:lnTo>
                  <a:lnTo>
                    <a:pt x="116" y="151"/>
                  </a:lnTo>
                  <a:lnTo>
                    <a:pt x="105" y="173"/>
                  </a:lnTo>
                  <a:lnTo>
                    <a:pt x="96" y="197"/>
                  </a:lnTo>
                  <a:lnTo>
                    <a:pt x="94" y="222"/>
                  </a:lnTo>
                  <a:lnTo>
                    <a:pt x="94" y="3234"/>
                  </a:lnTo>
                  <a:lnTo>
                    <a:pt x="96" y="3259"/>
                  </a:lnTo>
                  <a:lnTo>
                    <a:pt x="105" y="3283"/>
                  </a:lnTo>
                  <a:lnTo>
                    <a:pt x="116" y="3305"/>
                  </a:lnTo>
                  <a:lnTo>
                    <a:pt x="132" y="3324"/>
                  </a:lnTo>
                  <a:lnTo>
                    <a:pt x="151" y="3340"/>
                  </a:lnTo>
                  <a:lnTo>
                    <a:pt x="173" y="3352"/>
                  </a:lnTo>
                  <a:lnTo>
                    <a:pt x="197" y="3360"/>
                  </a:lnTo>
                  <a:lnTo>
                    <a:pt x="223" y="3362"/>
                  </a:lnTo>
                  <a:lnTo>
                    <a:pt x="2426" y="3362"/>
                  </a:lnTo>
                  <a:lnTo>
                    <a:pt x="2452" y="3360"/>
                  </a:lnTo>
                  <a:lnTo>
                    <a:pt x="2476" y="3352"/>
                  </a:lnTo>
                  <a:lnTo>
                    <a:pt x="2498" y="3340"/>
                  </a:lnTo>
                  <a:lnTo>
                    <a:pt x="2517" y="3324"/>
                  </a:lnTo>
                  <a:lnTo>
                    <a:pt x="2533" y="3305"/>
                  </a:lnTo>
                  <a:lnTo>
                    <a:pt x="2544" y="3283"/>
                  </a:lnTo>
                  <a:lnTo>
                    <a:pt x="2551" y="3259"/>
                  </a:lnTo>
                  <a:lnTo>
                    <a:pt x="2554" y="3234"/>
                  </a:lnTo>
                  <a:lnTo>
                    <a:pt x="2554" y="222"/>
                  </a:lnTo>
                  <a:lnTo>
                    <a:pt x="2551" y="197"/>
                  </a:lnTo>
                  <a:lnTo>
                    <a:pt x="2544" y="173"/>
                  </a:lnTo>
                  <a:lnTo>
                    <a:pt x="2533" y="151"/>
                  </a:lnTo>
                  <a:lnTo>
                    <a:pt x="2517" y="132"/>
                  </a:lnTo>
                  <a:lnTo>
                    <a:pt x="2498" y="116"/>
                  </a:lnTo>
                  <a:lnTo>
                    <a:pt x="2476" y="104"/>
                  </a:lnTo>
                  <a:lnTo>
                    <a:pt x="2452" y="96"/>
                  </a:lnTo>
                  <a:lnTo>
                    <a:pt x="2426" y="94"/>
                  </a:lnTo>
                  <a:lnTo>
                    <a:pt x="223" y="94"/>
                  </a:lnTo>
                  <a:close/>
                  <a:moveTo>
                    <a:pt x="223" y="0"/>
                  </a:moveTo>
                  <a:lnTo>
                    <a:pt x="2426" y="0"/>
                  </a:lnTo>
                  <a:lnTo>
                    <a:pt x="2461" y="3"/>
                  </a:lnTo>
                  <a:lnTo>
                    <a:pt x="2496" y="12"/>
                  </a:lnTo>
                  <a:lnTo>
                    <a:pt x="2527" y="25"/>
                  </a:lnTo>
                  <a:lnTo>
                    <a:pt x="2557" y="43"/>
                  </a:lnTo>
                  <a:lnTo>
                    <a:pt x="2583" y="65"/>
                  </a:lnTo>
                  <a:lnTo>
                    <a:pt x="2605" y="91"/>
                  </a:lnTo>
                  <a:lnTo>
                    <a:pt x="2622" y="120"/>
                  </a:lnTo>
                  <a:lnTo>
                    <a:pt x="2636" y="152"/>
                  </a:lnTo>
                  <a:lnTo>
                    <a:pt x="2644" y="186"/>
                  </a:lnTo>
                  <a:lnTo>
                    <a:pt x="2648" y="222"/>
                  </a:lnTo>
                  <a:lnTo>
                    <a:pt x="2648" y="3234"/>
                  </a:lnTo>
                  <a:lnTo>
                    <a:pt x="2644" y="3270"/>
                  </a:lnTo>
                  <a:lnTo>
                    <a:pt x="2636" y="3304"/>
                  </a:lnTo>
                  <a:lnTo>
                    <a:pt x="2622" y="3336"/>
                  </a:lnTo>
                  <a:lnTo>
                    <a:pt x="2605" y="3365"/>
                  </a:lnTo>
                  <a:lnTo>
                    <a:pt x="2583" y="3391"/>
                  </a:lnTo>
                  <a:lnTo>
                    <a:pt x="2557" y="3413"/>
                  </a:lnTo>
                  <a:lnTo>
                    <a:pt x="2527" y="3431"/>
                  </a:lnTo>
                  <a:lnTo>
                    <a:pt x="2496" y="3444"/>
                  </a:lnTo>
                  <a:lnTo>
                    <a:pt x="2461" y="3453"/>
                  </a:lnTo>
                  <a:lnTo>
                    <a:pt x="2426" y="3456"/>
                  </a:lnTo>
                  <a:lnTo>
                    <a:pt x="223" y="3456"/>
                  </a:lnTo>
                  <a:lnTo>
                    <a:pt x="186" y="3453"/>
                  </a:lnTo>
                  <a:lnTo>
                    <a:pt x="153" y="3444"/>
                  </a:lnTo>
                  <a:lnTo>
                    <a:pt x="120" y="3431"/>
                  </a:lnTo>
                  <a:lnTo>
                    <a:pt x="91" y="3413"/>
                  </a:lnTo>
                  <a:lnTo>
                    <a:pt x="66" y="3391"/>
                  </a:lnTo>
                  <a:lnTo>
                    <a:pt x="43" y="3365"/>
                  </a:lnTo>
                  <a:lnTo>
                    <a:pt x="25" y="3336"/>
                  </a:lnTo>
                  <a:lnTo>
                    <a:pt x="11" y="3304"/>
                  </a:lnTo>
                  <a:lnTo>
                    <a:pt x="3" y="3270"/>
                  </a:lnTo>
                  <a:lnTo>
                    <a:pt x="0" y="3234"/>
                  </a:lnTo>
                  <a:lnTo>
                    <a:pt x="0" y="222"/>
                  </a:lnTo>
                  <a:lnTo>
                    <a:pt x="3" y="186"/>
                  </a:lnTo>
                  <a:lnTo>
                    <a:pt x="11" y="152"/>
                  </a:lnTo>
                  <a:lnTo>
                    <a:pt x="25" y="120"/>
                  </a:lnTo>
                  <a:lnTo>
                    <a:pt x="43" y="91"/>
                  </a:lnTo>
                  <a:lnTo>
                    <a:pt x="66" y="65"/>
                  </a:lnTo>
                  <a:lnTo>
                    <a:pt x="91" y="43"/>
                  </a:lnTo>
                  <a:lnTo>
                    <a:pt x="120" y="25"/>
                  </a:lnTo>
                  <a:lnTo>
                    <a:pt x="153" y="12"/>
                  </a:lnTo>
                  <a:lnTo>
                    <a:pt x="186" y="3"/>
                  </a:lnTo>
                  <a:lnTo>
                    <a:pt x="223"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7" name="Freeform 13">
            <a:extLst>
              <a:ext uri="{FF2B5EF4-FFF2-40B4-BE49-F238E27FC236}">
                <a16:creationId xmlns:a16="http://schemas.microsoft.com/office/drawing/2014/main" id="{FE5AFDEA-C315-48B1-A2BE-7B99F574D35B}"/>
              </a:ext>
            </a:extLst>
          </p:cNvPr>
          <p:cNvSpPr>
            <a:spLocks noChangeAspect="1" noEditPoints="1"/>
          </p:cNvSpPr>
          <p:nvPr/>
        </p:nvSpPr>
        <p:spPr bwMode="auto">
          <a:xfrm rot="1298261">
            <a:off x="7202018" y="949149"/>
            <a:ext cx="304635" cy="459641"/>
          </a:xfrm>
          <a:custGeom>
            <a:avLst/>
            <a:gdLst>
              <a:gd name="T0" fmla="*/ 2081 w 2475"/>
              <a:gd name="T1" fmla="*/ 3481 h 4799"/>
              <a:gd name="T2" fmla="*/ 461 w 2475"/>
              <a:gd name="T3" fmla="*/ 3538 h 4799"/>
              <a:gd name="T4" fmla="*/ 404 w 2475"/>
              <a:gd name="T5" fmla="*/ 731 h 4799"/>
              <a:gd name="T6" fmla="*/ 2024 w 2475"/>
              <a:gd name="T7" fmla="*/ 673 h 4799"/>
              <a:gd name="T8" fmla="*/ 2081 w 2475"/>
              <a:gd name="T9" fmla="*/ 3481 h 4799"/>
              <a:gd name="T10" fmla="*/ 2024 w 2475"/>
              <a:gd name="T11" fmla="*/ 541 h 4799"/>
              <a:gd name="T12" fmla="*/ 461 w 2475"/>
              <a:gd name="T13" fmla="*/ 541 h 4799"/>
              <a:gd name="T14" fmla="*/ 271 w 2475"/>
              <a:gd name="T15" fmla="*/ 3481 h 4799"/>
              <a:gd name="T16" fmla="*/ 2024 w 2475"/>
              <a:gd name="T17" fmla="*/ 3670 h 4799"/>
              <a:gd name="T18" fmla="*/ 2214 w 2475"/>
              <a:gd name="T19" fmla="*/ 731 h 4799"/>
              <a:gd name="T20" fmla="*/ 2024 w 2475"/>
              <a:gd name="T21" fmla="*/ 541 h 4799"/>
              <a:gd name="T22" fmla="*/ 2343 w 2475"/>
              <a:gd name="T23" fmla="*/ 4483 h 4799"/>
              <a:gd name="T24" fmla="*/ 315 w 2475"/>
              <a:gd name="T25" fmla="*/ 4666 h 4799"/>
              <a:gd name="T26" fmla="*/ 132 w 2475"/>
              <a:gd name="T27" fmla="*/ 314 h 4799"/>
              <a:gd name="T28" fmla="*/ 2160 w 2475"/>
              <a:gd name="T29" fmla="*/ 131 h 4799"/>
              <a:gd name="T30" fmla="*/ 2343 w 2475"/>
              <a:gd name="T31" fmla="*/ 4483 h 4799"/>
              <a:gd name="T32" fmla="*/ 2160 w 2475"/>
              <a:gd name="T33" fmla="*/ 0 h 4799"/>
              <a:gd name="T34" fmla="*/ 315 w 2475"/>
              <a:gd name="T35" fmla="*/ 0 h 4799"/>
              <a:gd name="T36" fmla="*/ 0 w 2475"/>
              <a:gd name="T37" fmla="*/ 4483 h 4799"/>
              <a:gd name="T38" fmla="*/ 2160 w 2475"/>
              <a:gd name="T39" fmla="*/ 4799 h 4799"/>
              <a:gd name="T40" fmla="*/ 2475 w 2475"/>
              <a:gd name="T41" fmla="*/ 314 h 4799"/>
              <a:gd name="T42" fmla="*/ 2160 w 2475"/>
              <a:gd name="T43" fmla="*/ 0 h 4799"/>
              <a:gd name="T44" fmla="*/ 886 w 2475"/>
              <a:gd name="T45" fmla="*/ 357 h 4799"/>
              <a:gd name="T46" fmla="*/ 1520 w 2475"/>
              <a:gd name="T47" fmla="*/ 290 h 4799"/>
              <a:gd name="T48" fmla="*/ 1520 w 2475"/>
              <a:gd name="T49" fmla="*/ 423 h 4799"/>
              <a:gd name="T50" fmla="*/ 886 w 2475"/>
              <a:gd name="T51" fmla="*/ 357 h 4799"/>
              <a:gd name="T52" fmla="*/ 1245 w 2475"/>
              <a:gd name="T53" fmla="*/ 4331 h 4799"/>
              <a:gd name="T54" fmla="*/ 1046 w 2475"/>
              <a:gd name="T55" fmla="*/ 4132 h 4799"/>
              <a:gd name="T56" fmla="*/ 1444 w 2475"/>
              <a:gd name="T57" fmla="*/ 4132 h 4799"/>
              <a:gd name="T58" fmla="*/ 1245 w 2475"/>
              <a:gd name="T59" fmla="*/ 4331 h 4799"/>
              <a:gd name="T60" fmla="*/ 1245 w 2475"/>
              <a:gd name="T61" fmla="*/ 3800 h 4799"/>
              <a:gd name="T62" fmla="*/ 1245 w 2475"/>
              <a:gd name="T63" fmla="*/ 4463 h 4799"/>
              <a:gd name="T64" fmla="*/ 1245 w 2475"/>
              <a:gd name="T65" fmla="*/ 3800 h 4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75" h="4799">
                <a:moveTo>
                  <a:pt x="2081" y="3481"/>
                </a:moveTo>
                <a:lnTo>
                  <a:pt x="2081" y="3481"/>
                </a:lnTo>
                <a:cubicBezTo>
                  <a:pt x="2081" y="3512"/>
                  <a:pt x="2055" y="3538"/>
                  <a:pt x="2024" y="3538"/>
                </a:cubicBezTo>
                <a:lnTo>
                  <a:pt x="461" y="3538"/>
                </a:lnTo>
                <a:cubicBezTo>
                  <a:pt x="429" y="3538"/>
                  <a:pt x="404" y="3512"/>
                  <a:pt x="404" y="3481"/>
                </a:cubicBezTo>
                <a:lnTo>
                  <a:pt x="404" y="731"/>
                </a:lnTo>
                <a:cubicBezTo>
                  <a:pt x="404" y="699"/>
                  <a:pt x="429" y="673"/>
                  <a:pt x="461" y="673"/>
                </a:cubicBezTo>
                <a:lnTo>
                  <a:pt x="2024" y="673"/>
                </a:lnTo>
                <a:cubicBezTo>
                  <a:pt x="2055" y="673"/>
                  <a:pt x="2081" y="699"/>
                  <a:pt x="2081" y="731"/>
                </a:cubicBezTo>
                <a:lnTo>
                  <a:pt x="2081" y="3481"/>
                </a:lnTo>
                <a:lnTo>
                  <a:pt x="2081" y="3481"/>
                </a:lnTo>
                <a:close/>
                <a:moveTo>
                  <a:pt x="2024" y="541"/>
                </a:moveTo>
                <a:lnTo>
                  <a:pt x="2024" y="541"/>
                </a:lnTo>
                <a:lnTo>
                  <a:pt x="461" y="541"/>
                </a:lnTo>
                <a:cubicBezTo>
                  <a:pt x="356" y="541"/>
                  <a:pt x="271" y="626"/>
                  <a:pt x="271" y="731"/>
                </a:cubicBezTo>
                <a:lnTo>
                  <a:pt x="271" y="3481"/>
                </a:lnTo>
                <a:cubicBezTo>
                  <a:pt x="271" y="3585"/>
                  <a:pt x="356" y="3670"/>
                  <a:pt x="461" y="3670"/>
                </a:cubicBezTo>
                <a:lnTo>
                  <a:pt x="2024" y="3670"/>
                </a:lnTo>
                <a:cubicBezTo>
                  <a:pt x="2128" y="3670"/>
                  <a:pt x="2214" y="3585"/>
                  <a:pt x="2214" y="3481"/>
                </a:cubicBezTo>
                <a:lnTo>
                  <a:pt x="2214" y="731"/>
                </a:lnTo>
                <a:cubicBezTo>
                  <a:pt x="2214" y="626"/>
                  <a:pt x="2128" y="541"/>
                  <a:pt x="2024" y="541"/>
                </a:cubicBezTo>
                <a:lnTo>
                  <a:pt x="2024" y="541"/>
                </a:lnTo>
                <a:close/>
                <a:moveTo>
                  <a:pt x="2343" y="4483"/>
                </a:moveTo>
                <a:lnTo>
                  <a:pt x="2343" y="4483"/>
                </a:lnTo>
                <a:cubicBezTo>
                  <a:pt x="2343" y="4584"/>
                  <a:pt x="2261" y="4666"/>
                  <a:pt x="2160" y="4666"/>
                </a:cubicBezTo>
                <a:lnTo>
                  <a:pt x="315" y="4666"/>
                </a:lnTo>
                <a:cubicBezTo>
                  <a:pt x="214" y="4666"/>
                  <a:pt x="132" y="4584"/>
                  <a:pt x="132" y="4483"/>
                </a:cubicBezTo>
                <a:lnTo>
                  <a:pt x="132" y="314"/>
                </a:lnTo>
                <a:cubicBezTo>
                  <a:pt x="132" y="213"/>
                  <a:pt x="214" y="131"/>
                  <a:pt x="315" y="131"/>
                </a:cubicBezTo>
                <a:lnTo>
                  <a:pt x="2160" y="131"/>
                </a:lnTo>
                <a:cubicBezTo>
                  <a:pt x="2261" y="131"/>
                  <a:pt x="2343" y="213"/>
                  <a:pt x="2343" y="314"/>
                </a:cubicBezTo>
                <a:lnTo>
                  <a:pt x="2343" y="4483"/>
                </a:lnTo>
                <a:lnTo>
                  <a:pt x="2343" y="4483"/>
                </a:lnTo>
                <a:close/>
                <a:moveTo>
                  <a:pt x="2160" y="0"/>
                </a:moveTo>
                <a:lnTo>
                  <a:pt x="2160" y="0"/>
                </a:lnTo>
                <a:lnTo>
                  <a:pt x="315" y="0"/>
                </a:lnTo>
                <a:cubicBezTo>
                  <a:pt x="141" y="0"/>
                  <a:pt x="0" y="140"/>
                  <a:pt x="0" y="314"/>
                </a:cubicBezTo>
                <a:lnTo>
                  <a:pt x="0" y="4483"/>
                </a:lnTo>
                <a:cubicBezTo>
                  <a:pt x="0" y="4657"/>
                  <a:pt x="141" y="4799"/>
                  <a:pt x="315" y="4799"/>
                </a:cubicBezTo>
                <a:lnTo>
                  <a:pt x="2160" y="4799"/>
                </a:lnTo>
                <a:cubicBezTo>
                  <a:pt x="2334" y="4799"/>
                  <a:pt x="2475" y="4657"/>
                  <a:pt x="2475" y="4483"/>
                </a:cubicBezTo>
                <a:lnTo>
                  <a:pt x="2475" y="314"/>
                </a:lnTo>
                <a:cubicBezTo>
                  <a:pt x="2475" y="140"/>
                  <a:pt x="2334" y="0"/>
                  <a:pt x="2160" y="0"/>
                </a:cubicBezTo>
                <a:lnTo>
                  <a:pt x="2160" y="0"/>
                </a:lnTo>
                <a:close/>
                <a:moveTo>
                  <a:pt x="886" y="357"/>
                </a:moveTo>
                <a:lnTo>
                  <a:pt x="886" y="357"/>
                </a:lnTo>
                <a:cubicBezTo>
                  <a:pt x="886" y="320"/>
                  <a:pt x="915" y="290"/>
                  <a:pt x="952" y="290"/>
                </a:cubicBezTo>
                <a:lnTo>
                  <a:pt x="1520" y="290"/>
                </a:lnTo>
                <a:cubicBezTo>
                  <a:pt x="1556" y="290"/>
                  <a:pt x="1586" y="320"/>
                  <a:pt x="1586" y="357"/>
                </a:cubicBezTo>
                <a:cubicBezTo>
                  <a:pt x="1586" y="393"/>
                  <a:pt x="1556" y="423"/>
                  <a:pt x="1520" y="423"/>
                </a:cubicBezTo>
                <a:lnTo>
                  <a:pt x="952" y="423"/>
                </a:lnTo>
                <a:cubicBezTo>
                  <a:pt x="915" y="423"/>
                  <a:pt x="886" y="393"/>
                  <a:pt x="886" y="357"/>
                </a:cubicBezTo>
                <a:lnTo>
                  <a:pt x="886" y="357"/>
                </a:lnTo>
                <a:close/>
                <a:moveTo>
                  <a:pt x="1245" y="4331"/>
                </a:moveTo>
                <a:lnTo>
                  <a:pt x="1245" y="4331"/>
                </a:lnTo>
                <a:cubicBezTo>
                  <a:pt x="1135" y="4331"/>
                  <a:pt x="1046" y="4241"/>
                  <a:pt x="1046" y="4132"/>
                </a:cubicBezTo>
                <a:cubicBezTo>
                  <a:pt x="1046" y="4022"/>
                  <a:pt x="1135" y="3932"/>
                  <a:pt x="1245" y="3932"/>
                </a:cubicBezTo>
                <a:cubicBezTo>
                  <a:pt x="1355" y="3932"/>
                  <a:pt x="1444" y="4022"/>
                  <a:pt x="1444" y="4132"/>
                </a:cubicBezTo>
                <a:cubicBezTo>
                  <a:pt x="1444" y="4241"/>
                  <a:pt x="1355" y="4331"/>
                  <a:pt x="1245" y="4331"/>
                </a:cubicBezTo>
                <a:lnTo>
                  <a:pt x="1245" y="4331"/>
                </a:lnTo>
                <a:close/>
                <a:moveTo>
                  <a:pt x="1245" y="3800"/>
                </a:moveTo>
                <a:lnTo>
                  <a:pt x="1245" y="3800"/>
                </a:lnTo>
                <a:cubicBezTo>
                  <a:pt x="1062" y="3800"/>
                  <a:pt x="913" y="3949"/>
                  <a:pt x="913" y="4132"/>
                </a:cubicBezTo>
                <a:cubicBezTo>
                  <a:pt x="913" y="4314"/>
                  <a:pt x="1062" y="4463"/>
                  <a:pt x="1245" y="4463"/>
                </a:cubicBezTo>
                <a:cubicBezTo>
                  <a:pt x="1428" y="4463"/>
                  <a:pt x="1577" y="4314"/>
                  <a:pt x="1577" y="4132"/>
                </a:cubicBezTo>
                <a:cubicBezTo>
                  <a:pt x="1577" y="3949"/>
                  <a:pt x="1428" y="3800"/>
                  <a:pt x="1245" y="3800"/>
                </a:cubicBezTo>
                <a:close/>
              </a:path>
            </a:pathLst>
          </a:custGeom>
          <a:solidFill>
            <a:schemeClr val="accent3">
              <a:lumMod val="75000"/>
              <a:lumOff val="25000"/>
            </a:schemeClr>
          </a:solidFill>
          <a:ln w="0">
            <a:solidFill>
              <a:schemeClr val="accent1">
                <a:lumMod val="7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21">
            <a:extLst>
              <a:ext uri="{FF2B5EF4-FFF2-40B4-BE49-F238E27FC236}">
                <a16:creationId xmlns:a16="http://schemas.microsoft.com/office/drawing/2014/main" id="{8DA80225-542B-4241-BAED-3872D17E54C7}"/>
              </a:ext>
            </a:extLst>
          </p:cNvPr>
          <p:cNvSpPr>
            <a:spLocks noChangeAspect="1" noEditPoints="1"/>
          </p:cNvSpPr>
          <p:nvPr/>
        </p:nvSpPr>
        <p:spPr bwMode="auto">
          <a:xfrm>
            <a:off x="7826379" y="565331"/>
            <a:ext cx="827426" cy="656925"/>
          </a:xfrm>
          <a:custGeom>
            <a:avLst/>
            <a:gdLst>
              <a:gd name="T0" fmla="*/ 3037 w 3964"/>
              <a:gd name="T1" fmla="*/ 3635 h 4032"/>
              <a:gd name="T2" fmla="*/ 3133 w 3964"/>
              <a:gd name="T3" fmla="*/ 3755 h 4032"/>
              <a:gd name="T4" fmla="*/ 1162 w 3964"/>
              <a:gd name="T5" fmla="*/ 3596 h 4032"/>
              <a:gd name="T6" fmla="*/ 3097 w 3964"/>
              <a:gd name="T7" fmla="*/ 3281 h 4032"/>
              <a:gd name="T8" fmla="*/ 1969 w 3964"/>
              <a:gd name="T9" fmla="*/ 3281 h 4032"/>
              <a:gd name="T10" fmla="*/ 838 w 3964"/>
              <a:gd name="T11" fmla="*/ 3278 h 4032"/>
              <a:gd name="T12" fmla="*/ 3753 w 3964"/>
              <a:gd name="T13" fmla="*/ 3350 h 4032"/>
              <a:gd name="T14" fmla="*/ 3360 w 3964"/>
              <a:gd name="T15" fmla="*/ 3090 h 4032"/>
              <a:gd name="T16" fmla="*/ 3212 w 3964"/>
              <a:gd name="T17" fmla="*/ 3278 h 4032"/>
              <a:gd name="T18" fmla="*/ 2783 w 3964"/>
              <a:gd name="T19" fmla="*/ 3278 h 4032"/>
              <a:gd name="T20" fmla="*/ 2635 w 3964"/>
              <a:gd name="T21" fmla="*/ 3090 h 4032"/>
              <a:gd name="T22" fmla="*/ 2243 w 3964"/>
              <a:gd name="T23" fmla="*/ 3350 h 4032"/>
              <a:gd name="T24" fmla="*/ 2016 w 3964"/>
              <a:gd name="T25" fmla="*/ 3037 h 4032"/>
              <a:gd name="T26" fmla="*/ 1740 w 3964"/>
              <a:gd name="T27" fmla="*/ 3389 h 4032"/>
              <a:gd name="T28" fmla="*/ 1201 w 3964"/>
              <a:gd name="T29" fmla="*/ 3026 h 4032"/>
              <a:gd name="T30" fmla="*/ 1427 w 3964"/>
              <a:gd name="T31" fmla="*/ 3389 h 4032"/>
              <a:gd name="T32" fmla="*/ 1151 w 3964"/>
              <a:gd name="T33" fmla="*/ 3037 h 4032"/>
              <a:gd name="T34" fmla="*/ 924 w 3964"/>
              <a:gd name="T35" fmla="*/ 3350 h 4032"/>
              <a:gd name="T36" fmla="*/ 532 w 3964"/>
              <a:gd name="T37" fmla="*/ 3090 h 4032"/>
              <a:gd name="T38" fmla="*/ 3097 w 3964"/>
              <a:gd name="T39" fmla="*/ 2854 h 4032"/>
              <a:gd name="T40" fmla="*/ 1969 w 3964"/>
              <a:gd name="T41" fmla="*/ 2853 h 4032"/>
              <a:gd name="T42" fmla="*/ 838 w 3964"/>
              <a:gd name="T43" fmla="*/ 2852 h 4032"/>
              <a:gd name="T44" fmla="*/ 3753 w 3964"/>
              <a:gd name="T45" fmla="*/ 2923 h 4032"/>
              <a:gd name="T46" fmla="*/ 3360 w 3964"/>
              <a:gd name="T47" fmla="*/ 2662 h 4032"/>
              <a:gd name="T48" fmla="*/ 3212 w 3964"/>
              <a:gd name="T49" fmla="*/ 2852 h 4032"/>
              <a:gd name="T50" fmla="*/ 2783 w 3964"/>
              <a:gd name="T51" fmla="*/ 2852 h 4032"/>
              <a:gd name="T52" fmla="*/ 2635 w 3964"/>
              <a:gd name="T53" fmla="*/ 2662 h 4032"/>
              <a:gd name="T54" fmla="*/ 2243 w 3964"/>
              <a:gd name="T55" fmla="*/ 2923 h 4032"/>
              <a:gd name="T56" fmla="*/ 2016 w 3964"/>
              <a:gd name="T57" fmla="*/ 2611 h 4032"/>
              <a:gd name="T58" fmla="*/ 1740 w 3964"/>
              <a:gd name="T59" fmla="*/ 2963 h 4032"/>
              <a:gd name="T60" fmla="*/ 1201 w 3964"/>
              <a:gd name="T61" fmla="*/ 2599 h 4032"/>
              <a:gd name="T62" fmla="*/ 1427 w 3964"/>
              <a:gd name="T63" fmla="*/ 2963 h 4032"/>
              <a:gd name="T64" fmla="*/ 1151 w 3964"/>
              <a:gd name="T65" fmla="*/ 2611 h 4032"/>
              <a:gd name="T66" fmla="*/ 924 w 3964"/>
              <a:gd name="T67" fmla="*/ 2923 h 4032"/>
              <a:gd name="T68" fmla="*/ 532 w 3964"/>
              <a:gd name="T69" fmla="*/ 2662 h 4032"/>
              <a:gd name="T70" fmla="*/ 2565 w 3964"/>
              <a:gd name="T71" fmla="*/ 270 h 4032"/>
              <a:gd name="T72" fmla="*/ 3128 w 3964"/>
              <a:gd name="T73" fmla="*/ 1017 h 4032"/>
              <a:gd name="T74" fmla="*/ 2960 w 3964"/>
              <a:gd name="T75" fmla="*/ 1671 h 4032"/>
              <a:gd name="T76" fmla="*/ 1747 w 3964"/>
              <a:gd name="T77" fmla="*/ 1984 h 4032"/>
              <a:gd name="T78" fmla="*/ 1784 w 3964"/>
              <a:gd name="T79" fmla="*/ 2429 h 4032"/>
              <a:gd name="T80" fmla="*/ 441 w 3964"/>
              <a:gd name="T81" fmla="*/ 3848 h 4032"/>
              <a:gd name="T82" fmla="*/ 3849 w 3964"/>
              <a:gd name="T83" fmla="*/ 2566 h 4032"/>
              <a:gd name="T84" fmla="*/ 2246 w 3964"/>
              <a:gd name="T85" fmla="*/ 2364 h 4032"/>
              <a:gd name="T86" fmla="*/ 3962 w 3964"/>
              <a:gd name="T87" fmla="*/ 3829 h 4032"/>
              <a:gd name="T88" fmla="*/ 388 w 3964"/>
              <a:gd name="T89" fmla="*/ 3961 h 4032"/>
              <a:gd name="T90" fmla="*/ 520 w 3964"/>
              <a:gd name="T91" fmla="*/ 2357 h 4032"/>
              <a:gd name="T92" fmla="*/ 1728 w 3964"/>
              <a:gd name="T93" fmla="*/ 2186 h 4032"/>
              <a:gd name="T94" fmla="*/ 1878 w 3964"/>
              <a:gd name="T95" fmla="*/ 1619 h 4032"/>
              <a:gd name="T96" fmla="*/ 3099 w 3964"/>
              <a:gd name="T97" fmla="*/ 1273 h 4032"/>
              <a:gd name="T98" fmla="*/ 2760 w 3964"/>
              <a:gd name="T99" fmla="*/ 942 h 4032"/>
              <a:gd name="T100" fmla="*/ 2501 w 3964"/>
              <a:gd name="T101" fmla="*/ 363 h 4032"/>
              <a:gd name="T102" fmla="*/ 1544 w 3964"/>
              <a:gd name="T103" fmla="*/ 216 h 4032"/>
              <a:gd name="T104" fmla="*/ 1088 w 3964"/>
              <a:gd name="T105" fmla="*/ 638 h 4032"/>
              <a:gd name="T106" fmla="*/ 488 w 3964"/>
              <a:gd name="T107" fmla="*/ 1013 h 4032"/>
              <a:gd name="T108" fmla="*/ 182 w 3964"/>
              <a:gd name="T109" fmla="*/ 1190 h 4032"/>
              <a:gd name="T110" fmla="*/ 355 w 3964"/>
              <a:gd name="T111" fmla="*/ 1604 h 4032"/>
              <a:gd name="T112" fmla="*/ 205 w 3964"/>
              <a:gd name="T113" fmla="*/ 1684 h 4032"/>
              <a:gd name="T114" fmla="*/ 148 w 3964"/>
              <a:gd name="T115" fmla="*/ 1074 h 4032"/>
              <a:gd name="T116" fmla="*/ 757 w 3964"/>
              <a:gd name="T117" fmla="*/ 539 h 4032"/>
              <a:gd name="T118" fmla="*/ 1573 w 3964"/>
              <a:gd name="T119" fmla="*/ 76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64" h="4032">
                <a:moveTo>
                  <a:pt x="1285" y="3631"/>
                </a:moveTo>
                <a:lnTo>
                  <a:pt x="1272" y="3635"/>
                </a:lnTo>
                <a:lnTo>
                  <a:pt x="1263" y="3643"/>
                </a:lnTo>
                <a:lnTo>
                  <a:pt x="1259" y="3657"/>
                </a:lnTo>
                <a:lnTo>
                  <a:pt x="1259" y="3668"/>
                </a:lnTo>
                <a:lnTo>
                  <a:pt x="1263" y="3681"/>
                </a:lnTo>
                <a:lnTo>
                  <a:pt x="1272" y="3691"/>
                </a:lnTo>
                <a:lnTo>
                  <a:pt x="1285" y="3695"/>
                </a:lnTo>
                <a:lnTo>
                  <a:pt x="3025" y="3695"/>
                </a:lnTo>
                <a:lnTo>
                  <a:pt x="3037" y="3691"/>
                </a:lnTo>
                <a:lnTo>
                  <a:pt x="3047" y="3681"/>
                </a:lnTo>
                <a:lnTo>
                  <a:pt x="3051" y="3668"/>
                </a:lnTo>
                <a:lnTo>
                  <a:pt x="3051" y="3657"/>
                </a:lnTo>
                <a:lnTo>
                  <a:pt x="3047" y="3643"/>
                </a:lnTo>
                <a:lnTo>
                  <a:pt x="3037" y="3635"/>
                </a:lnTo>
                <a:lnTo>
                  <a:pt x="3025" y="3631"/>
                </a:lnTo>
                <a:lnTo>
                  <a:pt x="1285" y="3631"/>
                </a:lnTo>
                <a:close/>
                <a:moveTo>
                  <a:pt x="1285" y="3519"/>
                </a:moveTo>
                <a:lnTo>
                  <a:pt x="3025" y="3519"/>
                </a:lnTo>
                <a:lnTo>
                  <a:pt x="3057" y="3523"/>
                </a:lnTo>
                <a:lnTo>
                  <a:pt x="3085" y="3533"/>
                </a:lnTo>
                <a:lnTo>
                  <a:pt x="3111" y="3549"/>
                </a:lnTo>
                <a:lnTo>
                  <a:pt x="3133" y="3571"/>
                </a:lnTo>
                <a:lnTo>
                  <a:pt x="3149" y="3596"/>
                </a:lnTo>
                <a:lnTo>
                  <a:pt x="3159" y="3625"/>
                </a:lnTo>
                <a:lnTo>
                  <a:pt x="3162" y="3657"/>
                </a:lnTo>
                <a:lnTo>
                  <a:pt x="3162" y="3668"/>
                </a:lnTo>
                <a:lnTo>
                  <a:pt x="3159" y="3700"/>
                </a:lnTo>
                <a:lnTo>
                  <a:pt x="3149" y="3729"/>
                </a:lnTo>
                <a:lnTo>
                  <a:pt x="3133" y="3755"/>
                </a:lnTo>
                <a:lnTo>
                  <a:pt x="3111" y="3775"/>
                </a:lnTo>
                <a:lnTo>
                  <a:pt x="3085" y="3791"/>
                </a:lnTo>
                <a:lnTo>
                  <a:pt x="3057" y="3802"/>
                </a:lnTo>
                <a:lnTo>
                  <a:pt x="3025" y="3806"/>
                </a:lnTo>
                <a:lnTo>
                  <a:pt x="1285" y="3806"/>
                </a:lnTo>
                <a:lnTo>
                  <a:pt x="1253" y="3802"/>
                </a:lnTo>
                <a:lnTo>
                  <a:pt x="1225" y="3791"/>
                </a:lnTo>
                <a:lnTo>
                  <a:pt x="1200" y="3775"/>
                </a:lnTo>
                <a:lnTo>
                  <a:pt x="1178" y="3755"/>
                </a:lnTo>
                <a:lnTo>
                  <a:pt x="1162" y="3729"/>
                </a:lnTo>
                <a:lnTo>
                  <a:pt x="1151" y="3700"/>
                </a:lnTo>
                <a:lnTo>
                  <a:pt x="1148" y="3668"/>
                </a:lnTo>
                <a:lnTo>
                  <a:pt x="1148" y="3657"/>
                </a:lnTo>
                <a:lnTo>
                  <a:pt x="1151" y="3625"/>
                </a:lnTo>
                <a:lnTo>
                  <a:pt x="1162" y="3596"/>
                </a:lnTo>
                <a:lnTo>
                  <a:pt x="1178" y="3571"/>
                </a:lnTo>
                <a:lnTo>
                  <a:pt x="1200" y="3549"/>
                </a:lnTo>
                <a:lnTo>
                  <a:pt x="1225" y="3533"/>
                </a:lnTo>
                <a:lnTo>
                  <a:pt x="1253" y="3523"/>
                </a:lnTo>
                <a:lnTo>
                  <a:pt x="1285" y="3519"/>
                </a:lnTo>
                <a:close/>
                <a:moveTo>
                  <a:pt x="3463" y="3138"/>
                </a:moveTo>
                <a:lnTo>
                  <a:pt x="3461" y="3278"/>
                </a:lnTo>
                <a:lnTo>
                  <a:pt x="3664" y="3281"/>
                </a:lnTo>
                <a:lnTo>
                  <a:pt x="3665" y="3281"/>
                </a:lnTo>
                <a:lnTo>
                  <a:pt x="3666" y="3278"/>
                </a:lnTo>
                <a:lnTo>
                  <a:pt x="3666" y="3140"/>
                </a:lnTo>
                <a:lnTo>
                  <a:pt x="3463" y="3138"/>
                </a:lnTo>
                <a:close/>
                <a:moveTo>
                  <a:pt x="2897" y="3138"/>
                </a:moveTo>
                <a:lnTo>
                  <a:pt x="2894" y="3278"/>
                </a:lnTo>
                <a:lnTo>
                  <a:pt x="3097" y="3281"/>
                </a:lnTo>
                <a:lnTo>
                  <a:pt x="3100" y="3281"/>
                </a:lnTo>
                <a:lnTo>
                  <a:pt x="3100" y="3278"/>
                </a:lnTo>
                <a:lnTo>
                  <a:pt x="3100" y="3140"/>
                </a:lnTo>
                <a:lnTo>
                  <a:pt x="2897" y="3138"/>
                </a:lnTo>
                <a:close/>
                <a:moveTo>
                  <a:pt x="2332" y="3138"/>
                </a:moveTo>
                <a:lnTo>
                  <a:pt x="2329" y="3278"/>
                </a:lnTo>
                <a:lnTo>
                  <a:pt x="2532" y="3281"/>
                </a:lnTo>
                <a:lnTo>
                  <a:pt x="2534" y="3281"/>
                </a:lnTo>
                <a:lnTo>
                  <a:pt x="2535" y="3278"/>
                </a:lnTo>
                <a:lnTo>
                  <a:pt x="2535" y="3140"/>
                </a:lnTo>
                <a:lnTo>
                  <a:pt x="2332" y="3138"/>
                </a:lnTo>
                <a:close/>
                <a:moveTo>
                  <a:pt x="1766" y="3138"/>
                </a:moveTo>
                <a:lnTo>
                  <a:pt x="1763" y="3278"/>
                </a:lnTo>
                <a:lnTo>
                  <a:pt x="1966" y="3281"/>
                </a:lnTo>
                <a:lnTo>
                  <a:pt x="1969" y="3281"/>
                </a:lnTo>
                <a:lnTo>
                  <a:pt x="1969" y="3278"/>
                </a:lnTo>
                <a:lnTo>
                  <a:pt x="1969" y="3140"/>
                </a:lnTo>
                <a:lnTo>
                  <a:pt x="1766" y="3138"/>
                </a:lnTo>
                <a:close/>
                <a:moveTo>
                  <a:pt x="1201" y="3138"/>
                </a:moveTo>
                <a:lnTo>
                  <a:pt x="1198" y="3278"/>
                </a:lnTo>
                <a:lnTo>
                  <a:pt x="1401" y="3281"/>
                </a:lnTo>
                <a:lnTo>
                  <a:pt x="1403" y="3281"/>
                </a:lnTo>
                <a:lnTo>
                  <a:pt x="1404" y="3278"/>
                </a:lnTo>
                <a:lnTo>
                  <a:pt x="1404" y="3140"/>
                </a:lnTo>
                <a:lnTo>
                  <a:pt x="1201" y="3138"/>
                </a:lnTo>
                <a:close/>
                <a:moveTo>
                  <a:pt x="635" y="3138"/>
                </a:moveTo>
                <a:lnTo>
                  <a:pt x="632" y="3278"/>
                </a:lnTo>
                <a:lnTo>
                  <a:pt x="835" y="3281"/>
                </a:lnTo>
                <a:lnTo>
                  <a:pt x="838" y="3281"/>
                </a:lnTo>
                <a:lnTo>
                  <a:pt x="838" y="3278"/>
                </a:lnTo>
                <a:lnTo>
                  <a:pt x="838" y="3140"/>
                </a:lnTo>
                <a:lnTo>
                  <a:pt x="635" y="3138"/>
                </a:lnTo>
                <a:close/>
                <a:moveTo>
                  <a:pt x="3463" y="3026"/>
                </a:moveTo>
                <a:lnTo>
                  <a:pt x="3664" y="3026"/>
                </a:lnTo>
                <a:lnTo>
                  <a:pt x="3689" y="3029"/>
                </a:lnTo>
                <a:lnTo>
                  <a:pt x="3714" y="3037"/>
                </a:lnTo>
                <a:lnTo>
                  <a:pt x="3734" y="3051"/>
                </a:lnTo>
                <a:lnTo>
                  <a:pt x="3753" y="3069"/>
                </a:lnTo>
                <a:lnTo>
                  <a:pt x="3766" y="3090"/>
                </a:lnTo>
                <a:lnTo>
                  <a:pt x="3775" y="3114"/>
                </a:lnTo>
                <a:lnTo>
                  <a:pt x="3777" y="3140"/>
                </a:lnTo>
                <a:lnTo>
                  <a:pt x="3777" y="3278"/>
                </a:lnTo>
                <a:lnTo>
                  <a:pt x="3775" y="3305"/>
                </a:lnTo>
                <a:lnTo>
                  <a:pt x="3766" y="3328"/>
                </a:lnTo>
                <a:lnTo>
                  <a:pt x="3753" y="3350"/>
                </a:lnTo>
                <a:lnTo>
                  <a:pt x="3734" y="3367"/>
                </a:lnTo>
                <a:lnTo>
                  <a:pt x="3714" y="3381"/>
                </a:lnTo>
                <a:lnTo>
                  <a:pt x="3689" y="3389"/>
                </a:lnTo>
                <a:lnTo>
                  <a:pt x="3664" y="3393"/>
                </a:lnTo>
                <a:lnTo>
                  <a:pt x="3463" y="3393"/>
                </a:lnTo>
                <a:lnTo>
                  <a:pt x="3436" y="3389"/>
                </a:lnTo>
                <a:lnTo>
                  <a:pt x="3413" y="3381"/>
                </a:lnTo>
                <a:lnTo>
                  <a:pt x="3392" y="3367"/>
                </a:lnTo>
                <a:lnTo>
                  <a:pt x="3374" y="3350"/>
                </a:lnTo>
                <a:lnTo>
                  <a:pt x="3360" y="3328"/>
                </a:lnTo>
                <a:lnTo>
                  <a:pt x="3352" y="3305"/>
                </a:lnTo>
                <a:lnTo>
                  <a:pt x="3349" y="3278"/>
                </a:lnTo>
                <a:lnTo>
                  <a:pt x="3349" y="3140"/>
                </a:lnTo>
                <a:lnTo>
                  <a:pt x="3352" y="3114"/>
                </a:lnTo>
                <a:lnTo>
                  <a:pt x="3360" y="3090"/>
                </a:lnTo>
                <a:lnTo>
                  <a:pt x="3374" y="3069"/>
                </a:lnTo>
                <a:lnTo>
                  <a:pt x="3392" y="3051"/>
                </a:lnTo>
                <a:lnTo>
                  <a:pt x="3413" y="3037"/>
                </a:lnTo>
                <a:lnTo>
                  <a:pt x="3436" y="3029"/>
                </a:lnTo>
                <a:lnTo>
                  <a:pt x="3463" y="3026"/>
                </a:lnTo>
                <a:close/>
                <a:moveTo>
                  <a:pt x="2897" y="3026"/>
                </a:moveTo>
                <a:lnTo>
                  <a:pt x="3097" y="3026"/>
                </a:lnTo>
                <a:lnTo>
                  <a:pt x="3124" y="3029"/>
                </a:lnTo>
                <a:lnTo>
                  <a:pt x="3147" y="3037"/>
                </a:lnTo>
                <a:lnTo>
                  <a:pt x="3170" y="3051"/>
                </a:lnTo>
                <a:lnTo>
                  <a:pt x="3187" y="3069"/>
                </a:lnTo>
                <a:lnTo>
                  <a:pt x="3200" y="3090"/>
                </a:lnTo>
                <a:lnTo>
                  <a:pt x="3209" y="3114"/>
                </a:lnTo>
                <a:lnTo>
                  <a:pt x="3212" y="3140"/>
                </a:lnTo>
                <a:lnTo>
                  <a:pt x="3212" y="3278"/>
                </a:lnTo>
                <a:lnTo>
                  <a:pt x="3209" y="3305"/>
                </a:lnTo>
                <a:lnTo>
                  <a:pt x="3200" y="3328"/>
                </a:lnTo>
                <a:lnTo>
                  <a:pt x="3187" y="3350"/>
                </a:lnTo>
                <a:lnTo>
                  <a:pt x="3170" y="3367"/>
                </a:lnTo>
                <a:lnTo>
                  <a:pt x="3147" y="3381"/>
                </a:lnTo>
                <a:lnTo>
                  <a:pt x="3124" y="3389"/>
                </a:lnTo>
                <a:lnTo>
                  <a:pt x="3097" y="3393"/>
                </a:lnTo>
                <a:lnTo>
                  <a:pt x="2897" y="3393"/>
                </a:lnTo>
                <a:lnTo>
                  <a:pt x="2871" y="3389"/>
                </a:lnTo>
                <a:lnTo>
                  <a:pt x="2847" y="3381"/>
                </a:lnTo>
                <a:lnTo>
                  <a:pt x="2826" y="3367"/>
                </a:lnTo>
                <a:lnTo>
                  <a:pt x="2809" y="3350"/>
                </a:lnTo>
                <a:lnTo>
                  <a:pt x="2795" y="3328"/>
                </a:lnTo>
                <a:lnTo>
                  <a:pt x="2786" y="3305"/>
                </a:lnTo>
                <a:lnTo>
                  <a:pt x="2783" y="3278"/>
                </a:lnTo>
                <a:lnTo>
                  <a:pt x="2783" y="3140"/>
                </a:lnTo>
                <a:lnTo>
                  <a:pt x="2786" y="3114"/>
                </a:lnTo>
                <a:lnTo>
                  <a:pt x="2795" y="3090"/>
                </a:lnTo>
                <a:lnTo>
                  <a:pt x="2809" y="3069"/>
                </a:lnTo>
                <a:lnTo>
                  <a:pt x="2826" y="3051"/>
                </a:lnTo>
                <a:lnTo>
                  <a:pt x="2847" y="3037"/>
                </a:lnTo>
                <a:lnTo>
                  <a:pt x="2871" y="3029"/>
                </a:lnTo>
                <a:lnTo>
                  <a:pt x="2897" y="3026"/>
                </a:lnTo>
                <a:close/>
                <a:moveTo>
                  <a:pt x="2332" y="3026"/>
                </a:moveTo>
                <a:lnTo>
                  <a:pt x="2532" y="3026"/>
                </a:lnTo>
                <a:lnTo>
                  <a:pt x="2558" y="3029"/>
                </a:lnTo>
                <a:lnTo>
                  <a:pt x="2583" y="3037"/>
                </a:lnTo>
                <a:lnTo>
                  <a:pt x="2603" y="3051"/>
                </a:lnTo>
                <a:lnTo>
                  <a:pt x="2622" y="3069"/>
                </a:lnTo>
                <a:lnTo>
                  <a:pt x="2635" y="3090"/>
                </a:lnTo>
                <a:lnTo>
                  <a:pt x="2644" y="3114"/>
                </a:lnTo>
                <a:lnTo>
                  <a:pt x="2646" y="3140"/>
                </a:lnTo>
                <a:lnTo>
                  <a:pt x="2646" y="3278"/>
                </a:lnTo>
                <a:lnTo>
                  <a:pt x="2644" y="3305"/>
                </a:lnTo>
                <a:lnTo>
                  <a:pt x="2635" y="3328"/>
                </a:lnTo>
                <a:lnTo>
                  <a:pt x="2622" y="3350"/>
                </a:lnTo>
                <a:lnTo>
                  <a:pt x="2603" y="3367"/>
                </a:lnTo>
                <a:lnTo>
                  <a:pt x="2583" y="3381"/>
                </a:lnTo>
                <a:lnTo>
                  <a:pt x="2558" y="3389"/>
                </a:lnTo>
                <a:lnTo>
                  <a:pt x="2532" y="3393"/>
                </a:lnTo>
                <a:lnTo>
                  <a:pt x="2332" y="3393"/>
                </a:lnTo>
                <a:lnTo>
                  <a:pt x="2305" y="3389"/>
                </a:lnTo>
                <a:lnTo>
                  <a:pt x="2282" y="3381"/>
                </a:lnTo>
                <a:lnTo>
                  <a:pt x="2260" y="3367"/>
                </a:lnTo>
                <a:lnTo>
                  <a:pt x="2243" y="3350"/>
                </a:lnTo>
                <a:lnTo>
                  <a:pt x="2229" y="3328"/>
                </a:lnTo>
                <a:lnTo>
                  <a:pt x="2221" y="3305"/>
                </a:lnTo>
                <a:lnTo>
                  <a:pt x="2217" y="3278"/>
                </a:lnTo>
                <a:lnTo>
                  <a:pt x="2217" y="3140"/>
                </a:lnTo>
                <a:lnTo>
                  <a:pt x="2221" y="3114"/>
                </a:lnTo>
                <a:lnTo>
                  <a:pt x="2229" y="3090"/>
                </a:lnTo>
                <a:lnTo>
                  <a:pt x="2243" y="3069"/>
                </a:lnTo>
                <a:lnTo>
                  <a:pt x="2260" y="3051"/>
                </a:lnTo>
                <a:lnTo>
                  <a:pt x="2282" y="3037"/>
                </a:lnTo>
                <a:lnTo>
                  <a:pt x="2305" y="3029"/>
                </a:lnTo>
                <a:lnTo>
                  <a:pt x="2332" y="3026"/>
                </a:lnTo>
                <a:close/>
                <a:moveTo>
                  <a:pt x="1766" y="3026"/>
                </a:moveTo>
                <a:lnTo>
                  <a:pt x="1966" y="3026"/>
                </a:lnTo>
                <a:lnTo>
                  <a:pt x="1993" y="3029"/>
                </a:lnTo>
                <a:lnTo>
                  <a:pt x="2016" y="3037"/>
                </a:lnTo>
                <a:lnTo>
                  <a:pt x="2038" y="3051"/>
                </a:lnTo>
                <a:lnTo>
                  <a:pt x="2056" y="3069"/>
                </a:lnTo>
                <a:lnTo>
                  <a:pt x="2069" y="3090"/>
                </a:lnTo>
                <a:lnTo>
                  <a:pt x="2078" y="3114"/>
                </a:lnTo>
                <a:lnTo>
                  <a:pt x="2081" y="3140"/>
                </a:lnTo>
                <a:lnTo>
                  <a:pt x="2081" y="3278"/>
                </a:lnTo>
                <a:lnTo>
                  <a:pt x="2078" y="3305"/>
                </a:lnTo>
                <a:lnTo>
                  <a:pt x="2069" y="3328"/>
                </a:lnTo>
                <a:lnTo>
                  <a:pt x="2056" y="3350"/>
                </a:lnTo>
                <a:lnTo>
                  <a:pt x="2038" y="3367"/>
                </a:lnTo>
                <a:lnTo>
                  <a:pt x="2016" y="3381"/>
                </a:lnTo>
                <a:lnTo>
                  <a:pt x="1993" y="3389"/>
                </a:lnTo>
                <a:lnTo>
                  <a:pt x="1966" y="3393"/>
                </a:lnTo>
                <a:lnTo>
                  <a:pt x="1766" y="3393"/>
                </a:lnTo>
                <a:lnTo>
                  <a:pt x="1740" y="3389"/>
                </a:lnTo>
                <a:lnTo>
                  <a:pt x="1716" y="3381"/>
                </a:lnTo>
                <a:lnTo>
                  <a:pt x="1695" y="3367"/>
                </a:lnTo>
                <a:lnTo>
                  <a:pt x="1676" y="3350"/>
                </a:lnTo>
                <a:lnTo>
                  <a:pt x="1663" y="3328"/>
                </a:lnTo>
                <a:lnTo>
                  <a:pt x="1654" y="3305"/>
                </a:lnTo>
                <a:lnTo>
                  <a:pt x="1652" y="3278"/>
                </a:lnTo>
                <a:lnTo>
                  <a:pt x="1652" y="3140"/>
                </a:lnTo>
                <a:lnTo>
                  <a:pt x="1654" y="3114"/>
                </a:lnTo>
                <a:lnTo>
                  <a:pt x="1663" y="3090"/>
                </a:lnTo>
                <a:lnTo>
                  <a:pt x="1676" y="3069"/>
                </a:lnTo>
                <a:lnTo>
                  <a:pt x="1695" y="3051"/>
                </a:lnTo>
                <a:lnTo>
                  <a:pt x="1716" y="3037"/>
                </a:lnTo>
                <a:lnTo>
                  <a:pt x="1740" y="3029"/>
                </a:lnTo>
                <a:lnTo>
                  <a:pt x="1766" y="3026"/>
                </a:lnTo>
                <a:close/>
                <a:moveTo>
                  <a:pt x="1201" y="3026"/>
                </a:moveTo>
                <a:lnTo>
                  <a:pt x="1401" y="3026"/>
                </a:lnTo>
                <a:lnTo>
                  <a:pt x="1427" y="3029"/>
                </a:lnTo>
                <a:lnTo>
                  <a:pt x="1451" y="3037"/>
                </a:lnTo>
                <a:lnTo>
                  <a:pt x="1472" y="3051"/>
                </a:lnTo>
                <a:lnTo>
                  <a:pt x="1491" y="3069"/>
                </a:lnTo>
                <a:lnTo>
                  <a:pt x="1504" y="3090"/>
                </a:lnTo>
                <a:lnTo>
                  <a:pt x="1513" y="3114"/>
                </a:lnTo>
                <a:lnTo>
                  <a:pt x="1515" y="3140"/>
                </a:lnTo>
                <a:lnTo>
                  <a:pt x="1515" y="3278"/>
                </a:lnTo>
                <a:lnTo>
                  <a:pt x="1513" y="3305"/>
                </a:lnTo>
                <a:lnTo>
                  <a:pt x="1504" y="3328"/>
                </a:lnTo>
                <a:lnTo>
                  <a:pt x="1491" y="3350"/>
                </a:lnTo>
                <a:lnTo>
                  <a:pt x="1472" y="3367"/>
                </a:lnTo>
                <a:lnTo>
                  <a:pt x="1451" y="3381"/>
                </a:lnTo>
                <a:lnTo>
                  <a:pt x="1427" y="3389"/>
                </a:lnTo>
                <a:lnTo>
                  <a:pt x="1401" y="3393"/>
                </a:lnTo>
                <a:lnTo>
                  <a:pt x="1201" y="3393"/>
                </a:lnTo>
                <a:lnTo>
                  <a:pt x="1174" y="3389"/>
                </a:lnTo>
                <a:lnTo>
                  <a:pt x="1151" y="3381"/>
                </a:lnTo>
                <a:lnTo>
                  <a:pt x="1129" y="3367"/>
                </a:lnTo>
                <a:lnTo>
                  <a:pt x="1112" y="3350"/>
                </a:lnTo>
                <a:lnTo>
                  <a:pt x="1098" y="3328"/>
                </a:lnTo>
                <a:lnTo>
                  <a:pt x="1090" y="3305"/>
                </a:lnTo>
                <a:lnTo>
                  <a:pt x="1086" y="3278"/>
                </a:lnTo>
                <a:lnTo>
                  <a:pt x="1086" y="3140"/>
                </a:lnTo>
                <a:lnTo>
                  <a:pt x="1090" y="3114"/>
                </a:lnTo>
                <a:lnTo>
                  <a:pt x="1098" y="3090"/>
                </a:lnTo>
                <a:lnTo>
                  <a:pt x="1112" y="3069"/>
                </a:lnTo>
                <a:lnTo>
                  <a:pt x="1129" y="3051"/>
                </a:lnTo>
                <a:lnTo>
                  <a:pt x="1151" y="3037"/>
                </a:lnTo>
                <a:lnTo>
                  <a:pt x="1174" y="3029"/>
                </a:lnTo>
                <a:lnTo>
                  <a:pt x="1201" y="3026"/>
                </a:lnTo>
                <a:close/>
                <a:moveTo>
                  <a:pt x="635" y="3026"/>
                </a:moveTo>
                <a:lnTo>
                  <a:pt x="835" y="3026"/>
                </a:lnTo>
                <a:lnTo>
                  <a:pt x="862" y="3029"/>
                </a:lnTo>
                <a:lnTo>
                  <a:pt x="885" y="3037"/>
                </a:lnTo>
                <a:lnTo>
                  <a:pt x="907" y="3051"/>
                </a:lnTo>
                <a:lnTo>
                  <a:pt x="924" y="3069"/>
                </a:lnTo>
                <a:lnTo>
                  <a:pt x="938" y="3090"/>
                </a:lnTo>
                <a:lnTo>
                  <a:pt x="946" y="3114"/>
                </a:lnTo>
                <a:lnTo>
                  <a:pt x="950" y="3140"/>
                </a:lnTo>
                <a:lnTo>
                  <a:pt x="950" y="3278"/>
                </a:lnTo>
                <a:lnTo>
                  <a:pt x="946" y="3305"/>
                </a:lnTo>
                <a:lnTo>
                  <a:pt x="938" y="3328"/>
                </a:lnTo>
                <a:lnTo>
                  <a:pt x="924" y="3350"/>
                </a:lnTo>
                <a:lnTo>
                  <a:pt x="907" y="3367"/>
                </a:lnTo>
                <a:lnTo>
                  <a:pt x="885" y="3381"/>
                </a:lnTo>
                <a:lnTo>
                  <a:pt x="862" y="3389"/>
                </a:lnTo>
                <a:lnTo>
                  <a:pt x="835" y="3393"/>
                </a:lnTo>
                <a:lnTo>
                  <a:pt x="635" y="3393"/>
                </a:lnTo>
                <a:lnTo>
                  <a:pt x="609" y="3389"/>
                </a:lnTo>
                <a:lnTo>
                  <a:pt x="585" y="3381"/>
                </a:lnTo>
                <a:lnTo>
                  <a:pt x="564" y="3367"/>
                </a:lnTo>
                <a:lnTo>
                  <a:pt x="545" y="3350"/>
                </a:lnTo>
                <a:lnTo>
                  <a:pt x="532" y="3328"/>
                </a:lnTo>
                <a:lnTo>
                  <a:pt x="523" y="3305"/>
                </a:lnTo>
                <a:lnTo>
                  <a:pt x="521" y="3278"/>
                </a:lnTo>
                <a:lnTo>
                  <a:pt x="521" y="3140"/>
                </a:lnTo>
                <a:lnTo>
                  <a:pt x="523" y="3114"/>
                </a:lnTo>
                <a:lnTo>
                  <a:pt x="532" y="3090"/>
                </a:lnTo>
                <a:lnTo>
                  <a:pt x="545" y="3069"/>
                </a:lnTo>
                <a:lnTo>
                  <a:pt x="564" y="3051"/>
                </a:lnTo>
                <a:lnTo>
                  <a:pt x="585" y="3037"/>
                </a:lnTo>
                <a:lnTo>
                  <a:pt x="609" y="3029"/>
                </a:lnTo>
                <a:lnTo>
                  <a:pt x="635" y="3026"/>
                </a:lnTo>
                <a:close/>
                <a:moveTo>
                  <a:pt x="3463" y="2710"/>
                </a:moveTo>
                <a:lnTo>
                  <a:pt x="3461" y="2852"/>
                </a:lnTo>
                <a:lnTo>
                  <a:pt x="3664" y="2854"/>
                </a:lnTo>
                <a:lnTo>
                  <a:pt x="3665" y="2853"/>
                </a:lnTo>
                <a:lnTo>
                  <a:pt x="3666" y="2852"/>
                </a:lnTo>
                <a:lnTo>
                  <a:pt x="3666" y="2712"/>
                </a:lnTo>
                <a:lnTo>
                  <a:pt x="3463" y="2710"/>
                </a:lnTo>
                <a:close/>
                <a:moveTo>
                  <a:pt x="2897" y="2710"/>
                </a:moveTo>
                <a:lnTo>
                  <a:pt x="2894" y="2852"/>
                </a:lnTo>
                <a:lnTo>
                  <a:pt x="3097" y="2854"/>
                </a:lnTo>
                <a:lnTo>
                  <a:pt x="3100" y="2853"/>
                </a:lnTo>
                <a:lnTo>
                  <a:pt x="3100" y="2852"/>
                </a:lnTo>
                <a:lnTo>
                  <a:pt x="3100" y="2712"/>
                </a:lnTo>
                <a:lnTo>
                  <a:pt x="2897" y="2710"/>
                </a:lnTo>
                <a:close/>
                <a:moveTo>
                  <a:pt x="2332" y="2710"/>
                </a:moveTo>
                <a:lnTo>
                  <a:pt x="2329" y="2852"/>
                </a:lnTo>
                <a:lnTo>
                  <a:pt x="2532" y="2854"/>
                </a:lnTo>
                <a:lnTo>
                  <a:pt x="2534" y="2853"/>
                </a:lnTo>
                <a:lnTo>
                  <a:pt x="2535" y="2852"/>
                </a:lnTo>
                <a:lnTo>
                  <a:pt x="2535" y="2712"/>
                </a:lnTo>
                <a:lnTo>
                  <a:pt x="2332" y="2710"/>
                </a:lnTo>
                <a:close/>
                <a:moveTo>
                  <a:pt x="1766" y="2710"/>
                </a:moveTo>
                <a:lnTo>
                  <a:pt x="1763" y="2852"/>
                </a:lnTo>
                <a:lnTo>
                  <a:pt x="1966" y="2854"/>
                </a:lnTo>
                <a:lnTo>
                  <a:pt x="1969" y="2853"/>
                </a:lnTo>
                <a:lnTo>
                  <a:pt x="1969" y="2852"/>
                </a:lnTo>
                <a:lnTo>
                  <a:pt x="1969" y="2712"/>
                </a:lnTo>
                <a:lnTo>
                  <a:pt x="1766" y="2710"/>
                </a:lnTo>
                <a:close/>
                <a:moveTo>
                  <a:pt x="1201" y="2710"/>
                </a:moveTo>
                <a:lnTo>
                  <a:pt x="1198" y="2852"/>
                </a:lnTo>
                <a:lnTo>
                  <a:pt x="1401" y="2854"/>
                </a:lnTo>
                <a:lnTo>
                  <a:pt x="1403" y="2853"/>
                </a:lnTo>
                <a:lnTo>
                  <a:pt x="1404" y="2852"/>
                </a:lnTo>
                <a:lnTo>
                  <a:pt x="1404" y="2712"/>
                </a:lnTo>
                <a:lnTo>
                  <a:pt x="1201" y="2710"/>
                </a:lnTo>
                <a:close/>
                <a:moveTo>
                  <a:pt x="635" y="2710"/>
                </a:moveTo>
                <a:lnTo>
                  <a:pt x="632" y="2852"/>
                </a:lnTo>
                <a:lnTo>
                  <a:pt x="835" y="2854"/>
                </a:lnTo>
                <a:lnTo>
                  <a:pt x="838" y="2853"/>
                </a:lnTo>
                <a:lnTo>
                  <a:pt x="838" y="2852"/>
                </a:lnTo>
                <a:lnTo>
                  <a:pt x="838" y="2712"/>
                </a:lnTo>
                <a:lnTo>
                  <a:pt x="635" y="2710"/>
                </a:lnTo>
                <a:close/>
                <a:moveTo>
                  <a:pt x="3463" y="2599"/>
                </a:moveTo>
                <a:lnTo>
                  <a:pt x="3664" y="2599"/>
                </a:lnTo>
                <a:lnTo>
                  <a:pt x="3689" y="2602"/>
                </a:lnTo>
                <a:lnTo>
                  <a:pt x="3714" y="2611"/>
                </a:lnTo>
                <a:lnTo>
                  <a:pt x="3734" y="2624"/>
                </a:lnTo>
                <a:lnTo>
                  <a:pt x="3753" y="2642"/>
                </a:lnTo>
                <a:lnTo>
                  <a:pt x="3766" y="2662"/>
                </a:lnTo>
                <a:lnTo>
                  <a:pt x="3775" y="2687"/>
                </a:lnTo>
                <a:lnTo>
                  <a:pt x="3777" y="2712"/>
                </a:lnTo>
                <a:lnTo>
                  <a:pt x="3777" y="2852"/>
                </a:lnTo>
                <a:lnTo>
                  <a:pt x="3775" y="2877"/>
                </a:lnTo>
                <a:lnTo>
                  <a:pt x="3766" y="2902"/>
                </a:lnTo>
                <a:lnTo>
                  <a:pt x="3753" y="2923"/>
                </a:lnTo>
                <a:lnTo>
                  <a:pt x="3734" y="2941"/>
                </a:lnTo>
                <a:lnTo>
                  <a:pt x="3714" y="2954"/>
                </a:lnTo>
                <a:lnTo>
                  <a:pt x="3689" y="2963"/>
                </a:lnTo>
                <a:lnTo>
                  <a:pt x="3664" y="2965"/>
                </a:lnTo>
                <a:lnTo>
                  <a:pt x="3463" y="2965"/>
                </a:lnTo>
                <a:lnTo>
                  <a:pt x="3436" y="2963"/>
                </a:lnTo>
                <a:lnTo>
                  <a:pt x="3413" y="2954"/>
                </a:lnTo>
                <a:lnTo>
                  <a:pt x="3392" y="2941"/>
                </a:lnTo>
                <a:lnTo>
                  <a:pt x="3374" y="2923"/>
                </a:lnTo>
                <a:lnTo>
                  <a:pt x="3360" y="2902"/>
                </a:lnTo>
                <a:lnTo>
                  <a:pt x="3352" y="2877"/>
                </a:lnTo>
                <a:lnTo>
                  <a:pt x="3349" y="2852"/>
                </a:lnTo>
                <a:lnTo>
                  <a:pt x="3349" y="2712"/>
                </a:lnTo>
                <a:lnTo>
                  <a:pt x="3352" y="2687"/>
                </a:lnTo>
                <a:lnTo>
                  <a:pt x="3360" y="2662"/>
                </a:lnTo>
                <a:lnTo>
                  <a:pt x="3374" y="2642"/>
                </a:lnTo>
                <a:lnTo>
                  <a:pt x="3392" y="2624"/>
                </a:lnTo>
                <a:lnTo>
                  <a:pt x="3413" y="2611"/>
                </a:lnTo>
                <a:lnTo>
                  <a:pt x="3436" y="2602"/>
                </a:lnTo>
                <a:lnTo>
                  <a:pt x="3463" y="2599"/>
                </a:lnTo>
                <a:close/>
                <a:moveTo>
                  <a:pt x="2897" y="2599"/>
                </a:moveTo>
                <a:lnTo>
                  <a:pt x="3097" y="2599"/>
                </a:lnTo>
                <a:lnTo>
                  <a:pt x="3124" y="2602"/>
                </a:lnTo>
                <a:lnTo>
                  <a:pt x="3147" y="2611"/>
                </a:lnTo>
                <a:lnTo>
                  <a:pt x="3170" y="2624"/>
                </a:lnTo>
                <a:lnTo>
                  <a:pt x="3187" y="2642"/>
                </a:lnTo>
                <a:lnTo>
                  <a:pt x="3200" y="2662"/>
                </a:lnTo>
                <a:lnTo>
                  <a:pt x="3209" y="2687"/>
                </a:lnTo>
                <a:lnTo>
                  <a:pt x="3212" y="2712"/>
                </a:lnTo>
                <a:lnTo>
                  <a:pt x="3212" y="2852"/>
                </a:lnTo>
                <a:lnTo>
                  <a:pt x="3209" y="2877"/>
                </a:lnTo>
                <a:lnTo>
                  <a:pt x="3200" y="2902"/>
                </a:lnTo>
                <a:lnTo>
                  <a:pt x="3187" y="2923"/>
                </a:lnTo>
                <a:lnTo>
                  <a:pt x="3170" y="2941"/>
                </a:lnTo>
                <a:lnTo>
                  <a:pt x="3147" y="2954"/>
                </a:lnTo>
                <a:lnTo>
                  <a:pt x="3124" y="2963"/>
                </a:lnTo>
                <a:lnTo>
                  <a:pt x="3097" y="2965"/>
                </a:lnTo>
                <a:lnTo>
                  <a:pt x="2897" y="2965"/>
                </a:lnTo>
                <a:lnTo>
                  <a:pt x="2871" y="2963"/>
                </a:lnTo>
                <a:lnTo>
                  <a:pt x="2847" y="2954"/>
                </a:lnTo>
                <a:lnTo>
                  <a:pt x="2826" y="2941"/>
                </a:lnTo>
                <a:lnTo>
                  <a:pt x="2809" y="2923"/>
                </a:lnTo>
                <a:lnTo>
                  <a:pt x="2795" y="2902"/>
                </a:lnTo>
                <a:lnTo>
                  <a:pt x="2786" y="2877"/>
                </a:lnTo>
                <a:lnTo>
                  <a:pt x="2783" y="2852"/>
                </a:lnTo>
                <a:lnTo>
                  <a:pt x="2783" y="2712"/>
                </a:lnTo>
                <a:lnTo>
                  <a:pt x="2786" y="2687"/>
                </a:lnTo>
                <a:lnTo>
                  <a:pt x="2795" y="2662"/>
                </a:lnTo>
                <a:lnTo>
                  <a:pt x="2809" y="2642"/>
                </a:lnTo>
                <a:lnTo>
                  <a:pt x="2826" y="2624"/>
                </a:lnTo>
                <a:lnTo>
                  <a:pt x="2847" y="2611"/>
                </a:lnTo>
                <a:lnTo>
                  <a:pt x="2871" y="2602"/>
                </a:lnTo>
                <a:lnTo>
                  <a:pt x="2897" y="2599"/>
                </a:lnTo>
                <a:close/>
                <a:moveTo>
                  <a:pt x="2332" y="2599"/>
                </a:moveTo>
                <a:lnTo>
                  <a:pt x="2532" y="2599"/>
                </a:lnTo>
                <a:lnTo>
                  <a:pt x="2558" y="2602"/>
                </a:lnTo>
                <a:lnTo>
                  <a:pt x="2583" y="2611"/>
                </a:lnTo>
                <a:lnTo>
                  <a:pt x="2603" y="2624"/>
                </a:lnTo>
                <a:lnTo>
                  <a:pt x="2622" y="2642"/>
                </a:lnTo>
                <a:lnTo>
                  <a:pt x="2635" y="2662"/>
                </a:lnTo>
                <a:lnTo>
                  <a:pt x="2644" y="2687"/>
                </a:lnTo>
                <a:lnTo>
                  <a:pt x="2646" y="2712"/>
                </a:lnTo>
                <a:lnTo>
                  <a:pt x="2646" y="2852"/>
                </a:lnTo>
                <a:lnTo>
                  <a:pt x="2644" y="2877"/>
                </a:lnTo>
                <a:lnTo>
                  <a:pt x="2635" y="2902"/>
                </a:lnTo>
                <a:lnTo>
                  <a:pt x="2622" y="2923"/>
                </a:lnTo>
                <a:lnTo>
                  <a:pt x="2603" y="2941"/>
                </a:lnTo>
                <a:lnTo>
                  <a:pt x="2583" y="2954"/>
                </a:lnTo>
                <a:lnTo>
                  <a:pt x="2558" y="2963"/>
                </a:lnTo>
                <a:lnTo>
                  <a:pt x="2532" y="2965"/>
                </a:lnTo>
                <a:lnTo>
                  <a:pt x="2332" y="2965"/>
                </a:lnTo>
                <a:lnTo>
                  <a:pt x="2305" y="2963"/>
                </a:lnTo>
                <a:lnTo>
                  <a:pt x="2282" y="2954"/>
                </a:lnTo>
                <a:lnTo>
                  <a:pt x="2260" y="2941"/>
                </a:lnTo>
                <a:lnTo>
                  <a:pt x="2243" y="2923"/>
                </a:lnTo>
                <a:lnTo>
                  <a:pt x="2229" y="2902"/>
                </a:lnTo>
                <a:lnTo>
                  <a:pt x="2221" y="2877"/>
                </a:lnTo>
                <a:lnTo>
                  <a:pt x="2217" y="2852"/>
                </a:lnTo>
                <a:lnTo>
                  <a:pt x="2217" y="2712"/>
                </a:lnTo>
                <a:lnTo>
                  <a:pt x="2221" y="2687"/>
                </a:lnTo>
                <a:lnTo>
                  <a:pt x="2229" y="2662"/>
                </a:lnTo>
                <a:lnTo>
                  <a:pt x="2243" y="2642"/>
                </a:lnTo>
                <a:lnTo>
                  <a:pt x="2260" y="2624"/>
                </a:lnTo>
                <a:lnTo>
                  <a:pt x="2282" y="2611"/>
                </a:lnTo>
                <a:lnTo>
                  <a:pt x="2305" y="2602"/>
                </a:lnTo>
                <a:lnTo>
                  <a:pt x="2332" y="2599"/>
                </a:lnTo>
                <a:close/>
                <a:moveTo>
                  <a:pt x="1766" y="2599"/>
                </a:moveTo>
                <a:lnTo>
                  <a:pt x="1966" y="2599"/>
                </a:lnTo>
                <a:lnTo>
                  <a:pt x="1993" y="2602"/>
                </a:lnTo>
                <a:lnTo>
                  <a:pt x="2016" y="2611"/>
                </a:lnTo>
                <a:lnTo>
                  <a:pt x="2038" y="2624"/>
                </a:lnTo>
                <a:lnTo>
                  <a:pt x="2056" y="2642"/>
                </a:lnTo>
                <a:lnTo>
                  <a:pt x="2069" y="2662"/>
                </a:lnTo>
                <a:lnTo>
                  <a:pt x="2078" y="2687"/>
                </a:lnTo>
                <a:lnTo>
                  <a:pt x="2081" y="2712"/>
                </a:lnTo>
                <a:lnTo>
                  <a:pt x="2081" y="2852"/>
                </a:lnTo>
                <a:lnTo>
                  <a:pt x="2078" y="2877"/>
                </a:lnTo>
                <a:lnTo>
                  <a:pt x="2069" y="2902"/>
                </a:lnTo>
                <a:lnTo>
                  <a:pt x="2056" y="2923"/>
                </a:lnTo>
                <a:lnTo>
                  <a:pt x="2038" y="2941"/>
                </a:lnTo>
                <a:lnTo>
                  <a:pt x="2016" y="2954"/>
                </a:lnTo>
                <a:lnTo>
                  <a:pt x="1993" y="2963"/>
                </a:lnTo>
                <a:lnTo>
                  <a:pt x="1966" y="2965"/>
                </a:lnTo>
                <a:lnTo>
                  <a:pt x="1766" y="2965"/>
                </a:lnTo>
                <a:lnTo>
                  <a:pt x="1740" y="2963"/>
                </a:lnTo>
                <a:lnTo>
                  <a:pt x="1716" y="2954"/>
                </a:lnTo>
                <a:lnTo>
                  <a:pt x="1695" y="2941"/>
                </a:lnTo>
                <a:lnTo>
                  <a:pt x="1676" y="2923"/>
                </a:lnTo>
                <a:lnTo>
                  <a:pt x="1663" y="2902"/>
                </a:lnTo>
                <a:lnTo>
                  <a:pt x="1654" y="2877"/>
                </a:lnTo>
                <a:lnTo>
                  <a:pt x="1652" y="2852"/>
                </a:lnTo>
                <a:lnTo>
                  <a:pt x="1652" y="2712"/>
                </a:lnTo>
                <a:lnTo>
                  <a:pt x="1654" y="2687"/>
                </a:lnTo>
                <a:lnTo>
                  <a:pt x="1663" y="2662"/>
                </a:lnTo>
                <a:lnTo>
                  <a:pt x="1676" y="2642"/>
                </a:lnTo>
                <a:lnTo>
                  <a:pt x="1695" y="2624"/>
                </a:lnTo>
                <a:lnTo>
                  <a:pt x="1716" y="2611"/>
                </a:lnTo>
                <a:lnTo>
                  <a:pt x="1740" y="2602"/>
                </a:lnTo>
                <a:lnTo>
                  <a:pt x="1766" y="2599"/>
                </a:lnTo>
                <a:close/>
                <a:moveTo>
                  <a:pt x="1201" y="2599"/>
                </a:moveTo>
                <a:lnTo>
                  <a:pt x="1401" y="2599"/>
                </a:lnTo>
                <a:lnTo>
                  <a:pt x="1427" y="2602"/>
                </a:lnTo>
                <a:lnTo>
                  <a:pt x="1451" y="2611"/>
                </a:lnTo>
                <a:lnTo>
                  <a:pt x="1472" y="2624"/>
                </a:lnTo>
                <a:lnTo>
                  <a:pt x="1491" y="2642"/>
                </a:lnTo>
                <a:lnTo>
                  <a:pt x="1504" y="2662"/>
                </a:lnTo>
                <a:lnTo>
                  <a:pt x="1513" y="2687"/>
                </a:lnTo>
                <a:lnTo>
                  <a:pt x="1515" y="2712"/>
                </a:lnTo>
                <a:lnTo>
                  <a:pt x="1515" y="2852"/>
                </a:lnTo>
                <a:lnTo>
                  <a:pt x="1513" y="2877"/>
                </a:lnTo>
                <a:lnTo>
                  <a:pt x="1504" y="2902"/>
                </a:lnTo>
                <a:lnTo>
                  <a:pt x="1491" y="2923"/>
                </a:lnTo>
                <a:lnTo>
                  <a:pt x="1472" y="2941"/>
                </a:lnTo>
                <a:lnTo>
                  <a:pt x="1451" y="2954"/>
                </a:lnTo>
                <a:lnTo>
                  <a:pt x="1427" y="2963"/>
                </a:lnTo>
                <a:lnTo>
                  <a:pt x="1401" y="2965"/>
                </a:lnTo>
                <a:lnTo>
                  <a:pt x="1201" y="2965"/>
                </a:lnTo>
                <a:lnTo>
                  <a:pt x="1174" y="2963"/>
                </a:lnTo>
                <a:lnTo>
                  <a:pt x="1151" y="2954"/>
                </a:lnTo>
                <a:lnTo>
                  <a:pt x="1129" y="2941"/>
                </a:lnTo>
                <a:lnTo>
                  <a:pt x="1112" y="2923"/>
                </a:lnTo>
                <a:lnTo>
                  <a:pt x="1098" y="2902"/>
                </a:lnTo>
                <a:lnTo>
                  <a:pt x="1090" y="2877"/>
                </a:lnTo>
                <a:lnTo>
                  <a:pt x="1086" y="2852"/>
                </a:lnTo>
                <a:lnTo>
                  <a:pt x="1086" y="2712"/>
                </a:lnTo>
                <a:lnTo>
                  <a:pt x="1090" y="2687"/>
                </a:lnTo>
                <a:lnTo>
                  <a:pt x="1098" y="2662"/>
                </a:lnTo>
                <a:lnTo>
                  <a:pt x="1112" y="2642"/>
                </a:lnTo>
                <a:lnTo>
                  <a:pt x="1129" y="2624"/>
                </a:lnTo>
                <a:lnTo>
                  <a:pt x="1151" y="2611"/>
                </a:lnTo>
                <a:lnTo>
                  <a:pt x="1174" y="2602"/>
                </a:lnTo>
                <a:lnTo>
                  <a:pt x="1201" y="2599"/>
                </a:lnTo>
                <a:close/>
                <a:moveTo>
                  <a:pt x="635" y="2599"/>
                </a:moveTo>
                <a:lnTo>
                  <a:pt x="835" y="2599"/>
                </a:lnTo>
                <a:lnTo>
                  <a:pt x="862" y="2602"/>
                </a:lnTo>
                <a:lnTo>
                  <a:pt x="885" y="2611"/>
                </a:lnTo>
                <a:lnTo>
                  <a:pt x="907" y="2624"/>
                </a:lnTo>
                <a:lnTo>
                  <a:pt x="924" y="2642"/>
                </a:lnTo>
                <a:lnTo>
                  <a:pt x="938" y="2662"/>
                </a:lnTo>
                <a:lnTo>
                  <a:pt x="946" y="2687"/>
                </a:lnTo>
                <a:lnTo>
                  <a:pt x="950" y="2712"/>
                </a:lnTo>
                <a:lnTo>
                  <a:pt x="950" y="2852"/>
                </a:lnTo>
                <a:lnTo>
                  <a:pt x="946" y="2877"/>
                </a:lnTo>
                <a:lnTo>
                  <a:pt x="938" y="2902"/>
                </a:lnTo>
                <a:lnTo>
                  <a:pt x="924" y="2923"/>
                </a:lnTo>
                <a:lnTo>
                  <a:pt x="907" y="2941"/>
                </a:lnTo>
                <a:lnTo>
                  <a:pt x="885" y="2954"/>
                </a:lnTo>
                <a:lnTo>
                  <a:pt x="862" y="2963"/>
                </a:lnTo>
                <a:lnTo>
                  <a:pt x="835" y="2965"/>
                </a:lnTo>
                <a:lnTo>
                  <a:pt x="635" y="2965"/>
                </a:lnTo>
                <a:lnTo>
                  <a:pt x="609" y="2963"/>
                </a:lnTo>
                <a:lnTo>
                  <a:pt x="585" y="2954"/>
                </a:lnTo>
                <a:lnTo>
                  <a:pt x="564" y="2941"/>
                </a:lnTo>
                <a:lnTo>
                  <a:pt x="545" y="2923"/>
                </a:lnTo>
                <a:lnTo>
                  <a:pt x="532" y="2902"/>
                </a:lnTo>
                <a:lnTo>
                  <a:pt x="523" y="2877"/>
                </a:lnTo>
                <a:lnTo>
                  <a:pt x="521" y="2852"/>
                </a:lnTo>
                <a:lnTo>
                  <a:pt x="521" y="2712"/>
                </a:lnTo>
                <a:lnTo>
                  <a:pt x="523" y="2687"/>
                </a:lnTo>
                <a:lnTo>
                  <a:pt x="532" y="2662"/>
                </a:lnTo>
                <a:lnTo>
                  <a:pt x="545" y="2642"/>
                </a:lnTo>
                <a:lnTo>
                  <a:pt x="564" y="2624"/>
                </a:lnTo>
                <a:lnTo>
                  <a:pt x="585" y="2611"/>
                </a:lnTo>
                <a:lnTo>
                  <a:pt x="609" y="2602"/>
                </a:lnTo>
                <a:lnTo>
                  <a:pt x="635" y="2599"/>
                </a:lnTo>
                <a:close/>
                <a:moveTo>
                  <a:pt x="1931" y="0"/>
                </a:moveTo>
                <a:lnTo>
                  <a:pt x="2013" y="4"/>
                </a:lnTo>
                <a:lnTo>
                  <a:pt x="2093" y="15"/>
                </a:lnTo>
                <a:lnTo>
                  <a:pt x="2170" y="33"/>
                </a:lnTo>
                <a:lnTo>
                  <a:pt x="2245" y="57"/>
                </a:lnTo>
                <a:lnTo>
                  <a:pt x="2317" y="89"/>
                </a:lnTo>
                <a:lnTo>
                  <a:pt x="2386" y="126"/>
                </a:lnTo>
                <a:lnTo>
                  <a:pt x="2449" y="169"/>
                </a:lnTo>
                <a:lnTo>
                  <a:pt x="2510" y="216"/>
                </a:lnTo>
                <a:lnTo>
                  <a:pt x="2565" y="270"/>
                </a:lnTo>
                <a:lnTo>
                  <a:pt x="2617" y="327"/>
                </a:lnTo>
                <a:lnTo>
                  <a:pt x="2663" y="390"/>
                </a:lnTo>
                <a:lnTo>
                  <a:pt x="2704" y="455"/>
                </a:lnTo>
                <a:lnTo>
                  <a:pt x="2738" y="524"/>
                </a:lnTo>
                <a:lnTo>
                  <a:pt x="2767" y="597"/>
                </a:lnTo>
                <a:lnTo>
                  <a:pt x="2789" y="673"/>
                </a:lnTo>
                <a:lnTo>
                  <a:pt x="2804" y="751"/>
                </a:lnTo>
                <a:lnTo>
                  <a:pt x="2812" y="832"/>
                </a:lnTo>
                <a:lnTo>
                  <a:pt x="2867" y="842"/>
                </a:lnTo>
                <a:lnTo>
                  <a:pt x="2919" y="858"/>
                </a:lnTo>
                <a:lnTo>
                  <a:pt x="2969" y="878"/>
                </a:lnTo>
                <a:lnTo>
                  <a:pt x="3014" y="907"/>
                </a:lnTo>
                <a:lnTo>
                  <a:pt x="3057" y="938"/>
                </a:lnTo>
                <a:lnTo>
                  <a:pt x="3095" y="975"/>
                </a:lnTo>
                <a:lnTo>
                  <a:pt x="3128" y="1017"/>
                </a:lnTo>
                <a:lnTo>
                  <a:pt x="3156" y="1062"/>
                </a:lnTo>
                <a:lnTo>
                  <a:pt x="3179" y="1111"/>
                </a:lnTo>
                <a:lnTo>
                  <a:pt x="3196" y="1162"/>
                </a:lnTo>
                <a:lnTo>
                  <a:pt x="3206" y="1217"/>
                </a:lnTo>
                <a:lnTo>
                  <a:pt x="3210" y="1273"/>
                </a:lnTo>
                <a:lnTo>
                  <a:pt x="3207" y="1323"/>
                </a:lnTo>
                <a:lnTo>
                  <a:pt x="3199" y="1371"/>
                </a:lnTo>
                <a:lnTo>
                  <a:pt x="3185" y="1419"/>
                </a:lnTo>
                <a:lnTo>
                  <a:pt x="3167" y="1465"/>
                </a:lnTo>
                <a:lnTo>
                  <a:pt x="3143" y="1508"/>
                </a:lnTo>
                <a:lnTo>
                  <a:pt x="3113" y="1549"/>
                </a:lnTo>
                <a:lnTo>
                  <a:pt x="3080" y="1587"/>
                </a:lnTo>
                <a:lnTo>
                  <a:pt x="3044" y="1620"/>
                </a:lnTo>
                <a:lnTo>
                  <a:pt x="3003" y="1648"/>
                </a:lnTo>
                <a:lnTo>
                  <a:pt x="2960" y="1671"/>
                </a:lnTo>
                <a:lnTo>
                  <a:pt x="2915" y="1691"/>
                </a:lnTo>
                <a:lnTo>
                  <a:pt x="2867" y="1704"/>
                </a:lnTo>
                <a:lnTo>
                  <a:pt x="2817" y="1713"/>
                </a:lnTo>
                <a:lnTo>
                  <a:pt x="2767" y="1715"/>
                </a:lnTo>
                <a:lnTo>
                  <a:pt x="1977" y="1717"/>
                </a:lnTo>
                <a:lnTo>
                  <a:pt x="1936" y="1720"/>
                </a:lnTo>
                <a:lnTo>
                  <a:pt x="1897" y="1731"/>
                </a:lnTo>
                <a:lnTo>
                  <a:pt x="1860" y="1748"/>
                </a:lnTo>
                <a:lnTo>
                  <a:pt x="1828" y="1770"/>
                </a:lnTo>
                <a:lnTo>
                  <a:pt x="1800" y="1799"/>
                </a:lnTo>
                <a:lnTo>
                  <a:pt x="1777" y="1832"/>
                </a:lnTo>
                <a:lnTo>
                  <a:pt x="1760" y="1868"/>
                </a:lnTo>
                <a:lnTo>
                  <a:pt x="1749" y="1907"/>
                </a:lnTo>
                <a:lnTo>
                  <a:pt x="1745" y="1949"/>
                </a:lnTo>
                <a:lnTo>
                  <a:pt x="1747" y="1984"/>
                </a:lnTo>
                <a:lnTo>
                  <a:pt x="1756" y="2020"/>
                </a:lnTo>
                <a:lnTo>
                  <a:pt x="1769" y="2053"/>
                </a:lnTo>
                <a:lnTo>
                  <a:pt x="1788" y="2083"/>
                </a:lnTo>
                <a:lnTo>
                  <a:pt x="1811" y="2110"/>
                </a:lnTo>
                <a:lnTo>
                  <a:pt x="1832" y="2136"/>
                </a:lnTo>
                <a:lnTo>
                  <a:pt x="1849" y="2164"/>
                </a:lnTo>
                <a:lnTo>
                  <a:pt x="1861" y="2193"/>
                </a:lnTo>
                <a:lnTo>
                  <a:pt x="1870" y="2225"/>
                </a:lnTo>
                <a:lnTo>
                  <a:pt x="1872" y="2258"/>
                </a:lnTo>
                <a:lnTo>
                  <a:pt x="1868" y="2291"/>
                </a:lnTo>
                <a:lnTo>
                  <a:pt x="1861" y="2324"/>
                </a:lnTo>
                <a:lnTo>
                  <a:pt x="1848" y="2354"/>
                </a:lnTo>
                <a:lnTo>
                  <a:pt x="1831" y="2383"/>
                </a:lnTo>
                <a:lnTo>
                  <a:pt x="1809" y="2408"/>
                </a:lnTo>
                <a:lnTo>
                  <a:pt x="1784" y="2429"/>
                </a:lnTo>
                <a:lnTo>
                  <a:pt x="1756" y="2445"/>
                </a:lnTo>
                <a:lnTo>
                  <a:pt x="1727" y="2456"/>
                </a:lnTo>
                <a:lnTo>
                  <a:pt x="1695" y="2463"/>
                </a:lnTo>
                <a:lnTo>
                  <a:pt x="1663" y="2466"/>
                </a:lnTo>
                <a:lnTo>
                  <a:pt x="559" y="2466"/>
                </a:lnTo>
                <a:lnTo>
                  <a:pt x="528" y="2469"/>
                </a:lnTo>
                <a:lnTo>
                  <a:pt x="501" y="2479"/>
                </a:lnTo>
                <a:lnTo>
                  <a:pt x="477" y="2494"/>
                </a:lnTo>
                <a:lnTo>
                  <a:pt x="456" y="2515"/>
                </a:lnTo>
                <a:lnTo>
                  <a:pt x="441" y="2539"/>
                </a:lnTo>
                <a:lnTo>
                  <a:pt x="432" y="2566"/>
                </a:lnTo>
                <a:lnTo>
                  <a:pt x="428" y="2596"/>
                </a:lnTo>
                <a:lnTo>
                  <a:pt x="428" y="3790"/>
                </a:lnTo>
                <a:lnTo>
                  <a:pt x="432" y="3819"/>
                </a:lnTo>
                <a:lnTo>
                  <a:pt x="441" y="3848"/>
                </a:lnTo>
                <a:lnTo>
                  <a:pt x="456" y="3872"/>
                </a:lnTo>
                <a:lnTo>
                  <a:pt x="477" y="3891"/>
                </a:lnTo>
                <a:lnTo>
                  <a:pt x="501" y="3907"/>
                </a:lnTo>
                <a:lnTo>
                  <a:pt x="528" y="3917"/>
                </a:lnTo>
                <a:lnTo>
                  <a:pt x="559" y="3921"/>
                </a:lnTo>
                <a:lnTo>
                  <a:pt x="3722" y="3921"/>
                </a:lnTo>
                <a:lnTo>
                  <a:pt x="3753" y="3917"/>
                </a:lnTo>
                <a:lnTo>
                  <a:pt x="3780" y="3907"/>
                </a:lnTo>
                <a:lnTo>
                  <a:pt x="3804" y="3891"/>
                </a:lnTo>
                <a:lnTo>
                  <a:pt x="3825" y="3872"/>
                </a:lnTo>
                <a:lnTo>
                  <a:pt x="3840" y="3848"/>
                </a:lnTo>
                <a:lnTo>
                  <a:pt x="3849" y="3819"/>
                </a:lnTo>
                <a:lnTo>
                  <a:pt x="3853" y="3790"/>
                </a:lnTo>
                <a:lnTo>
                  <a:pt x="3853" y="2596"/>
                </a:lnTo>
                <a:lnTo>
                  <a:pt x="3849" y="2566"/>
                </a:lnTo>
                <a:lnTo>
                  <a:pt x="3840" y="2539"/>
                </a:lnTo>
                <a:lnTo>
                  <a:pt x="3825" y="2515"/>
                </a:lnTo>
                <a:lnTo>
                  <a:pt x="3804" y="2494"/>
                </a:lnTo>
                <a:lnTo>
                  <a:pt x="3780" y="2479"/>
                </a:lnTo>
                <a:lnTo>
                  <a:pt x="3753" y="2469"/>
                </a:lnTo>
                <a:lnTo>
                  <a:pt x="3722" y="2466"/>
                </a:lnTo>
                <a:lnTo>
                  <a:pt x="2279" y="2466"/>
                </a:lnTo>
                <a:lnTo>
                  <a:pt x="2261" y="2462"/>
                </a:lnTo>
                <a:lnTo>
                  <a:pt x="2246" y="2455"/>
                </a:lnTo>
                <a:lnTo>
                  <a:pt x="2234" y="2442"/>
                </a:lnTo>
                <a:lnTo>
                  <a:pt x="2227" y="2428"/>
                </a:lnTo>
                <a:lnTo>
                  <a:pt x="2223" y="2409"/>
                </a:lnTo>
                <a:lnTo>
                  <a:pt x="2227" y="2392"/>
                </a:lnTo>
                <a:lnTo>
                  <a:pt x="2234" y="2376"/>
                </a:lnTo>
                <a:lnTo>
                  <a:pt x="2246" y="2364"/>
                </a:lnTo>
                <a:lnTo>
                  <a:pt x="2261" y="2357"/>
                </a:lnTo>
                <a:lnTo>
                  <a:pt x="2279" y="2354"/>
                </a:lnTo>
                <a:lnTo>
                  <a:pt x="3722" y="2354"/>
                </a:lnTo>
                <a:lnTo>
                  <a:pt x="3761" y="2357"/>
                </a:lnTo>
                <a:lnTo>
                  <a:pt x="3799" y="2367"/>
                </a:lnTo>
                <a:lnTo>
                  <a:pt x="3833" y="2381"/>
                </a:lnTo>
                <a:lnTo>
                  <a:pt x="3865" y="2401"/>
                </a:lnTo>
                <a:lnTo>
                  <a:pt x="3893" y="2425"/>
                </a:lnTo>
                <a:lnTo>
                  <a:pt x="3918" y="2453"/>
                </a:lnTo>
                <a:lnTo>
                  <a:pt x="3937" y="2485"/>
                </a:lnTo>
                <a:lnTo>
                  <a:pt x="3952" y="2519"/>
                </a:lnTo>
                <a:lnTo>
                  <a:pt x="3962" y="2557"/>
                </a:lnTo>
                <a:lnTo>
                  <a:pt x="3964" y="2596"/>
                </a:lnTo>
                <a:lnTo>
                  <a:pt x="3964" y="3790"/>
                </a:lnTo>
                <a:lnTo>
                  <a:pt x="3962" y="3829"/>
                </a:lnTo>
                <a:lnTo>
                  <a:pt x="3952" y="3866"/>
                </a:lnTo>
                <a:lnTo>
                  <a:pt x="3937" y="3901"/>
                </a:lnTo>
                <a:lnTo>
                  <a:pt x="3918" y="3933"/>
                </a:lnTo>
                <a:lnTo>
                  <a:pt x="3893" y="3961"/>
                </a:lnTo>
                <a:lnTo>
                  <a:pt x="3865" y="3986"/>
                </a:lnTo>
                <a:lnTo>
                  <a:pt x="3833" y="4005"/>
                </a:lnTo>
                <a:lnTo>
                  <a:pt x="3799" y="4020"/>
                </a:lnTo>
                <a:lnTo>
                  <a:pt x="3761" y="4028"/>
                </a:lnTo>
                <a:lnTo>
                  <a:pt x="3722" y="4032"/>
                </a:lnTo>
                <a:lnTo>
                  <a:pt x="559" y="4032"/>
                </a:lnTo>
                <a:lnTo>
                  <a:pt x="520" y="4028"/>
                </a:lnTo>
                <a:lnTo>
                  <a:pt x="482" y="4020"/>
                </a:lnTo>
                <a:lnTo>
                  <a:pt x="448" y="4005"/>
                </a:lnTo>
                <a:lnTo>
                  <a:pt x="416" y="3986"/>
                </a:lnTo>
                <a:lnTo>
                  <a:pt x="388" y="3961"/>
                </a:lnTo>
                <a:lnTo>
                  <a:pt x="363" y="3933"/>
                </a:lnTo>
                <a:lnTo>
                  <a:pt x="344" y="3901"/>
                </a:lnTo>
                <a:lnTo>
                  <a:pt x="329" y="3866"/>
                </a:lnTo>
                <a:lnTo>
                  <a:pt x="319" y="3829"/>
                </a:lnTo>
                <a:lnTo>
                  <a:pt x="317" y="3790"/>
                </a:lnTo>
                <a:lnTo>
                  <a:pt x="317" y="2596"/>
                </a:lnTo>
                <a:lnTo>
                  <a:pt x="319" y="2557"/>
                </a:lnTo>
                <a:lnTo>
                  <a:pt x="329" y="2519"/>
                </a:lnTo>
                <a:lnTo>
                  <a:pt x="344" y="2485"/>
                </a:lnTo>
                <a:lnTo>
                  <a:pt x="363" y="2453"/>
                </a:lnTo>
                <a:lnTo>
                  <a:pt x="388" y="2425"/>
                </a:lnTo>
                <a:lnTo>
                  <a:pt x="416" y="2401"/>
                </a:lnTo>
                <a:lnTo>
                  <a:pt x="448" y="2381"/>
                </a:lnTo>
                <a:lnTo>
                  <a:pt x="482" y="2367"/>
                </a:lnTo>
                <a:lnTo>
                  <a:pt x="520" y="2357"/>
                </a:lnTo>
                <a:lnTo>
                  <a:pt x="559" y="2354"/>
                </a:lnTo>
                <a:lnTo>
                  <a:pt x="1664" y="2354"/>
                </a:lnTo>
                <a:lnTo>
                  <a:pt x="1689" y="2351"/>
                </a:lnTo>
                <a:lnTo>
                  <a:pt x="1711" y="2342"/>
                </a:lnTo>
                <a:lnTo>
                  <a:pt x="1730" y="2328"/>
                </a:lnTo>
                <a:lnTo>
                  <a:pt x="1744" y="2313"/>
                </a:lnTo>
                <a:lnTo>
                  <a:pt x="1752" y="2296"/>
                </a:lnTo>
                <a:lnTo>
                  <a:pt x="1758" y="2277"/>
                </a:lnTo>
                <a:lnTo>
                  <a:pt x="1760" y="2258"/>
                </a:lnTo>
                <a:lnTo>
                  <a:pt x="1757" y="2232"/>
                </a:lnTo>
                <a:lnTo>
                  <a:pt x="1747" y="2210"/>
                </a:lnTo>
                <a:lnTo>
                  <a:pt x="1731" y="2189"/>
                </a:lnTo>
                <a:lnTo>
                  <a:pt x="1730" y="2188"/>
                </a:lnTo>
                <a:lnTo>
                  <a:pt x="1729" y="2187"/>
                </a:lnTo>
                <a:lnTo>
                  <a:pt x="1728" y="2186"/>
                </a:lnTo>
                <a:lnTo>
                  <a:pt x="1700" y="2153"/>
                </a:lnTo>
                <a:lnTo>
                  <a:pt x="1676" y="2116"/>
                </a:lnTo>
                <a:lnTo>
                  <a:pt x="1658" y="2077"/>
                </a:lnTo>
                <a:lnTo>
                  <a:pt x="1645" y="2037"/>
                </a:lnTo>
                <a:lnTo>
                  <a:pt x="1636" y="1993"/>
                </a:lnTo>
                <a:lnTo>
                  <a:pt x="1634" y="1949"/>
                </a:lnTo>
                <a:lnTo>
                  <a:pt x="1637" y="1897"/>
                </a:lnTo>
                <a:lnTo>
                  <a:pt x="1648" y="1850"/>
                </a:lnTo>
                <a:lnTo>
                  <a:pt x="1665" y="1803"/>
                </a:lnTo>
                <a:lnTo>
                  <a:pt x="1689" y="1762"/>
                </a:lnTo>
                <a:lnTo>
                  <a:pt x="1718" y="1723"/>
                </a:lnTo>
                <a:lnTo>
                  <a:pt x="1752" y="1690"/>
                </a:lnTo>
                <a:lnTo>
                  <a:pt x="1790" y="1660"/>
                </a:lnTo>
                <a:lnTo>
                  <a:pt x="1833" y="1637"/>
                </a:lnTo>
                <a:lnTo>
                  <a:pt x="1878" y="1619"/>
                </a:lnTo>
                <a:lnTo>
                  <a:pt x="1927" y="1609"/>
                </a:lnTo>
                <a:lnTo>
                  <a:pt x="1977" y="1604"/>
                </a:lnTo>
                <a:lnTo>
                  <a:pt x="2767" y="1604"/>
                </a:lnTo>
                <a:lnTo>
                  <a:pt x="2810" y="1602"/>
                </a:lnTo>
                <a:lnTo>
                  <a:pt x="2850" y="1593"/>
                </a:lnTo>
                <a:lnTo>
                  <a:pt x="2891" y="1581"/>
                </a:lnTo>
                <a:lnTo>
                  <a:pt x="2927" y="1563"/>
                </a:lnTo>
                <a:lnTo>
                  <a:pt x="2963" y="1541"/>
                </a:lnTo>
                <a:lnTo>
                  <a:pt x="2995" y="1514"/>
                </a:lnTo>
                <a:lnTo>
                  <a:pt x="3024" y="1483"/>
                </a:lnTo>
                <a:lnTo>
                  <a:pt x="3048" y="1449"/>
                </a:lnTo>
                <a:lnTo>
                  <a:pt x="3070" y="1408"/>
                </a:lnTo>
                <a:lnTo>
                  <a:pt x="3086" y="1365"/>
                </a:lnTo>
                <a:lnTo>
                  <a:pt x="3095" y="1320"/>
                </a:lnTo>
                <a:lnTo>
                  <a:pt x="3099" y="1273"/>
                </a:lnTo>
                <a:lnTo>
                  <a:pt x="3095" y="1224"/>
                </a:lnTo>
                <a:lnTo>
                  <a:pt x="3085" y="1178"/>
                </a:lnTo>
                <a:lnTo>
                  <a:pt x="3068" y="1134"/>
                </a:lnTo>
                <a:lnTo>
                  <a:pt x="3045" y="1092"/>
                </a:lnTo>
                <a:lnTo>
                  <a:pt x="3018" y="1056"/>
                </a:lnTo>
                <a:lnTo>
                  <a:pt x="2985" y="1023"/>
                </a:lnTo>
                <a:lnTo>
                  <a:pt x="2947" y="995"/>
                </a:lnTo>
                <a:lnTo>
                  <a:pt x="2907" y="973"/>
                </a:lnTo>
                <a:lnTo>
                  <a:pt x="2863" y="955"/>
                </a:lnTo>
                <a:lnTo>
                  <a:pt x="2816" y="946"/>
                </a:lnTo>
                <a:lnTo>
                  <a:pt x="2767" y="942"/>
                </a:lnTo>
                <a:lnTo>
                  <a:pt x="2766" y="942"/>
                </a:lnTo>
                <a:lnTo>
                  <a:pt x="2764" y="942"/>
                </a:lnTo>
                <a:lnTo>
                  <a:pt x="2762" y="942"/>
                </a:lnTo>
                <a:lnTo>
                  <a:pt x="2760" y="942"/>
                </a:lnTo>
                <a:lnTo>
                  <a:pt x="2759" y="942"/>
                </a:lnTo>
                <a:lnTo>
                  <a:pt x="2744" y="941"/>
                </a:lnTo>
                <a:lnTo>
                  <a:pt x="2731" y="935"/>
                </a:lnTo>
                <a:lnTo>
                  <a:pt x="2718" y="926"/>
                </a:lnTo>
                <a:lnTo>
                  <a:pt x="2710" y="914"/>
                </a:lnTo>
                <a:lnTo>
                  <a:pt x="2704" y="900"/>
                </a:lnTo>
                <a:lnTo>
                  <a:pt x="2702" y="886"/>
                </a:lnTo>
                <a:lnTo>
                  <a:pt x="2699" y="811"/>
                </a:lnTo>
                <a:lnTo>
                  <a:pt x="2688" y="739"/>
                </a:lnTo>
                <a:lnTo>
                  <a:pt x="2671" y="668"/>
                </a:lnTo>
                <a:lnTo>
                  <a:pt x="2649" y="601"/>
                </a:lnTo>
                <a:lnTo>
                  <a:pt x="2619" y="536"/>
                </a:lnTo>
                <a:lnTo>
                  <a:pt x="2585" y="474"/>
                </a:lnTo>
                <a:lnTo>
                  <a:pt x="2545" y="417"/>
                </a:lnTo>
                <a:lnTo>
                  <a:pt x="2501" y="363"/>
                </a:lnTo>
                <a:lnTo>
                  <a:pt x="2450" y="314"/>
                </a:lnTo>
                <a:lnTo>
                  <a:pt x="2398" y="269"/>
                </a:lnTo>
                <a:lnTo>
                  <a:pt x="2340" y="228"/>
                </a:lnTo>
                <a:lnTo>
                  <a:pt x="2279" y="194"/>
                </a:lnTo>
                <a:lnTo>
                  <a:pt x="2214" y="165"/>
                </a:lnTo>
                <a:lnTo>
                  <a:pt x="2147" y="142"/>
                </a:lnTo>
                <a:lnTo>
                  <a:pt x="2078" y="126"/>
                </a:lnTo>
                <a:lnTo>
                  <a:pt x="2005" y="115"/>
                </a:lnTo>
                <a:lnTo>
                  <a:pt x="1931" y="111"/>
                </a:lnTo>
                <a:lnTo>
                  <a:pt x="1862" y="115"/>
                </a:lnTo>
                <a:lnTo>
                  <a:pt x="1795" y="123"/>
                </a:lnTo>
                <a:lnTo>
                  <a:pt x="1729" y="138"/>
                </a:lnTo>
                <a:lnTo>
                  <a:pt x="1664" y="159"/>
                </a:lnTo>
                <a:lnTo>
                  <a:pt x="1603" y="184"/>
                </a:lnTo>
                <a:lnTo>
                  <a:pt x="1544" y="216"/>
                </a:lnTo>
                <a:lnTo>
                  <a:pt x="1488" y="252"/>
                </a:lnTo>
                <a:lnTo>
                  <a:pt x="1436" y="292"/>
                </a:lnTo>
                <a:lnTo>
                  <a:pt x="1385" y="337"/>
                </a:lnTo>
                <a:lnTo>
                  <a:pt x="1340" y="387"/>
                </a:lnTo>
                <a:lnTo>
                  <a:pt x="1300" y="440"/>
                </a:lnTo>
                <a:lnTo>
                  <a:pt x="1263" y="497"/>
                </a:lnTo>
                <a:lnTo>
                  <a:pt x="1231" y="557"/>
                </a:lnTo>
                <a:lnTo>
                  <a:pt x="1206" y="622"/>
                </a:lnTo>
                <a:lnTo>
                  <a:pt x="1198" y="634"/>
                </a:lnTo>
                <a:lnTo>
                  <a:pt x="1189" y="645"/>
                </a:lnTo>
                <a:lnTo>
                  <a:pt x="1175" y="654"/>
                </a:lnTo>
                <a:lnTo>
                  <a:pt x="1162" y="657"/>
                </a:lnTo>
                <a:lnTo>
                  <a:pt x="1146" y="657"/>
                </a:lnTo>
                <a:lnTo>
                  <a:pt x="1131" y="654"/>
                </a:lnTo>
                <a:lnTo>
                  <a:pt x="1088" y="638"/>
                </a:lnTo>
                <a:lnTo>
                  <a:pt x="1043" y="627"/>
                </a:lnTo>
                <a:lnTo>
                  <a:pt x="998" y="621"/>
                </a:lnTo>
                <a:lnTo>
                  <a:pt x="951" y="618"/>
                </a:lnTo>
                <a:lnTo>
                  <a:pt x="893" y="622"/>
                </a:lnTo>
                <a:lnTo>
                  <a:pt x="838" y="632"/>
                </a:lnTo>
                <a:lnTo>
                  <a:pt x="784" y="648"/>
                </a:lnTo>
                <a:lnTo>
                  <a:pt x="734" y="671"/>
                </a:lnTo>
                <a:lnTo>
                  <a:pt x="687" y="698"/>
                </a:lnTo>
                <a:lnTo>
                  <a:pt x="644" y="731"/>
                </a:lnTo>
                <a:lnTo>
                  <a:pt x="605" y="769"/>
                </a:lnTo>
                <a:lnTo>
                  <a:pt x="571" y="810"/>
                </a:lnTo>
                <a:lnTo>
                  <a:pt x="542" y="856"/>
                </a:lnTo>
                <a:lnTo>
                  <a:pt x="518" y="905"/>
                </a:lnTo>
                <a:lnTo>
                  <a:pt x="500" y="958"/>
                </a:lnTo>
                <a:lnTo>
                  <a:pt x="488" y="1013"/>
                </a:lnTo>
                <a:lnTo>
                  <a:pt x="483" y="1072"/>
                </a:lnTo>
                <a:lnTo>
                  <a:pt x="479" y="1087"/>
                </a:lnTo>
                <a:lnTo>
                  <a:pt x="472" y="1102"/>
                </a:lnTo>
                <a:lnTo>
                  <a:pt x="461" y="1114"/>
                </a:lnTo>
                <a:lnTo>
                  <a:pt x="446" y="1123"/>
                </a:lnTo>
                <a:lnTo>
                  <a:pt x="430" y="1127"/>
                </a:lnTo>
                <a:lnTo>
                  <a:pt x="413" y="1125"/>
                </a:lnTo>
                <a:lnTo>
                  <a:pt x="393" y="1122"/>
                </a:lnTo>
                <a:lnTo>
                  <a:pt x="373" y="1119"/>
                </a:lnTo>
                <a:lnTo>
                  <a:pt x="355" y="1118"/>
                </a:lnTo>
                <a:lnTo>
                  <a:pt x="315" y="1122"/>
                </a:lnTo>
                <a:lnTo>
                  <a:pt x="278" y="1130"/>
                </a:lnTo>
                <a:lnTo>
                  <a:pt x="242" y="1145"/>
                </a:lnTo>
                <a:lnTo>
                  <a:pt x="210" y="1166"/>
                </a:lnTo>
                <a:lnTo>
                  <a:pt x="182" y="1190"/>
                </a:lnTo>
                <a:lnTo>
                  <a:pt x="158" y="1218"/>
                </a:lnTo>
                <a:lnTo>
                  <a:pt x="138" y="1250"/>
                </a:lnTo>
                <a:lnTo>
                  <a:pt x="124" y="1284"/>
                </a:lnTo>
                <a:lnTo>
                  <a:pt x="114" y="1322"/>
                </a:lnTo>
                <a:lnTo>
                  <a:pt x="111" y="1361"/>
                </a:lnTo>
                <a:lnTo>
                  <a:pt x="114" y="1401"/>
                </a:lnTo>
                <a:lnTo>
                  <a:pt x="124" y="1438"/>
                </a:lnTo>
                <a:lnTo>
                  <a:pt x="138" y="1474"/>
                </a:lnTo>
                <a:lnTo>
                  <a:pt x="158" y="1505"/>
                </a:lnTo>
                <a:lnTo>
                  <a:pt x="182" y="1533"/>
                </a:lnTo>
                <a:lnTo>
                  <a:pt x="210" y="1558"/>
                </a:lnTo>
                <a:lnTo>
                  <a:pt x="242" y="1577"/>
                </a:lnTo>
                <a:lnTo>
                  <a:pt x="278" y="1592"/>
                </a:lnTo>
                <a:lnTo>
                  <a:pt x="315" y="1602"/>
                </a:lnTo>
                <a:lnTo>
                  <a:pt x="355" y="1604"/>
                </a:lnTo>
                <a:lnTo>
                  <a:pt x="1586" y="1604"/>
                </a:lnTo>
                <a:lnTo>
                  <a:pt x="1603" y="1608"/>
                </a:lnTo>
                <a:lnTo>
                  <a:pt x="1619" y="1615"/>
                </a:lnTo>
                <a:lnTo>
                  <a:pt x="1631" y="1627"/>
                </a:lnTo>
                <a:lnTo>
                  <a:pt x="1639" y="1643"/>
                </a:lnTo>
                <a:lnTo>
                  <a:pt x="1642" y="1660"/>
                </a:lnTo>
                <a:lnTo>
                  <a:pt x="1639" y="1678"/>
                </a:lnTo>
                <a:lnTo>
                  <a:pt x="1631" y="1693"/>
                </a:lnTo>
                <a:lnTo>
                  <a:pt x="1619" y="1706"/>
                </a:lnTo>
                <a:lnTo>
                  <a:pt x="1603" y="1713"/>
                </a:lnTo>
                <a:lnTo>
                  <a:pt x="1586" y="1717"/>
                </a:lnTo>
                <a:lnTo>
                  <a:pt x="355" y="1717"/>
                </a:lnTo>
                <a:lnTo>
                  <a:pt x="302" y="1713"/>
                </a:lnTo>
                <a:lnTo>
                  <a:pt x="252" y="1701"/>
                </a:lnTo>
                <a:lnTo>
                  <a:pt x="205" y="1684"/>
                </a:lnTo>
                <a:lnTo>
                  <a:pt x="161" y="1659"/>
                </a:lnTo>
                <a:lnTo>
                  <a:pt x="121" y="1629"/>
                </a:lnTo>
                <a:lnTo>
                  <a:pt x="87" y="1594"/>
                </a:lnTo>
                <a:lnTo>
                  <a:pt x="56" y="1554"/>
                </a:lnTo>
                <a:lnTo>
                  <a:pt x="33" y="1511"/>
                </a:lnTo>
                <a:lnTo>
                  <a:pt x="15" y="1464"/>
                </a:lnTo>
                <a:lnTo>
                  <a:pt x="4" y="1414"/>
                </a:lnTo>
                <a:lnTo>
                  <a:pt x="0" y="1361"/>
                </a:lnTo>
                <a:lnTo>
                  <a:pt x="2" y="1312"/>
                </a:lnTo>
                <a:lnTo>
                  <a:pt x="13" y="1265"/>
                </a:lnTo>
                <a:lnTo>
                  <a:pt x="29" y="1219"/>
                </a:lnTo>
                <a:lnTo>
                  <a:pt x="51" y="1177"/>
                </a:lnTo>
                <a:lnTo>
                  <a:pt x="79" y="1139"/>
                </a:lnTo>
                <a:lnTo>
                  <a:pt x="111" y="1103"/>
                </a:lnTo>
                <a:lnTo>
                  <a:pt x="148" y="1074"/>
                </a:lnTo>
                <a:lnTo>
                  <a:pt x="187" y="1048"/>
                </a:lnTo>
                <a:lnTo>
                  <a:pt x="231" y="1029"/>
                </a:lnTo>
                <a:lnTo>
                  <a:pt x="278" y="1015"/>
                </a:lnTo>
                <a:lnTo>
                  <a:pt x="325" y="1008"/>
                </a:lnTo>
                <a:lnTo>
                  <a:pt x="375" y="1008"/>
                </a:lnTo>
                <a:lnTo>
                  <a:pt x="389" y="943"/>
                </a:lnTo>
                <a:lnTo>
                  <a:pt x="407" y="881"/>
                </a:lnTo>
                <a:lnTo>
                  <a:pt x="433" y="822"/>
                </a:lnTo>
                <a:lnTo>
                  <a:pt x="465" y="769"/>
                </a:lnTo>
                <a:lnTo>
                  <a:pt x="501" y="717"/>
                </a:lnTo>
                <a:lnTo>
                  <a:pt x="544" y="671"/>
                </a:lnTo>
                <a:lnTo>
                  <a:pt x="592" y="630"/>
                </a:lnTo>
                <a:lnTo>
                  <a:pt x="643" y="594"/>
                </a:lnTo>
                <a:lnTo>
                  <a:pt x="698" y="563"/>
                </a:lnTo>
                <a:lnTo>
                  <a:pt x="757" y="539"/>
                </a:lnTo>
                <a:lnTo>
                  <a:pt x="819" y="522"/>
                </a:lnTo>
                <a:lnTo>
                  <a:pt x="884" y="511"/>
                </a:lnTo>
                <a:lnTo>
                  <a:pt x="951" y="506"/>
                </a:lnTo>
                <a:lnTo>
                  <a:pt x="1009" y="509"/>
                </a:lnTo>
                <a:lnTo>
                  <a:pt x="1065" y="518"/>
                </a:lnTo>
                <a:lnTo>
                  <a:pt x="1121" y="531"/>
                </a:lnTo>
                <a:lnTo>
                  <a:pt x="1153" y="464"/>
                </a:lnTo>
                <a:lnTo>
                  <a:pt x="1191" y="402"/>
                </a:lnTo>
                <a:lnTo>
                  <a:pt x="1234" y="342"/>
                </a:lnTo>
                <a:lnTo>
                  <a:pt x="1280" y="286"/>
                </a:lnTo>
                <a:lnTo>
                  <a:pt x="1332" y="235"/>
                </a:lnTo>
                <a:lnTo>
                  <a:pt x="1387" y="188"/>
                </a:lnTo>
                <a:lnTo>
                  <a:pt x="1445" y="145"/>
                </a:lnTo>
                <a:lnTo>
                  <a:pt x="1508" y="109"/>
                </a:lnTo>
                <a:lnTo>
                  <a:pt x="1573" y="76"/>
                </a:lnTo>
                <a:lnTo>
                  <a:pt x="1641" y="49"/>
                </a:lnTo>
                <a:lnTo>
                  <a:pt x="1711" y="28"/>
                </a:lnTo>
                <a:lnTo>
                  <a:pt x="1783" y="12"/>
                </a:lnTo>
                <a:lnTo>
                  <a:pt x="1856" y="4"/>
                </a:lnTo>
                <a:lnTo>
                  <a:pt x="1931"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9">
            <a:extLst>
              <a:ext uri="{FF2B5EF4-FFF2-40B4-BE49-F238E27FC236}">
                <a16:creationId xmlns:a16="http://schemas.microsoft.com/office/drawing/2014/main" id="{D2F86B3E-376E-47D6-A62C-A5A1EC7173DD}"/>
              </a:ext>
            </a:extLst>
          </p:cNvPr>
          <p:cNvSpPr>
            <a:spLocks noChangeAspect="1" noEditPoints="1"/>
          </p:cNvSpPr>
          <p:nvPr/>
        </p:nvSpPr>
        <p:spPr bwMode="auto">
          <a:xfrm>
            <a:off x="6226237" y="701590"/>
            <a:ext cx="683610" cy="697316"/>
          </a:xfrm>
          <a:custGeom>
            <a:avLst/>
            <a:gdLst>
              <a:gd name="T0" fmla="*/ 751 w 4190"/>
              <a:gd name="T1" fmla="*/ 1783 h 4805"/>
              <a:gd name="T2" fmla="*/ 751 w 4190"/>
              <a:gd name="T3" fmla="*/ 1783 h 4805"/>
              <a:gd name="T4" fmla="*/ 2405 w 4190"/>
              <a:gd name="T5" fmla="*/ 3438 h 4805"/>
              <a:gd name="T6" fmla="*/ 4059 w 4190"/>
              <a:gd name="T7" fmla="*/ 1783 h 4805"/>
              <a:gd name="T8" fmla="*/ 2405 w 4190"/>
              <a:gd name="T9" fmla="*/ 129 h 4805"/>
              <a:gd name="T10" fmla="*/ 751 w 4190"/>
              <a:gd name="T11" fmla="*/ 1783 h 4805"/>
              <a:gd name="T12" fmla="*/ 751 w 4190"/>
              <a:gd name="T13" fmla="*/ 1783 h 4805"/>
              <a:gd name="T14" fmla="*/ 620 w 4190"/>
              <a:gd name="T15" fmla="*/ 1783 h 4805"/>
              <a:gd name="T16" fmla="*/ 620 w 4190"/>
              <a:gd name="T17" fmla="*/ 1783 h 4805"/>
              <a:gd name="T18" fmla="*/ 2405 w 4190"/>
              <a:gd name="T19" fmla="*/ 0 h 4805"/>
              <a:gd name="T20" fmla="*/ 4190 w 4190"/>
              <a:gd name="T21" fmla="*/ 1783 h 4805"/>
              <a:gd name="T22" fmla="*/ 2405 w 4190"/>
              <a:gd name="T23" fmla="*/ 3568 h 4805"/>
              <a:gd name="T24" fmla="*/ 620 w 4190"/>
              <a:gd name="T25" fmla="*/ 1783 h 4805"/>
              <a:gd name="T26" fmla="*/ 620 w 4190"/>
              <a:gd name="T27" fmla="*/ 1783 h 4805"/>
              <a:gd name="T28" fmla="*/ 4107 w 4190"/>
              <a:gd name="T29" fmla="*/ 3391 h 4805"/>
              <a:gd name="T30" fmla="*/ 4107 w 4190"/>
              <a:gd name="T31" fmla="*/ 3391 h 4805"/>
              <a:gd name="T32" fmla="*/ 4107 w 4190"/>
              <a:gd name="T33" fmla="*/ 3483 h 4805"/>
              <a:gd name="T34" fmla="*/ 2470 w 4190"/>
              <a:gd name="T35" fmla="*/ 4187 h 4805"/>
              <a:gd name="T36" fmla="*/ 2470 w 4190"/>
              <a:gd name="T37" fmla="*/ 4413 h 4805"/>
              <a:gd name="T38" fmla="*/ 3308 w 4190"/>
              <a:gd name="T39" fmla="*/ 4682 h 4805"/>
              <a:gd name="T40" fmla="*/ 3319 w 4190"/>
              <a:gd name="T41" fmla="*/ 4773 h 4805"/>
              <a:gd name="T42" fmla="*/ 3268 w 4190"/>
              <a:gd name="T43" fmla="*/ 4799 h 4805"/>
              <a:gd name="T44" fmla="*/ 3228 w 4190"/>
              <a:gd name="T45" fmla="*/ 4785 h 4805"/>
              <a:gd name="T46" fmla="*/ 2403 w 4190"/>
              <a:gd name="T47" fmla="*/ 4541 h 4805"/>
              <a:gd name="T48" fmla="*/ 1579 w 4190"/>
              <a:gd name="T49" fmla="*/ 4783 h 4805"/>
              <a:gd name="T50" fmla="*/ 1488 w 4190"/>
              <a:gd name="T51" fmla="*/ 4771 h 4805"/>
              <a:gd name="T52" fmla="*/ 1500 w 4190"/>
              <a:gd name="T53" fmla="*/ 4680 h 4805"/>
              <a:gd name="T54" fmla="*/ 2340 w 4190"/>
              <a:gd name="T55" fmla="*/ 4413 h 4805"/>
              <a:gd name="T56" fmla="*/ 2340 w 4190"/>
              <a:gd name="T57" fmla="*/ 4187 h 4805"/>
              <a:gd name="T58" fmla="*/ 0 w 4190"/>
              <a:gd name="T59" fmla="*/ 1783 h 4805"/>
              <a:gd name="T60" fmla="*/ 704 w 4190"/>
              <a:gd name="T61" fmla="*/ 82 h 4805"/>
              <a:gd name="T62" fmla="*/ 796 w 4190"/>
              <a:gd name="T63" fmla="*/ 82 h 4805"/>
              <a:gd name="T64" fmla="*/ 1029 w 4190"/>
              <a:gd name="T65" fmla="*/ 315 h 4805"/>
              <a:gd name="T66" fmla="*/ 1029 w 4190"/>
              <a:gd name="T67" fmla="*/ 407 h 4805"/>
              <a:gd name="T68" fmla="*/ 937 w 4190"/>
              <a:gd name="T69" fmla="*/ 407 h 4805"/>
              <a:gd name="T70" fmla="*/ 751 w 4190"/>
              <a:gd name="T71" fmla="*/ 221 h 4805"/>
              <a:gd name="T72" fmla="*/ 130 w 4190"/>
              <a:gd name="T73" fmla="*/ 1783 h 4805"/>
              <a:gd name="T74" fmla="*/ 2405 w 4190"/>
              <a:gd name="T75" fmla="*/ 4058 h 4805"/>
              <a:gd name="T76" fmla="*/ 3968 w 4190"/>
              <a:gd name="T77" fmla="*/ 3436 h 4805"/>
              <a:gd name="T78" fmla="*/ 3767 w 4190"/>
              <a:gd name="T79" fmla="*/ 3234 h 4805"/>
              <a:gd name="T80" fmla="*/ 3767 w 4190"/>
              <a:gd name="T81" fmla="*/ 3142 h 4805"/>
              <a:gd name="T82" fmla="*/ 3859 w 4190"/>
              <a:gd name="T83" fmla="*/ 3142 h 4805"/>
              <a:gd name="T84" fmla="*/ 4107 w 4190"/>
              <a:gd name="T85" fmla="*/ 3391 h 4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90" h="4805">
                <a:moveTo>
                  <a:pt x="751" y="1783"/>
                </a:moveTo>
                <a:lnTo>
                  <a:pt x="751" y="1783"/>
                </a:lnTo>
                <a:cubicBezTo>
                  <a:pt x="751" y="2695"/>
                  <a:pt x="1493" y="3438"/>
                  <a:pt x="2405" y="3438"/>
                </a:cubicBezTo>
                <a:cubicBezTo>
                  <a:pt x="3317" y="3438"/>
                  <a:pt x="4059" y="2695"/>
                  <a:pt x="4059" y="1783"/>
                </a:cubicBezTo>
                <a:cubicBezTo>
                  <a:pt x="4059" y="871"/>
                  <a:pt x="3317" y="129"/>
                  <a:pt x="2405" y="129"/>
                </a:cubicBezTo>
                <a:cubicBezTo>
                  <a:pt x="1493" y="129"/>
                  <a:pt x="751" y="871"/>
                  <a:pt x="751" y="1783"/>
                </a:cubicBezTo>
                <a:lnTo>
                  <a:pt x="751" y="1783"/>
                </a:lnTo>
                <a:close/>
                <a:moveTo>
                  <a:pt x="620" y="1783"/>
                </a:moveTo>
                <a:lnTo>
                  <a:pt x="620" y="1783"/>
                </a:lnTo>
                <a:cubicBezTo>
                  <a:pt x="620" y="799"/>
                  <a:pt x="1421" y="0"/>
                  <a:pt x="2405" y="0"/>
                </a:cubicBezTo>
                <a:cubicBezTo>
                  <a:pt x="3389" y="0"/>
                  <a:pt x="4190" y="799"/>
                  <a:pt x="4190" y="1783"/>
                </a:cubicBezTo>
                <a:cubicBezTo>
                  <a:pt x="4190" y="2767"/>
                  <a:pt x="3389" y="3568"/>
                  <a:pt x="2405" y="3568"/>
                </a:cubicBezTo>
                <a:cubicBezTo>
                  <a:pt x="1421" y="3568"/>
                  <a:pt x="620" y="2767"/>
                  <a:pt x="620" y="1783"/>
                </a:cubicBezTo>
                <a:lnTo>
                  <a:pt x="620" y="1783"/>
                </a:lnTo>
                <a:close/>
                <a:moveTo>
                  <a:pt x="4107" y="3391"/>
                </a:moveTo>
                <a:lnTo>
                  <a:pt x="4107" y="3391"/>
                </a:lnTo>
                <a:cubicBezTo>
                  <a:pt x="4133" y="3416"/>
                  <a:pt x="4133" y="3457"/>
                  <a:pt x="4107" y="3483"/>
                </a:cubicBezTo>
                <a:cubicBezTo>
                  <a:pt x="3668" y="3923"/>
                  <a:pt x="3089" y="4171"/>
                  <a:pt x="2470" y="4187"/>
                </a:cubicBezTo>
                <a:lnTo>
                  <a:pt x="2470" y="4413"/>
                </a:lnTo>
                <a:cubicBezTo>
                  <a:pt x="2798" y="4425"/>
                  <a:pt x="3100" y="4521"/>
                  <a:pt x="3308" y="4682"/>
                </a:cubicBezTo>
                <a:cubicBezTo>
                  <a:pt x="3336" y="4704"/>
                  <a:pt x="3341" y="4745"/>
                  <a:pt x="3319" y="4773"/>
                </a:cubicBezTo>
                <a:cubicBezTo>
                  <a:pt x="3306" y="4790"/>
                  <a:pt x="3287" y="4799"/>
                  <a:pt x="3268" y="4799"/>
                </a:cubicBezTo>
                <a:cubicBezTo>
                  <a:pt x="3254" y="4799"/>
                  <a:pt x="3240" y="4794"/>
                  <a:pt x="3228" y="4785"/>
                </a:cubicBezTo>
                <a:cubicBezTo>
                  <a:pt x="3028" y="4630"/>
                  <a:pt x="2727" y="4541"/>
                  <a:pt x="2403" y="4541"/>
                </a:cubicBezTo>
                <a:cubicBezTo>
                  <a:pt x="2079" y="4541"/>
                  <a:pt x="1779" y="4629"/>
                  <a:pt x="1579" y="4783"/>
                </a:cubicBezTo>
                <a:cubicBezTo>
                  <a:pt x="1551" y="4805"/>
                  <a:pt x="1510" y="4800"/>
                  <a:pt x="1488" y="4771"/>
                </a:cubicBezTo>
                <a:cubicBezTo>
                  <a:pt x="1466" y="4743"/>
                  <a:pt x="1471" y="4702"/>
                  <a:pt x="1500" y="4680"/>
                </a:cubicBezTo>
                <a:cubicBezTo>
                  <a:pt x="1709" y="4519"/>
                  <a:pt x="2012" y="4424"/>
                  <a:pt x="2340" y="4413"/>
                </a:cubicBezTo>
                <a:lnTo>
                  <a:pt x="2340" y="4187"/>
                </a:lnTo>
                <a:cubicBezTo>
                  <a:pt x="1044" y="4152"/>
                  <a:pt x="0" y="3088"/>
                  <a:pt x="0" y="1783"/>
                </a:cubicBezTo>
                <a:cubicBezTo>
                  <a:pt x="0" y="1141"/>
                  <a:pt x="250" y="537"/>
                  <a:pt x="704" y="82"/>
                </a:cubicBezTo>
                <a:cubicBezTo>
                  <a:pt x="730" y="57"/>
                  <a:pt x="771" y="57"/>
                  <a:pt x="796" y="82"/>
                </a:cubicBezTo>
                <a:lnTo>
                  <a:pt x="1029" y="315"/>
                </a:lnTo>
                <a:cubicBezTo>
                  <a:pt x="1055" y="341"/>
                  <a:pt x="1055" y="382"/>
                  <a:pt x="1029" y="407"/>
                </a:cubicBezTo>
                <a:cubicBezTo>
                  <a:pt x="1004" y="433"/>
                  <a:pt x="963" y="433"/>
                  <a:pt x="937" y="407"/>
                </a:cubicBezTo>
                <a:lnTo>
                  <a:pt x="751" y="221"/>
                </a:lnTo>
                <a:cubicBezTo>
                  <a:pt x="350" y="645"/>
                  <a:pt x="130" y="1197"/>
                  <a:pt x="130" y="1783"/>
                </a:cubicBezTo>
                <a:cubicBezTo>
                  <a:pt x="130" y="3038"/>
                  <a:pt x="1150" y="4058"/>
                  <a:pt x="2405" y="4058"/>
                </a:cubicBezTo>
                <a:cubicBezTo>
                  <a:pt x="2992" y="4058"/>
                  <a:pt x="3544" y="3838"/>
                  <a:pt x="3968" y="3436"/>
                </a:cubicBezTo>
                <a:lnTo>
                  <a:pt x="3767" y="3234"/>
                </a:lnTo>
                <a:cubicBezTo>
                  <a:pt x="3741" y="3209"/>
                  <a:pt x="3741" y="3168"/>
                  <a:pt x="3767" y="3142"/>
                </a:cubicBezTo>
                <a:cubicBezTo>
                  <a:pt x="3792" y="3117"/>
                  <a:pt x="3833" y="3117"/>
                  <a:pt x="3859" y="3142"/>
                </a:cubicBezTo>
                <a:lnTo>
                  <a:pt x="4107" y="3391"/>
                </a:lnTo>
                <a:close/>
              </a:path>
            </a:pathLst>
          </a:custGeom>
          <a:solidFill>
            <a:schemeClr val="tx2"/>
          </a:solid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TextBox 59">
            <a:extLst>
              <a:ext uri="{FF2B5EF4-FFF2-40B4-BE49-F238E27FC236}">
                <a16:creationId xmlns:a16="http://schemas.microsoft.com/office/drawing/2014/main" id="{0573FCB7-B53D-401B-8D31-7545A1B52F86}"/>
              </a:ext>
            </a:extLst>
          </p:cNvPr>
          <p:cNvSpPr txBox="1"/>
          <p:nvPr/>
        </p:nvSpPr>
        <p:spPr>
          <a:xfrm>
            <a:off x="6340770" y="717451"/>
            <a:ext cx="575568" cy="461665"/>
          </a:xfrm>
          <a:prstGeom prst="rect">
            <a:avLst/>
          </a:prstGeom>
          <a:noFill/>
        </p:spPr>
        <p:txBody>
          <a:bodyPr wrap="square" rtlCol="0">
            <a:spAutoFit/>
          </a:bodyPr>
          <a:lstStyle/>
          <a:p>
            <a:pPr algn="ctr"/>
            <a:r>
              <a:rPr lang="en-US" sz="2400">
                <a:solidFill>
                  <a:schemeClr val="accent1">
                    <a:lumMod val="75000"/>
                  </a:schemeClr>
                </a:solidFill>
              </a:rPr>
              <a:t>@</a:t>
            </a:r>
          </a:p>
        </p:txBody>
      </p:sp>
      <p:cxnSp>
        <p:nvCxnSpPr>
          <p:cNvPr id="61" name="Connector: Curved 60">
            <a:extLst>
              <a:ext uri="{FF2B5EF4-FFF2-40B4-BE49-F238E27FC236}">
                <a16:creationId xmlns:a16="http://schemas.microsoft.com/office/drawing/2014/main" id="{34637CC9-0ED3-4751-A661-428E7D6A74A2}"/>
              </a:ext>
            </a:extLst>
          </p:cNvPr>
          <p:cNvCxnSpPr>
            <a:cxnSpLocks/>
            <a:stCxn id="59" idx="10"/>
            <a:endCxn id="58" idx="44"/>
          </p:cNvCxnSpPr>
          <p:nvPr/>
        </p:nvCxnSpPr>
        <p:spPr>
          <a:xfrm>
            <a:off x="6909847" y="960344"/>
            <a:ext cx="997521" cy="250344"/>
          </a:xfrm>
          <a:prstGeom prst="curvedConnector5">
            <a:avLst>
              <a:gd name="adj1" fmla="val 45940"/>
              <a:gd name="adj2" fmla="val 195935"/>
              <a:gd name="adj3" fmla="val 122917"/>
            </a:avLst>
          </a:prstGeom>
          <a:ln w="19050">
            <a:solidFill>
              <a:schemeClr val="tx2"/>
            </a:solidFill>
          </a:ln>
        </p:spPr>
        <p:style>
          <a:lnRef idx="1">
            <a:schemeClr val="dk1"/>
          </a:lnRef>
          <a:fillRef idx="0">
            <a:schemeClr val="dk1"/>
          </a:fillRef>
          <a:effectRef idx="0">
            <a:schemeClr val="dk1"/>
          </a:effectRef>
          <a:fontRef idx="minor">
            <a:schemeClr val="tx1"/>
          </a:fontRef>
        </p:style>
      </p:cxnSp>
      <p:grpSp>
        <p:nvGrpSpPr>
          <p:cNvPr id="24" name="Group 23">
            <a:extLst>
              <a:ext uri="{FF2B5EF4-FFF2-40B4-BE49-F238E27FC236}">
                <a16:creationId xmlns:a16="http://schemas.microsoft.com/office/drawing/2014/main" id="{38A4A232-079B-4A95-8A51-3FFC062A4505}"/>
              </a:ext>
            </a:extLst>
          </p:cNvPr>
          <p:cNvGrpSpPr/>
          <p:nvPr/>
        </p:nvGrpSpPr>
        <p:grpSpPr>
          <a:xfrm>
            <a:off x="3777368" y="277676"/>
            <a:ext cx="1595596" cy="1532762"/>
            <a:chOff x="3767843" y="277676"/>
            <a:chExt cx="1595596" cy="1532762"/>
          </a:xfrm>
        </p:grpSpPr>
        <p:sp>
          <p:nvSpPr>
            <p:cNvPr id="25" name="Oval 24">
              <a:extLst>
                <a:ext uri="{FF2B5EF4-FFF2-40B4-BE49-F238E27FC236}">
                  <a16:creationId xmlns:a16="http://schemas.microsoft.com/office/drawing/2014/main" id="{A41BA7AC-8A83-4CD9-ABB7-EA0101B2A406}"/>
                </a:ext>
              </a:extLst>
            </p:cNvPr>
            <p:cNvSpPr/>
            <p:nvPr/>
          </p:nvSpPr>
          <p:spPr>
            <a:xfrm>
              <a:off x="3767843" y="277676"/>
              <a:ext cx="1595596" cy="1532762"/>
            </a:xfrm>
            <a:prstGeom prst="ellipse">
              <a:avLst/>
            </a:prstGeom>
            <a:solidFill>
              <a:schemeClr val="bg1">
                <a:lumMod val="85000"/>
              </a:schemeClr>
            </a:solidFill>
            <a:ln w="28575" cap="flat" cmpd="sng" algn="ctr">
              <a:solidFill>
                <a:srgbClr val="FFCC3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endParaRPr lang="en-US">
                <a:solidFill>
                  <a:schemeClr val="tx1"/>
                </a:solidFill>
              </a:endParaRPr>
            </a:p>
          </p:txBody>
        </p:sp>
        <p:pic>
          <p:nvPicPr>
            <p:cNvPr id="26" name="Picture 25">
              <a:extLst>
                <a:ext uri="{FF2B5EF4-FFF2-40B4-BE49-F238E27FC236}">
                  <a16:creationId xmlns:a16="http://schemas.microsoft.com/office/drawing/2014/main" id="{9EE6FE81-7775-4C85-933F-6EDFFE25362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62782" y="537328"/>
              <a:ext cx="1015180" cy="895547"/>
            </a:xfrm>
            <a:prstGeom prst="rect">
              <a:avLst/>
            </a:prstGeom>
          </p:spPr>
        </p:pic>
      </p:grpSp>
      <p:sp>
        <p:nvSpPr>
          <p:cNvPr id="27" name="Rectangle: Rounded Corners 26">
            <a:extLst>
              <a:ext uri="{FF2B5EF4-FFF2-40B4-BE49-F238E27FC236}">
                <a16:creationId xmlns:a16="http://schemas.microsoft.com/office/drawing/2014/main" id="{7CC6D8BB-BE79-4191-8B88-92F101F26487}"/>
              </a:ext>
            </a:extLst>
          </p:cNvPr>
          <p:cNvSpPr/>
          <p:nvPr/>
        </p:nvSpPr>
        <p:spPr>
          <a:xfrm>
            <a:off x="3667125" y="1552574"/>
            <a:ext cx="1819275" cy="352425"/>
          </a:xfrm>
          <a:prstGeom prst="roundRect">
            <a:avLst/>
          </a:prstGeom>
          <a:solidFill>
            <a:srgbClr val="DD5757"/>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Customer Churn</a:t>
            </a:r>
          </a:p>
        </p:txBody>
      </p:sp>
      <p:sp>
        <p:nvSpPr>
          <p:cNvPr id="28" name="Speech Bubble: Rectangle with Corners Rounded 27">
            <a:extLst>
              <a:ext uri="{FF2B5EF4-FFF2-40B4-BE49-F238E27FC236}">
                <a16:creationId xmlns:a16="http://schemas.microsoft.com/office/drawing/2014/main" id="{263FA285-0B4B-41E0-94CA-0DCF198996AD}"/>
              </a:ext>
            </a:extLst>
          </p:cNvPr>
          <p:cNvSpPr/>
          <p:nvPr/>
        </p:nvSpPr>
        <p:spPr>
          <a:xfrm>
            <a:off x="1190625" y="1847849"/>
            <a:ext cx="1561020" cy="716047"/>
          </a:xfrm>
          <a:prstGeom prst="wedgeRoundRectCallout">
            <a:avLst>
              <a:gd name="adj1" fmla="val 100555"/>
              <a:gd name="adj2" fmla="val 48783"/>
              <a:gd name="adj3" fmla="val 16667"/>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demographic information</a:t>
            </a:r>
          </a:p>
        </p:txBody>
      </p:sp>
      <p:sp>
        <p:nvSpPr>
          <p:cNvPr id="29" name="Speech Bubble: Rectangle with Corners Rounded 28">
            <a:extLst>
              <a:ext uri="{FF2B5EF4-FFF2-40B4-BE49-F238E27FC236}">
                <a16:creationId xmlns:a16="http://schemas.microsoft.com/office/drawing/2014/main" id="{66685074-6F54-47A4-93F9-D9D049600740}"/>
              </a:ext>
            </a:extLst>
          </p:cNvPr>
          <p:cNvSpPr/>
          <p:nvPr/>
        </p:nvSpPr>
        <p:spPr>
          <a:xfrm>
            <a:off x="1333500" y="2686049"/>
            <a:ext cx="1637220" cy="716047"/>
          </a:xfrm>
          <a:prstGeom prst="wedgeRoundRectCallout">
            <a:avLst>
              <a:gd name="adj1" fmla="val 103519"/>
              <a:gd name="adj2" fmla="val -65563"/>
              <a:gd name="adj3" fmla="val 16667"/>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product usage and type</a:t>
            </a:r>
          </a:p>
        </p:txBody>
      </p:sp>
      <p:sp>
        <p:nvSpPr>
          <p:cNvPr id="30" name="Speech Bubble: Rectangle with Corners Rounded 29">
            <a:extLst>
              <a:ext uri="{FF2B5EF4-FFF2-40B4-BE49-F238E27FC236}">
                <a16:creationId xmlns:a16="http://schemas.microsoft.com/office/drawing/2014/main" id="{132739CE-060F-447A-973F-4CC025880002}"/>
              </a:ext>
            </a:extLst>
          </p:cNvPr>
          <p:cNvSpPr/>
          <p:nvPr/>
        </p:nvSpPr>
        <p:spPr>
          <a:xfrm>
            <a:off x="6660752" y="2848809"/>
            <a:ext cx="1323975" cy="390526"/>
          </a:xfrm>
          <a:prstGeom prst="wedgeRoundRectCallout">
            <a:avLst>
              <a:gd name="adj1" fmla="val -182375"/>
              <a:gd name="adj2" fmla="val -122838"/>
              <a:gd name="adj3" fmla="val 16667"/>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billing data</a:t>
            </a:r>
          </a:p>
        </p:txBody>
      </p:sp>
      <p:sp>
        <p:nvSpPr>
          <p:cNvPr id="31" name="Speech Bubble: Rectangle with Corners Rounded 30">
            <a:extLst>
              <a:ext uri="{FF2B5EF4-FFF2-40B4-BE49-F238E27FC236}">
                <a16:creationId xmlns:a16="http://schemas.microsoft.com/office/drawing/2014/main" id="{96A2D0AE-A230-40A1-BEF3-2A65C8769306}"/>
              </a:ext>
            </a:extLst>
          </p:cNvPr>
          <p:cNvSpPr/>
          <p:nvPr/>
        </p:nvSpPr>
        <p:spPr>
          <a:xfrm>
            <a:off x="6153150" y="3571874"/>
            <a:ext cx="1922970" cy="716047"/>
          </a:xfrm>
          <a:prstGeom prst="wedgeRoundRectCallout">
            <a:avLst>
              <a:gd name="adj1" fmla="val -132282"/>
              <a:gd name="adj2" fmla="val -184921"/>
              <a:gd name="adj3" fmla="val 16667"/>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customer service interactions</a:t>
            </a:r>
          </a:p>
        </p:txBody>
      </p:sp>
      <p:sp>
        <p:nvSpPr>
          <p:cNvPr id="4" name="Speech Bubble: Rectangle with Corners Rounded 3">
            <a:extLst>
              <a:ext uri="{FF2B5EF4-FFF2-40B4-BE49-F238E27FC236}">
                <a16:creationId xmlns:a16="http://schemas.microsoft.com/office/drawing/2014/main" id="{8A200422-D183-BC56-92DB-6F0C2F5D7D05}"/>
              </a:ext>
            </a:extLst>
          </p:cNvPr>
          <p:cNvSpPr/>
          <p:nvPr/>
        </p:nvSpPr>
        <p:spPr>
          <a:xfrm>
            <a:off x="6483466" y="1615738"/>
            <a:ext cx="1238250" cy="1066801"/>
          </a:xfrm>
          <a:prstGeom prst="wedgeRoundRectCallout">
            <a:avLst>
              <a:gd name="adj1" fmla="val -98130"/>
              <a:gd name="adj2" fmla="val 35803"/>
              <a:gd name="adj3" fmla="val 16667"/>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Did the customer churn?</a:t>
            </a:r>
          </a:p>
        </p:txBody>
      </p:sp>
    </p:spTree>
    <p:extLst>
      <p:ext uri="{BB962C8B-B14F-4D97-AF65-F5344CB8AC3E}">
        <p14:creationId xmlns:p14="http://schemas.microsoft.com/office/powerpoint/2010/main" val="2544511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6"/>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2"/>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tgtEl>
                                          <p:spTgt spid="29"/>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31"/>
                                        </p:tgtEl>
                                        <p:attrNameLst>
                                          <p:attrName>style.visibility</p:attrName>
                                        </p:attrNameLst>
                                      </p:cBhvr>
                                      <p:to>
                                        <p:strVal val="visible"/>
                                      </p:to>
                                    </p:set>
                                    <p:animEffect transition="in" filter="fade">
                                      <p:cBhvr>
                                        <p:cTn id="36" dur="500"/>
                                        <p:tgtEl>
                                          <p:spTgt spid="31"/>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28"/>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29"/>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30"/>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31"/>
                                        </p:tgtEl>
                                        <p:attrNameLst>
                                          <p:attrName>style.visibility</p:attrName>
                                        </p:attrNameLst>
                                      </p:cBhvr>
                                      <p:to>
                                        <p:strVal val="hidden"/>
                                      </p:to>
                                    </p:set>
                                  </p:childTnLst>
                                </p:cTn>
                              </p:par>
                              <p:par>
                                <p:cTn id="47" presetID="1" presetClass="entr" presetSubtype="0" fill="hold" nodeType="withEffect">
                                  <p:stCondLst>
                                    <p:cond delay="0"/>
                                  </p:stCondLst>
                                  <p:childTnLst>
                                    <p:set>
                                      <p:cBhvr>
                                        <p:cTn id="48" dur="1" fill="hold">
                                          <p:stCondLst>
                                            <p:cond delay="0"/>
                                          </p:stCondLst>
                                        </p:cTn>
                                        <p:tgtEl>
                                          <p:spTgt spid="5"/>
                                        </p:tgtEl>
                                        <p:attrNameLst>
                                          <p:attrName>style.visibility</p:attrName>
                                        </p:attrNameLst>
                                      </p:cBhvr>
                                      <p:to>
                                        <p:strVal val="visible"/>
                                      </p:to>
                                    </p:set>
                                  </p:childTnLst>
                                </p:cTn>
                              </p:par>
                              <p:par>
                                <p:cTn id="49" presetID="1" presetClass="exit" presetSubtype="0" fill="hold" nodeType="withEffect">
                                  <p:stCondLst>
                                    <p:cond delay="0"/>
                                  </p:stCondLst>
                                  <p:childTnLst>
                                    <p:set>
                                      <p:cBhvr>
                                        <p:cTn id="50" dur="1" fill="hold">
                                          <p:stCondLst>
                                            <p:cond delay="0"/>
                                          </p:stCondLst>
                                        </p:cTn>
                                        <p:tgtEl>
                                          <p:spTgt spid="146"/>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8" grpId="0" animBg="1"/>
      <p:bldP spid="28" grpId="1" animBg="1"/>
      <p:bldP spid="29" grpId="0" animBg="1"/>
      <p:bldP spid="29" grpId="1" animBg="1"/>
      <p:bldP spid="30" grpId="0" animBg="1"/>
      <p:bldP spid="30" grpId="1" animBg="1"/>
      <p:bldP spid="31" grpId="0" animBg="1"/>
      <p:bldP spid="31" grpId="1" animBg="1"/>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199D77D8-2B5F-F28A-6B05-B47AA530D92A}"/>
              </a:ext>
            </a:extLst>
          </p:cNvPr>
          <p:cNvGraphicFramePr>
            <a:graphicFrameLocks noGrp="1"/>
          </p:cNvGraphicFramePr>
          <p:nvPr>
            <p:extLst>
              <p:ext uri="{D42A27DB-BD31-4B8C-83A1-F6EECF244321}">
                <p14:modId xmlns:p14="http://schemas.microsoft.com/office/powerpoint/2010/main" val="2870074313"/>
              </p:ext>
            </p:extLst>
          </p:nvPr>
        </p:nvGraphicFramePr>
        <p:xfrm>
          <a:off x="3165997" y="2392985"/>
          <a:ext cx="2796793" cy="1793875"/>
        </p:xfrm>
        <a:graphic>
          <a:graphicData uri="http://schemas.openxmlformats.org/drawingml/2006/table">
            <a:tbl>
              <a:tblPr firstRow="1" bandRow="1">
                <a:tableStyleId>{5C22544A-7EE6-4342-B048-85BDC9FD1C3A}</a:tableStyleId>
              </a:tblPr>
              <a:tblGrid>
                <a:gridCol w="504824">
                  <a:extLst>
                    <a:ext uri="{9D8B030D-6E8A-4147-A177-3AD203B41FA5}">
                      <a16:colId xmlns:a16="http://schemas.microsoft.com/office/drawing/2014/main" val="20000"/>
                    </a:ext>
                  </a:extLst>
                </a:gridCol>
                <a:gridCol w="514350">
                  <a:extLst>
                    <a:ext uri="{9D8B030D-6E8A-4147-A177-3AD203B41FA5}">
                      <a16:colId xmlns:a16="http://schemas.microsoft.com/office/drawing/2014/main" val="3726897833"/>
                    </a:ext>
                  </a:extLst>
                </a:gridCol>
                <a:gridCol w="504825">
                  <a:extLst>
                    <a:ext uri="{9D8B030D-6E8A-4147-A177-3AD203B41FA5}">
                      <a16:colId xmlns:a16="http://schemas.microsoft.com/office/drawing/2014/main" val="3952468349"/>
                    </a:ext>
                  </a:extLst>
                </a:gridCol>
                <a:gridCol w="523875">
                  <a:extLst>
                    <a:ext uri="{9D8B030D-6E8A-4147-A177-3AD203B41FA5}">
                      <a16:colId xmlns:a16="http://schemas.microsoft.com/office/drawing/2014/main" val="2922009219"/>
                    </a:ext>
                  </a:extLst>
                </a:gridCol>
                <a:gridCol w="748919">
                  <a:extLst>
                    <a:ext uri="{9D8B030D-6E8A-4147-A177-3AD203B41FA5}">
                      <a16:colId xmlns:a16="http://schemas.microsoft.com/office/drawing/2014/main" val="20001"/>
                    </a:ext>
                  </a:extLst>
                </a:gridCol>
              </a:tblGrid>
              <a:tr h="346075">
                <a:tc gridSpan="4">
                  <a:txBody>
                    <a:bodyPr/>
                    <a:lstStyle/>
                    <a:p>
                      <a:pPr algn="ctr"/>
                      <a:r>
                        <a:rPr lang="en-US" sz="1600" b="1" i="0">
                          <a:solidFill>
                            <a:schemeClr val="tx1"/>
                          </a:solidFill>
                          <a:latin typeface="+mn-lt"/>
                        </a:rPr>
                        <a:t>Inputs</a:t>
                      </a:r>
                    </a:p>
                  </a:txBody>
                  <a:tcPr marT="0" marB="0" anchor="ctr">
                    <a:lnL w="12700" cmpd="sng">
                      <a:solidFill>
                        <a:srgbClr val="000000"/>
                      </a:solidFill>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hMerge="1">
                  <a:txBody>
                    <a:bodyPr/>
                    <a:lstStyle/>
                    <a:p>
                      <a:pPr algn="ctr"/>
                      <a:endParaRPr lang="en-US" sz="1800" b="1" i="0">
                        <a:solidFill>
                          <a:srgbClr val="000000"/>
                        </a:solidFill>
                        <a:latin typeface="+mn-lt"/>
                      </a:endParaRPr>
                    </a:p>
                  </a:txBody>
                  <a:tcPr marT="0" marB="0" anchor="ctr">
                    <a:lnL w="12700" cap="flat" cmpd="sng" algn="ctr">
                      <a:solidFill>
                        <a:schemeClr val="bg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8F8"/>
                    </a:solidFill>
                  </a:tcPr>
                </a:tc>
                <a:tc>
                  <a:txBody>
                    <a:bodyPr/>
                    <a:lstStyle/>
                    <a:p>
                      <a:pPr algn="ctr"/>
                      <a:r>
                        <a:rPr lang="en-US" sz="1600" b="1" i="0">
                          <a:solidFill>
                            <a:srgbClr val="000000"/>
                          </a:solidFill>
                          <a:latin typeface="+mn-lt"/>
                        </a:rPr>
                        <a:t>Target</a:t>
                      </a:r>
                    </a:p>
                  </a:txBody>
                  <a:tcPr marT="0" marB="0" anchor="ctr">
                    <a:lnL w="12700" cap="flat" cmpd="sng" algn="ctr">
                      <a:solidFill>
                        <a:schemeClr val="tx1"/>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mpd="sng">
                      <a:solidFill>
                        <a:srgbClr val="000000"/>
                      </a:solidFill>
                    </a:lnB>
                    <a:solidFill>
                      <a:schemeClr val="bg2"/>
                    </a:solidFill>
                  </a:tcPr>
                </a:tc>
                <a:extLst>
                  <a:ext uri="{0D108BD9-81ED-4DB2-BD59-A6C34878D82A}">
                    <a16:rowId xmlns:a16="http://schemas.microsoft.com/office/drawing/2014/main" val="10001"/>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85000"/>
                      </a:schemeClr>
                    </a:solidFill>
                  </a:tcPr>
                </a:tc>
                <a:extLst>
                  <a:ext uri="{0D108BD9-81ED-4DB2-BD59-A6C34878D82A}">
                    <a16:rowId xmlns:a16="http://schemas.microsoft.com/office/drawing/2014/main" val="10002"/>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mpd="sng">
                      <a:solidFill>
                        <a:srgbClr val="000000"/>
                      </a:solidFill>
                    </a:lnB>
                    <a:solidFill>
                      <a:schemeClr val="bg1">
                        <a:lumMod val="85000"/>
                      </a:schemeClr>
                    </a:solidFill>
                  </a:tcPr>
                </a:tc>
                <a:extLst>
                  <a:ext uri="{0D108BD9-81ED-4DB2-BD59-A6C34878D82A}">
                    <a16:rowId xmlns:a16="http://schemas.microsoft.com/office/drawing/2014/main" val="10003"/>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4"/>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462768308"/>
                  </a:ext>
                </a:extLst>
              </a:tr>
              <a:tr h="27432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mpd="sng">
                      <a:solidFill>
                        <a:srgbClr val="000000"/>
                      </a:solidFill>
                    </a:lnL>
                    <a:lnR w="12700" cap="flat" cmpd="sng" algn="ctr">
                      <a:solidFill>
                        <a:srgbClr val="000000"/>
                      </a:solidFill>
                      <a:prstDash val="solid"/>
                      <a:round/>
                      <a:headEnd type="none" w="med" len="med"/>
                      <a:tailEnd type="none" w="med" len="med"/>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i="0">
                          <a:solidFill>
                            <a:schemeClr val="accent1">
                              <a:lumMod val="60000"/>
                              <a:lumOff val="40000"/>
                            </a:schemeClr>
                          </a:solidFill>
                          <a:latin typeface="+mn-lt"/>
                          <a:sym typeface="Wingdings" panose="05000000000000000000" pitchFamily="2" charset="2"/>
                        </a:rPr>
                        <a:t></a:t>
                      </a:r>
                      <a:endParaRPr lang="en-US" sz="1600" b="1" i="0">
                        <a:solidFill>
                          <a:schemeClr val="accent1">
                            <a:lumMod val="60000"/>
                            <a:lumOff val="40000"/>
                          </a:schemeClr>
                        </a:solidFill>
                        <a:latin typeface="+mn-lt"/>
                      </a:endParaRPr>
                    </a:p>
                  </a:txBody>
                  <a:tcPr marL="0" marR="0" marB="0" anchor="ctr">
                    <a:lnL w="12700" cap="flat" cmpd="sng" algn="ctr">
                      <a:solidFill>
                        <a:srgbClr val="000000"/>
                      </a:solidFill>
                      <a:prstDash val="solid"/>
                      <a:round/>
                      <a:headEnd type="none" w="med" len="med"/>
                      <a:tailEnd type="none" w="med" len="med"/>
                    </a:lnL>
                    <a:lnR w="12700" cmpd="sng">
                      <a:solidFill>
                        <a:srgbClr val="000000"/>
                      </a:solidFill>
                    </a:lnR>
                    <a:lnT w="12700" cmpd="sng">
                      <a:solidFill>
                        <a:srgbClr val="000000"/>
                      </a:solidFill>
                    </a:lnT>
                    <a:lnB w="12700" cap="flat" cmpd="sng" algn="ctr">
                      <a:solidFill>
                        <a:srgbClr val="000000"/>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83004756"/>
                  </a:ext>
                </a:extLst>
              </a:tr>
            </a:tbl>
          </a:graphicData>
        </a:graphic>
      </p:graphicFrame>
      <p:sp>
        <p:nvSpPr>
          <p:cNvPr id="44" name="Rectangle 43">
            <a:extLst>
              <a:ext uri="{FF2B5EF4-FFF2-40B4-BE49-F238E27FC236}">
                <a16:creationId xmlns:a16="http://schemas.microsoft.com/office/drawing/2014/main" id="{5D190831-FA90-463B-A230-224BA83EED41}"/>
              </a:ext>
            </a:extLst>
          </p:cNvPr>
          <p:cNvSpPr/>
          <p:nvPr/>
        </p:nvSpPr>
        <p:spPr>
          <a:xfrm>
            <a:off x="0" y="697584"/>
            <a:ext cx="9144000" cy="688156"/>
          </a:xfrm>
          <a:prstGeom prst="rect">
            <a:avLst/>
          </a:prstGeom>
          <a:solidFill>
            <a:schemeClr val="bg1">
              <a:lumMod val="9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45" name="Freeform 13">
            <a:extLst>
              <a:ext uri="{FF2B5EF4-FFF2-40B4-BE49-F238E27FC236}">
                <a16:creationId xmlns:a16="http://schemas.microsoft.com/office/drawing/2014/main" id="{1DFBE849-C6A8-4CE5-A4C0-9B599ED372DE}"/>
              </a:ext>
            </a:extLst>
          </p:cNvPr>
          <p:cNvSpPr>
            <a:spLocks noChangeAspect="1" noEditPoints="1"/>
          </p:cNvSpPr>
          <p:nvPr/>
        </p:nvSpPr>
        <p:spPr bwMode="auto">
          <a:xfrm>
            <a:off x="2725186" y="698094"/>
            <a:ext cx="847574" cy="353144"/>
          </a:xfrm>
          <a:custGeom>
            <a:avLst/>
            <a:gdLst>
              <a:gd name="T0" fmla="*/ 4282 w 4799"/>
              <a:gd name="T1" fmla="*/ 2418 h 2551"/>
              <a:gd name="T2" fmla="*/ 4282 w 4799"/>
              <a:gd name="T3" fmla="*/ 2418 h 2551"/>
              <a:gd name="T4" fmla="*/ 650 w 4799"/>
              <a:gd name="T5" fmla="*/ 2417 h 2551"/>
              <a:gd name="T6" fmla="*/ 133 w 4799"/>
              <a:gd name="T7" fmla="*/ 1901 h 2551"/>
              <a:gd name="T8" fmla="*/ 650 w 4799"/>
              <a:gd name="T9" fmla="*/ 1384 h 2551"/>
              <a:gd name="T10" fmla="*/ 662 w 4799"/>
              <a:gd name="T11" fmla="*/ 1385 h 2551"/>
              <a:gd name="T12" fmla="*/ 710 w 4799"/>
              <a:gd name="T13" fmla="*/ 1362 h 2551"/>
              <a:gd name="T14" fmla="*/ 730 w 4799"/>
              <a:gd name="T15" fmla="*/ 1311 h 2551"/>
              <a:gd name="T16" fmla="*/ 1908 w 4799"/>
              <a:gd name="T17" fmla="*/ 133 h 2551"/>
              <a:gd name="T18" fmla="*/ 3017 w 4799"/>
              <a:gd name="T19" fmla="*/ 913 h 2551"/>
              <a:gd name="T20" fmla="*/ 3053 w 4799"/>
              <a:gd name="T21" fmla="*/ 952 h 2551"/>
              <a:gd name="T22" fmla="*/ 3105 w 4799"/>
              <a:gd name="T23" fmla="*/ 952 h 2551"/>
              <a:gd name="T24" fmla="*/ 3384 w 4799"/>
              <a:gd name="T25" fmla="*/ 896 h 2551"/>
              <a:gd name="T26" fmla="*/ 4107 w 4799"/>
              <a:gd name="T27" fmla="*/ 1601 h 2551"/>
              <a:gd name="T28" fmla="*/ 4134 w 4799"/>
              <a:gd name="T29" fmla="*/ 1650 h 2551"/>
              <a:gd name="T30" fmla="*/ 4189 w 4799"/>
              <a:gd name="T31" fmla="*/ 1662 h 2551"/>
              <a:gd name="T32" fmla="*/ 4196 w 4799"/>
              <a:gd name="T33" fmla="*/ 1660 h 2551"/>
              <a:gd name="T34" fmla="*/ 4282 w 4799"/>
              <a:gd name="T35" fmla="*/ 1650 h 2551"/>
              <a:gd name="T36" fmla="*/ 4666 w 4799"/>
              <a:gd name="T37" fmla="*/ 2034 h 2551"/>
              <a:gd name="T38" fmla="*/ 4282 w 4799"/>
              <a:gd name="T39" fmla="*/ 2418 h 2551"/>
              <a:gd name="T40" fmla="*/ 4282 w 4799"/>
              <a:gd name="T41" fmla="*/ 2418 h 2551"/>
              <a:gd name="T42" fmla="*/ 4282 w 4799"/>
              <a:gd name="T43" fmla="*/ 1517 h 2551"/>
              <a:gd name="T44" fmla="*/ 4282 w 4799"/>
              <a:gd name="T45" fmla="*/ 1517 h 2551"/>
              <a:gd name="T46" fmla="*/ 4235 w 4799"/>
              <a:gd name="T47" fmla="*/ 1519 h 2551"/>
              <a:gd name="T48" fmla="*/ 3384 w 4799"/>
              <a:gd name="T49" fmla="*/ 763 h 2551"/>
              <a:gd name="T50" fmla="*/ 3118 w 4799"/>
              <a:gd name="T51" fmla="*/ 805 h 2551"/>
              <a:gd name="T52" fmla="*/ 1908 w 4799"/>
              <a:gd name="T53" fmla="*/ 0 h 2551"/>
              <a:gd name="T54" fmla="*/ 598 w 4799"/>
              <a:gd name="T55" fmla="*/ 1253 h 2551"/>
              <a:gd name="T56" fmla="*/ 0 w 4799"/>
              <a:gd name="T57" fmla="*/ 1901 h 2551"/>
              <a:gd name="T58" fmla="*/ 650 w 4799"/>
              <a:gd name="T59" fmla="*/ 2551 h 2551"/>
              <a:gd name="T60" fmla="*/ 4282 w 4799"/>
              <a:gd name="T61" fmla="*/ 2551 h 2551"/>
              <a:gd name="T62" fmla="*/ 4799 w 4799"/>
              <a:gd name="T63" fmla="*/ 2034 h 2551"/>
              <a:gd name="T64" fmla="*/ 4282 w 4799"/>
              <a:gd name="T65" fmla="*/ 1517 h 25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99" h="2551">
                <a:moveTo>
                  <a:pt x="4282" y="2418"/>
                </a:moveTo>
                <a:lnTo>
                  <a:pt x="4282" y="2418"/>
                </a:lnTo>
                <a:lnTo>
                  <a:pt x="650" y="2417"/>
                </a:lnTo>
                <a:cubicBezTo>
                  <a:pt x="365" y="2417"/>
                  <a:pt x="133" y="2186"/>
                  <a:pt x="133" y="1901"/>
                </a:cubicBezTo>
                <a:cubicBezTo>
                  <a:pt x="133" y="1616"/>
                  <a:pt x="365" y="1384"/>
                  <a:pt x="650" y="1384"/>
                </a:cubicBezTo>
                <a:lnTo>
                  <a:pt x="662" y="1385"/>
                </a:lnTo>
                <a:cubicBezTo>
                  <a:pt x="680" y="1384"/>
                  <a:pt x="697" y="1375"/>
                  <a:pt x="710" y="1362"/>
                </a:cubicBezTo>
                <a:cubicBezTo>
                  <a:pt x="723" y="1350"/>
                  <a:pt x="730" y="1329"/>
                  <a:pt x="730" y="1311"/>
                </a:cubicBezTo>
                <a:cubicBezTo>
                  <a:pt x="730" y="662"/>
                  <a:pt x="1259" y="133"/>
                  <a:pt x="1908" y="133"/>
                </a:cubicBezTo>
                <a:cubicBezTo>
                  <a:pt x="2404" y="133"/>
                  <a:pt x="2849" y="447"/>
                  <a:pt x="3017" y="913"/>
                </a:cubicBezTo>
                <a:cubicBezTo>
                  <a:pt x="3023" y="930"/>
                  <a:pt x="3036" y="944"/>
                  <a:pt x="3053" y="952"/>
                </a:cubicBezTo>
                <a:cubicBezTo>
                  <a:pt x="3069" y="959"/>
                  <a:pt x="3088" y="959"/>
                  <a:pt x="3105" y="952"/>
                </a:cubicBezTo>
                <a:cubicBezTo>
                  <a:pt x="3194" y="915"/>
                  <a:pt x="3287" y="896"/>
                  <a:pt x="3384" y="896"/>
                </a:cubicBezTo>
                <a:cubicBezTo>
                  <a:pt x="3776" y="896"/>
                  <a:pt x="4094" y="1204"/>
                  <a:pt x="4107" y="1601"/>
                </a:cubicBezTo>
                <a:cubicBezTo>
                  <a:pt x="4108" y="1621"/>
                  <a:pt x="4118" y="1639"/>
                  <a:pt x="4134" y="1650"/>
                </a:cubicBezTo>
                <a:cubicBezTo>
                  <a:pt x="4149" y="1662"/>
                  <a:pt x="4169" y="1666"/>
                  <a:pt x="4189" y="1662"/>
                </a:cubicBezTo>
                <a:lnTo>
                  <a:pt x="4196" y="1660"/>
                </a:lnTo>
                <a:cubicBezTo>
                  <a:pt x="4225" y="1654"/>
                  <a:pt x="4253" y="1650"/>
                  <a:pt x="4282" y="1650"/>
                </a:cubicBezTo>
                <a:cubicBezTo>
                  <a:pt x="4494" y="1650"/>
                  <a:pt x="4666" y="1822"/>
                  <a:pt x="4666" y="2034"/>
                </a:cubicBezTo>
                <a:cubicBezTo>
                  <a:pt x="4666" y="2246"/>
                  <a:pt x="4494" y="2418"/>
                  <a:pt x="4282" y="2418"/>
                </a:cubicBezTo>
                <a:lnTo>
                  <a:pt x="4282" y="2418"/>
                </a:lnTo>
                <a:close/>
                <a:moveTo>
                  <a:pt x="4282" y="1517"/>
                </a:moveTo>
                <a:lnTo>
                  <a:pt x="4282" y="1517"/>
                </a:lnTo>
                <a:cubicBezTo>
                  <a:pt x="4266" y="1517"/>
                  <a:pt x="4250" y="1517"/>
                  <a:pt x="4235" y="1519"/>
                </a:cubicBezTo>
                <a:cubicBezTo>
                  <a:pt x="4185" y="1089"/>
                  <a:pt x="3824" y="763"/>
                  <a:pt x="3384" y="763"/>
                </a:cubicBezTo>
                <a:cubicBezTo>
                  <a:pt x="3293" y="763"/>
                  <a:pt x="3204" y="777"/>
                  <a:pt x="3118" y="805"/>
                </a:cubicBezTo>
                <a:cubicBezTo>
                  <a:pt x="2915" y="321"/>
                  <a:pt x="2437" y="0"/>
                  <a:pt x="1908" y="0"/>
                </a:cubicBezTo>
                <a:cubicBezTo>
                  <a:pt x="1204" y="0"/>
                  <a:pt x="629" y="557"/>
                  <a:pt x="598" y="1253"/>
                </a:cubicBezTo>
                <a:cubicBezTo>
                  <a:pt x="264" y="1279"/>
                  <a:pt x="0" y="1560"/>
                  <a:pt x="0" y="1901"/>
                </a:cubicBezTo>
                <a:cubicBezTo>
                  <a:pt x="0" y="2259"/>
                  <a:pt x="291" y="2551"/>
                  <a:pt x="650" y="2551"/>
                </a:cubicBezTo>
                <a:lnTo>
                  <a:pt x="4282" y="2551"/>
                </a:lnTo>
                <a:cubicBezTo>
                  <a:pt x="4567" y="2551"/>
                  <a:pt x="4799" y="2319"/>
                  <a:pt x="4799" y="2034"/>
                </a:cubicBezTo>
                <a:cubicBezTo>
                  <a:pt x="4799" y="1749"/>
                  <a:pt x="4567" y="1517"/>
                  <a:pt x="4282" y="1517"/>
                </a:cubicBezTo>
                <a:close/>
              </a:path>
            </a:pathLst>
          </a:custGeom>
          <a:solidFill>
            <a:schemeClr val="tx2"/>
          </a:solid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Freeform 16">
            <a:extLst>
              <a:ext uri="{FF2B5EF4-FFF2-40B4-BE49-F238E27FC236}">
                <a16:creationId xmlns:a16="http://schemas.microsoft.com/office/drawing/2014/main" id="{18A31A41-A9D9-4F1A-BBCD-0047C874B553}"/>
              </a:ext>
            </a:extLst>
          </p:cNvPr>
          <p:cNvSpPr>
            <a:spLocks noChangeAspect="1" noEditPoints="1"/>
          </p:cNvSpPr>
          <p:nvPr/>
        </p:nvSpPr>
        <p:spPr bwMode="auto">
          <a:xfrm>
            <a:off x="1611984" y="979454"/>
            <a:ext cx="851304" cy="452003"/>
          </a:xfrm>
          <a:custGeom>
            <a:avLst/>
            <a:gdLst>
              <a:gd name="T0" fmla="*/ 837 w 4164"/>
              <a:gd name="T1" fmla="*/ 433 h 2589"/>
              <a:gd name="T2" fmla="*/ 825 w 4164"/>
              <a:gd name="T3" fmla="*/ 1810 h 2589"/>
              <a:gd name="T4" fmla="*/ 849 w 4164"/>
              <a:gd name="T5" fmla="*/ 1844 h 2589"/>
              <a:gd name="T6" fmla="*/ 3232 w 4164"/>
              <a:gd name="T7" fmla="*/ 1844 h 2589"/>
              <a:gd name="T8" fmla="*/ 3254 w 4164"/>
              <a:gd name="T9" fmla="*/ 1810 h 2589"/>
              <a:gd name="T10" fmla="*/ 3243 w 4164"/>
              <a:gd name="T11" fmla="*/ 433 h 2589"/>
              <a:gd name="T12" fmla="*/ 863 w 4164"/>
              <a:gd name="T13" fmla="*/ 421 h 2589"/>
              <a:gd name="T14" fmla="*/ 3247 w 4164"/>
              <a:gd name="T15" fmla="*/ 310 h 2589"/>
              <a:gd name="T16" fmla="*/ 3324 w 4164"/>
              <a:gd name="T17" fmla="*/ 352 h 2589"/>
              <a:gd name="T18" fmla="*/ 3365 w 4164"/>
              <a:gd name="T19" fmla="*/ 428 h 2589"/>
              <a:gd name="T20" fmla="*/ 3365 w 4164"/>
              <a:gd name="T21" fmla="*/ 1840 h 2589"/>
              <a:gd name="T22" fmla="*/ 3324 w 4164"/>
              <a:gd name="T23" fmla="*/ 1917 h 2589"/>
              <a:gd name="T24" fmla="*/ 3247 w 4164"/>
              <a:gd name="T25" fmla="*/ 1958 h 2589"/>
              <a:gd name="T26" fmla="*/ 833 w 4164"/>
              <a:gd name="T27" fmla="*/ 1958 h 2589"/>
              <a:gd name="T28" fmla="*/ 756 w 4164"/>
              <a:gd name="T29" fmla="*/ 1917 h 2589"/>
              <a:gd name="T30" fmla="*/ 714 w 4164"/>
              <a:gd name="T31" fmla="*/ 1840 h 2589"/>
              <a:gd name="T32" fmla="*/ 714 w 4164"/>
              <a:gd name="T33" fmla="*/ 428 h 2589"/>
              <a:gd name="T34" fmla="*/ 756 w 4164"/>
              <a:gd name="T35" fmla="*/ 352 h 2589"/>
              <a:gd name="T36" fmla="*/ 833 w 4164"/>
              <a:gd name="T37" fmla="*/ 310 h 2589"/>
              <a:gd name="T38" fmla="*/ 676 w 4164"/>
              <a:gd name="T39" fmla="*/ 117 h 2589"/>
              <a:gd name="T40" fmla="*/ 604 w 4164"/>
              <a:gd name="T41" fmla="*/ 162 h 2589"/>
              <a:gd name="T42" fmla="*/ 575 w 4164"/>
              <a:gd name="T43" fmla="*/ 244 h 2589"/>
              <a:gd name="T44" fmla="*/ 589 w 4164"/>
              <a:gd name="T45" fmla="*/ 2142 h 2589"/>
              <a:gd name="T46" fmla="*/ 649 w 4164"/>
              <a:gd name="T47" fmla="*/ 2203 h 2589"/>
              <a:gd name="T48" fmla="*/ 1605 w 4164"/>
              <a:gd name="T49" fmla="*/ 2215 h 2589"/>
              <a:gd name="T50" fmla="*/ 1650 w 4164"/>
              <a:gd name="T51" fmla="*/ 2239 h 2589"/>
              <a:gd name="T52" fmla="*/ 1662 w 4164"/>
              <a:gd name="T53" fmla="*/ 2275 h 2589"/>
              <a:gd name="T54" fmla="*/ 1662 w 4164"/>
              <a:gd name="T55" fmla="*/ 2282 h 2589"/>
              <a:gd name="T56" fmla="*/ 1639 w 4164"/>
              <a:gd name="T57" fmla="*/ 2329 h 2589"/>
              <a:gd name="T58" fmla="*/ 191 w 4164"/>
              <a:gd name="T59" fmla="*/ 2340 h 2589"/>
              <a:gd name="T60" fmla="*/ 3971 w 4164"/>
              <a:gd name="T61" fmla="*/ 2340 h 2589"/>
              <a:gd name="T62" fmla="*/ 2522 w 4164"/>
              <a:gd name="T63" fmla="*/ 2328 h 2589"/>
              <a:gd name="T64" fmla="*/ 2498 w 4164"/>
              <a:gd name="T65" fmla="*/ 2286 h 2589"/>
              <a:gd name="T66" fmla="*/ 2508 w 4164"/>
              <a:gd name="T67" fmla="*/ 2239 h 2589"/>
              <a:gd name="T68" fmla="*/ 2554 w 4164"/>
              <a:gd name="T69" fmla="*/ 2215 h 2589"/>
              <a:gd name="T70" fmla="*/ 3442 w 4164"/>
              <a:gd name="T71" fmla="*/ 2203 h 2589"/>
              <a:gd name="T72" fmla="*/ 3502 w 4164"/>
              <a:gd name="T73" fmla="*/ 2142 h 2589"/>
              <a:gd name="T74" fmla="*/ 3515 w 4164"/>
              <a:gd name="T75" fmla="*/ 244 h 2589"/>
              <a:gd name="T76" fmla="*/ 3486 w 4164"/>
              <a:gd name="T77" fmla="*/ 162 h 2589"/>
              <a:gd name="T78" fmla="*/ 3414 w 4164"/>
              <a:gd name="T79" fmla="*/ 117 h 2589"/>
              <a:gd name="T80" fmla="*/ 707 w 4164"/>
              <a:gd name="T81" fmla="*/ 0 h 2589"/>
              <a:gd name="T82" fmla="*/ 3470 w 4164"/>
              <a:gd name="T83" fmla="*/ 15 h 2589"/>
              <a:gd name="T84" fmla="*/ 3572 w 4164"/>
              <a:gd name="T85" fmla="*/ 87 h 2589"/>
              <a:gd name="T86" fmla="*/ 3625 w 4164"/>
              <a:gd name="T87" fmla="*/ 200 h 2589"/>
              <a:gd name="T88" fmla="*/ 3626 w 4164"/>
              <a:gd name="T89" fmla="*/ 2123 h 2589"/>
              <a:gd name="T90" fmla="*/ 3585 w 4164"/>
              <a:gd name="T91" fmla="*/ 2225 h 2589"/>
              <a:gd name="T92" fmla="*/ 4139 w 4164"/>
              <a:gd name="T93" fmla="*/ 2235 h 2589"/>
              <a:gd name="T94" fmla="*/ 4164 w 4164"/>
              <a:gd name="T95" fmla="*/ 2277 h 2589"/>
              <a:gd name="T96" fmla="*/ 4148 w 4164"/>
              <a:gd name="T97" fmla="*/ 2323 h 2589"/>
              <a:gd name="T98" fmla="*/ 3879 w 4164"/>
              <a:gd name="T99" fmla="*/ 2586 h 2589"/>
              <a:gd name="T100" fmla="*/ 278 w 4164"/>
              <a:gd name="T101" fmla="*/ 2586 h 2589"/>
              <a:gd name="T102" fmla="*/ 15 w 4164"/>
              <a:gd name="T103" fmla="*/ 2323 h 2589"/>
              <a:gd name="T104" fmla="*/ 0 w 4164"/>
              <a:gd name="T105" fmla="*/ 2276 h 2589"/>
              <a:gd name="T106" fmla="*/ 25 w 4164"/>
              <a:gd name="T107" fmla="*/ 2234 h 2589"/>
              <a:gd name="T108" fmla="*/ 506 w 4164"/>
              <a:gd name="T109" fmla="*/ 2225 h 2589"/>
              <a:gd name="T110" fmla="*/ 464 w 4164"/>
              <a:gd name="T111" fmla="*/ 2123 h 2589"/>
              <a:gd name="T112" fmla="*/ 466 w 4164"/>
              <a:gd name="T113" fmla="*/ 200 h 2589"/>
              <a:gd name="T114" fmla="*/ 519 w 4164"/>
              <a:gd name="T115" fmla="*/ 87 h 2589"/>
              <a:gd name="T116" fmla="*/ 621 w 4164"/>
              <a:gd name="T117" fmla="*/ 15 h 25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164" h="2589">
                <a:moveTo>
                  <a:pt x="863" y="421"/>
                </a:moveTo>
                <a:lnTo>
                  <a:pt x="849" y="425"/>
                </a:lnTo>
                <a:lnTo>
                  <a:pt x="837" y="433"/>
                </a:lnTo>
                <a:lnTo>
                  <a:pt x="829" y="444"/>
                </a:lnTo>
                <a:lnTo>
                  <a:pt x="825" y="459"/>
                </a:lnTo>
                <a:lnTo>
                  <a:pt x="825" y="1810"/>
                </a:lnTo>
                <a:lnTo>
                  <a:pt x="829" y="1824"/>
                </a:lnTo>
                <a:lnTo>
                  <a:pt x="837" y="1835"/>
                </a:lnTo>
                <a:lnTo>
                  <a:pt x="849" y="1844"/>
                </a:lnTo>
                <a:lnTo>
                  <a:pt x="863" y="1847"/>
                </a:lnTo>
                <a:lnTo>
                  <a:pt x="3216" y="1847"/>
                </a:lnTo>
                <a:lnTo>
                  <a:pt x="3232" y="1844"/>
                </a:lnTo>
                <a:lnTo>
                  <a:pt x="3243" y="1835"/>
                </a:lnTo>
                <a:lnTo>
                  <a:pt x="3250" y="1824"/>
                </a:lnTo>
                <a:lnTo>
                  <a:pt x="3254" y="1810"/>
                </a:lnTo>
                <a:lnTo>
                  <a:pt x="3254" y="459"/>
                </a:lnTo>
                <a:lnTo>
                  <a:pt x="3250" y="444"/>
                </a:lnTo>
                <a:lnTo>
                  <a:pt x="3243" y="433"/>
                </a:lnTo>
                <a:lnTo>
                  <a:pt x="3232" y="425"/>
                </a:lnTo>
                <a:lnTo>
                  <a:pt x="3216" y="421"/>
                </a:lnTo>
                <a:lnTo>
                  <a:pt x="863" y="421"/>
                </a:lnTo>
                <a:close/>
                <a:moveTo>
                  <a:pt x="863" y="306"/>
                </a:moveTo>
                <a:lnTo>
                  <a:pt x="3216" y="306"/>
                </a:lnTo>
                <a:lnTo>
                  <a:pt x="3247" y="310"/>
                </a:lnTo>
                <a:lnTo>
                  <a:pt x="3276" y="319"/>
                </a:lnTo>
                <a:lnTo>
                  <a:pt x="3301" y="333"/>
                </a:lnTo>
                <a:lnTo>
                  <a:pt x="3324" y="352"/>
                </a:lnTo>
                <a:lnTo>
                  <a:pt x="3343" y="373"/>
                </a:lnTo>
                <a:lnTo>
                  <a:pt x="3356" y="400"/>
                </a:lnTo>
                <a:lnTo>
                  <a:pt x="3365" y="428"/>
                </a:lnTo>
                <a:lnTo>
                  <a:pt x="3368" y="459"/>
                </a:lnTo>
                <a:lnTo>
                  <a:pt x="3368" y="1810"/>
                </a:lnTo>
                <a:lnTo>
                  <a:pt x="3365" y="1840"/>
                </a:lnTo>
                <a:lnTo>
                  <a:pt x="3356" y="1868"/>
                </a:lnTo>
                <a:lnTo>
                  <a:pt x="3343" y="1895"/>
                </a:lnTo>
                <a:lnTo>
                  <a:pt x="3324" y="1917"/>
                </a:lnTo>
                <a:lnTo>
                  <a:pt x="3301" y="1935"/>
                </a:lnTo>
                <a:lnTo>
                  <a:pt x="3276" y="1949"/>
                </a:lnTo>
                <a:lnTo>
                  <a:pt x="3247" y="1958"/>
                </a:lnTo>
                <a:lnTo>
                  <a:pt x="3216" y="1962"/>
                </a:lnTo>
                <a:lnTo>
                  <a:pt x="863" y="1962"/>
                </a:lnTo>
                <a:lnTo>
                  <a:pt x="833" y="1958"/>
                </a:lnTo>
                <a:lnTo>
                  <a:pt x="804" y="1949"/>
                </a:lnTo>
                <a:lnTo>
                  <a:pt x="779" y="1935"/>
                </a:lnTo>
                <a:lnTo>
                  <a:pt x="756" y="1917"/>
                </a:lnTo>
                <a:lnTo>
                  <a:pt x="737" y="1895"/>
                </a:lnTo>
                <a:lnTo>
                  <a:pt x="723" y="1868"/>
                </a:lnTo>
                <a:lnTo>
                  <a:pt x="714" y="1840"/>
                </a:lnTo>
                <a:lnTo>
                  <a:pt x="712" y="1810"/>
                </a:lnTo>
                <a:lnTo>
                  <a:pt x="712" y="459"/>
                </a:lnTo>
                <a:lnTo>
                  <a:pt x="714" y="428"/>
                </a:lnTo>
                <a:lnTo>
                  <a:pt x="723" y="400"/>
                </a:lnTo>
                <a:lnTo>
                  <a:pt x="737" y="373"/>
                </a:lnTo>
                <a:lnTo>
                  <a:pt x="756" y="352"/>
                </a:lnTo>
                <a:lnTo>
                  <a:pt x="779" y="333"/>
                </a:lnTo>
                <a:lnTo>
                  <a:pt x="804" y="319"/>
                </a:lnTo>
                <a:lnTo>
                  <a:pt x="833" y="310"/>
                </a:lnTo>
                <a:lnTo>
                  <a:pt x="863" y="306"/>
                </a:lnTo>
                <a:close/>
                <a:moveTo>
                  <a:pt x="707" y="114"/>
                </a:moveTo>
                <a:lnTo>
                  <a:pt x="676" y="117"/>
                </a:lnTo>
                <a:lnTo>
                  <a:pt x="649" y="127"/>
                </a:lnTo>
                <a:lnTo>
                  <a:pt x="625" y="142"/>
                </a:lnTo>
                <a:lnTo>
                  <a:pt x="604" y="162"/>
                </a:lnTo>
                <a:lnTo>
                  <a:pt x="589" y="188"/>
                </a:lnTo>
                <a:lnTo>
                  <a:pt x="579" y="214"/>
                </a:lnTo>
                <a:lnTo>
                  <a:pt x="575" y="244"/>
                </a:lnTo>
                <a:lnTo>
                  <a:pt x="575" y="2085"/>
                </a:lnTo>
                <a:lnTo>
                  <a:pt x="579" y="2114"/>
                </a:lnTo>
                <a:lnTo>
                  <a:pt x="589" y="2142"/>
                </a:lnTo>
                <a:lnTo>
                  <a:pt x="604" y="2166"/>
                </a:lnTo>
                <a:lnTo>
                  <a:pt x="625" y="2188"/>
                </a:lnTo>
                <a:lnTo>
                  <a:pt x="649" y="2203"/>
                </a:lnTo>
                <a:lnTo>
                  <a:pt x="676" y="2213"/>
                </a:lnTo>
                <a:lnTo>
                  <a:pt x="707" y="2215"/>
                </a:lnTo>
                <a:lnTo>
                  <a:pt x="1605" y="2215"/>
                </a:lnTo>
                <a:lnTo>
                  <a:pt x="1623" y="2219"/>
                </a:lnTo>
                <a:lnTo>
                  <a:pt x="1639" y="2227"/>
                </a:lnTo>
                <a:lnTo>
                  <a:pt x="1650" y="2239"/>
                </a:lnTo>
                <a:lnTo>
                  <a:pt x="1659" y="2254"/>
                </a:lnTo>
                <a:lnTo>
                  <a:pt x="1662" y="2273"/>
                </a:lnTo>
                <a:lnTo>
                  <a:pt x="1662" y="2275"/>
                </a:lnTo>
                <a:lnTo>
                  <a:pt x="1661" y="2277"/>
                </a:lnTo>
                <a:lnTo>
                  <a:pt x="1662" y="2280"/>
                </a:lnTo>
                <a:lnTo>
                  <a:pt x="1662" y="2282"/>
                </a:lnTo>
                <a:lnTo>
                  <a:pt x="1659" y="2301"/>
                </a:lnTo>
                <a:lnTo>
                  <a:pt x="1652" y="2316"/>
                </a:lnTo>
                <a:lnTo>
                  <a:pt x="1639" y="2329"/>
                </a:lnTo>
                <a:lnTo>
                  <a:pt x="1623" y="2336"/>
                </a:lnTo>
                <a:lnTo>
                  <a:pt x="1605" y="2340"/>
                </a:lnTo>
                <a:lnTo>
                  <a:pt x="191" y="2340"/>
                </a:lnTo>
                <a:lnTo>
                  <a:pt x="317" y="2474"/>
                </a:lnTo>
                <a:lnTo>
                  <a:pt x="3840" y="2474"/>
                </a:lnTo>
                <a:lnTo>
                  <a:pt x="3971" y="2340"/>
                </a:lnTo>
                <a:lnTo>
                  <a:pt x="2558" y="2340"/>
                </a:lnTo>
                <a:lnTo>
                  <a:pt x="2539" y="2336"/>
                </a:lnTo>
                <a:lnTo>
                  <a:pt x="2522" y="2328"/>
                </a:lnTo>
                <a:lnTo>
                  <a:pt x="2511" y="2315"/>
                </a:lnTo>
                <a:lnTo>
                  <a:pt x="2503" y="2297"/>
                </a:lnTo>
                <a:lnTo>
                  <a:pt x="2498" y="2286"/>
                </a:lnTo>
                <a:lnTo>
                  <a:pt x="2497" y="2273"/>
                </a:lnTo>
                <a:lnTo>
                  <a:pt x="2500" y="2254"/>
                </a:lnTo>
                <a:lnTo>
                  <a:pt x="2508" y="2239"/>
                </a:lnTo>
                <a:lnTo>
                  <a:pt x="2520" y="2227"/>
                </a:lnTo>
                <a:lnTo>
                  <a:pt x="2536" y="2219"/>
                </a:lnTo>
                <a:lnTo>
                  <a:pt x="2554" y="2215"/>
                </a:lnTo>
                <a:lnTo>
                  <a:pt x="3384" y="2215"/>
                </a:lnTo>
                <a:lnTo>
                  <a:pt x="3414" y="2213"/>
                </a:lnTo>
                <a:lnTo>
                  <a:pt x="3442" y="2203"/>
                </a:lnTo>
                <a:lnTo>
                  <a:pt x="3466" y="2188"/>
                </a:lnTo>
                <a:lnTo>
                  <a:pt x="3486" y="2166"/>
                </a:lnTo>
                <a:lnTo>
                  <a:pt x="3502" y="2142"/>
                </a:lnTo>
                <a:lnTo>
                  <a:pt x="3512" y="2114"/>
                </a:lnTo>
                <a:lnTo>
                  <a:pt x="3515" y="2085"/>
                </a:lnTo>
                <a:lnTo>
                  <a:pt x="3515" y="244"/>
                </a:lnTo>
                <a:lnTo>
                  <a:pt x="3512" y="214"/>
                </a:lnTo>
                <a:lnTo>
                  <a:pt x="3502" y="188"/>
                </a:lnTo>
                <a:lnTo>
                  <a:pt x="3486" y="162"/>
                </a:lnTo>
                <a:lnTo>
                  <a:pt x="3466" y="142"/>
                </a:lnTo>
                <a:lnTo>
                  <a:pt x="3442" y="127"/>
                </a:lnTo>
                <a:lnTo>
                  <a:pt x="3414" y="117"/>
                </a:lnTo>
                <a:lnTo>
                  <a:pt x="3384" y="114"/>
                </a:lnTo>
                <a:lnTo>
                  <a:pt x="707" y="114"/>
                </a:lnTo>
                <a:close/>
                <a:moveTo>
                  <a:pt x="707" y="0"/>
                </a:moveTo>
                <a:lnTo>
                  <a:pt x="3384" y="0"/>
                </a:lnTo>
                <a:lnTo>
                  <a:pt x="3428" y="3"/>
                </a:lnTo>
                <a:lnTo>
                  <a:pt x="3470" y="15"/>
                </a:lnTo>
                <a:lnTo>
                  <a:pt x="3508" y="32"/>
                </a:lnTo>
                <a:lnTo>
                  <a:pt x="3542" y="58"/>
                </a:lnTo>
                <a:lnTo>
                  <a:pt x="3572" y="87"/>
                </a:lnTo>
                <a:lnTo>
                  <a:pt x="3596" y="121"/>
                </a:lnTo>
                <a:lnTo>
                  <a:pt x="3614" y="159"/>
                </a:lnTo>
                <a:lnTo>
                  <a:pt x="3625" y="200"/>
                </a:lnTo>
                <a:lnTo>
                  <a:pt x="3629" y="244"/>
                </a:lnTo>
                <a:lnTo>
                  <a:pt x="3629" y="2085"/>
                </a:lnTo>
                <a:lnTo>
                  <a:pt x="3626" y="2123"/>
                </a:lnTo>
                <a:lnTo>
                  <a:pt x="3618" y="2160"/>
                </a:lnTo>
                <a:lnTo>
                  <a:pt x="3604" y="2194"/>
                </a:lnTo>
                <a:lnTo>
                  <a:pt x="3585" y="2225"/>
                </a:lnTo>
                <a:lnTo>
                  <a:pt x="4107" y="2225"/>
                </a:lnTo>
                <a:lnTo>
                  <a:pt x="4124" y="2228"/>
                </a:lnTo>
                <a:lnTo>
                  <a:pt x="4139" y="2235"/>
                </a:lnTo>
                <a:lnTo>
                  <a:pt x="4150" y="2246"/>
                </a:lnTo>
                <a:lnTo>
                  <a:pt x="4159" y="2261"/>
                </a:lnTo>
                <a:lnTo>
                  <a:pt x="4164" y="2277"/>
                </a:lnTo>
                <a:lnTo>
                  <a:pt x="4163" y="2294"/>
                </a:lnTo>
                <a:lnTo>
                  <a:pt x="4158" y="2309"/>
                </a:lnTo>
                <a:lnTo>
                  <a:pt x="4148" y="2323"/>
                </a:lnTo>
                <a:lnTo>
                  <a:pt x="3905" y="2571"/>
                </a:lnTo>
                <a:lnTo>
                  <a:pt x="3893" y="2580"/>
                </a:lnTo>
                <a:lnTo>
                  <a:pt x="3879" y="2586"/>
                </a:lnTo>
                <a:lnTo>
                  <a:pt x="3865" y="2589"/>
                </a:lnTo>
                <a:lnTo>
                  <a:pt x="293" y="2589"/>
                </a:lnTo>
                <a:lnTo>
                  <a:pt x="278" y="2586"/>
                </a:lnTo>
                <a:lnTo>
                  <a:pt x="262" y="2580"/>
                </a:lnTo>
                <a:lnTo>
                  <a:pt x="251" y="2570"/>
                </a:lnTo>
                <a:lnTo>
                  <a:pt x="15" y="2323"/>
                </a:lnTo>
                <a:lnTo>
                  <a:pt x="6" y="2309"/>
                </a:lnTo>
                <a:lnTo>
                  <a:pt x="1" y="2292"/>
                </a:lnTo>
                <a:lnTo>
                  <a:pt x="0" y="2276"/>
                </a:lnTo>
                <a:lnTo>
                  <a:pt x="5" y="2259"/>
                </a:lnTo>
                <a:lnTo>
                  <a:pt x="14" y="2246"/>
                </a:lnTo>
                <a:lnTo>
                  <a:pt x="25" y="2234"/>
                </a:lnTo>
                <a:lnTo>
                  <a:pt x="40" y="2228"/>
                </a:lnTo>
                <a:lnTo>
                  <a:pt x="57" y="2225"/>
                </a:lnTo>
                <a:lnTo>
                  <a:pt x="506" y="2225"/>
                </a:lnTo>
                <a:lnTo>
                  <a:pt x="487" y="2194"/>
                </a:lnTo>
                <a:lnTo>
                  <a:pt x="473" y="2160"/>
                </a:lnTo>
                <a:lnTo>
                  <a:pt x="464" y="2123"/>
                </a:lnTo>
                <a:lnTo>
                  <a:pt x="462" y="2085"/>
                </a:lnTo>
                <a:lnTo>
                  <a:pt x="462" y="244"/>
                </a:lnTo>
                <a:lnTo>
                  <a:pt x="466" y="200"/>
                </a:lnTo>
                <a:lnTo>
                  <a:pt x="477" y="159"/>
                </a:lnTo>
                <a:lnTo>
                  <a:pt x="495" y="121"/>
                </a:lnTo>
                <a:lnTo>
                  <a:pt x="519" y="87"/>
                </a:lnTo>
                <a:lnTo>
                  <a:pt x="549" y="58"/>
                </a:lnTo>
                <a:lnTo>
                  <a:pt x="583" y="32"/>
                </a:lnTo>
                <a:lnTo>
                  <a:pt x="621" y="15"/>
                </a:lnTo>
                <a:lnTo>
                  <a:pt x="662" y="3"/>
                </a:lnTo>
                <a:lnTo>
                  <a:pt x="707" y="0"/>
                </a:lnTo>
                <a:close/>
              </a:path>
            </a:pathLst>
          </a:custGeom>
          <a:solidFill>
            <a:schemeClr val="tx2">
              <a:lumMod val="75000"/>
              <a:lumOff val="25000"/>
            </a:schemeClr>
          </a:solidFill>
          <a:ln w="0">
            <a:solidFill>
              <a:schemeClr val="tx2">
                <a:lumMod val="75000"/>
                <a:lumOff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49" name="Connector: Elbow 48">
            <a:extLst>
              <a:ext uri="{FF2B5EF4-FFF2-40B4-BE49-F238E27FC236}">
                <a16:creationId xmlns:a16="http://schemas.microsoft.com/office/drawing/2014/main" id="{5D908270-0412-454F-A5F7-D89CBF4BE7AF}"/>
              </a:ext>
            </a:extLst>
          </p:cNvPr>
          <p:cNvCxnSpPr/>
          <p:nvPr/>
        </p:nvCxnSpPr>
        <p:spPr>
          <a:xfrm rot="10800000" flipV="1">
            <a:off x="2342194" y="771834"/>
            <a:ext cx="530870" cy="361711"/>
          </a:xfrm>
          <a:prstGeom prst="bentConnector3">
            <a:avLst>
              <a:gd name="adj1" fmla="val 57407"/>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F873B3A-0BE6-4504-9B7F-752CA0F48F04}"/>
              </a:ext>
            </a:extLst>
          </p:cNvPr>
          <p:cNvCxnSpPr>
            <a:cxnSpLocks/>
          </p:cNvCxnSpPr>
          <p:nvPr/>
        </p:nvCxnSpPr>
        <p:spPr>
          <a:xfrm>
            <a:off x="2796835" y="1149999"/>
            <a:ext cx="747643" cy="0"/>
          </a:xfrm>
          <a:prstGeom prst="line">
            <a:avLst/>
          </a:prstGeom>
          <a:ln w="19050">
            <a:solidFill>
              <a:schemeClr val="tx2">
                <a:lumMod val="75000"/>
                <a:lumOff val="25000"/>
              </a:schemeClr>
            </a:solidFill>
            <a:prstDash val="dash"/>
          </a:ln>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22D8C350-A08C-4983-A4E6-A642568F0D61}"/>
              </a:ext>
            </a:extLst>
          </p:cNvPr>
          <p:cNvCxnSpPr>
            <a:cxnSpLocks/>
          </p:cNvCxnSpPr>
          <p:nvPr/>
        </p:nvCxnSpPr>
        <p:spPr>
          <a:xfrm>
            <a:off x="2933376" y="1237721"/>
            <a:ext cx="658236" cy="0"/>
          </a:xfrm>
          <a:prstGeom prst="line">
            <a:avLst/>
          </a:prstGeom>
          <a:ln w="19050">
            <a:solidFill>
              <a:schemeClr val="tx2">
                <a:lumMod val="75000"/>
                <a:lumOff val="25000"/>
              </a:schemeClr>
            </a:solidFill>
            <a:prstDash val="dash"/>
          </a:ln>
        </p:spPr>
        <p:style>
          <a:lnRef idx="1">
            <a:schemeClr val="dk1"/>
          </a:lnRef>
          <a:fillRef idx="0">
            <a:schemeClr val="dk1"/>
          </a:fillRef>
          <a:effectRef idx="0">
            <a:schemeClr val="dk1"/>
          </a:effectRef>
          <a:fontRef idx="minor">
            <a:schemeClr val="tx1"/>
          </a:fontRef>
        </p:style>
      </p:cxnSp>
      <p:pic>
        <p:nvPicPr>
          <p:cNvPr id="52" name="Picture 51">
            <a:extLst>
              <a:ext uri="{FF2B5EF4-FFF2-40B4-BE49-F238E27FC236}">
                <a16:creationId xmlns:a16="http://schemas.microsoft.com/office/drawing/2014/main" id="{A0716F2C-C953-444B-ABAE-2ACCA87250EE}"/>
              </a:ext>
            </a:extLst>
          </p:cNvPr>
          <p:cNvPicPr>
            <a:picLocks noChangeAspect="1"/>
          </p:cNvPicPr>
          <p:nvPr/>
        </p:nvPicPr>
        <p:blipFill>
          <a:blip r:embed="rId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5441998" y="782939"/>
            <a:ext cx="647719" cy="667833"/>
          </a:xfrm>
          <a:prstGeom prst="rect">
            <a:avLst/>
          </a:prstGeom>
        </p:spPr>
      </p:pic>
      <p:sp>
        <p:nvSpPr>
          <p:cNvPr id="53" name="Freeform 6">
            <a:extLst>
              <a:ext uri="{FF2B5EF4-FFF2-40B4-BE49-F238E27FC236}">
                <a16:creationId xmlns:a16="http://schemas.microsoft.com/office/drawing/2014/main" id="{F8FC9C4D-F988-4CB0-9A76-0B762AC0B6D3}"/>
              </a:ext>
            </a:extLst>
          </p:cNvPr>
          <p:cNvSpPr>
            <a:spLocks noChangeAspect="1" noEditPoints="1"/>
          </p:cNvSpPr>
          <p:nvPr/>
        </p:nvSpPr>
        <p:spPr bwMode="auto">
          <a:xfrm rot="20625851">
            <a:off x="1177229" y="646331"/>
            <a:ext cx="426668" cy="541448"/>
          </a:xfrm>
          <a:custGeom>
            <a:avLst/>
            <a:gdLst>
              <a:gd name="T0" fmla="*/ 741 w 2478"/>
              <a:gd name="T1" fmla="*/ 3516 h 4032"/>
              <a:gd name="T2" fmla="*/ 774 w 2478"/>
              <a:gd name="T3" fmla="*/ 3668 h 4032"/>
              <a:gd name="T4" fmla="*/ 929 w 2478"/>
              <a:gd name="T5" fmla="*/ 3668 h 4032"/>
              <a:gd name="T6" fmla="*/ 963 w 2478"/>
              <a:gd name="T7" fmla="*/ 3516 h 4032"/>
              <a:gd name="T8" fmla="*/ 852 w 2478"/>
              <a:gd name="T9" fmla="*/ 3336 h 4032"/>
              <a:gd name="T10" fmla="*/ 1054 w 2478"/>
              <a:gd name="T11" fmla="*/ 3453 h 4032"/>
              <a:gd name="T12" fmla="*/ 1054 w 2478"/>
              <a:gd name="T13" fmla="*/ 3689 h 4032"/>
              <a:gd name="T14" fmla="*/ 852 w 2478"/>
              <a:gd name="T15" fmla="*/ 3806 h 4032"/>
              <a:gd name="T16" fmla="*/ 649 w 2478"/>
              <a:gd name="T17" fmla="*/ 3689 h 4032"/>
              <a:gd name="T18" fmla="*/ 649 w 2478"/>
              <a:gd name="T19" fmla="*/ 3453 h 4032"/>
              <a:gd name="T20" fmla="*/ 852 w 2478"/>
              <a:gd name="T21" fmla="*/ 3336 h 4032"/>
              <a:gd name="T22" fmla="*/ 293 w 2478"/>
              <a:gd name="T23" fmla="*/ 3121 h 4032"/>
              <a:gd name="T24" fmla="*/ 1382 w 2478"/>
              <a:gd name="T25" fmla="*/ 3156 h 4032"/>
              <a:gd name="T26" fmla="*/ 1394 w 2478"/>
              <a:gd name="T27" fmla="*/ 1258 h 4032"/>
              <a:gd name="T28" fmla="*/ 1397 w 2478"/>
              <a:gd name="T29" fmla="*/ 1139 h 4032"/>
              <a:gd name="T30" fmla="*/ 1514 w 2478"/>
              <a:gd name="T31" fmla="*/ 1255 h 4032"/>
              <a:gd name="T32" fmla="*/ 1473 w 2478"/>
              <a:gd name="T33" fmla="*/ 3227 h 4032"/>
              <a:gd name="T34" fmla="*/ 303 w 2478"/>
              <a:gd name="T35" fmla="*/ 3267 h 4032"/>
              <a:gd name="T36" fmla="*/ 186 w 2478"/>
              <a:gd name="T37" fmla="*/ 3151 h 4032"/>
              <a:gd name="T38" fmla="*/ 227 w 2478"/>
              <a:gd name="T39" fmla="*/ 1179 h 4032"/>
              <a:gd name="T40" fmla="*/ 1037 w 2478"/>
              <a:gd name="T41" fmla="*/ 966 h 4032"/>
              <a:gd name="T42" fmla="*/ 1091 w 2478"/>
              <a:gd name="T43" fmla="*/ 1040 h 4032"/>
              <a:gd name="T44" fmla="*/ 636 w 2478"/>
              <a:gd name="T45" fmla="*/ 1074 h 4032"/>
              <a:gd name="T46" fmla="*/ 609 w 2478"/>
              <a:gd name="T47" fmla="*/ 988 h 4032"/>
              <a:gd name="T48" fmla="*/ 186 w 2478"/>
              <a:gd name="T49" fmla="*/ 894 h 4032"/>
              <a:gd name="T50" fmla="*/ 110 w 2478"/>
              <a:gd name="T51" fmla="*/ 3786 h 4032"/>
              <a:gd name="T52" fmla="*/ 214 w 2478"/>
              <a:gd name="T53" fmla="*/ 3917 h 4032"/>
              <a:gd name="T54" fmla="*/ 1553 w 2478"/>
              <a:gd name="T55" fmla="*/ 3871 h 4032"/>
              <a:gd name="T56" fmla="*/ 1569 w 2478"/>
              <a:gd name="T57" fmla="*/ 955 h 4032"/>
              <a:gd name="T58" fmla="*/ 246 w 2478"/>
              <a:gd name="T59" fmla="*/ 880 h 4032"/>
              <a:gd name="T60" fmla="*/ 1593 w 2478"/>
              <a:gd name="T61" fmla="*/ 816 h 4032"/>
              <a:gd name="T62" fmla="*/ 1693 w 2478"/>
              <a:gd name="T63" fmla="*/ 1015 h 4032"/>
              <a:gd name="T64" fmla="*/ 1621 w 2478"/>
              <a:gd name="T65" fmla="*/ 3960 h 4032"/>
              <a:gd name="T66" fmla="*/ 246 w 2478"/>
              <a:gd name="T67" fmla="*/ 4032 h 4032"/>
              <a:gd name="T68" fmla="*/ 46 w 2478"/>
              <a:gd name="T69" fmla="*/ 3932 h 4032"/>
              <a:gd name="T70" fmla="*/ 2 w 2478"/>
              <a:gd name="T71" fmla="*/ 975 h 4032"/>
              <a:gd name="T72" fmla="*/ 132 w 2478"/>
              <a:gd name="T73" fmla="*/ 797 h 4032"/>
              <a:gd name="T74" fmla="*/ 1647 w 2478"/>
              <a:gd name="T75" fmla="*/ 601 h 4032"/>
              <a:gd name="T76" fmla="*/ 1855 w 2478"/>
              <a:gd name="T77" fmla="*/ 784 h 4032"/>
              <a:gd name="T78" fmla="*/ 1862 w 2478"/>
              <a:gd name="T79" fmla="*/ 935 h 4032"/>
              <a:gd name="T80" fmla="*/ 1786 w 2478"/>
              <a:gd name="T81" fmla="*/ 918 h 4032"/>
              <a:gd name="T82" fmla="*/ 1660 w 2478"/>
              <a:gd name="T83" fmla="*/ 731 h 4032"/>
              <a:gd name="T84" fmla="*/ 1499 w 2478"/>
              <a:gd name="T85" fmla="*/ 662 h 4032"/>
              <a:gd name="T86" fmla="*/ 1536 w 2478"/>
              <a:gd name="T87" fmla="*/ 580 h 4032"/>
              <a:gd name="T88" fmla="*/ 1840 w 2478"/>
              <a:gd name="T89" fmla="*/ 365 h 4032"/>
              <a:gd name="T90" fmla="*/ 2111 w 2478"/>
              <a:gd name="T91" fmla="*/ 641 h 4032"/>
              <a:gd name="T92" fmla="*/ 2188 w 2478"/>
              <a:gd name="T93" fmla="*/ 1030 h 4032"/>
              <a:gd name="T94" fmla="*/ 2127 w 2478"/>
              <a:gd name="T95" fmla="*/ 1079 h 4032"/>
              <a:gd name="T96" fmla="*/ 2081 w 2478"/>
              <a:gd name="T97" fmla="*/ 957 h 4032"/>
              <a:gd name="T98" fmla="*/ 1971 w 2478"/>
              <a:gd name="T99" fmla="*/ 626 h 4032"/>
              <a:gd name="T100" fmla="*/ 1691 w 2478"/>
              <a:gd name="T101" fmla="*/ 422 h 4032"/>
              <a:gd name="T102" fmla="*/ 1523 w 2478"/>
              <a:gd name="T103" fmla="*/ 353 h 4032"/>
              <a:gd name="T104" fmla="*/ 1583 w 2478"/>
              <a:gd name="T105" fmla="*/ 286 h 4032"/>
              <a:gd name="T106" fmla="*/ 1995 w 2478"/>
              <a:gd name="T107" fmla="*/ 125 h 4032"/>
              <a:gd name="T108" fmla="*/ 2330 w 2478"/>
              <a:gd name="T109" fmla="*/ 447 h 4032"/>
              <a:gd name="T110" fmla="*/ 2476 w 2478"/>
              <a:gd name="T111" fmla="*/ 894 h 4032"/>
              <a:gd name="T112" fmla="*/ 2434 w 2478"/>
              <a:gd name="T113" fmla="*/ 1107 h 4032"/>
              <a:gd name="T114" fmla="*/ 2363 w 2478"/>
              <a:gd name="T115" fmla="*/ 1065 h 4032"/>
              <a:gd name="T116" fmla="*/ 2318 w 2478"/>
              <a:gd name="T117" fmla="*/ 676 h 4032"/>
              <a:gd name="T118" fmla="*/ 2075 w 2478"/>
              <a:gd name="T119" fmla="*/ 316 h 4032"/>
              <a:gd name="T120" fmla="*/ 1677 w 2478"/>
              <a:gd name="T121" fmla="*/ 122 h 4032"/>
              <a:gd name="T122" fmla="*/ 1551 w 2478"/>
              <a:gd name="T123" fmla="*/ 50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478" h="4032">
                <a:moveTo>
                  <a:pt x="852" y="3447"/>
                </a:moveTo>
                <a:lnTo>
                  <a:pt x="823" y="3450"/>
                </a:lnTo>
                <a:lnTo>
                  <a:pt x="797" y="3460"/>
                </a:lnTo>
                <a:lnTo>
                  <a:pt x="774" y="3475"/>
                </a:lnTo>
                <a:lnTo>
                  <a:pt x="756" y="3493"/>
                </a:lnTo>
                <a:lnTo>
                  <a:pt x="741" y="3516"/>
                </a:lnTo>
                <a:lnTo>
                  <a:pt x="731" y="3542"/>
                </a:lnTo>
                <a:lnTo>
                  <a:pt x="727" y="3571"/>
                </a:lnTo>
                <a:lnTo>
                  <a:pt x="731" y="3599"/>
                </a:lnTo>
                <a:lnTo>
                  <a:pt x="741" y="3625"/>
                </a:lnTo>
                <a:lnTo>
                  <a:pt x="756" y="3648"/>
                </a:lnTo>
                <a:lnTo>
                  <a:pt x="774" y="3668"/>
                </a:lnTo>
                <a:lnTo>
                  <a:pt x="797" y="3683"/>
                </a:lnTo>
                <a:lnTo>
                  <a:pt x="823" y="3691"/>
                </a:lnTo>
                <a:lnTo>
                  <a:pt x="852" y="3695"/>
                </a:lnTo>
                <a:lnTo>
                  <a:pt x="880" y="3691"/>
                </a:lnTo>
                <a:lnTo>
                  <a:pt x="906" y="3683"/>
                </a:lnTo>
                <a:lnTo>
                  <a:pt x="929" y="3668"/>
                </a:lnTo>
                <a:lnTo>
                  <a:pt x="949" y="3648"/>
                </a:lnTo>
                <a:lnTo>
                  <a:pt x="963" y="3625"/>
                </a:lnTo>
                <a:lnTo>
                  <a:pt x="972" y="3599"/>
                </a:lnTo>
                <a:lnTo>
                  <a:pt x="976" y="3571"/>
                </a:lnTo>
                <a:lnTo>
                  <a:pt x="972" y="3542"/>
                </a:lnTo>
                <a:lnTo>
                  <a:pt x="963" y="3516"/>
                </a:lnTo>
                <a:lnTo>
                  <a:pt x="949" y="3493"/>
                </a:lnTo>
                <a:lnTo>
                  <a:pt x="929" y="3475"/>
                </a:lnTo>
                <a:lnTo>
                  <a:pt x="906" y="3460"/>
                </a:lnTo>
                <a:lnTo>
                  <a:pt x="880" y="3450"/>
                </a:lnTo>
                <a:lnTo>
                  <a:pt x="852" y="3447"/>
                </a:lnTo>
                <a:close/>
                <a:moveTo>
                  <a:pt x="852" y="3336"/>
                </a:moveTo>
                <a:lnTo>
                  <a:pt x="894" y="3340"/>
                </a:lnTo>
                <a:lnTo>
                  <a:pt x="934" y="3351"/>
                </a:lnTo>
                <a:lnTo>
                  <a:pt x="970" y="3369"/>
                </a:lnTo>
                <a:lnTo>
                  <a:pt x="1003" y="3392"/>
                </a:lnTo>
                <a:lnTo>
                  <a:pt x="1031" y="3420"/>
                </a:lnTo>
                <a:lnTo>
                  <a:pt x="1054" y="3453"/>
                </a:lnTo>
                <a:lnTo>
                  <a:pt x="1072" y="3490"/>
                </a:lnTo>
                <a:lnTo>
                  <a:pt x="1083" y="3529"/>
                </a:lnTo>
                <a:lnTo>
                  <a:pt x="1087" y="3571"/>
                </a:lnTo>
                <a:lnTo>
                  <a:pt x="1083" y="3613"/>
                </a:lnTo>
                <a:lnTo>
                  <a:pt x="1072" y="3653"/>
                </a:lnTo>
                <a:lnTo>
                  <a:pt x="1054" y="3689"/>
                </a:lnTo>
                <a:lnTo>
                  <a:pt x="1031" y="3722"/>
                </a:lnTo>
                <a:lnTo>
                  <a:pt x="1003" y="3750"/>
                </a:lnTo>
                <a:lnTo>
                  <a:pt x="970" y="3773"/>
                </a:lnTo>
                <a:lnTo>
                  <a:pt x="934" y="3791"/>
                </a:lnTo>
                <a:lnTo>
                  <a:pt x="894" y="3802"/>
                </a:lnTo>
                <a:lnTo>
                  <a:pt x="852" y="3806"/>
                </a:lnTo>
                <a:lnTo>
                  <a:pt x="809" y="3802"/>
                </a:lnTo>
                <a:lnTo>
                  <a:pt x="770" y="3791"/>
                </a:lnTo>
                <a:lnTo>
                  <a:pt x="734" y="3773"/>
                </a:lnTo>
                <a:lnTo>
                  <a:pt x="701" y="3750"/>
                </a:lnTo>
                <a:lnTo>
                  <a:pt x="672" y="3722"/>
                </a:lnTo>
                <a:lnTo>
                  <a:pt x="649" y="3689"/>
                </a:lnTo>
                <a:lnTo>
                  <a:pt x="632" y="3653"/>
                </a:lnTo>
                <a:lnTo>
                  <a:pt x="621" y="3613"/>
                </a:lnTo>
                <a:lnTo>
                  <a:pt x="617" y="3571"/>
                </a:lnTo>
                <a:lnTo>
                  <a:pt x="621" y="3529"/>
                </a:lnTo>
                <a:lnTo>
                  <a:pt x="632" y="3490"/>
                </a:lnTo>
                <a:lnTo>
                  <a:pt x="649" y="3453"/>
                </a:lnTo>
                <a:lnTo>
                  <a:pt x="672" y="3420"/>
                </a:lnTo>
                <a:lnTo>
                  <a:pt x="701" y="3392"/>
                </a:lnTo>
                <a:lnTo>
                  <a:pt x="734" y="3369"/>
                </a:lnTo>
                <a:lnTo>
                  <a:pt x="770" y="3351"/>
                </a:lnTo>
                <a:lnTo>
                  <a:pt x="809" y="3340"/>
                </a:lnTo>
                <a:lnTo>
                  <a:pt x="852" y="3336"/>
                </a:lnTo>
                <a:close/>
                <a:moveTo>
                  <a:pt x="333" y="1246"/>
                </a:moveTo>
                <a:lnTo>
                  <a:pt x="318" y="1250"/>
                </a:lnTo>
                <a:lnTo>
                  <a:pt x="306" y="1258"/>
                </a:lnTo>
                <a:lnTo>
                  <a:pt x="297" y="1271"/>
                </a:lnTo>
                <a:lnTo>
                  <a:pt x="293" y="1285"/>
                </a:lnTo>
                <a:lnTo>
                  <a:pt x="293" y="3121"/>
                </a:lnTo>
                <a:lnTo>
                  <a:pt x="297" y="3135"/>
                </a:lnTo>
                <a:lnTo>
                  <a:pt x="306" y="3147"/>
                </a:lnTo>
                <a:lnTo>
                  <a:pt x="318" y="3156"/>
                </a:lnTo>
                <a:lnTo>
                  <a:pt x="333" y="3160"/>
                </a:lnTo>
                <a:lnTo>
                  <a:pt x="1367" y="3160"/>
                </a:lnTo>
                <a:lnTo>
                  <a:pt x="1382" y="3156"/>
                </a:lnTo>
                <a:lnTo>
                  <a:pt x="1395" y="3147"/>
                </a:lnTo>
                <a:lnTo>
                  <a:pt x="1402" y="3135"/>
                </a:lnTo>
                <a:lnTo>
                  <a:pt x="1406" y="3121"/>
                </a:lnTo>
                <a:lnTo>
                  <a:pt x="1406" y="1285"/>
                </a:lnTo>
                <a:lnTo>
                  <a:pt x="1402" y="1271"/>
                </a:lnTo>
                <a:lnTo>
                  <a:pt x="1394" y="1258"/>
                </a:lnTo>
                <a:lnTo>
                  <a:pt x="1382" y="1250"/>
                </a:lnTo>
                <a:lnTo>
                  <a:pt x="1367" y="1246"/>
                </a:lnTo>
                <a:lnTo>
                  <a:pt x="333" y="1246"/>
                </a:lnTo>
                <a:close/>
                <a:moveTo>
                  <a:pt x="333" y="1135"/>
                </a:moveTo>
                <a:lnTo>
                  <a:pt x="1367" y="1135"/>
                </a:lnTo>
                <a:lnTo>
                  <a:pt x="1397" y="1139"/>
                </a:lnTo>
                <a:lnTo>
                  <a:pt x="1426" y="1147"/>
                </a:lnTo>
                <a:lnTo>
                  <a:pt x="1451" y="1161"/>
                </a:lnTo>
                <a:lnTo>
                  <a:pt x="1473" y="1179"/>
                </a:lnTo>
                <a:lnTo>
                  <a:pt x="1492" y="1202"/>
                </a:lnTo>
                <a:lnTo>
                  <a:pt x="1505" y="1227"/>
                </a:lnTo>
                <a:lnTo>
                  <a:pt x="1514" y="1255"/>
                </a:lnTo>
                <a:lnTo>
                  <a:pt x="1517" y="1285"/>
                </a:lnTo>
                <a:lnTo>
                  <a:pt x="1517" y="3121"/>
                </a:lnTo>
                <a:lnTo>
                  <a:pt x="1514" y="3151"/>
                </a:lnTo>
                <a:lnTo>
                  <a:pt x="1505" y="3179"/>
                </a:lnTo>
                <a:lnTo>
                  <a:pt x="1492" y="3204"/>
                </a:lnTo>
                <a:lnTo>
                  <a:pt x="1473" y="3227"/>
                </a:lnTo>
                <a:lnTo>
                  <a:pt x="1451" y="3245"/>
                </a:lnTo>
                <a:lnTo>
                  <a:pt x="1426" y="3259"/>
                </a:lnTo>
                <a:lnTo>
                  <a:pt x="1397" y="3267"/>
                </a:lnTo>
                <a:lnTo>
                  <a:pt x="1367" y="3271"/>
                </a:lnTo>
                <a:lnTo>
                  <a:pt x="333" y="3271"/>
                </a:lnTo>
                <a:lnTo>
                  <a:pt x="303" y="3267"/>
                </a:lnTo>
                <a:lnTo>
                  <a:pt x="275" y="3259"/>
                </a:lnTo>
                <a:lnTo>
                  <a:pt x="249" y="3245"/>
                </a:lnTo>
                <a:lnTo>
                  <a:pt x="227" y="3227"/>
                </a:lnTo>
                <a:lnTo>
                  <a:pt x="209" y="3204"/>
                </a:lnTo>
                <a:lnTo>
                  <a:pt x="194" y="3179"/>
                </a:lnTo>
                <a:lnTo>
                  <a:pt x="186" y="3151"/>
                </a:lnTo>
                <a:lnTo>
                  <a:pt x="183" y="3121"/>
                </a:lnTo>
                <a:lnTo>
                  <a:pt x="183" y="1285"/>
                </a:lnTo>
                <a:lnTo>
                  <a:pt x="186" y="1255"/>
                </a:lnTo>
                <a:lnTo>
                  <a:pt x="194" y="1227"/>
                </a:lnTo>
                <a:lnTo>
                  <a:pt x="209" y="1202"/>
                </a:lnTo>
                <a:lnTo>
                  <a:pt x="227" y="1179"/>
                </a:lnTo>
                <a:lnTo>
                  <a:pt x="249" y="1161"/>
                </a:lnTo>
                <a:lnTo>
                  <a:pt x="275" y="1147"/>
                </a:lnTo>
                <a:lnTo>
                  <a:pt x="303" y="1139"/>
                </a:lnTo>
                <a:lnTo>
                  <a:pt x="333" y="1135"/>
                </a:lnTo>
                <a:close/>
                <a:moveTo>
                  <a:pt x="654" y="966"/>
                </a:moveTo>
                <a:lnTo>
                  <a:pt x="1037" y="966"/>
                </a:lnTo>
                <a:lnTo>
                  <a:pt x="1055" y="969"/>
                </a:lnTo>
                <a:lnTo>
                  <a:pt x="1070" y="977"/>
                </a:lnTo>
                <a:lnTo>
                  <a:pt x="1082" y="988"/>
                </a:lnTo>
                <a:lnTo>
                  <a:pt x="1091" y="1004"/>
                </a:lnTo>
                <a:lnTo>
                  <a:pt x="1093" y="1021"/>
                </a:lnTo>
                <a:lnTo>
                  <a:pt x="1091" y="1040"/>
                </a:lnTo>
                <a:lnTo>
                  <a:pt x="1082" y="1054"/>
                </a:lnTo>
                <a:lnTo>
                  <a:pt x="1070" y="1067"/>
                </a:lnTo>
                <a:lnTo>
                  <a:pt x="1055" y="1074"/>
                </a:lnTo>
                <a:lnTo>
                  <a:pt x="1037" y="1078"/>
                </a:lnTo>
                <a:lnTo>
                  <a:pt x="654" y="1078"/>
                </a:lnTo>
                <a:lnTo>
                  <a:pt x="636" y="1074"/>
                </a:lnTo>
                <a:lnTo>
                  <a:pt x="621" y="1067"/>
                </a:lnTo>
                <a:lnTo>
                  <a:pt x="609" y="1054"/>
                </a:lnTo>
                <a:lnTo>
                  <a:pt x="602" y="1040"/>
                </a:lnTo>
                <a:lnTo>
                  <a:pt x="598" y="1021"/>
                </a:lnTo>
                <a:lnTo>
                  <a:pt x="602" y="1004"/>
                </a:lnTo>
                <a:lnTo>
                  <a:pt x="609" y="988"/>
                </a:lnTo>
                <a:lnTo>
                  <a:pt x="621" y="977"/>
                </a:lnTo>
                <a:lnTo>
                  <a:pt x="636" y="969"/>
                </a:lnTo>
                <a:lnTo>
                  <a:pt x="654" y="966"/>
                </a:lnTo>
                <a:close/>
                <a:moveTo>
                  <a:pt x="246" y="880"/>
                </a:moveTo>
                <a:lnTo>
                  <a:pt x="214" y="883"/>
                </a:lnTo>
                <a:lnTo>
                  <a:pt x="186" y="894"/>
                </a:lnTo>
                <a:lnTo>
                  <a:pt x="161" y="910"/>
                </a:lnTo>
                <a:lnTo>
                  <a:pt x="141" y="931"/>
                </a:lnTo>
                <a:lnTo>
                  <a:pt x="125" y="955"/>
                </a:lnTo>
                <a:lnTo>
                  <a:pt x="114" y="985"/>
                </a:lnTo>
                <a:lnTo>
                  <a:pt x="110" y="1015"/>
                </a:lnTo>
                <a:lnTo>
                  <a:pt x="110" y="3786"/>
                </a:lnTo>
                <a:lnTo>
                  <a:pt x="114" y="3817"/>
                </a:lnTo>
                <a:lnTo>
                  <a:pt x="125" y="3845"/>
                </a:lnTo>
                <a:lnTo>
                  <a:pt x="141" y="3871"/>
                </a:lnTo>
                <a:lnTo>
                  <a:pt x="161" y="3891"/>
                </a:lnTo>
                <a:lnTo>
                  <a:pt x="186" y="3907"/>
                </a:lnTo>
                <a:lnTo>
                  <a:pt x="214" y="3917"/>
                </a:lnTo>
                <a:lnTo>
                  <a:pt x="246" y="3921"/>
                </a:lnTo>
                <a:lnTo>
                  <a:pt x="1448" y="3921"/>
                </a:lnTo>
                <a:lnTo>
                  <a:pt x="1479" y="3917"/>
                </a:lnTo>
                <a:lnTo>
                  <a:pt x="1507" y="3907"/>
                </a:lnTo>
                <a:lnTo>
                  <a:pt x="1532" y="3891"/>
                </a:lnTo>
                <a:lnTo>
                  <a:pt x="1553" y="3871"/>
                </a:lnTo>
                <a:lnTo>
                  <a:pt x="1569" y="3845"/>
                </a:lnTo>
                <a:lnTo>
                  <a:pt x="1580" y="3817"/>
                </a:lnTo>
                <a:lnTo>
                  <a:pt x="1583" y="3786"/>
                </a:lnTo>
                <a:lnTo>
                  <a:pt x="1583" y="1015"/>
                </a:lnTo>
                <a:lnTo>
                  <a:pt x="1580" y="985"/>
                </a:lnTo>
                <a:lnTo>
                  <a:pt x="1569" y="955"/>
                </a:lnTo>
                <a:lnTo>
                  <a:pt x="1553" y="931"/>
                </a:lnTo>
                <a:lnTo>
                  <a:pt x="1532" y="910"/>
                </a:lnTo>
                <a:lnTo>
                  <a:pt x="1507" y="894"/>
                </a:lnTo>
                <a:lnTo>
                  <a:pt x="1479" y="883"/>
                </a:lnTo>
                <a:lnTo>
                  <a:pt x="1448" y="880"/>
                </a:lnTo>
                <a:lnTo>
                  <a:pt x="246" y="880"/>
                </a:lnTo>
                <a:close/>
                <a:moveTo>
                  <a:pt x="246" y="770"/>
                </a:moveTo>
                <a:lnTo>
                  <a:pt x="1448" y="770"/>
                </a:lnTo>
                <a:lnTo>
                  <a:pt x="1488" y="772"/>
                </a:lnTo>
                <a:lnTo>
                  <a:pt x="1526" y="782"/>
                </a:lnTo>
                <a:lnTo>
                  <a:pt x="1561" y="797"/>
                </a:lnTo>
                <a:lnTo>
                  <a:pt x="1593" y="816"/>
                </a:lnTo>
                <a:lnTo>
                  <a:pt x="1621" y="842"/>
                </a:lnTo>
                <a:lnTo>
                  <a:pt x="1647" y="870"/>
                </a:lnTo>
                <a:lnTo>
                  <a:pt x="1666" y="902"/>
                </a:lnTo>
                <a:lnTo>
                  <a:pt x="1681" y="937"/>
                </a:lnTo>
                <a:lnTo>
                  <a:pt x="1691" y="975"/>
                </a:lnTo>
                <a:lnTo>
                  <a:pt x="1693" y="1015"/>
                </a:lnTo>
                <a:lnTo>
                  <a:pt x="1693" y="3786"/>
                </a:lnTo>
                <a:lnTo>
                  <a:pt x="1691" y="3826"/>
                </a:lnTo>
                <a:lnTo>
                  <a:pt x="1681" y="3863"/>
                </a:lnTo>
                <a:lnTo>
                  <a:pt x="1666" y="3899"/>
                </a:lnTo>
                <a:lnTo>
                  <a:pt x="1647" y="3932"/>
                </a:lnTo>
                <a:lnTo>
                  <a:pt x="1621" y="3960"/>
                </a:lnTo>
                <a:lnTo>
                  <a:pt x="1593" y="3984"/>
                </a:lnTo>
                <a:lnTo>
                  <a:pt x="1561" y="4005"/>
                </a:lnTo>
                <a:lnTo>
                  <a:pt x="1526" y="4020"/>
                </a:lnTo>
                <a:lnTo>
                  <a:pt x="1488" y="4028"/>
                </a:lnTo>
                <a:lnTo>
                  <a:pt x="1448" y="4032"/>
                </a:lnTo>
                <a:lnTo>
                  <a:pt x="246" y="4032"/>
                </a:lnTo>
                <a:lnTo>
                  <a:pt x="205" y="4028"/>
                </a:lnTo>
                <a:lnTo>
                  <a:pt x="167" y="4020"/>
                </a:lnTo>
                <a:lnTo>
                  <a:pt x="132" y="4005"/>
                </a:lnTo>
                <a:lnTo>
                  <a:pt x="100" y="3984"/>
                </a:lnTo>
                <a:lnTo>
                  <a:pt x="72" y="3960"/>
                </a:lnTo>
                <a:lnTo>
                  <a:pt x="46" y="3932"/>
                </a:lnTo>
                <a:lnTo>
                  <a:pt x="27" y="3899"/>
                </a:lnTo>
                <a:lnTo>
                  <a:pt x="12" y="3863"/>
                </a:lnTo>
                <a:lnTo>
                  <a:pt x="2" y="3826"/>
                </a:lnTo>
                <a:lnTo>
                  <a:pt x="0" y="3786"/>
                </a:lnTo>
                <a:lnTo>
                  <a:pt x="0" y="1015"/>
                </a:lnTo>
                <a:lnTo>
                  <a:pt x="2" y="975"/>
                </a:lnTo>
                <a:lnTo>
                  <a:pt x="12" y="937"/>
                </a:lnTo>
                <a:lnTo>
                  <a:pt x="27" y="902"/>
                </a:lnTo>
                <a:lnTo>
                  <a:pt x="46" y="870"/>
                </a:lnTo>
                <a:lnTo>
                  <a:pt x="72" y="842"/>
                </a:lnTo>
                <a:lnTo>
                  <a:pt x="100" y="816"/>
                </a:lnTo>
                <a:lnTo>
                  <a:pt x="132" y="797"/>
                </a:lnTo>
                <a:lnTo>
                  <a:pt x="167" y="782"/>
                </a:lnTo>
                <a:lnTo>
                  <a:pt x="205" y="772"/>
                </a:lnTo>
                <a:lnTo>
                  <a:pt x="246" y="770"/>
                </a:lnTo>
                <a:close/>
                <a:moveTo>
                  <a:pt x="1553" y="579"/>
                </a:moveTo>
                <a:lnTo>
                  <a:pt x="1600" y="586"/>
                </a:lnTo>
                <a:lnTo>
                  <a:pt x="1647" y="601"/>
                </a:lnTo>
                <a:lnTo>
                  <a:pt x="1690" y="619"/>
                </a:lnTo>
                <a:lnTo>
                  <a:pt x="1731" y="644"/>
                </a:lnTo>
                <a:lnTo>
                  <a:pt x="1768" y="673"/>
                </a:lnTo>
                <a:lnTo>
                  <a:pt x="1801" y="706"/>
                </a:lnTo>
                <a:lnTo>
                  <a:pt x="1830" y="744"/>
                </a:lnTo>
                <a:lnTo>
                  <a:pt x="1855" y="784"/>
                </a:lnTo>
                <a:lnTo>
                  <a:pt x="1873" y="828"/>
                </a:lnTo>
                <a:lnTo>
                  <a:pt x="1888" y="875"/>
                </a:lnTo>
                <a:lnTo>
                  <a:pt x="1888" y="893"/>
                </a:lnTo>
                <a:lnTo>
                  <a:pt x="1884" y="909"/>
                </a:lnTo>
                <a:lnTo>
                  <a:pt x="1875" y="924"/>
                </a:lnTo>
                <a:lnTo>
                  <a:pt x="1862" y="935"/>
                </a:lnTo>
                <a:lnTo>
                  <a:pt x="1845" y="942"/>
                </a:lnTo>
                <a:lnTo>
                  <a:pt x="1839" y="942"/>
                </a:lnTo>
                <a:lnTo>
                  <a:pt x="1833" y="943"/>
                </a:lnTo>
                <a:lnTo>
                  <a:pt x="1814" y="940"/>
                </a:lnTo>
                <a:lnTo>
                  <a:pt x="1798" y="931"/>
                </a:lnTo>
                <a:lnTo>
                  <a:pt x="1786" y="918"/>
                </a:lnTo>
                <a:lnTo>
                  <a:pt x="1779" y="899"/>
                </a:lnTo>
                <a:lnTo>
                  <a:pt x="1765" y="859"/>
                </a:lnTo>
                <a:lnTo>
                  <a:pt x="1747" y="820"/>
                </a:lnTo>
                <a:lnTo>
                  <a:pt x="1723" y="786"/>
                </a:lnTo>
                <a:lnTo>
                  <a:pt x="1695" y="756"/>
                </a:lnTo>
                <a:lnTo>
                  <a:pt x="1660" y="731"/>
                </a:lnTo>
                <a:lnTo>
                  <a:pt x="1624" y="711"/>
                </a:lnTo>
                <a:lnTo>
                  <a:pt x="1583" y="696"/>
                </a:lnTo>
                <a:lnTo>
                  <a:pt x="1542" y="689"/>
                </a:lnTo>
                <a:lnTo>
                  <a:pt x="1525" y="684"/>
                </a:lnTo>
                <a:lnTo>
                  <a:pt x="1510" y="676"/>
                </a:lnTo>
                <a:lnTo>
                  <a:pt x="1499" y="662"/>
                </a:lnTo>
                <a:lnTo>
                  <a:pt x="1493" y="646"/>
                </a:lnTo>
                <a:lnTo>
                  <a:pt x="1492" y="628"/>
                </a:lnTo>
                <a:lnTo>
                  <a:pt x="1496" y="611"/>
                </a:lnTo>
                <a:lnTo>
                  <a:pt x="1506" y="597"/>
                </a:lnTo>
                <a:lnTo>
                  <a:pt x="1520" y="586"/>
                </a:lnTo>
                <a:lnTo>
                  <a:pt x="1536" y="580"/>
                </a:lnTo>
                <a:lnTo>
                  <a:pt x="1553" y="579"/>
                </a:lnTo>
                <a:close/>
                <a:moveTo>
                  <a:pt x="1583" y="286"/>
                </a:moveTo>
                <a:lnTo>
                  <a:pt x="1652" y="296"/>
                </a:lnTo>
                <a:lnTo>
                  <a:pt x="1718" y="313"/>
                </a:lnTo>
                <a:lnTo>
                  <a:pt x="1780" y="336"/>
                </a:lnTo>
                <a:lnTo>
                  <a:pt x="1840" y="365"/>
                </a:lnTo>
                <a:lnTo>
                  <a:pt x="1896" y="401"/>
                </a:lnTo>
                <a:lnTo>
                  <a:pt x="1948" y="440"/>
                </a:lnTo>
                <a:lnTo>
                  <a:pt x="1997" y="484"/>
                </a:lnTo>
                <a:lnTo>
                  <a:pt x="2039" y="533"/>
                </a:lnTo>
                <a:lnTo>
                  <a:pt x="2078" y="585"/>
                </a:lnTo>
                <a:lnTo>
                  <a:pt x="2111" y="641"/>
                </a:lnTo>
                <a:lnTo>
                  <a:pt x="2140" y="700"/>
                </a:lnTo>
                <a:lnTo>
                  <a:pt x="2162" y="762"/>
                </a:lnTo>
                <a:lnTo>
                  <a:pt x="2179" y="826"/>
                </a:lnTo>
                <a:lnTo>
                  <a:pt x="2188" y="893"/>
                </a:lnTo>
                <a:lnTo>
                  <a:pt x="2192" y="960"/>
                </a:lnTo>
                <a:lnTo>
                  <a:pt x="2188" y="1030"/>
                </a:lnTo>
                <a:lnTo>
                  <a:pt x="2184" y="1046"/>
                </a:lnTo>
                <a:lnTo>
                  <a:pt x="2175" y="1059"/>
                </a:lnTo>
                <a:lnTo>
                  <a:pt x="2164" y="1070"/>
                </a:lnTo>
                <a:lnTo>
                  <a:pt x="2149" y="1078"/>
                </a:lnTo>
                <a:lnTo>
                  <a:pt x="2132" y="1079"/>
                </a:lnTo>
                <a:lnTo>
                  <a:pt x="2127" y="1079"/>
                </a:lnTo>
                <a:lnTo>
                  <a:pt x="2110" y="1074"/>
                </a:lnTo>
                <a:lnTo>
                  <a:pt x="2096" y="1065"/>
                </a:lnTo>
                <a:lnTo>
                  <a:pt x="2085" y="1052"/>
                </a:lnTo>
                <a:lnTo>
                  <a:pt x="2078" y="1036"/>
                </a:lnTo>
                <a:lnTo>
                  <a:pt x="2077" y="1018"/>
                </a:lnTo>
                <a:lnTo>
                  <a:pt x="2081" y="957"/>
                </a:lnTo>
                <a:lnTo>
                  <a:pt x="2077" y="896"/>
                </a:lnTo>
                <a:lnTo>
                  <a:pt x="2067" y="837"/>
                </a:lnTo>
                <a:lnTo>
                  <a:pt x="2052" y="781"/>
                </a:lnTo>
                <a:lnTo>
                  <a:pt x="2030" y="726"/>
                </a:lnTo>
                <a:lnTo>
                  <a:pt x="2003" y="674"/>
                </a:lnTo>
                <a:lnTo>
                  <a:pt x="1971" y="626"/>
                </a:lnTo>
                <a:lnTo>
                  <a:pt x="1934" y="580"/>
                </a:lnTo>
                <a:lnTo>
                  <a:pt x="1894" y="539"/>
                </a:lnTo>
                <a:lnTo>
                  <a:pt x="1849" y="502"/>
                </a:lnTo>
                <a:lnTo>
                  <a:pt x="1800" y="470"/>
                </a:lnTo>
                <a:lnTo>
                  <a:pt x="1747" y="444"/>
                </a:lnTo>
                <a:lnTo>
                  <a:pt x="1691" y="422"/>
                </a:lnTo>
                <a:lnTo>
                  <a:pt x="1632" y="406"/>
                </a:lnTo>
                <a:lnTo>
                  <a:pt x="1571" y="396"/>
                </a:lnTo>
                <a:lnTo>
                  <a:pt x="1554" y="391"/>
                </a:lnTo>
                <a:lnTo>
                  <a:pt x="1540" y="381"/>
                </a:lnTo>
                <a:lnTo>
                  <a:pt x="1529" y="369"/>
                </a:lnTo>
                <a:lnTo>
                  <a:pt x="1523" y="353"/>
                </a:lnTo>
                <a:lnTo>
                  <a:pt x="1522" y="335"/>
                </a:lnTo>
                <a:lnTo>
                  <a:pt x="1527" y="318"/>
                </a:lnTo>
                <a:lnTo>
                  <a:pt x="1536" y="303"/>
                </a:lnTo>
                <a:lnTo>
                  <a:pt x="1549" y="293"/>
                </a:lnTo>
                <a:lnTo>
                  <a:pt x="1565" y="287"/>
                </a:lnTo>
                <a:lnTo>
                  <a:pt x="1583" y="286"/>
                </a:lnTo>
                <a:close/>
                <a:moveTo>
                  <a:pt x="1613" y="0"/>
                </a:moveTo>
                <a:lnTo>
                  <a:pt x="1695" y="12"/>
                </a:lnTo>
                <a:lnTo>
                  <a:pt x="1775" y="31"/>
                </a:lnTo>
                <a:lnTo>
                  <a:pt x="1851" y="56"/>
                </a:lnTo>
                <a:lnTo>
                  <a:pt x="1926" y="87"/>
                </a:lnTo>
                <a:lnTo>
                  <a:pt x="1995" y="125"/>
                </a:lnTo>
                <a:lnTo>
                  <a:pt x="2063" y="166"/>
                </a:lnTo>
                <a:lnTo>
                  <a:pt x="2125" y="214"/>
                </a:lnTo>
                <a:lnTo>
                  <a:pt x="2182" y="265"/>
                </a:lnTo>
                <a:lnTo>
                  <a:pt x="2237" y="323"/>
                </a:lnTo>
                <a:lnTo>
                  <a:pt x="2286" y="382"/>
                </a:lnTo>
                <a:lnTo>
                  <a:pt x="2330" y="447"/>
                </a:lnTo>
                <a:lnTo>
                  <a:pt x="2369" y="514"/>
                </a:lnTo>
                <a:lnTo>
                  <a:pt x="2402" y="585"/>
                </a:lnTo>
                <a:lnTo>
                  <a:pt x="2431" y="660"/>
                </a:lnTo>
                <a:lnTo>
                  <a:pt x="2453" y="736"/>
                </a:lnTo>
                <a:lnTo>
                  <a:pt x="2467" y="814"/>
                </a:lnTo>
                <a:lnTo>
                  <a:pt x="2476" y="894"/>
                </a:lnTo>
                <a:lnTo>
                  <a:pt x="2478" y="976"/>
                </a:lnTo>
                <a:lnTo>
                  <a:pt x="2473" y="1059"/>
                </a:lnTo>
                <a:lnTo>
                  <a:pt x="2470" y="1075"/>
                </a:lnTo>
                <a:lnTo>
                  <a:pt x="2461" y="1089"/>
                </a:lnTo>
                <a:lnTo>
                  <a:pt x="2449" y="1100"/>
                </a:lnTo>
                <a:lnTo>
                  <a:pt x="2434" y="1107"/>
                </a:lnTo>
                <a:lnTo>
                  <a:pt x="2418" y="1109"/>
                </a:lnTo>
                <a:lnTo>
                  <a:pt x="2412" y="1108"/>
                </a:lnTo>
                <a:lnTo>
                  <a:pt x="2395" y="1105"/>
                </a:lnTo>
                <a:lnTo>
                  <a:pt x="2380" y="1095"/>
                </a:lnTo>
                <a:lnTo>
                  <a:pt x="2371" y="1081"/>
                </a:lnTo>
                <a:lnTo>
                  <a:pt x="2363" y="1065"/>
                </a:lnTo>
                <a:lnTo>
                  <a:pt x="2363" y="1048"/>
                </a:lnTo>
                <a:lnTo>
                  <a:pt x="2367" y="970"/>
                </a:lnTo>
                <a:lnTo>
                  <a:pt x="2365" y="894"/>
                </a:lnTo>
                <a:lnTo>
                  <a:pt x="2356" y="819"/>
                </a:lnTo>
                <a:lnTo>
                  <a:pt x="2340" y="747"/>
                </a:lnTo>
                <a:lnTo>
                  <a:pt x="2318" y="676"/>
                </a:lnTo>
                <a:lnTo>
                  <a:pt x="2291" y="607"/>
                </a:lnTo>
                <a:lnTo>
                  <a:pt x="2258" y="542"/>
                </a:lnTo>
                <a:lnTo>
                  <a:pt x="2219" y="480"/>
                </a:lnTo>
                <a:lnTo>
                  <a:pt x="2176" y="422"/>
                </a:lnTo>
                <a:lnTo>
                  <a:pt x="2127" y="368"/>
                </a:lnTo>
                <a:lnTo>
                  <a:pt x="2075" y="316"/>
                </a:lnTo>
                <a:lnTo>
                  <a:pt x="2017" y="271"/>
                </a:lnTo>
                <a:lnTo>
                  <a:pt x="1956" y="230"/>
                </a:lnTo>
                <a:lnTo>
                  <a:pt x="1891" y="194"/>
                </a:lnTo>
                <a:lnTo>
                  <a:pt x="1824" y="165"/>
                </a:lnTo>
                <a:lnTo>
                  <a:pt x="1752" y="141"/>
                </a:lnTo>
                <a:lnTo>
                  <a:pt x="1677" y="122"/>
                </a:lnTo>
                <a:lnTo>
                  <a:pt x="1602" y="111"/>
                </a:lnTo>
                <a:lnTo>
                  <a:pt x="1584" y="106"/>
                </a:lnTo>
                <a:lnTo>
                  <a:pt x="1570" y="97"/>
                </a:lnTo>
                <a:lnTo>
                  <a:pt x="1559" y="83"/>
                </a:lnTo>
                <a:lnTo>
                  <a:pt x="1553" y="67"/>
                </a:lnTo>
                <a:lnTo>
                  <a:pt x="1551" y="50"/>
                </a:lnTo>
                <a:lnTo>
                  <a:pt x="1556" y="33"/>
                </a:lnTo>
                <a:lnTo>
                  <a:pt x="1566" y="18"/>
                </a:lnTo>
                <a:lnTo>
                  <a:pt x="1578" y="7"/>
                </a:lnTo>
                <a:lnTo>
                  <a:pt x="1594" y="1"/>
                </a:lnTo>
                <a:lnTo>
                  <a:pt x="1613"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54" name="Group 53">
            <a:extLst>
              <a:ext uri="{FF2B5EF4-FFF2-40B4-BE49-F238E27FC236}">
                <a16:creationId xmlns:a16="http://schemas.microsoft.com/office/drawing/2014/main" id="{B2B4FEC8-E56E-49E5-AA1C-CC40326EA9A2}"/>
              </a:ext>
            </a:extLst>
          </p:cNvPr>
          <p:cNvGrpSpPr/>
          <p:nvPr/>
        </p:nvGrpSpPr>
        <p:grpSpPr>
          <a:xfrm>
            <a:off x="452490" y="907167"/>
            <a:ext cx="631506" cy="442674"/>
            <a:chOff x="329939" y="907167"/>
            <a:chExt cx="631506" cy="442674"/>
          </a:xfrm>
        </p:grpSpPr>
        <p:pic>
          <p:nvPicPr>
            <p:cNvPr id="55" name="Picture 54">
              <a:extLst>
                <a:ext uri="{FF2B5EF4-FFF2-40B4-BE49-F238E27FC236}">
                  <a16:creationId xmlns:a16="http://schemas.microsoft.com/office/drawing/2014/main" id="{3F86EEBA-0C8C-4EBC-9C20-0DF50F7F3987}"/>
                </a:ext>
              </a:extLst>
            </p:cNvPr>
            <p:cNvPicPr>
              <a:picLocks noChangeAspect="1"/>
            </p:cNvPicPr>
            <p:nvPr/>
          </p:nvPicPr>
          <p:blipFill>
            <a:blip r:embed="rId4"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680385" y="948203"/>
              <a:ext cx="281060" cy="301292"/>
            </a:xfrm>
            <a:prstGeom prst="rect">
              <a:avLst/>
            </a:prstGeom>
          </p:spPr>
        </p:pic>
        <p:sp>
          <p:nvSpPr>
            <p:cNvPr id="56" name="Freeform 16">
              <a:extLst>
                <a:ext uri="{FF2B5EF4-FFF2-40B4-BE49-F238E27FC236}">
                  <a16:creationId xmlns:a16="http://schemas.microsoft.com/office/drawing/2014/main" id="{2D18DD5D-2B80-475B-BFEA-618EF8978E85}"/>
                </a:ext>
              </a:extLst>
            </p:cNvPr>
            <p:cNvSpPr>
              <a:spLocks noChangeAspect="1" noEditPoints="1"/>
            </p:cNvSpPr>
            <p:nvPr/>
          </p:nvSpPr>
          <p:spPr bwMode="auto">
            <a:xfrm>
              <a:off x="329939" y="907167"/>
              <a:ext cx="517317" cy="442674"/>
            </a:xfrm>
            <a:custGeom>
              <a:avLst/>
              <a:gdLst>
                <a:gd name="T0" fmla="*/ 1289 w 2648"/>
                <a:gd name="T1" fmla="*/ 3122 h 3456"/>
                <a:gd name="T2" fmla="*/ 1289 w 2648"/>
                <a:gd name="T3" fmla="*/ 3182 h 3456"/>
                <a:gd name="T4" fmla="*/ 1344 w 2648"/>
                <a:gd name="T5" fmla="*/ 3199 h 3456"/>
                <a:gd name="T6" fmla="*/ 1379 w 2648"/>
                <a:gd name="T7" fmla="*/ 3152 h 3456"/>
                <a:gd name="T8" fmla="*/ 1344 w 2648"/>
                <a:gd name="T9" fmla="*/ 3104 h 3456"/>
                <a:gd name="T10" fmla="*/ 1385 w 2648"/>
                <a:gd name="T11" fmla="*/ 3019 h 3456"/>
                <a:gd name="T12" fmla="*/ 1461 w 2648"/>
                <a:gd name="T13" fmla="*/ 3096 h 3456"/>
                <a:gd name="T14" fmla="*/ 1461 w 2648"/>
                <a:gd name="T15" fmla="*/ 3208 h 3456"/>
                <a:gd name="T16" fmla="*/ 1385 w 2648"/>
                <a:gd name="T17" fmla="*/ 3284 h 3456"/>
                <a:gd name="T18" fmla="*/ 1273 w 2648"/>
                <a:gd name="T19" fmla="*/ 3284 h 3456"/>
                <a:gd name="T20" fmla="*/ 1197 w 2648"/>
                <a:gd name="T21" fmla="*/ 3208 h 3456"/>
                <a:gd name="T22" fmla="*/ 1197 w 2648"/>
                <a:gd name="T23" fmla="*/ 3096 h 3456"/>
                <a:gd name="T24" fmla="*/ 1273 w 2648"/>
                <a:gd name="T25" fmla="*/ 3019 h 3456"/>
                <a:gd name="T26" fmla="*/ 322 w 2648"/>
                <a:gd name="T27" fmla="*/ 362 h 3456"/>
                <a:gd name="T28" fmla="*/ 298 w 2648"/>
                <a:gd name="T29" fmla="*/ 2806 h 3456"/>
                <a:gd name="T30" fmla="*/ 338 w 2648"/>
                <a:gd name="T31" fmla="*/ 2844 h 3456"/>
                <a:gd name="T32" fmla="*/ 2359 w 2648"/>
                <a:gd name="T33" fmla="*/ 2820 h 3456"/>
                <a:gd name="T34" fmla="*/ 2350 w 2648"/>
                <a:gd name="T35" fmla="*/ 371 h 3456"/>
                <a:gd name="T36" fmla="*/ 338 w 2648"/>
                <a:gd name="T37" fmla="*/ 266 h 3456"/>
                <a:gd name="T38" fmla="*/ 2398 w 2648"/>
                <a:gd name="T39" fmla="*/ 288 h 3456"/>
                <a:gd name="T40" fmla="*/ 2453 w 2648"/>
                <a:gd name="T41" fmla="*/ 372 h 3456"/>
                <a:gd name="T42" fmla="*/ 2446 w 2648"/>
                <a:gd name="T43" fmla="*/ 2857 h 3456"/>
                <a:gd name="T44" fmla="*/ 2375 w 2648"/>
                <a:gd name="T45" fmla="*/ 2927 h 3456"/>
                <a:gd name="T46" fmla="*/ 311 w 2648"/>
                <a:gd name="T47" fmla="*/ 2936 h 3456"/>
                <a:gd name="T48" fmla="*/ 228 w 2648"/>
                <a:gd name="T49" fmla="*/ 2879 h 3456"/>
                <a:gd name="T50" fmla="*/ 205 w 2648"/>
                <a:gd name="T51" fmla="*/ 398 h 3456"/>
                <a:gd name="T52" fmla="*/ 244 w 2648"/>
                <a:gd name="T53" fmla="*/ 305 h 3456"/>
                <a:gd name="T54" fmla="*/ 338 w 2648"/>
                <a:gd name="T55" fmla="*/ 266 h 3456"/>
                <a:gd name="T56" fmla="*/ 151 w 2648"/>
                <a:gd name="T57" fmla="*/ 116 h 3456"/>
                <a:gd name="T58" fmla="*/ 96 w 2648"/>
                <a:gd name="T59" fmla="*/ 197 h 3456"/>
                <a:gd name="T60" fmla="*/ 105 w 2648"/>
                <a:gd name="T61" fmla="*/ 3283 h 3456"/>
                <a:gd name="T62" fmla="*/ 173 w 2648"/>
                <a:gd name="T63" fmla="*/ 3352 h 3456"/>
                <a:gd name="T64" fmla="*/ 2452 w 2648"/>
                <a:gd name="T65" fmla="*/ 3360 h 3456"/>
                <a:gd name="T66" fmla="*/ 2533 w 2648"/>
                <a:gd name="T67" fmla="*/ 3305 h 3456"/>
                <a:gd name="T68" fmla="*/ 2554 w 2648"/>
                <a:gd name="T69" fmla="*/ 222 h 3456"/>
                <a:gd name="T70" fmla="*/ 2517 w 2648"/>
                <a:gd name="T71" fmla="*/ 132 h 3456"/>
                <a:gd name="T72" fmla="*/ 2426 w 2648"/>
                <a:gd name="T73" fmla="*/ 94 h 3456"/>
                <a:gd name="T74" fmla="*/ 2461 w 2648"/>
                <a:gd name="T75" fmla="*/ 3 h 3456"/>
                <a:gd name="T76" fmla="*/ 2583 w 2648"/>
                <a:gd name="T77" fmla="*/ 65 h 3456"/>
                <a:gd name="T78" fmla="*/ 2644 w 2648"/>
                <a:gd name="T79" fmla="*/ 186 h 3456"/>
                <a:gd name="T80" fmla="*/ 2636 w 2648"/>
                <a:gd name="T81" fmla="*/ 3304 h 3456"/>
                <a:gd name="T82" fmla="*/ 2557 w 2648"/>
                <a:gd name="T83" fmla="*/ 3413 h 3456"/>
                <a:gd name="T84" fmla="*/ 2426 w 2648"/>
                <a:gd name="T85" fmla="*/ 3456 h 3456"/>
                <a:gd name="T86" fmla="*/ 120 w 2648"/>
                <a:gd name="T87" fmla="*/ 3431 h 3456"/>
                <a:gd name="T88" fmla="*/ 25 w 2648"/>
                <a:gd name="T89" fmla="*/ 3336 h 3456"/>
                <a:gd name="T90" fmla="*/ 0 w 2648"/>
                <a:gd name="T91" fmla="*/ 222 h 3456"/>
                <a:gd name="T92" fmla="*/ 43 w 2648"/>
                <a:gd name="T93" fmla="*/ 91 h 3456"/>
                <a:gd name="T94" fmla="*/ 153 w 2648"/>
                <a:gd name="T95" fmla="*/ 12 h 3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648" h="3456">
                  <a:moveTo>
                    <a:pt x="1328" y="3102"/>
                  </a:moveTo>
                  <a:lnTo>
                    <a:pt x="1313" y="3104"/>
                  </a:lnTo>
                  <a:lnTo>
                    <a:pt x="1299" y="3111"/>
                  </a:lnTo>
                  <a:lnTo>
                    <a:pt x="1289" y="3122"/>
                  </a:lnTo>
                  <a:lnTo>
                    <a:pt x="1281" y="3137"/>
                  </a:lnTo>
                  <a:lnTo>
                    <a:pt x="1278" y="3152"/>
                  </a:lnTo>
                  <a:lnTo>
                    <a:pt x="1281" y="3168"/>
                  </a:lnTo>
                  <a:lnTo>
                    <a:pt x="1289" y="3182"/>
                  </a:lnTo>
                  <a:lnTo>
                    <a:pt x="1299" y="3193"/>
                  </a:lnTo>
                  <a:lnTo>
                    <a:pt x="1313" y="3199"/>
                  </a:lnTo>
                  <a:lnTo>
                    <a:pt x="1328" y="3203"/>
                  </a:lnTo>
                  <a:lnTo>
                    <a:pt x="1344" y="3199"/>
                  </a:lnTo>
                  <a:lnTo>
                    <a:pt x="1359" y="3193"/>
                  </a:lnTo>
                  <a:lnTo>
                    <a:pt x="1369" y="3182"/>
                  </a:lnTo>
                  <a:lnTo>
                    <a:pt x="1377" y="3168"/>
                  </a:lnTo>
                  <a:lnTo>
                    <a:pt x="1379" y="3152"/>
                  </a:lnTo>
                  <a:lnTo>
                    <a:pt x="1377" y="3137"/>
                  </a:lnTo>
                  <a:lnTo>
                    <a:pt x="1369" y="3122"/>
                  </a:lnTo>
                  <a:lnTo>
                    <a:pt x="1359" y="3111"/>
                  </a:lnTo>
                  <a:lnTo>
                    <a:pt x="1344" y="3104"/>
                  </a:lnTo>
                  <a:lnTo>
                    <a:pt x="1328" y="3102"/>
                  </a:lnTo>
                  <a:close/>
                  <a:moveTo>
                    <a:pt x="1328" y="3008"/>
                  </a:moveTo>
                  <a:lnTo>
                    <a:pt x="1358" y="3011"/>
                  </a:lnTo>
                  <a:lnTo>
                    <a:pt x="1385" y="3019"/>
                  </a:lnTo>
                  <a:lnTo>
                    <a:pt x="1409" y="3033"/>
                  </a:lnTo>
                  <a:lnTo>
                    <a:pt x="1431" y="3051"/>
                  </a:lnTo>
                  <a:lnTo>
                    <a:pt x="1448" y="3072"/>
                  </a:lnTo>
                  <a:lnTo>
                    <a:pt x="1461" y="3096"/>
                  </a:lnTo>
                  <a:lnTo>
                    <a:pt x="1470" y="3123"/>
                  </a:lnTo>
                  <a:lnTo>
                    <a:pt x="1473" y="3152"/>
                  </a:lnTo>
                  <a:lnTo>
                    <a:pt x="1470" y="3181"/>
                  </a:lnTo>
                  <a:lnTo>
                    <a:pt x="1461" y="3208"/>
                  </a:lnTo>
                  <a:lnTo>
                    <a:pt x="1448" y="3233"/>
                  </a:lnTo>
                  <a:lnTo>
                    <a:pt x="1431" y="3254"/>
                  </a:lnTo>
                  <a:lnTo>
                    <a:pt x="1409" y="3272"/>
                  </a:lnTo>
                  <a:lnTo>
                    <a:pt x="1385" y="3284"/>
                  </a:lnTo>
                  <a:lnTo>
                    <a:pt x="1358" y="3294"/>
                  </a:lnTo>
                  <a:lnTo>
                    <a:pt x="1328" y="3296"/>
                  </a:lnTo>
                  <a:lnTo>
                    <a:pt x="1300" y="3294"/>
                  </a:lnTo>
                  <a:lnTo>
                    <a:pt x="1273" y="3284"/>
                  </a:lnTo>
                  <a:lnTo>
                    <a:pt x="1248" y="3272"/>
                  </a:lnTo>
                  <a:lnTo>
                    <a:pt x="1227" y="3254"/>
                  </a:lnTo>
                  <a:lnTo>
                    <a:pt x="1209" y="3233"/>
                  </a:lnTo>
                  <a:lnTo>
                    <a:pt x="1197" y="3208"/>
                  </a:lnTo>
                  <a:lnTo>
                    <a:pt x="1188" y="3181"/>
                  </a:lnTo>
                  <a:lnTo>
                    <a:pt x="1185" y="3152"/>
                  </a:lnTo>
                  <a:lnTo>
                    <a:pt x="1188" y="3123"/>
                  </a:lnTo>
                  <a:lnTo>
                    <a:pt x="1197" y="3096"/>
                  </a:lnTo>
                  <a:lnTo>
                    <a:pt x="1209" y="3072"/>
                  </a:lnTo>
                  <a:lnTo>
                    <a:pt x="1227" y="3051"/>
                  </a:lnTo>
                  <a:lnTo>
                    <a:pt x="1248" y="3033"/>
                  </a:lnTo>
                  <a:lnTo>
                    <a:pt x="1273" y="3019"/>
                  </a:lnTo>
                  <a:lnTo>
                    <a:pt x="1300" y="3011"/>
                  </a:lnTo>
                  <a:lnTo>
                    <a:pt x="1328" y="3008"/>
                  </a:lnTo>
                  <a:close/>
                  <a:moveTo>
                    <a:pt x="338" y="359"/>
                  </a:moveTo>
                  <a:lnTo>
                    <a:pt x="322" y="362"/>
                  </a:lnTo>
                  <a:lnTo>
                    <a:pt x="310" y="371"/>
                  </a:lnTo>
                  <a:lnTo>
                    <a:pt x="301" y="383"/>
                  </a:lnTo>
                  <a:lnTo>
                    <a:pt x="298" y="398"/>
                  </a:lnTo>
                  <a:lnTo>
                    <a:pt x="298" y="2806"/>
                  </a:lnTo>
                  <a:lnTo>
                    <a:pt x="301" y="2820"/>
                  </a:lnTo>
                  <a:lnTo>
                    <a:pt x="310" y="2833"/>
                  </a:lnTo>
                  <a:lnTo>
                    <a:pt x="322" y="2841"/>
                  </a:lnTo>
                  <a:lnTo>
                    <a:pt x="338" y="2844"/>
                  </a:lnTo>
                  <a:lnTo>
                    <a:pt x="2323" y="2844"/>
                  </a:lnTo>
                  <a:lnTo>
                    <a:pt x="2338" y="2841"/>
                  </a:lnTo>
                  <a:lnTo>
                    <a:pt x="2350" y="2833"/>
                  </a:lnTo>
                  <a:lnTo>
                    <a:pt x="2359" y="2820"/>
                  </a:lnTo>
                  <a:lnTo>
                    <a:pt x="2362" y="2806"/>
                  </a:lnTo>
                  <a:lnTo>
                    <a:pt x="2362" y="398"/>
                  </a:lnTo>
                  <a:lnTo>
                    <a:pt x="2359" y="383"/>
                  </a:lnTo>
                  <a:lnTo>
                    <a:pt x="2350" y="371"/>
                  </a:lnTo>
                  <a:lnTo>
                    <a:pt x="2338" y="362"/>
                  </a:lnTo>
                  <a:lnTo>
                    <a:pt x="2323" y="359"/>
                  </a:lnTo>
                  <a:lnTo>
                    <a:pt x="338" y="359"/>
                  </a:lnTo>
                  <a:close/>
                  <a:moveTo>
                    <a:pt x="338" y="266"/>
                  </a:moveTo>
                  <a:lnTo>
                    <a:pt x="2323" y="266"/>
                  </a:lnTo>
                  <a:lnTo>
                    <a:pt x="2349" y="268"/>
                  </a:lnTo>
                  <a:lnTo>
                    <a:pt x="2375" y="276"/>
                  </a:lnTo>
                  <a:lnTo>
                    <a:pt x="2398" y="288"/>
                  </a:lnTo>
                  <a:lnTo>
                    <a:pt x="2416" y="305"/>
                  </a:lnTo>
                  <a:lnTo>
                    <a:pt x="2433" y="325"/>
                  </a:lnTo>
                  <a:lnTo>
                    <a:pt x="2446" y="347"/>
                  </a:lnTo>
                  <a:lnTo>
                    <a:pt x="2453" y="372"/>
                  </a:lnTo>
                  <a:lnTo>
                    <a:pt x="2456" y="398"/>
                  </a:lnTo>
                  <a:lnTo>
                    <a:pt x="2456" y="2806"/>
                  </a:lnTo>
                  <a:lnTo>
                    <a:pt x="2453" y="2832"/>
                  </a:lnTo>
                  <a:lnTo>
                    <a:pt x="2446" y="2857"/>
                  </a:lnTo>
                  <a:lnTo>
                    <a:pt x="2433" y="2879"/>
                  </a:lnTo>
                  <a:lnTo>
                    <a:pt x="2416" y="2899"/>
                  </a:lnTo>
                  <a:lnTo>
                    <a:pt x="2398" y="2916"/>
                  </a:lnTo>
                  <a:lnTo>
                    <a:pt x="2375" y="2927"/>
                  </a:lnTo>
                  <a:lnTo>
                    <a:pt x="2349" y="2936"/>
                  </a:lnTo>
                  <a:lnTo>
                    <a:pt x="2323" y="2938"/>
                  </a:lnTo>
                  <a:lnTo>
                    <a:pt x="338" y="2938"/>
                  </a:lnTo>
                  <a:lnTo>
                    <a:pt x="311" y="2936"/>
                  </a:lnTo>
                  <a:lnTo>
                    <a:pt x="286" y="2927"/>
                  </a:lnTo>
                  <a:lnTo>
                    <a:pt x="264" y="2916"/>
                  </a:lnTo>
                  <a:lnTo>
                    <a:pt x="244" y="2899"/>
                  </a:lnTo>
                  <a:lnTo>
                    <a:pt x="228" y="2879"/>
                  </a:lnTo>
                  <a:lnTo>
                    <a:pt x="215" y="2857"/>
                  </a:lnTo>
                  <a:lnTo>
                    <a:pt x="208" y="2832"/>
                  </a:lnTo>
                  <a:lnTo>
                    <a:pt x="205" y="2806"/>
                  </a:lnTo>
                  <a:lnTo>
                    <a:pt x="205" y="398"/>
                  </a:lnTo>
                  <a:lnTo>
                    <a:pt x="208" y="372"/>
                  </a:lnTo>
                  <a:lnTo>
                    <a:pt x="215" y="347"/>
                  </a:lnTo>
                  <a:lnTo>
                    <a:pt x="228" y="325"/>
                  </a:lnTo>
                  <a:lnTo>
                    <a:pt x="244" y="305"/>
                  </a:lnTo>
                  <a:lnTo>
                    <a:pt x="264" y="288"/>
                  </a:lnTo>
                  <a:lnTo>
                    <a:pt x="286" y="276"/>
                  </a:lnTo>
                  <a:lnTo>
                    <a:pt x="311" y="268"/>
                  </a:lnTo>
                  <a:lnTo>
                    <a:pt x="338" y="266"/>
                  </a:lnTo>
                  <a:close/>
                  <a:moveTo>
                    <a:pt x="223" y="94"/>
                  </a:moveTo>
                  <a:lnTo>
                    <a:pt x="197" y="96"/>
                  </a:lnTo>
                  <a:lnTo>
                    <a:pt x="173" y="104"/>
                  </a:lnTo>
                  <a:lnTo>
                    <a:pt x="151" y="116"/>
                  </a:lnTo>
                  <a:lnTo>
                    <a:pt x="132" y="132"/>
                  </a:lnTo>
                  <a:lnTo>
                    <a:pt x="116" y="151"/>
                  </a:lnTo>
                  <a:lnTo>
                    <a:pt x="105" y="173"/>
                  </a:lnTo>
                  <a:lnTo>
                    <a:pt x="96" y="197"/>
                  </a:lnTo>
                  <a:lnTo>
                    <a:pt x="94" y="222"/>
                  </a:lnTo>
                  <a:lnTo>
                    <a:pt x="94" y="3234"/>
                  </a:lnTo>
                  <a:lnTo>
                    <a:pt x="96" y="3259"/>
                  </a:lnTo>
                  <a:lnTo>
                    <a:pt x="105" y="3283"/>
                  </a:lnTo>
                  <a:lnTo>
                    <a:pt x="116" y="3305"/>
                  </a:lnTo>
                  <a:lnTo>
                    <a:pt x="132" y="3324"/>
                  </a:lnTo>
                  <a:lnTo>
                    <a:pt x="151" y="3340"/>
                  </a:lnTo>
                  <a:lnTo>
                    <a:pt x="173" y="3352"/>
                  </a:lnTo>
                  <a:lnTo>
                    <a:pt x="197" y="3360"/>
                  </a:lnTo>
                  <a:lnTo>
                    <a:pt x="223" y="3362"/>
                  </a:lnTo>
                  <a:lnTo>
                    <a:pt x="2426" y="3362"/>
                  </a:lnTo>
                  <a:lnTo>
                    <a:pt x="2452" y="3360"/>
                  </a:lnTo>
                  <a:lnTo>
                    <a:pt x="2476" y="3352"/>
                  </a:lnTo>
                  <a:lnTo>
                    <a:pt x="2498" y="3340"/>
                  </a:lnTo>
                  <a:lnTo>
                    <a:pt x="2517" y="3324"/>
                  </a:lnTo>
                  <a:lnTo>
                    <a:pt x="2533" y="3305"/>
                  </a:lnTo>
                  <a:lnTo>
                    <a:pt x="2544" y="3283"/>
                  </a:lnTo>
                  <a:lnTo>
                    <a:pt x="2551" y="3259"/>
                  </a:lnTo>
                  <a:lnTo>
                    <a:pt x="2554" y="3234"/>
                  </a:lnTo>
                  <a:lnTo>
                    <a:pt x="2554" y="222"/>
                  </a:lnTo>
                  <a:lnTo>
                    <a:pt x="2551" y="197"/>
                  </a:lnTo>
                  <a:lnTo>
                    <a:pt x="2544" y="173"/>
                  </a:lnTo>
                  <a:lnTo>
                    <a:pt x="2533" y="151"/>
                  </a:lnTo>
                  <a:lnTo>
                    <a:pt x="2517" y="132"/>
                  </a:lnTo>
                  <a:lnTo>
                    <a:pt x="2498" y="116"/>
                  </a:lnTo>
                  <a:lnTo>
                    <a:pt x="2476" y="104"/>
                  </a:lnTo>
                  <a:lnTo>
                    <a:pt x="2452" y="96"/>
                  </a:lnTo>
                  <a:lnTo>
                    <a:pt x="2426" y="94"/>
                  </a:lnTo>
                  <a:lnTo>
                    <a:pt x="223" y="94"/>
                  </a:lnTo>
                  <a:close/>
                  <a:moveTo>
                    <a:pt x="223" y="0"/>
                  </a:moveTo>
                  <a:lnTo>
                    <a:pt x="2426" y="0"/>
                  </a:lnTo>
                  <a:lnTo>
                    <a:pt x="2461" y="3"/>
                  </a:lnTo>
                  <a:lnTo>
                    <a:pt x="2496" y="12"/>
                  </a:lnTo>
                  <a:lnTo>
                    <a:pt x="2527" y="25"/>
                  </a:lnTo>
                  <a:lnTo>
                    <a:pt x="2557" y="43"/>
                  </a:lnTo>
                  <a:lnTo>
                    <a:pt x="2583" y="65"/>
                  </a:lnTo>
                  <a:lnTo>
                    <a:pt x="2605" y="91"/>
                  </a:lnTo>
                  <a:lnTo>
                    <a:pt x="2622" y="120"/>
                  </a:lnTo>
                  <a:lnTo>
                    <a:pt x="2636" y="152"/>
                  </a:lnTo>
                  <a:lnTo>
                    <a:pt x="2644" y="186"/>
                  </a:lnTo>
                  <a:lnTo>
                    <a:pt x="2648" y="222"/>
                  </a:lnTo>
                  <a:lnTo>
                    <a:pt x="2648" y="3234"/>
                  </a:lnTo>
                  <a:lnTo>
                    <a:pt x="2644" y="3270"/>
                  </a:lnTo>
                  <a:lnTo>
                    <a:pt x="2636" y="3304"/>
                  </a:lnTo>
                  <a:lnTo>
                    <a:pt x="2622" y="3336"/>
                  </a:lnTo>
                  <a:lnTo>
                    <a:pt x="2605" y="3365"/>
                  </a:lnTo>
                  <a:lnTo>
                    <a:pt x="2583" y="3391"/>
                  </a:lnTo>
                  <a:lnTo>
                    <a:pt x="2557" y="3413"/>
                  </a:lnTo>
                  <a:lnTo>
                    <a:pt x="2527" y="3431"/>
                  </a:lnTo>
                  <a:lnTo>
                    <a:pt x="2496" y="3444"/>
                  </a:lnTo>
                  <a:lnTo>
                    <a:pt x="2461" y="3453"/>
                  </a:lnTo>
                  <a:lnTo>
                    <a:pt x="2426" y="3456"/>
                  </a:lnTo>
                  <a:lnTo>
                    <a:pt x="223" y="3456"/>
                  </a:lnTo>
                  <a:lnTo>
                    <a:pt x="186" y="3453"/>
                  </a:lnTo>
                  <a:lnTo>
                    <a:pt x="153" y="3444"/>
                  </a:lnTo>
                  <a:lnTo>
                    <a:pt x="120" y="3431"/>
                  </a:lnTo>
                  <a:lnTo>
                    <a:pt x="91" y="3413"/>
                  </a:lnTo>
                  <a:lnTo>
                    <a:pt x="66" y="3391"/>
                  </a:lnTo>
                  <a:lnTo>
                    <a:pt x="43" y="3365"/>
                  </a:lnTo>
                  <a:lnTo>
                    <a:pt x="25" y="3336"/>
                  </a:lnTo>
                  <a:lnTo>
                    <a:pt x="11" y="3304"/>
                  </a:lnTo>
                  <a:lnTo>
                    <a:pt x="3" y="3270"/>
                  </a:lnTo>
                  <a:lnTo>
                    <a:pt x="0" y="3234"/>
                  </a:lnTo>
                  <a:lnTo>
                    <a:pt x="0" y="222"/>
                  </a:lnTo>
                  <a:lnTo>
                    <a:pt x="3" y="186"/>
                  </a:lnTo>
                  <a:lnTo>
                    <a:pt x="11" y="152"/>
                  </a:lnTo>
                  <a:lnTo>
                    <a:pt x="25" y="120"/>
                  </a:lnTo>
                  <a:lnTo>
                    <a:pt x="43" y="91"/>
                  </a:lnTo>
                  <a:lnTo>
                    <a:pt x="66" y="65"/>
                  </a:lnTo>
                  <a:lnTo>
                    <a:pt x="91" y="43"/>
                  </a:lnTo>
                  <a:lnTo>
                    <a:pt x="120" y="25"/>
                  </a:lnTo>
                  <a:lnTo>
                    <a:pt x="153" y="12"/>
                  </a:lnTo>
                  <a:lnTo>
                    <a:pt x="186" y="3"/>
                  </a:lnTo>
                  <a:lnTo>
                    <a:pt x="223"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57" name="Freeform 13">
            <a:extLst>
              <a:ext uri="{FF2B5EF4-FFF2-40B4-BE49-F238E27FC236}">
                <a16:creationId xmlns:a16="http://schemas.microsoft.com/office/drawing/2014/main" id="{FE5AFDEA-C315-48B1-A2BE-7B99F574D35B}"/>
              </a:ext>
            </a:extLst>
          </p:cNvPr>
          <p:cNvSpPr>
            <a:spLocks noChangeAspect="1" noEditPoints="1"/>
          </p:cNvSpPr>
          <p:nvPr/>
        </p:nvSpPr>
        <p:spPr bwMode="auto">
          <a:xfrm rot="1298261">
            <a:off x="7202018" y="949149"/>
            <a:ext cx="304635" cy="459641"/>
          </a:xfrm>
          <a:custGeom>
            <a:avLst/>
            <a:gdLst>
              <a:gd name="T0" fmla="*/ 2081 w 2475"/>
              <a:gd name="T1" fmla="*/ 3481 h 4799"/>
              <a:gd name="T2" fmla="*/ 461 w 2475"/>
              <a:gd name="T3" fmla="*/ 3538 h 4799"/>
              <a:gd name="T4" fmla="*/ 404 w 2475"/>
              <a:gd name="T5" fmla="*/ 731 h 4799"/>
              <a:gd name="T6" fmla="*/ 2024 w 2475"/>
              <a:gd name="T7" fmla="*/ 673 h 4799"/>
              <a:gd name="T8" fmla="*/ 2081 w 2475"/>
              <a:gd name="T9" fmla="*/ 3481 h 4799"/>
              <a:gd name="T10" fmla="*/ 2024 w 2475"/>
              <a:gd name="T11" fmla="*/ 541 h 4799"/>
              <a:gd name="T12" fmla="*/ 461 w 2475"/>
              <a:gd name="T13" fmla="*/ 541 h 4799"/>
              <a:gd name="T14" fmla="*/ 271 w 2475"/>
              <a:gd name="T15" fmla="*/ 3481 h 4799"/>
              <a:gd name="T16" fmla="*/ 2024 w 2475"/>
              <a:gd name="T17" fmla="*/ 3670 h 4799"/>
              <a:gd name="T18" fmla="*/ 2214 w 2475"/>
              <a:gd name="T19" fmla="*/ 731 h 4799"/>
              <a:gd name="T20" fmla="*/ 2024 w 2475"/>
              <a:gd name="T21" fmla="*/ 541 h 4799"/>
              <a:gd name="T22" fmla="*/ 2343 w 2475"/>
              <a:gd name="T23" fmla="*/ 4483 h 4799"/>
              <a:gd name="T24" fmla="*/ 315 w 2475"/>
              <a:gd name="T25" fmla="*/ 4666 h 4799"/>
              <a:gd name="T26" fmla="*/ 132 w 2475"/>
              <a:gd name="T27" fmla="*/ 314 h 4799"/>
              <a:gd name="T28" fmla="*/ 2160 w 2475"/>
              <a:gd name="T29" fmla="*/ 131 h 4799"/>
              <a:gd name="T30" fmla="*/ 2343 w 2475"/>
              <a:gd name="T31" fmla="*/ 4483 h 4799"/>
              <a:gd name="T32" fmla="*/ 2160 w 2475"/>
              <a:gd name="T33" fmla="*/ 0 h 4799"/>
              <a:gd name="T34" fmla="*/ 315 w 2475"/>
              <a:gd name="T35" fmla="*/ 0 h 4799"/>
              <a:gd name="T36" fmla="*/ 0 w 2475"/>
              <a:gd name="T37" fmla="*/ 4483 h 4799"/>
              <a:gd name="T38" fmla="*/ 2160 w 2475"/>
              <a:gd name="T39" fmla="*/ 4799 h 4799"/>
              <a:gd name="T40" fmla="*/ 2475 w 2475"/>
              <a:gd name="T41" fmla="*/ 314 h 4799"/>
              <a:gd name="T42" fmla="*/ 2160 w 2475"/>
              <a:gd name="T43" fmla="*/ 0 h 4799"/>
              <a:gd name="T44" fmla="*/ 886 w 2475"/>
              <a:gd name="T45" fmla="*/ 357 h 4799"/>
              <a:gd name="T46" fmla="*/ 1520 w 2475"/>
              <a:gd name="T47" fmla="*/ 290 h 4799"/>
              <a:gd name="T48" fmla="*/ 1520 w 2475"/>
              <a:gd name="T49" fmla="*/ 423 h 4799"/>
              <a:gd name="T50" fmla="*/ 886 w 2475"/>
              <a:gd name="T51" fmla="*/ 357 h 4799"/>
              <a:gd name="T52" fmla="*/ 1245 w 2475"/>
              <a:gd name="T53" fmla="*/ 4331 h 4799"/>
              <a:gd name="T54" fmla="*/ 1046 w 2475"/>
              <a:gd name="T55" fmla="*/ 4132 h 4799"/>
              <a:gd name="T56" fmla="*/ 1444 w 2475"/>
              <a:gd name="T57" fmla="*/ 4132 h 4799"/>
              <a:gd name="T58" fmla="*/ 1245 w 2475"/>
              <a:gd name="T59" fmla="*/ 4331 h 4799"/>
              <a:gd name="T60" fmla="*/ 1245 w 2475"/>
              <a:gd name="T61" fmla="*/ 3800 h 4799"/>
              <a:gd name="T62" fmla="*/ 1245 w 2475"/>
              <a:gd name="T63" fmla="*/ 4463 h 4799"/>
              <a:gd name="T64" fmla="*/ 1245 w 2475"/>
              <a:gd name="T65" fmla="*/ 3800 h 47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75" h="4799">
                <a:moveTo>
                  <a:pt x="2081" y="3481"/>
                </a:moveTo>
                <a:lnTo>
                  <a:pt x="2081" y="3481"/>
                </a:lnTo>
                <a:cubicBezTo>
                  <a:pt x="2081" y="3512"/>
                  <a:pt x="2055" y="3538"/>
                  <a:pt x="2024" y="3538"/>
                </a:cubicBezTo>
                <a:lnTo>
                  <a:pt x="461" y="3538"/>
                </a:lnTo>
                <a:cubicBezTo>
                  <a:pt x="429" y="3538"/>
                  <a:pt x="404" y="3512"/>
                  <a:pt x="404" y="3481"/>
                </a:cubicBezTo>
                <a:lnTo>
                  <a:pt x="404" y="731"/>
                </a:lnTo>
                <a:cubicBezTo>
                  <a:pt x="404" y="699"/>
                  <a:pt x="429" y="673"/>
                  <a:pt x="461" y="673"/>
                </a:cubicBezTo>
                <a:lnTo>
                  <a:pt x="2024" y="673"/>
                </a:lnTo>
                <a:cubicBezTo>
                  <a:pt x="2055" y="673"/>
                  <a:pt x="2081" y="699"/>
                  <a:pt x="2081" y="731"/>
                </a:cubicBezTo>
                <a:lnTo>
                  <a:pt x="2081" y="3481"/>
                </a:lnTo>
                <a:lnTo>
                  <a:pt x="2081" y="3481"/>
                </a:lnTo>
                <a:close/>
                <a:moveTo>
                  <a:pt x="2024" y="541"/>
                </a:moveTo>
                <a:lnTo>
                  <a:pt x="2024" y="541"/>
                </a:lnTo>
                <a:lnTo>
                  <a:pt x="461" y="541"/>
                </a:lnTo>
                <a:cubicBezTo>
                  <a:pt x="356" y="541"/>
                  <a:pt x="271" y="626"/>
                  <a:pt x="271" y="731"/>
                </a:cubicBezTo>
                <a:lnTo>
                  <a:pt x="271" y="3481"/>
                </a:lnTo>
                <a:cubicBezTo>
                  <a:pt x="271" y="3585"/>
                  <a:pt x="356" y="3670"/>
                  <a:pt x="461" y="3670"/>
                </a:cubicBezTo>
                <a:lnTo>
                  <a:pt x="2024" y="3670"/>
                </a:lnTo>
                <a:cubicBezTo>
                  <a:pt x="2128" y="3670"/>
                  <a:pt x="2214" y="3585"/>
                  <a:pt x="2214" y="3481"/>
                </a:cubicBezTo>
                <a:lnTo>
                  <a:pt x="2214" y="731"/>
                </a:lnTo>
                <a:cubicBezTo>
                  <a:pt x="2214" y="626"/>
                  <a:pt x="2128" y="541"/>
                  <a:pt x="2024" y="541"/>
                </a:cubicBezTo>
                <a:lnTo>
                  <a:pt x="2024" y="541"/>
                </a:lnTo>
                <a:close/>
                <a:moveTo>
                  <a:pt x="2343" y="4483"/>
                </a:moveTo>
                <a:lnTo>
                  <a:pt x="2343" y="4483"/>
                </a:lnTo>
                <a:cubicBezTo>
                  <a:pt x="2343" y="4584"/>
                  <a:pt x="2261" y="4666"/>
                  <a:pt x="2160" y="4666"/>
                </a:cubicBezTo>
                <a:lnTo>
                  <a:pt x="315" y="4666"/>
                </a:lnTo>
                <a:cubicBezTo>
                  <a:pt x="214" y="4666"/>
                  <a:pt x="132" y="4584"/>
                  <a:pt x="132" y="4483"/>
                </a:cubicBezTo>
                <a:lnTo>
                  <a:pt x="132" y="314"/>
                </a:lnTo>
                <a:cubicBezTo>
                  <a:pt x="132" y="213"/>
                  <a:pt x="214" y="131"/>
                  <a:pt x="315" y="131"/>
                </a:cubicBezTo>
                <a:lnTo>
                  <a:pt x="2160" y="131"/>
                </a:lnTo>
                <a:cubicBezTo>
                  <a:pt x="2261" y="131"/>
                  <a:pt x="2343" y="213"/>
                  <a:pt x="2343" y="314"/>
                </a:cubicBezTo>
                <a:lnTo>
                  <a:pt x="2343" y="4483"/>
                </a:lnTo>
                <a:lnTo>
                  <a:pt x="2343" y="4483"/>
                </a:lnTo>
                <a:close/>
                <a:moveTo>
                  <a:pt x="2160" y="0"/>
                </a:moveTo>
                <a:lnTo>
                  <a:pt x="2160" y="0"/>
                </a:lnTo>
                <a:lnTo>
                  <a:pt x="315" y="0"/>
                </a:lnTo>
                <a:cubicBezTo>
                  <a:pt x="141" y="0"/>
                  <a:pt x="0" y="140"/>
                  <a:pt x="0" y="314"/>
                </a:cubicBezTo>
                <a:lnTo>
                  <a:pt x="0" y="4483"/>
                </a:lnTo>
                <a:cubicBezTo>
                  <a:pt x="0" y="4657"/>
                  <a:pt x="141" y="4799"/>
                  <a:pt x="315" y="4799"/>
                </a:cubicBezTo>
                <a:lnTo>
                  <a:pt x="2160" y="4799"/>
                </a:lnTo>
                <a:cubicBezTo>
                  <a:pt x="2334" y="4799"/>
                  <a:pt x="2475" y="4657"/>
                  <a:pt x="2475" y="4483"/>
                </a:cubicBezTo>
                <a:lnTo>
                  <a:pt x="2475" y="314"/>
                </a:lnTo>
                <a:cubicBezTo>
                  <a:pt x="2475" y="140"/>
                  <a:pt x="2334" y="0"/>
                  <a:pt x="2160" y="0"/>
                </a:cubicBezTo>
                <a:lnTo>
                  <a:pt x="2160" y="0"/>
                </a:lnTo>
                <a:close/>
                <a:moveTo>
                  <a:pt x="886" y="357"/>
                </a:moveTo>
                <a:lnTo>
                  <a:pt x="886" y="357"/>
                </a:lnTo>
                <a:cubicBezTo>
                  <a:pt x="886" y="320"/>
                  <a:pt x="915" y="290"/>
                  <a:pt x="952" y="290"/>
                </a:cubicBezTo>
                <a:lnTo>
                  <a:pt x="1520" y="290"/>
                </a:lnTo>
                <a:cubicBezTo>
                  <a:pt x="1556" y="290"/>
                  <a:pt x="1586" y="320"/>
                  <a:pt x="1586" y="357"/>
                </a:cubicBezTo>
                <a:cubicBezTo>
                  <a:pt x="1586" y="393"/>
                  <a:pt x="1556" y="423"/>
                  <a:pt x="1520" y="423"/>
                </a:cubicBezTo>
                <a:lnTo>
                  <a:pt x="952" y="423"/>
                </a:lnTo>
                <a:cubicBezTo>
                  <a:pt x="915" y="423"/>
                  <a:pt x="886" y="393"/>
                  <a:pt x="886" y="357"/>
                </a:cubicBezTo>
                <a:lnTo>
                  <a:pt x="886" y="357"/>
                </a:lnTo>
                <a:close/>
                <a:moveTo>
                  <a:pt x="1245" y="4331"/>
                </a:moveTo>
                <a:lnTo>
                  <a:pt x="1245" y="4331"/>
                </a:lnTo>
                <a:cubicBezTo>
                  <a:pt x="1135" y="4331"/>
                  <a:pt x="1046" y="4241"/>
                  <a:pt x="1046" y="4132"/>
                </a:cubicBezTo>
                <a:cubicBezTo>
                  <a:pt x="1046" y="4022"/>
                  <a:pt x="1135" y="3932"/>
                  <a:pt x="1245" y="3932"/>
                </a:cubicBezTo>
                <a:cubicBezTo>
                  <a:pt x="1355" y="3932"/>
                  <a:pt x="1444" y="4022"/>
                  <a:pt x="1444" y="4132"/>
                </a:cubicBezTo>
                <a:cubicBezTo>
                  <a:pt x="1444" y="4241"/>
                  <a:pt x="1355" y="4331"/>
                  <a:pt x="1245" y="4331"/>
                </a:cubicBezTo>
                <a:lnTo>
                  <a:pt x="1245" y="4331"/>
                </a:lnTo>
                <a:close/>
                <a:moveTo>
                  <a:pt x="1245" y="3800"/>
                </a:moveTo>
                <a:lnTo>
                  <a:pt x="1245" y="3800"/>
                </a:lnTo>
                <a:cubicBezTo>
                  <a:pt x="1062" y="3800"/>
                  <a:pt x="913" y="3949"/>
                  <a:pt x="913" y="4132"/>
                </a:cubicBezTo>
                <a:cubicBezTo>
                  <a:pt x="913" y="4314"/>
                  <a:pt x="1062" y="4463"/>
                  <a:pt x="1245" y="4463"/>
                </a:cubicBezTo>
                <a:cubicBezTo>
                  <a:pt x="1428" y="4463"/>
                  <a:pt x="1577" y="4314"/>
                  <a:pt x="1577" y="4132"/>
                </a:cubicBezTo>
                <a:cubicBezTo>
                  <a:pt x="1577" y="3949"/>
                  <a:pt x="1428" y="3800"/>
                  <a:pt x="1245" y="3800"/>
                </a:cubicBezTo>
                <a:close/>
              </a:path>
            </a:pathLst>
          </a:custGeom>
          <a:solidFill>
            <a:schemeClr val="accent3">
              <a:lumMod val="75000"/>
              <a:lumOff val="25000"/>
            </a:schemeClr>
          </a:solidFill>
          <a:ln w="0">
            <a:solidFill>
              <a:schemeClr val="accent1">
                <a:lumMod val="7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Freeform 21">
            <a:extLst>
              <a:ext uri="{FF2B5EF4-FFF2-40B4-BE49-F238E27FC236}">
                <a16:creationId xmlns:a16="http://schemas.microsoft.com/office/drawing/2014/main" id="{8DA80225-542B-4241-BAED-3872D17E54C7}"/>
              </a:ext>
            </a:extLst>
          </p:cNvPr>
          <p:cNvSpPr>
            <a:spLocks noChangeAspect="1" noEditPoints="1"/>
          </p:cNvSpPr>
          <p:nvPr/>
        </p:nvSpPr>
        <p:spPr bwMode="auto">
          <a:xfrm>
            <a:off x="7826379" y="565331"/>
            <a:ext cx="827426" cy="656925"/>
          </a:xfrm>
          <a:custGeom>
            <a:avLst/>
            <a:gdLst>
              <a:gd name="T0" fmla="*/ 3037 w 3964"/>
              <a:gd name="T1" fmla="*/ 3635 h 4032"/>
              <a:gd name="T2" fmla="*/ 3133 w 3964"/>
              <a:gd name="T3" fmla="*/ 3755 h 4032"/>
              <a:gd name="T4" fmla="*/ 1162 w 3964"/>
              <a:gd name="T5" fmla="*/ 3596 h 4032"/>
              <a:gd name="T6" fmla="*/ 3097 w 3964"/>
              <a:gd name="T7" fmla="*/ 3281 h 4032"/>
              <a:gd name="T8" fmla="*/ 1969 w 3964"/>
              <a:gd name="T9" fmla="*/ 3281 h 4032"/>
              <a:gd name="T10" fmla="*/ 838 w 3964"/>
              <a:gd name="T11" fmla="*/ 3278 h 4032"/>
              <a:gd name="T12" fmla="*/ 3753 w 3964"/>
              <a:gd name="T13" fmla="*/ 3350 h 4032"/>
              <a:gd name="T14" fmla="*/ 3360 w 3964"/>
              <a:gd name="T15" fmla="*/ 3090 h 4032"/>
              <a:gd name="T16" fmla="*/ 3212 w 3964"/>
              <a:gd name="T17" fmla="*/ 3278 h 4032"/>
              <a:gd name="T18" fmla="*/ 2783 w 3964"/>
              <a:gd name="T19" fmla="*/ 3278 h 4032"/>
              <a:gd name="T20" fmla="*/ 2635 w 3964"/>
              <a:gd name="T21" fmla="*/ 3090 h 4032"/>
              <a:gd name="T22" fmla="*/ 2243 w 3964"/>
              <a:gd name="T23" fmla="*/ 3350 h 4032"/>
              <a:gd name="T24" fmla="*/ 2016 w 3964"/>
              <a:gd name="T25" fmla="*/ 3037 h 4032"/>
              <a:gd name="T26" fmla="*/ 1740 w 3964"/>
              <a:gd name="T27" fmla="*/ 3389 h 4032"/>
              <a:gd name="T28" fmla="*/ 1201 w 3964"/>
              <a:gd name="T29" fmla="*/ 3026 h 4032"/>
              <a:gd name="T30" fmla="*/ 1427 w 3964"/>
              <a:gd name="T31" fmla="*/ 3389 h 4032"/>
              <a:gd name="T32" fmla="*/ 1151 w 3964"/>
              <a:gd name="T33" fmla="*/ 3037 h 4032"/>
              <a:gd name="T34" fmla="*/ 924 w 3964"/>
              <a:gd name="T35" fmla="*/ 3350 h 4032"/>
              <a:gd name="T36" fmla="*/ 532 w 3964"/>
              <a:gd name="T37" fmla="*/ 3090 h 4032"/>
              <a:gd name="T38" fmla="*/ 3097 w 3964"/>
              <a:gd name="T39" fmla="*/ 2854 h 4032"/>
              <a:gd name="T40" fmla="*/ 1969 w 3964"/>
              <a:gd name="T41" fmla="*/ 2853 h 4032"/>
              <a:gd name="T42" fmla="*/ 838 w 3964"/>
              <a:gd name="T43" fmla="*/ 2852 h 4032"/>
              <a:gd name="T44" fmla="*/ 3753 w 3964"/>
              <a:gd name="T45" fmla="*/ 2923 h 4032"/>
              <a:gd name="T46" fmla="*/ 3360 w 3964"/>
              <a:gd name="T47" fmla="*/ 2662 h 4032"/>
              <a:gd name="T48" fmla="*/ 3212 w 3964"/>
              <a:gd name="T49" fmla="*/ 2852 h 4032"/>
              <a:gd name="T50" fmla="*/ 2783 w 3964"/>
              <a:gd name="T51" fmla="*/ 2852 h 4032"/>
              <a:gd name="T52" fmla="*/ 2635 w 3964"/>
              <a:gd name="T53" fmla="*/ 2662 h 4032"/>
              <a:gd name="T54" fmla="*/ 2243 w 3964"/>
              <a:gd name="T55" fmla="*/ 2923 h 4032"/>
              <a:gd name="T56" fmla="*/ 2016 w 3964"/>
              <a:gd name="T57" fmla="*/ 2611 h 4032"/>
              <a:gd name="T58" fmla="*/ 1740 w 3964"/>
              <a:gd name="T59" fmla="*/ 2963 h 4032"/>
              <a:gd name="T60" fmla="*/ 1201 w 3964"/>
              <a:gd name="T61" fmla="*/ 2599 h 4032"/>
              <a:gd name="T62" fmla="*/ 1427 w 3964"/>
              <a:gd name="T63" fmla="*/ 2963 h 4032"/>
              <a:gd name="T64" fmla="*/ 1151 w 3964"/>
              <a:gd name="T65" fmla="*/ 2611 h 4032"/>
              <a:gd name="T66" fmla="*/ 924 w 3964"/>
              <a:gd name="T67" fmla="*/ 2923 h 4032"/>
              <a:gd name="T68" fmla="*/ 532 w 3964"/>
              <a:gd name="T69" fmla="*/ 2662 h 4032"/>
              <a:gd name="T70" fmla="*/ 2565 w 3964"/>
              <a:gd name="T71" fmla="*/ 270 h 4032"/>
              <a:gd name="T72" fmla="*/ 3128 w 3964"/>
              <a:gd name="T73" fmla="*/ 1017 h 4032"/>
              <a:gd name="T74" fmla="*/ 2960 w 3964"/>
              <a:gd name="T75" fmla="*/ 1671 h 4032"/>
              <a:gd name="T76" fmla="*/ 1747 w 3964"/>
              <a:gd name="T77" fmla="*/ 1984 h 4032"/>
              <a:gd name="T78" fmla="*/ 1784 w 3964"/>
              <a:gd name="T79" fmla="*/ 2429 h 4032"/>
              <a:gd name="T80" fmla="*/ 441 w 3964"/>
              <a:gd name="T81" fmla="*/ 3848 h 4032"/>
              <a:gd name="T82" fmla="*/ 3849 w 3964"/>
              <a:gd name="T83" fmla="*/ 2566 h 4032"/>
              <a:gd name="T84" fmla="*/ 2246 w 3964"/>
              <a:gd name="T85" fmla="*/ 2364 h 4032"/>
              <a:gd name="T86" fmla="*/ 3962 w 3964"/>
              <a:gd name="T87" fmla="*/ 3829 h 4032"/>
              <a:gd name="T88" fmla="*/ 388 w 3964"/>
              <a:gd name="T89" fmla="*/ 3961 h 4032"/>
              <a:gd name="T90" fmla="*/ 520 w 3964"/>
              <a:gd name="T91" fmla="*/ 2357 h 4032"/>
              <a:gd name="T92" fmla="*/ 1728 w 3964"/>
              <a:gd name="T93" fmla="*/ 2186 h 4032"/>
              <a:gd name="T94" fmla="*/ 1878 w 3964"/>
              <a:gd name="T95" fmla="*/ 1619 h 4032"/>
              <a:gd name="T96" fmla="*/ 3099 w 3964"/>
              <a:gd name="T97" fmla="*/ 1273 h 4032"/>
              <a:gd name="T98" fmla="*/ 2760 w 3964"/>
              <a:gd name="T99" fmla="*/ 942 h 4032"/>
              <a:gd name="T100" fmla="*/ 2501 w 3964"/>
              <a:gd name="T101" fmla="*/ 363 h 4032"/>
              <a:gd name="T102" fmla="*/ 1544 w 3964"/>
              <a:gd name="T103" fmla="*/ 216 h 4032"/>
              <a:gd name="T104" fmla="*/ 1088 w 3964"/>
              <a:gd name="T105" fmla="*/ 638 h 4032"/>
              <a:gd name="T106" fmla="*/ 488 w 3964"/>
              <a:gd name="T107" fmla="*/ 1013 h 4032"/>
              <a:gd name="T108" fmla="*/ 182 w 3964"/>
              <a:gd name="T109" fmla="*/ 1190 h 4032"/>
              <a:gd name="T110" fmla="*/ 355 w 3964"/>
              <a:gd name="T111" fmla="*/ 1604 h 4032"/>
              <a:gd name="T112" fmla="*/ 205 w 3964"/>
              <a:gd name="T113" fmla="*/ 1684 h 4032"/>
              <a:gd name="T114" fmla="*/ 148 w 3964"/>
              <a:gd name="T115" fmla="*/ 1074 h 4032"/>
              <a:gd name="T116" fmla="*/ 757 w 3964"/>
              <a:gd name="T117" fmla="*/ 539 h 4032"/>
              <a:gd name="T118" fmla="*/ 1573 w 3964"/>
              <a:gd name="T119" fmla="*/ 76 h 40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64" h="4032">
                <a:moveTo>
                  <a:pt x="1285" y="3631"/>
                </a:moveTo>
                <a:lnTo>
                  <a:pt x="1272" y="3635"/>
                </a:lnTo>
                <a:lnTo>
                  <a:pt x="1263" y="3643"/>
                </a:lnTo>
                <a:lnTo>
                  <a:pt x="1259" y="3657"/>
                </a:lnTo>
                <a:lnTo>
                  <a:pt x="1259" y="3668"/>
                </a:lnTo>
                <a:lnTo>
                  <a:pt x="1263" y="3681"/>
                </a:lnTo>
                <a:lnTo>
                  <a:pt x="1272" y="3691"/>
                </a:lnTo>
                <a:lnTo>
                  <a:pt x="1285" y="3695"/>
                </a:lnTo>
                <a:lnTo>
                  <a:pt x="3025" y="3695"/>
                </a:lnTo>
                <a:lnTo>
                  <a:pt x="3037" y="3691"/>
                </a:lnTo>
                <a:lnTo>
                  <a:pt x="3047" y="3681"/>
                </a:lnTo>
                <a:lnTo>
                  <a:pt x="3051" y="3668"/>
                </a:lnTo>
                <a:lnTo>
                  <a:pt x="3051" y="3657"/>
                </a:lnTo>
                <a:lnTo>
                  <a:pt x="3047" y="3643"/>
                </a:lnTo>
                <a:lnTo>
                  <a:pt x="3037" y="3635"/>
                </a:lnTo>
                <a:lnTo>
                  <a:pt x="3025" y="3631"/>
                </a:lnTo>
                <a:lnTo>
                  <a:pt x="1285" y="3631"/>
                </a:lnTo>
                <a:close/>
                <a:moveTo>
                  <a:pt x="1285" y="3519"/>
                </a:moveTo>
                <a:lnTo>
                  <a:pt x="3025" y="3519"/>
                </a:lnTo>
                <a:lnTo>
                  <a:pt x="3057" y="3523"/>
                </a:lnTo>
                <a:lnTo>
                  <a:pt x="3085" y="3533"/>
                </a:lnTo>
                <a:lnTo>
                  <a:pt x="3111" y="3549"/>
                </a:lnTo>
                <a:lnTo>
                  <a:pt x="3133" y="3571"/>
                </a:lnTo>
                <a:lnTo>
                  <a:pt x="3149" y="3596"/>
                </a:lnTo>
                <a:lnTo>
                  <a:pt x="3159" y="3625"/>
                </a:lnTo>
                <a:lnTo>
                  <a:pt x="3162" y="3657"/>
                </a:lnTo>
                <a:lnTo>
                  <a:pt x="3162" y="3668"/>
                </a:lnTo>
                <a:lnTo>
                  <a:pt x="3159" y="3700"/>
                </a:lnTo>
                <a:lnTo>
                  <a:pt x="3149" y="3729"/>
                </a:lnTo>
                <a:lnTo>
                  <a:pt x="3133" y="3755"/>
                </a:lnTo>
                <a:lnTo>
                  <a:pt x="3111" y="3775"/>
                </a:lnTo>
                <a:lnTo>
                  <a:pt x="3085" y="3791"/>
                </a:lnTo>
                <a:lnTo>
                  <a:pt x="3057" y="3802"/>
                </a:lnTo>
                <a:lnTo>
                  <a:pt x="3025" y="3806"/>
                </a:lnTo>
                <a:lnTo>
                  <a:pt x="1285" y="3806"/>
                </a:lnTo>
                <a:lnTo>
                  <a:pt x="1253" y="3802"/>
                </a:lnTo>
                <a:lnTo>
                  <a:pt x="1225" y="3791"/>
                </a:lnTo>
                <a:lnTo>
                  <a:pt x="1200" y="3775"/>
                </a:lnTo>
                <a:lnTo>
                  <a:pt x="1178" y="3755"/>
                </a:lnTo>
                <a:lnTo>
                  <a:pt x="1162" y="3729"/>
                </a:lnTo>
                <a:lnTo>
                  <a:pt x="1151" y="3700"/>
                </a:lnTo>
                <a:lnTo>
                  <a:pt x="1148" y="3668"/>
                </a:lnTo>
                <a:lnTo>
                  <a:pt x="1148" y="3657"/>
                </a:lnTo>
                <a:lnTo>
                  <a:pt x="1151" y="3625"/>
                </a:lnTo>
                <a:lnTo>
                  <a:pt x="1162" y="3596"/>
                </a:lnTo>
                <a:lnTo>
                  <a:pt x="1178" y="3571"/>
                </a:lnTo>
                <a:lnTo>
                  <a:pt x="1200" y="3549"/>
                </a:lnTo>
                <a:lnTo>
                  <a:pt x="1225" y="3533"/>
                </a:lnTo>
                <a:lnTo>
                  <a:pt x="1253" y="3523"/>
                </a:lnTo>
                <a:lnTo>
                  <a:pt x="1285" y="3519"/>
                </a:lnTo>
                <a:close/>
                <a:moveTo>
                  <a:pt x="3463" y="3138"/>
                </a:moveTo>
                <a:lnTo>
                  <a:pt x="3461" y="3278"/>
                </a:lnTo>
                <a:lnTo>
                  <a:pt x="3664" y="3281"/>
                </a:lnTo>
                <a:lnTo>
                  <a:pt x="3665" y="3281"/>
                </a:lnTo>
                <a:lnTo>
                  <a:pt x="3666" y="3278"/>
                </a:lnTo>
                <a:lnTo>
                  <a:pt x="3666" y="3140"/>
                </a:lnTo>
                <a:lnTo>
                  <a:pt x="3463" y="3138"/>
                </a:lnTo>
                <a:close/>
                <a:moveTo>
                  <a:pt x="2897" y="3138"/>
                </a:moveTo>
                <a:lnTo>
                  <a:pt x="2894" y="3278"/>
                </a:lnTo>
                <a:lnTo>
                  <a:pt x="3097" y="3281"/>
                </a:lnTo>
                <a:lnTo>
                  <a:pt x="3100" y="3281"/>
                </a:lnTo>
                <a:lnTo>
                  <a:pt x="3100" y="3278"/>
                </a:lnTo>
                <a:lnTo>
                  <a:pt x="3100" y="3140"/>
                </a:lnTo>
                <a:lnTo>
                  <a:pt x="2897" y="3138"/>
                </a:lnTo>
                <a:close/>
                <a:moveTo>
                  <a:pt x="2332" y="3138"/>
                </a:moveTo>
                <a:lnTo>
                  <a:pt x="2329" y="3278"/>
                </a:lnTo>
                <a:lnTo>
                  <a:pt x="2532" y="3281"/>
                </a:lnTo>
                <a:lnTo>
                  <a:pt x="2534" y="3281"/>
                </a:lnTo>
                <a:lnTo>
                  <a:pt x="2535" y="3278"/>
                </a:lnTo>
                <a:lnTo>
                  <a:pt x="2535" y="3140"/>
                </a:lnTo>
                <a:lnTo>
                  <a:pt x="2332" y="3138"/>
                </a:lnTo>
                <a:close/>
                <a:moveTo>
                  <a:pt x="1766" y="3138"/>
                </a:moveTo>
                <a:lnTo>
                  <a:pt x="1763" y="3278"/>
                </a:lnTo>
                <a:lnTo>
                  <a:pt x="1966" y="3281"/>
                </a:lnTo>
                <a:lnTo>
                  <a:pt x="1969" y="3281"/>
                </a:lnTo>
                <a:lnTo>
                  <a:pt x="1969" y="3278"/>
                </a:lnTo>
                <a:lnTo>
                  <a:pt x="1969" y="3140"/>
                </a:lnTo>
                <a:lnTo>
                  <a:pt x="1766" y="3138"/>
                </a:lnTo>
                <a:close/>
                <a:moveTo>
                  <a:pt x="1201" y="3138"/>
                </a:moveTo>
                <a:lnTo>
                  <a:pt x="1198" y="3278"/>
                </a:lnTo>
                <a:lnTo>
                  <a:pt x="1401" y="3281"/>
                </a:lnTo>
                <a:lnTo>
                  <a:pt x="1403" y="3281"/>
                </a:lnTo>
                <a:lnTo>
                  <a:pt x="1404" y="3278"/>
                </a:lnTo>
                <a:lnTo>
                  <a:pt x="1404" y="3140"/>
                </a:lnTo>
                <a:lnTo>
                  <a:pt x="1201" y="3138"/>
                </a:lnTo>
                <a:close/>
                <a:moveTo>
                  <a:pt x="635" y="3138"/>
                </a:moveTo>
                <a:lnTo>
                  <a:pt x="632" y="3278"/>
                </a:lnTo>
                <a:lnTo>
                  <a:pt x="835" y="3281"/>
                </a:lnTo>
                <a:lnTo>
                  <a:pt x="838" y="3281"/>
                </a:lnTo>
                <a:lnTo>
                  <a:pt x="838" y="3278"/>
                </a:lnTo>
                <a:lnTo>
                  <a:pt x="838" y="3140"/>
                </a:lnTo>
                <a:lnTo>
                  <a:pt x="635" y="3138"/>
                </a:lnTo>
                <a:close/>
                <a:moveTo>
                  <a:pt x="3463" y="3026"/>
                </a:moveTo>
                <a:lnTo>
                  <a:pt x="3664" y="3026"/>
                </a:lnTo>
                <a:lnTo>
                  <a:pt x="3689" y="3029"/>
                </a:lnTo>
                <a:lnTo>
                  <a:pt x="3714" y="3037"/>
                </a:lnTo>
                <a:lnTo>
                  <a:pt x="3734" y="3051"/>
                </a:lnTo>
                <a:lnTo>
                  <a:pt x="3753" y="3069"/>
                </a:lnTo>
                <a:lnTo>
                  <a:pt x="3766" y="3090"/>
                </a:lnTo>
                <a:lnTo>
                  <a:pt x="3775" y="3114"/>
                </a:lnTo>
                <a:lnTo>
                  <a:pt x="3777" y="3140"/>
                </a:lnTo>
                <a:lnTo>
                  <a:pt x="3777" y="3278"/>
                </a:lnTo>
                <a:lnTo>
                  <a:pt x="3775" y="3305"/>
                </a:lnTo>
                <a:lnTo>
                  <a:pt x="3766" y="3328"/>
                </a:lnTo>
                <a:lnTo>
                  <a:pt x="3753" y="3350"/>
                </a:lnTo>
                <a:lnTo>
                  <a:pt x="3734" y="3367"/>
                </a:lnTo>
                <a:lnTo>
                  <a:pt x="3714" y="3381"/>
                </a:lnTo>
                <a:lnTo>
                  <a:pt x="3689" y="3389"/>
                </a:lnTo>
                <a:lnTo>
                  <a:pt x="3664" y="3393"/>
                </a:lnTo>
                <a:lnTo>
                  <a:pt x="3463" y="3393"/>
                </a:lnTo>
                <a:lnTo>
                  <a:pt x="3436" y="3389"/>
                </a:lnTo>
                <a:lnTo>
                  <a:pt x="3413" y="3381"/>
                </a:lnTo>
                <a:lnTo>
                  <a:pt x="3392" y="3367"/>
                </a:lnTo>
                <a:lnTo>
                  <a:pt x="3374" y="3350"/>
                </a:lnTo>
                <a:lnTo>
                  <a:pt x="3360" y="3328"/>
                </a:lnTo>
                <a:lnTo>
                  <a:pt x="3352" y="3305"/>
                </a:lnTo>
                <a:lnTo>
                  <a:pt x="3349" y="3278"/>
                </a:lnTo>
                <a:lnTo>
                  <a:pt x="3349" y="3140"/>
                </a:lnTo>
                <a:lnTo>
                  <a:pt x="3352" y="3114"/>
                </a:lnTo>
                <a:lnTo>
                  <a:pt x="3360" y="3090"/>
                </a:lnTo>
                <a:lnTo>
                  <a:pt x="3374" y="3069"/>
                </a:lnTo>
                <a:lnTo>
                  <a:pt x="3392" y="3051"/>
                </a:lnTo>
                <a:lnTo>
                  <a:pt x="3413" y="3037"/>
                </a:lnTo>
                <a:lnTo>
                  <a:pt x="3436" y="3029"/>
                </a:lnTo>
                <a:lnTo>
                  <a:pt x="3463" y="3026"/>
                </a:lnTo>
                <a:close/>
                <a:moveTo>
                  <a:pt x="2897" y="3026"/>
                </a:moveTo>
                <a:lnTo>
                  <a:pt x="3097" y="3026"/>
                </a:lnTo>
                <a:lnTo>
                  <a:pt x="3124" y="3029"/>
                </a:lnTo>
                <a:lnTo>
                  <a:pt x="3147" y="3037"/>
                </a:lnTo>
                <a:lnTo>
                  <a:pt x="3170" y="3051"/>
                </a:lnTo>
                <a:lnTo>
                  <a:pt x="3187" y="3069"/>
                </a:lnTo>
                <a:lnTo>
                  <a:pt x="3200" y="3090"/>
                </a:lnTo>
                <a:lnTo>
                  <a:pt x="3209" y="3114"/>
                </a:lnTo>
                <a:lnTo>
                  <a:pt x="3212" y="3140"/>
                </a:lnTo>
                <a:lnTo>
                  <a:pt x="3212" y="3278"/>
                </a:lnTo>
                <a:lnTo>
                  <a:pt x="3209" y="3305"/>
                </a:lnTo>
                <a:lnTo>
                  <a:pt x="3200" y="3328"/>
                </a:lnTo>
                <a:lnTo>
                  <a:pt x="3187" y="3350"/>
                </a:lnTo>
                <a:lnTo>
                  <a:pt x="3170" y="3367"/>
                </a:lnTo>
                <a:lnTo>
                  <a:pt x="3147" y="3381"/>
                </a:lnTo>
                <a:lnTo>
                  <a:pt x="3124" y="3389"/>
                </a:lnTo>
                <a:lnTo>
                  <a:pt x="3097" y="3393"/>
                </a:lnTo>
                <a:lnTo>
                  <a:pt x="2897" y="3393"/>
                </a:lnTo>
                <a:lnTo>
                  <a:pt x="2871" y="3389"/>
                </a:lnTo>
                <a:lnTo>
                  <a:pt x="2847" y="3381"/>
                </a:lnTo>
                <a:lnTo>
                  <a:pt x="2826" y="3367"/>
                </a:lnTo>
                <a:lnTo>
                  <a:pt x="2809" y="3350"/>
                </a:lnTo>
                <a:lnTo>
                  <a:pt x="2795" y="3328"/>
                </a:lnTo>
                <a:lnTo>
                  <a:pt x="2786" y="3305"/>
                </a:lnTo>
                <a:lnTo>
                  <a:pt x="2783" y="3278"/>
                </a:lnTo>
                <a:lnTo>
                  <a:pt x="2783" y="3140"/>
                </a:lnTo>
                <a:lnTo>
                  <a:pt x="2786" y="3114"/>
                </a:lnTo>
                <a:lnTo>
                  <a:pt x="2795" y="3090"/>
                </a:lnTo>
                <a:lnTo>
                  <a:pt x="2809" y="3069"/>
                </a:lnTo>
                <a:lnTo>
                  <a:pt x="2826" y="3051"/>
                </a:lnTo>
                <a:lnTo>
                  <a:pt x="2847" y="3037"/>
                </a:lnTo>
                <a:lnTo>
                  <a:pt x="2871" y="3029"/>
                </a:lnTo>
                <a:lnTo>
                  <a:pt x="2897" y="3026"/>
                </a:lnTo>
                <a:close/>
                <a:moveTo>
                  <a:pt x="2332" y="3026"/>
                </a:moveTo>
                <a:lnTo>
                  <a:pt x="2532" y="3026"/>
                </a:lnTo>
                <a:lnTo>
                  <a:pt x="2558" y="3029"/>
                </a:lnTo>
                <a:lnTo>
                  <a:pt x="2583" y="3037"/>
                </a:lnTo>
                <a:lnTo>
                  <a:pt x="2603" y="3051"/>
                </a:lnTo>
                <a:lnTo>
                  <a:pt x="2622" y="3069"/>
                </a:lnTo>
                <a:lnTo>
                  <a:pt x="2635" y="3090"/>
                </a:lnTo>
                <a:lnTo>
                  <a:pt x="2644" y="3114"/>
                </a:lnTo>
                <a:lnTo>
                  <a:pt x="2646" y="3140"/>
                </a:lnTo>
                <a:lnTo>
                  <a:pt x="2646" y="3278"/>
                </a:lnTo>
                <a:lnTo>
                  <a:pt x="2644" y="3305"/>
                </a:lnTo>
                <a:lnTo>
                  <a:pt x="2635" y="3328"/>
                </a:lnTo>
                <a:lnTo>
                  <a:pt x="2622" y="3350"/>
                </a:lnTo>
                <a:lnTo>
                  <a:pt x="2603" y="3367"/>
                </a:lnTo>
                <a:lnTo>
                  <a:pt x="2583" y="3381"/>
                </a:lnTo>
                <a:lnTo>
                  <a:pt x="2558" y="3389"/>
                </a:lnTo>
                <a:lnTo>
                  <a:pt x="2532" y="3393"/>
                </a:lnTo>
                <a:lnTo>
                  <a:pt x="2332" y="3393"/>
                </a:lnTo>
                <a:lnTo>
                  <a:pt x="2305" y="3389"/>
                </a:lnTo>
                <a:lnTo>
                  <a:pt x="2282" y="3381"/>
                </a:lnTo>
                <a:lnTo>
                  <a:pt x="2260" y="3367"/>
                </a:lnTo>
                <a:lnTo>
                  <a:pt x="2243" y="3350"/>
                </a:lnTo>
                <a:lnTo>
                  <a:pt x="2229" y="3328"/>
                </a:lnTo>
                <a:lnTo>
                  <a:pt x="2221" y="3305"/>
                </a:lnTo>
                <a:lnTo>
                  <a:pt x="2217" y="3278"/>
                </a:lnTo>
                <a:lnTo>
                  <a:pt x="2217" y="3140"/>
                </a:lnTo>
                <a:lnTo>
                  <a:pt x="2221" y="3114"/>
                </a:lnTo>
                <a:lnTo>
                  <a:pt x="2229" y="3090"/>
                </a:lnTo>
                <a:lnTo>
                  <a:pt x="2243" y="3069"/>
                </a:lnTo>
                <a:lnTo>
                  <a:pt x="2260" y="3051"/>
                </a:lnTo>
                <a:lnTo>
                  <a:pt x="2282" y="3037"/>
                </a:lnTo>
                <a:lnTo>
                  <a:pt x="2305" y="3029"/>
                </a:lnTo>
                <a:lnTo>
                  <a:pt x="2332" y="3026"/>
                </a:lnTo>
                <a:close/>
                <a:moveTo>
                  <a:pt x="1766" y="3026"/>
                </a:moveTo>
                <a:lnTo>
                  <a:pt x="1966" y="3026"/>
                </a:lnTo>
                <a:lnTo>
                  <a:pt x="1993" y="3029"/>
                </a:lnTo>
                <a:lnTo>
                  <a:pt x="2016" y="3037"/>
                </a:lnTo>
                <a:lnTo>
                  <a:pt x="2038" y="3051"/>
                </a:lnTo>
                <a:lnTo>
                  <a:pt x="2056" y="3069"/>
                </a:lnTo>
                <a:lnTo>
                  <a:pt x="2069" y="3090"/>
                </a:lnTo>
                <a:lnTo>
                  <a:pt x="2078" y="3114"/>
                </a:lnTo>
                <a:lnTo>
                  <a:pt x="2081" y="3140"/>
                </a:lnTo>
                <a:lnTo>
                  <a:pt x="2081" y="3278"/>
                </a:lnTo>
                <a:lnTo>
                  <a:pt x="2078" y="3305"/>
                </a:lnTo>
                <a:lnTo>
                  <a:pt x="2069" y="3328"/>
                </a:lnTo>
                <a:lnTo>
                  <a:pt x="2056" y="3350"/>
                </a:lnTo>
                <a:lnTo>
                  <a:pt x="2038" y="3367"/>
                </a:lnTo>
                <a:lnTo>
                  <a:pt x="2016" y="3381"/>
                </a:lnTo>
                <a:lnTo>
                  <a:pt x="1993" y="3389"/>
                </a:lnTo>
                <a:lnTo>
                  <a:pt x="1966" y="3393"/>
                </a:lnTo>
                <a:lnTo>
                  <a:pt x="1766" y="3393"/>
                </a:lnTo>
                <a:lnTo>
                  <a:pt x="1740" y="3389"/>
                </a:lnTo>
                <a:lnTo>
                  <a:pt x="1716" y="3381"/>
                </a:lnTo>
                <a:lnTo>
                  <a:pt x="1695" y="3367"/>
                </a:lnTo>
                <a:lnTo>
                  <a:pt x="1676" y="3350"/>
                </a:lnTo>
                <a:lnTo>
                  <a:pt x="1663" y="3328"/>
                </a:lnTo>
                <a:lnTo>
                  <a:pt x="1654" y="3305"/>
                </a:lnTo>
                <a:lnTo>
                  <a:pt x="1652" y="3278"/>
                </a:lnTo>
                <a:lnTo>
                  <a:pt x="1652" y="3140"/>
                </a:lnTo>
                <a:lnTo>
                  <a:pt x="1654" y="3114"/>
                </a:lnTo>
                <a:lnTo>
                  <a:pt x="1663" y="3090"/>
                </a:lnTo>
                <a:lnTo>
                  <a:pt x="1676" y="3069"/>
                </a:lnTo>
                <a:lnTo>
                  <a:pt x="1695" y="3051"/>
                </a:lnTo>
                <a:lnTo>
                  <a:pt x="1716" y="3037"/>
                </a:lnTo>
                <a:lnTo>
                  <a:pt x="1740" y="3029"/>
                </a:lnTo>
                <a:lnTo>
                  <a:pt x="1766" y="3026"/>
                </a:lnTo>
                <a:close/>
                <a:moveTo>
                  <a:pt x="1201" y="3026"/>
                </a:moveTo>
                <a:lnTo>
                  <a:pt x="1401" y="3026"/>
                </a:lnTo>
                <a:lnTo>
                  <a:pt x="1427" y="3029"/>
                </a:lnTo>
                <a:lnTo>
                  <a:pt x="1451" y="3037"/>
                </a:lnTo>
                <a:lnTo>
                  <a:pt x="1472" y="3051"/>
                </a:lnTo>
                <a:lnTo>
                  <a:pt x="1491" y="3069"/>
                </a:lnTo>
                <a:lnTo>
                  <a:pt x="1504" y="3090"/>
                </a:lnTo>
                <a:lnTo>
                  <a:pt x="1513" y="3114"/>
                </a:lnTo>
                <a:lnTo>
                  <a:pt x="1515" y="3140"/>
                </a:lnTo>
                <a:lnTo>
                  <a:pt x="1515" y="3278"/>
                </a:lnTo>
                <a:lnTo>
                  <a:pt x="1513" y="3305"/>
                </a:lnTo>
                <a:lnTo>
                  <a:pt x="1504" y="3328"/>
                </a:lnTo>
                <a:lnTo>
                  <a:pt x="1491" y="3350"/>
                </a:lnTo>
                <a:lnTo>
                  <a:pt x="1472" y="3367"/>
                </a:lnTo>
                <a:lnTo>
                  <a:pt x="1451" y="3381"/>
                </a:lnTo>
                <a:lnTo>
                  <a:pt x="1427" y="3389"/>
                </a:lnTo>
                <a:lnTo>
                  <a:pt x="1401" y="3393"/>
                </a:lnTo>
                <a:lnTo>
                  <a:pt x="1201" y="3393"/>
                </a:lnTo>
                <a:lnTo>
                  <a:pt x="1174" y="3389"/>
                </a:lnTo>
                <a:lnTo>
                  <a:pt x="1151" y="3381"/>
                </a:lnTo>
                <a:lnTo>
                  <a:pt x="1129" y="3367"/>
                </a:lnTo>
                <a:lnTo>
                  <a:pt x="1112" y="3350"/>
                </a:lnTo>
                <a:lnTo>
                  <a:pt x="1098" y="3328"/>
                </a:lnTo>
                <a:lnTo>
                  <a:pt x="1090" y="3305"/>
                </a:lnTo>
                <a:lnTo>
                  <a:pt x="1086" y="3278"/>
                </a:lnTo>
                <a:lnTo>
                  <a:pt x="1086" y="3140"/>
                </a:lnTo>
                <a:lnTo>
                  <a:pt x="1090" y="3114"/>
                </a:lnTo>
                <a:lnTo>
                  <a:pt x="1098" y="3090"/>
                </a:lnTo>
                <a:lnTo>
                  <a:pt x="1112" y="3069"/>
                </a:lnTo>
                <a:lnTo>
                  <a:pt x="1129" y="3051"/>
                </a:lnTo>
                <a:lnTo>
                  <a:pt x="1151" y="3037"/>
                </a:lnTo>
                <a:lnTo>
                  <a:pt x="1174" y="3029"/>
                </a:lnTo>
                <a:lnTo>
                  <a:pt x="1201" y="3026"/>
                </a:lnTo>
                <a:close/>
                <a:moveTo>
                  <a:pt x="635" y="3026"/>
                </a:moveTo>
                <a:lnTo>
                  <a:pt x="835" y="3026"/>
                </a:lnTo>
                <a:lnTo>
                  <a:pt x="862" y="3029"/>
                </a:lnTo>
                <a:lnTo>
                  <a:pt x="885" y="3037"/>
                </a:lnTo>
                <a:lnTo>
                  <a:pt x="907" y="3051"/>
                </a:lnTo>
                <a:lnTo>
                  <a:pt x="924" y="3069"/>
                </a:lnTo>
                <a:lnTo>
                  <a:pt x="938" y="3090"/>
                </a:lnTo>
                <a:lnTo>
                  <a:pt x="946" y="3114"/>
                </a:lnTo>
                <a:lnTo>
                  <a:pt x="950" y="3140"/>
                </a:lnTo>
                <a:lnTo>
                  <a:pt x="950" y="3278"/>
                </a:lnTo>
                <a:lnTo>
                  <a:pt x="946" y="3305"/>
                </a:lnTo>
                <a:lnTo>
                  <a:pt x="938" y="3328"/>
                </a:lnTo>
                <a:lnTo>
                  <a:pt x="924" y="3350"/>
                </a:lnTo>
                <a:lnTo>
                  <a:pt x="907" y="3367"/>
                </a:lnTo>
                <a:lnTo>
                  <a:pt x="885" y="3381"/>
                </a:lnTo>
                <a:lnTo>
                  <a:pt x="862" y="3389"/>
                </a:lnTo>
                <a:lnTo>
                  <a:pt x="835" y="3393"/>
                </a:lnTo>
                <a:lnTo>
                  <a:pt x="635" y="3393"/>
                </a:lnTo>
                <a:lnTo>
                  <a:pt x="609" y="3389"/>
                </a:lnTo>
                <a:lnTo>
                  <a:pt x="585" y="3381"/>
                </a:lnTo>
                <a:lnTo>
                  <a:pt x="564" y="3367"/>
                </a:lnTo>
                <a:lnTo>
                  <a:pt x="545" y="3350"/>
                </a:lnTo>
                <a:lnTo>
                  <a:pt x="532" y="3328"/>
                </a:lnTo>
                <a:lnTo>
                  <a:pt x="523" y="3305"/>
                </a:lnTo>
                <a:lnTo>
                  <a:pt x="521" y="3278"/>
                </a:lnTo>
                <a:lnTo>
                  <a:pt x="521" y="3140"/>
                </a:lnTo>
                <a:lnTo>
                  <a:pt x="523" y="3114"/>
                </a:lnTo>
                <a:lnTo>
                  <a:pt x="532" y="3090"/>
                </a:lnTo>
                <a:lnTo>
                  <a:pt x="545" y="3069"/>
                </a:lnTo>
                <a:lnTo>
                  <a:pt x="564" y="3051"/>
                </a:lnTo>
                <a:lnTo>
                  <a:pt x="585" y="3037"/>
                </a:lnTo>
                <a:lnTo>
                  <a:pt x="609" y="3029"/>
                </a:lnTo>
                <a:lnTo>
                  <a:pt x="635" y="3026"/>
                </a:lnTo>
                <a:close/>
                <a:moveTo>
                  <a:pt x="3463" y="2710"/>
                </a:moveTo>
                <a:lnTo>
                  <a:pt x="3461" y="2852"/>
                </a:lnTo>
                <a:lnTo>
                  <a:pt x="3664" y="2854"/>
                </a:lnTo>
                <a:lnTo>
                  <a:pt x="3665" y="2853"/>
                </a:lnTo>
                <a:lnTo>
                  <a:pt x="3666" y="2852"/>
                </a:lnTo>
                <a:lnTo>
                  <a:pt x="3666" y="2712"/>
                </a:lnTo>
                <a:lnTo>
                  <a:pt x="3463" y="2710"/>
                </a:lnTo>
                <a:close/>
                <a:moveTo>
                  <a:pt x="2897" y="2710"/>
                </a:moveTo>
                <a:lnTo>
                  <a:pt x="2894" y="2852"/>
                </a:lnTo>
                <a:lnTo>
                  <a:pt x="3097" y="2854"/>
                </a:lnTo>
                <a:lnTo>
                  <a:pt x="3100" y="2853"/>
                </a:lnTo>
                <a:lnTo>
                  <a:pt x="3100" y="2852"/>
                </a:lnTo>
                <a:lnTo>
                  <a:pt x="3100" y="2712"/>
                </a:lnTo>
                <a:lnTo>
                  <a:pt x="2897" y="2710"/>
                </a:lnTo>
                <a:close/>
                <a:moveTo>
                  <a:pt x="2332" y="2710"/>
                </a:moveTo>
                <a:lnTo>
                  <a:pt x="2329" y="2852"/>
                </a:lnTo>
                <a:lnTo>
                  <a:pt x="2532" y="2854"/>
                </a:lnTo>
                <a:lnTo>
                  <a:pt x="2534" y="2853"/>
                </a:lnTo>
                <a:lnTo>
                  <a:pt x="2535" y="2852"/>
                </a:lnTo>
                <a:lnTo>
                  <a:pt x="2535" y="2712"/>
                </a:lnTo>
                <a:lnTo>
                  <a:pt x="2332" y="2710"/>
                </a:lnTo>
                <a:close/>
                <a:moveTo>
                  <a:pt x="1766" y="2710"/>
                </a:moveTo>
                <a:lnTo>
                  <a:pt x="1763" y="2852"/>
                </a:lnTo>
                <a:lnTo>
                  <a:pt x="1966" y="2854"/>
                </a:lnTo>
                <a:lnTo>
                  <a:pt x="1969" y="2853"/>
                </a:lnTo>
                <a:lnTo>
                  <a:pt x="1969" y="2852"/>
                </a:lnTo>
                <a:lnTo>
                  <a:pt x="1969" y="2712"/>
                </a:lnTo>
                <a:lnTo>
                  <a:pt x="1766" y="2710"/>
                </a:lnTo>
                <a:close/>
                <a:moveTo>
                  <a:pt x="1201" y="2710"/>
                </a:moveTo>
                <a:lnTo>
                  <a:pt x="1198" y="2852"/>
                </a:lnTo>
                <a:lnTo>
                  <a:pt x="1401" y="2854"/>
                </a:lnTo>
                <a:lnTo>
                  <a:pt x="1403" y="2853"/>
                </a:lnTo>
                <a:lnTo>
                  <a:pt x="1404" y="2852"/>
                </a:lnTo>
                <a:lnTo>
                  <a:pt x="1404" y="2712"/>
                </a:lnTo>
                <a:lnTo>
                  <a:pt x="1201" y="2710"/>
                </a:lnTo>
                <a:close/>
                <a:moveTo>
                  <a:pt x="635" y="2710"/>
                </a:moveTo>
                <a:lnTo>
                  <a:pt x="632" y="2852"/>
                </a:lnTo>
                <a:lnTo>
                  <a:pt x="835" y="2854"/>
                </a:lnTo>
                <a:lnTo>
                  <a:pt x="838" y="2853"/>
                </a:lnTo>
                <a:lnTo>
                  <a:pt x="838" y="2852"/>
                </a:lnTo>
                <a:lnTo>
                  <a:pt x="838" y="2712"/>
                </a:lnTo>
                <a:lnTo>
                  <a:pt x="635" y="2710"/>
                </a:lnTo>
                <a:close/>
                <a:moveTo>
                  <a:pt x="3463" y="2599"/>
                </a:moveTo>
                <a:lnTo>
                  <a:pt x="3664" y="2599"/>
                </a:lnTo>
                <a:lnTo>
                  <a:pt x="3689" y="2602"/>
                </a:lnTo>
                <a:lnTo>
                  <a:pt x="3714" y="2611"/>
                </a:lnTo>
                <a:lnTo>
                  <a:pt x="3734" y="2624"/>
                </a:lnTo>
                <a:lnTo>
                  <a:pt x="3753" y="2642"/>
                </a:lnTo>
                <a:lnTo>
                  <a:pt x="3766" y="2662"/>
                </a:lnTo>
                <a:lnTo>
                  <a:pt x="3775" y="2687"/>
                </a:lnTo>
                <a:lnTo>
                  <a:pt x="3777" y="2712"/>
                </a:lnTo>
                <a:lnTo>
                  <a:pt x="3777" y="2852"/>
                </a:lnTo>
                <a:lnTo>
                  <a:pt x="3775" y="2877"/>
                </a:lnTo>
                <a:lnTo>
                  <a:pt x="3766" y="2902"/>
                </a:lnTo>
                <a:lnTo>
                  <a:pt x="3753" y="2923"/>
                </a:lnTo>
                <a:lnTo>
                  <a:pt x="3734" y="2941"/>
                </a:lnTo>
                <a:lnTo>
                  <a:pt x="3714" y="2954"/>
                </a:lnTo>
                <a:lnTo>
                  <a:pt x="3689" y="2963"/>
                </a:lnTo>
                <a:lnTo>
                  <a:pt x="3664" y="2965"/>
                </a:lnTo>
                <a:lnTo>
                  <a:pt x="3463" y="2965"/>
                </a:lnTo>
                <a:lnTo>
                  <a:pt x="3436" y="2963"/>
                </a:lnTo>
                <a:lnTo>
                  <a:pt x="3413" y="2954"/>
                </a:lnTo>
                <a:lnTo>
                  <a:pt x="3392" y="2941"/>
                </a:lnTo>
                <a:lnTo>
                  <a:pt x="3374" y="2923"/>
                </a:lnTo>
                <a:lnTo>
                  <a:pt x="3360" y="2902"/>
                </a:lnTo>
                <a:lnTo>
                  <a:pt x="3352" y="2877"/>
                </a:lnTo>
                <a:lnTo>
                  <a:pt x="3349" y="2852"/>
                </a:lnTo>
                <a:lnTo>
                  <a:pt x="3349" y="2712"/>
                </a:lnTo>
                <a:lnTo>
                  <a:pt x="3352" y="2687"/>
                </a:lnTo>
                <a:lnTo>
                  <a:pt x="3360" y="2662"/>
                </a:lnTo>
                <a:lnTo>
                  <a:pt x="3374" y="2642"/>
                </a:lnTo>
                <a:lnTo>
                  <a:pt x="3392" y="2624"/>
                </a:lnTo>
                <a:lnTo>
                  <a:pt x="3413" y="2611"/>
                </a:lnTo>
                <a:lnTo>
                  <a:pt x="3436" y="2602"/>
                </a:lnTo>
                <a:lnTo>
                  <a:pt x="3463" y="2599"/>
                </a:lnTo>
                <a:close/>
                <a:moveTo>
                  <a:pt x="2897" y="2599"/>
                </a:moveTo>
                <a:lnTo>
                  <a:pt x="3097" y="2599"/>
                </a:lnTo>
                <a:lnTo>
                  <a:pt x="3124" y="2602"/>
                </a:lnTo>
                <a:lnTo>
                  <a:pt x="3147" y="2611"/>
                </a:lnTo>
                <a:lnTo>
                  <a:pt x="3170" y="2624"/>
                </a:lnTo>
                <a:lnTo>
                  <a:pt x="3187" y="2642"/>
                </a:lnTo>
                <a:lnTo>
                  <a:pt x="3200" y="2662"/>
                </a:lnTo>
                <a:lnTo>
                  <a:pt x="3209" y="2687"/>
                </a:lnTo>
                <a:lnTo>
                  <a:pt x="3212" y="2712"/>
                </a:lnTo>
                <a:lnTo>
                  <a:pt x="3212" y="2852"/>
                </a:lnTo>
                <a:lnTo>
                  <a:pt x="3209" y="2877"/>
                </a:lnTo>
                <a:lnTo>
                  <a:pt x="3200" y="2902"/>
                </a:lnTo>
                <a:lnTo>
                  <a:pt x="3187" y="2923"/>
                </a:lnTo>
                <a:lnTo>
                  <a:pt x="3170" y="2941"/>
                </a:lnTo>
                <a:lnTo>
                  <a:pt x="3147" y="2954"/>
                </a:lnTo>
                <a:lnTo>
                  <a:pt x="3124" y="2963"/>
                </a:lnTo>
                <a:lnTo>
                  <a:pt x="3097" y="2965"/>
                </a:lnTo>
                <a:lnTo>
                  <a:pt x="2897" y="2965"/>
                </a:lnTo>
                <a:lnTo>
                  <a:pt x="2871" y="2963"/>
                </a:lnTo>
                <a:lnTo>
                  <a:pt x="2847" y="2954"/>
                </a:lnTo>
                <a:lnTo>
                  <a:pt x="2826" y="2941"/>
                </a:lnTo>
                <a:lnTo>
                  <a:pt x="2809" y="2923"/>
                </a:lnTo>
                <a:lnTo>
                  <a:pt x="2795" y="2902"/>
                </a:lnTo>
                <a:lnTo>
                  <a:pt x="2786" y="2877"/>
                </a:lnTo>
                <a:lnTo>
                  <a:pt x="2783" y="2852"/>
                </a:lnTo>
                <a:lnTo>
                  <a:pt x="2783" y="2712"/>
                </a:lnTo>
                <a:lnTo>
                  <a:pt x="2786" y="2687"/>
                </a:lnTo>
                <a:lnTo>
                  <a:pt x="2795" y="2662"/>
                </a:lnTo>
                <a:lnTo>
                  <a:pt x="2809" y="2642"/>
                </a:lnTo>
                <a:lnTo>
                  <a:pt x="2826" y="2624"/>
                </a:lnTo>
                <a:lnTo>
                  <a:pt x="2847" y="2611"/>
                </a:lnTo>
                <a:lnTo>
                  <a:pt x="2871" y="2602"/>
                </a:lnTo>
                <a:lnTo>
                  <a:pt x="2897" y="2599"/>
                </a:lnTo>
                <a:close/>
                <a:moveTo>
                  <a:pt x="2332" y="2599"/>
                </a:moveTo>
                <a:lnTo>
                  <a:pt x="2532" y="2599"/>
                </a:lnTo>
                <a:lnTo>
                  <a:pt x="2558" y="2602"/>
                </a:lnTo>
                <a:lnTo>
                  <a:pt x="2583" y="2611"/>
                </a:lnTo>
                <a:lnTo>
                  <a:pt x="2603" y="2624"/>
                </a:lnTo>
                <a:lnTo>
                  <a:pt x="2622" y="2642"/>
                </a:lnTo>
                <a:lnTo>
                  <a:pt x="2635" y="2662"/>
                </a:lnTo>
                <a:lnTo>
                  <a:pt x="2644" y="2687"/>
                </a:lnTo>
                <a:lnTo>
                  <a:pt x="2646" y="2712"/>
                </a:lnTo>
                <a:lnTo>
                  <a:pt x="2646" y="2852"/>
                </a:lnTo>
                <a:lnTo>
                  <a:pt x="2644" y="2877"/>
                </a:lnTo>
                <a:lnTo>
                  <a:pt x="2635" y="2902"/>
                </a:lnTo>
                <a:lnTo>
                  <a:pt x="2622" y="2923"/>
                </a:lnTo>
                <a:lnTo>
                  <a:pt x="2603" y="2941"/>
                </a:lnTo>
                <a:lnTo>
                  <a:pt x="2583" y="2954"/>
                </a:lnTo>
                <a:lnTo>
                  <a:pt x="2558" y="2963"/>
                </a:lnTo>
                <a:lnTo>
                  <a:pt x="2532" y="2965"/>
                </a:lnTo>
                <a:lnTo>
                  <a:pt x="2332" y="2965"/>
                </a:lnTo>
                <a:lnTo>
                  <a:pt x="2305" y="2963"/>
                </a:lnTo>
                <a:lnTo>
                  <a:pt x="2282" y="2954"/>
                </a:lnTo>
                <a:lnTo>
                  <a:pt x="2260" y="2941"/>
                </a:lnTo>
                <a:lnTo>
                  <a:pt x="2243" y="2923"/>
                </a:lnTo>
                <a:lnTo>
                  <a:pt x="2229" y="2902"/>
                </a:lnTo>
                <a:lnTo>
                  <a:pt x="2221" y="2877"/>
                </a:lnTo>
                <a:lnTo>
                  <a:pt x="2217" y="2852"/>
                </a:lnTo>
                <a:lnTo>
                  <a:pt x="2217" y="2712"/>
                </a:lnTo>
                <a:lnTo>
                  <a:pt x="2221" y="2687"/>
                </a:lnTo>
                <a:lnTo>
                  <a:pt x="2229" y="2662"/>
                </a:lnTo>
                <a:lnTo>
                  <a:pt x="2243" y="2642"/>
                </a:lnTo>
                <a:lnTo>
                  <a:pt x="2260" y="2624"/>
                </a:lnTo>
                <a:lnTo>
                  <a:pt x="2282" y="2611"/>
                </a:lnTo>
                <a:lnTo>
                  <a:pt x="2305" y="2602"/>
                </a:lnTo>
                <a:lnTo>
                  <a:pt x="2332" y="2599"/>
                </a:lnTo>
                <a:close/>
                <a:moveTo>
                  <a:pt x="1766" y="2599"/>
                </a:moveTo>
                <a:lnTo>
                  <a:pt x="1966" y="2599"/>
                </a:lnTo>
                <a:lnTo>
                  <a:pt x="1993" y="2602"/>
                </a:lnTo>
                <a:lnTo>
                  <a:pt x="2016" y="2611"/>
                </a:lnTo>
                <a:lnTo>
                  <a:pt x="2038" y="2624"/>
                </a:lnTo>
                <a:lnTo>
                  <a:pt x="2056" y="2642"/>
                </a:lnTo>
                <a:lnTo>
                  <a:pt x="2069" y="2662"/>
                </a:lnTo>
                <a:lnTo>
                  <a:pt x="2078" y="2687"/>
                </a:lnTo>
                <a:lnTo>
                  <a:pt x="2081" y="2712"/>
                </a:lnTo>
                <a:lnTo>
                  <a:pt x="2081" y="2852"/>
                </a:lnTo>
                <a:lnTo>
                  <a:pt x="2078" y="2877"/>
                </a:lnTo>
                <a:lnTo>
                  <a:pt x="2069" y="2902"/>
                </a:lnTo>
                <a:lnTo>
                  <a:pt x="2056" y="2923"/>
                </a:lnTo>
                <a:lnTo>
                  <a:pt x="2038" y="2941"/>
                </a:lnTo>
                <a:lnTo>
                  <a:pt x="2016" y="2954"/>
                </a:lnTo>
                <a:lnTo>
                  <a:pt x="1993" y="2963"/>
                </a:lnTo>
                <a:lnTo>
                  <a:pt x="1966" y="2965"/>
                </a:lnTo>
                <a:lnTo>
                  <a:pt x="1766" y="2965"/>
                </a:lnTo>
                <a:lnTo>
                  <a:pt x="1740" y="2963"/>
                </a:lnTo>
                <a:lnTo>
                  <a:pt x="1716" y="2954"/>
                </a:lnTo>
                <a:lnTo>
                  <a:pt x="1695" y="2941"/>
                </a:lnTo>
                <a:lnTo>
                  <a:pt x="1676" y="2923"/>
                </a:lnTo>
                <a:lnTo>
                  <a:pt x="1663" y="2902"/>
                </a:lnTo>
                <a:lnTo>
                  <a:pt x="1654" y="2877"/>
                </a:lnTo>
                <a:lnTo>
                  <a:pt x="1652" y="2852"/>
                </a:lnTo>
                <a:lnTo>
                  <a:pt x="1652" y="2712"/>
                </a:lnTo>
                <a:lnTo>
                  <a:pt x="1654" y="2687"/>
                </a:lnTo>
                <a:lnTo>
                  <a:pt x="1663" y="2662"/>
                </a:lnTo>
                <a:lnTo>
                  <a:pt x="1676" y="2642"/>
                </a:lnTo>
                <a:lnTo>
                  <a:pt x="1695" y="2624"/>
                </a:lnTo>
                <a:lnTo>
                  <a:pt x="1716" y="2611"/>
                </a:lnTo>
                <a:lnTo>
                  <a:pt x="1740" y="2602"/>
                </a:lnTo>
                <a:lnTo>
                  <a:pt x="1766" y="2599"/>
                </a:lnTo>
                <a:close/>
                <a:moveTo>
                  <a:pt x="1201" y="2599"/>
                </a:moveTo>
                <a:lnTo>
                  <a:pt x="1401" y="2599"/>
                </a:lnTo>
                <a:lnTo>
                  <a:pt x="1427" y="2602"/>
                </a:lnTo>
                <a:lnTo>
                  <a:pt x="1451" y="2611"/>
                </a:lnTo>
                <a:lnTo>
                  <a:pt x="1472" y="2624"/>
                </a:lnTo>
                <a:lnTo>
                  <a:pt x="1491" y="2642"/>
                </a:lnTo>
                <a:lnTo>
                  <a:pt x="1504" y="2662"/>
                </a:lnTo>
                <a:lnTo>
                  <a:pt x="1513" y="2687"/>
                </a:lnTo>
                <a:lnTo>
                  <a:pt x="1515" y="2712"/>
                </a:lnTo>
                <a:lnTo>
                  <a:pt x="1515" y="2852"/>
                </a:lnTo>
                <a:lnTo>
                  <a:pt x="1513" y="2877"/>
                </a:lnTo>
                <a:lnTo>
                  <a:pt x="1504" y="2902"/>
                </a:lnTo>
                <a:lnTo>
                  <a:pt x="1491" y="2923"/>
                </a:lnTo>
                <a:lnTo>
                  <a:pt x="1472" y="2941"/>
                </a:lnTo>
                <a:lnTo>
                  <a:pt x="1451" y="2954"/>
                </a:lnTo>
                <a:lnTo>
                  <a:pt x="1427" y="2963"/>
                </a:lnTo>
                <a:lnTo>
                  <a:pt x="1401" y="2965"/>
                </a:lnTo>
                <a:lnTo>
                  <a:pt x="1201" y="2965"/>
                </a:lnTo>
                <a:lnTo>
                  <a:pt x="1174" y="2963"/>
                </a:lnTo>
                <a:lnTo>
                  <a:pt x="1151" y="2954"/>
                </a:lnTo>
                <a:lnTo>
                  <a:pt x="1129" y="2941"/>
                </a:lnTo>
                <a:lnTo>
                  <a:pt x="1112" y="2923"/>
                </a:lnTo>
                <a:lnTo>
                  <a:pt x="1098" y="2902"/>
                </a:lnTo>
                <a:lnTo>
                  <a:pt x="1090" y="2877"/>
                </a:lnTo>
                <a:lnTo>
                  <a:pt x="1086" y="2852"/>
                </a:lnTo>
                <a:lnTo>
                  <a:pt x="1086" y="2712"/>
                </a:lnTo>
                <a:lnTo>
                  <a:pt x="1090" y="2687"/>
                </a:lnTo>
                <a:lnTo>
                  <a:pt x="1098" y="2662"/>
                </a:lnTo>
                <a:lnTo>
                  <a:pt x="1112" y="2642"/>
                </a:lnTo>
                <a:lnTo>
                  <a:pt x="1129" y="2624"/>
                </a:lnTo>
                <a:lnTo>
                  <a:pt x="1151" y="2611"/>
                </a:lnTo>
                <a:lnTo>
                  <a:pt x="1174" y="2602"/>
                </a:lnTo>
                <a:lnTo>
                  <a:pt x="1201" y="2599"/>
                </a:lnTo>
                <a:close/>
                <a:moveTo>
                  <a:pt x="635" y="2599"/>
                </a:moveTo>
                <a:lnTo>
                  <a:pt x="835" y="2599"/>
                </a:lnTo>
                <a:lnTo>
                  <a:pt x="862" y="2602"/>
                </a:lnTo>
                <a:lnTo>
                  <a:pt x="885" y="2611"/>
                </a:lnTo>
                <a:lnTo>
                  <a:pt x="907" y="2624"/>
                </a:lnTo>
                <a:lnTo>
                  <a:pt x="924" y="2642"/>
                </a:lnTo>
                <a:lnTo>
                  <a:pt x="938" y="2662"/>
                </a:lnTo>
                <a:lnTo>
                  <a:pt x="946" y="2687"/>
                </a:lnTo>
                <a:lnTo>
                  <a:pt x="950" y="2712"/>
                </a:lnTo>
                <a:lnTo>
                  <a:pt x="950" y="2852"/>
                </a:lnTo>
                <a:lnTo>
                  <a:pt x="946" y="2877"/>
                </a:lnTo>
                <a:lnTo>
                  <a:pt x="938" y="2902"/>
                </a:lnTo>
                <a:lnTo>
                  <a:pt x="924" y="2923"/>
                </a:lnTo>
                <a:lnTo>
                  <a:pt x="907" y="2941"/>
                </a:lnTo>
                <a:lnTo>
                  <a:pt x="885" y="2954"/>
                </a:lnTo>
                <a:lnTo>
                  <a:pt x="862" y="2963"/>
                </a:lnTo>
                <a:lnTo>
                  <a:pt x="835" y="2965"/>
                </a:lnTo>
                <a:lnTo>
                  <a:pt x="635" y="2965"/>
                </a:lnTo>
                <a:lnTo>
                  <a:pt x="609" y="2963"/>
                </a:lnTo>
                <a:lnTo>
                  <a:pt x="585" y="2954"/>
                </a:lnTo>
                <a:lnTo>
                  <a:pt x="564" y="2941"/>
                </a:lnTo>
                <a:lnTo>
                  <a:pt x="545" y="2923"/>
                </a:lnTo>
                <a:lnTo>
                  <a:pt x="532" y="2902"/>
                </a:lnTo>
                <a:lnTo>
                  <a:pt x="523" y="2877"/>
                </a:lnTo>
                <a:lnTo>
                  <a:pt x="521" y="2852"/>
                </a:lnTo>
                <a:lnTo>
                  <a:pt x="521" y="2712"/>
                </a:lnTo>
                <a:lnTo>
                  <a:pt x="523" y="2687"/>
                </a:lnTo>
                <a:lnTo>
                  <a:pt x="532" y="2662"/>
                </a:lnTo>
                <a:lnTo>
                  <a:pt x="545" y="2642"/>
                </a:lnTo>
                <a:lnTo>
                  <a:pt x="564" y="2624"/>
                </a:lnTo>
                <a:lnTo>
                  <a:pt x="585" y="2611"/>
                </a:lnTo>
                <a:lnTo>
                  <a:pt x="609" y="2602"/>
                </a:lnTo>
                <a:lnTo>
                  <a:pt x="635" y="2599"/>
                </a:lnTo>
                <a:close/>
                <a:moveTo>
                  <a:pt x="1931" y="0"/>
                </a:moveTo>
                <a:lnTo>
                  <a:pt x="2013" y="4"/>
                </a:lnTo>
                <a:lnTo>
                  <a:pt x="2093" y="15"/>
                </a:lnTo>
                <a:lnTo>
                  <a:pt x="2170" y="33"/>
                </a:lnTo>
                <a:lnTo>
                  <a:pt x="2245" y="57"/>
                </a:lnTo>
                <a:lnTo>
                  <a:pt x="2317" y="89"/>
                </a:lnTo>
                <a:lnTo>
                  <a:pt x="2386" y="126"/>
                </a:lnTo>
                <a:lnTo>
                  <a:pt x="2449" y="169"/>
                </a:lnTo>
                <a:lnTo>
                  <a:pt x="2510" y="216"/>
                </a:lnTo>
                <a:lnTo>
                  <a:pt x="2565" y="270"/>
                </a:lnTo>
                <a:lnTo>
                  <a:pt x="2617" y="327"/>
                </a:lnTo>
                <a:lnTo>
                  <a:pt x="2663" y="390"/>
                </a:lnTo>
                <a:lnTo>
                  <a:pt x="2704" y="455"/>
                </a:lnTo>
                <a:lnTo>
                  <a:pt x="2738" y="524"/>
                </a:lnTo>
                <a:lnTo>
                  <a:pt x="2767" y="597"/>
                </a:lnTo>
                <a:lnTo>
                  <a:pt x="2789" y="673"/>
                </a:lnTo>
                <a:lnTo>
                  <a:pt x="2804" y="751"/>
                </a:lnTo>
                <a:lnTo>
                  <a:pt x="2812" y="832"/>
                </a:lnTo>
                <a:lnTo>
                  <a:pt x="2867" y="842"/>
                </a:lnTo>
                <a:lnTo>
                  <a:pt x="2919" y="858"/>
                </a:lnTo>
                <a:lnTo>
                  <a:pt x="2969" y="878"/>
                </a:lnTo>
                <a:lnTo>
                  <a:pt x="3014" y="907"/>
                </a:lnTo>
                <a:lnTo>
                  <a:pt x="3057" y="938"/>
                </a:lnTo>
                <a:lnTo>
                  <a:pt x="3095" y="975"/>
                </a:lnTo>
                <a:lnTo>
                  <a:pt x="3128" y="1017"/>
                </a:lnTo>
                <a:lnTo>
                  <a:pt x="3156" y="1062"/>
                </a:lnTo>
                <a:lnTo>
                  <a:pt x="3179" y="1111"/>
                </a:lnTo>
                <a:lnTo>
                  <a:pt x="3196" y="1162"/>
                </a:lnTo>
                <a:lnTo>
                  <a:pt x="3206" y="1217"/>
                </a:lnTo>
                <a:lnTo>
                  <a:pt x="3210" y="1273"/>
                </a:lnTo>
                <a:lnTo>
                  <a:pt x="3207" y="1323"/>
                </a:lnTo>
                <a:lnTo>
                  <a:pt x="3199" y="1371"/>
                </a:lnTo>
                <a:lnTo>
                  <a:pt x="3185" y="1419"/>
                </a:lnTo>
                <a:lnTo>
                  <a:pt x="3167" y="1465"/>
                </a:lnTo>
                <a:lnTo>
                  <a:pt x="3143" y="1508"/>
                </a:lnTo>
                <a:lnTo>
                  <a:pt x="3113" y="1549"/>
                </a:lnTo>
                <a:lnTo>
                  <a:pt x="3080" y="1587"/>
                </a:lnTo>
                <a:lnTo>
                  <a:pt x="3044" y="1620"/>
                </a:lnTo>
                <a:lnTo>
                  <a:pt x="3003" y="1648"/>
                </a:lnTo>
                <a:lnTo>
                  <a:pt x="2960" y="1671"/>
                </a:lnTo>
                <a:lnTo>
                  <a:pt x="2915" y="1691"/>
                </a:lnTo>
                <a:lnTo>
                  <a:pt x="2867" y="1704"/>
                </a:lnTo>
                <a:lnTo>
                  <a:pt x="2817" y="1713"/>
                </a:lnTo>
                <a:lnTo>
                  <a:pt x="2767" y="1715"/>
                </a:lnTo>
                <a:lnTo>
                  <a:pt x="1977" y="1717"/>
                </a:lnTo>
                <a:lnTo>
                  <a:pt x="1936" y="1720"/>
                </a:lnTo>
                <a:lnTo>
                  <a:pt x="1897" y="1731"/>
                </a:lnTo>
                <a:lnTo>
                  <a:pt x="1860" y="1748"/>
                </a:lnTo>
                <a:lnTo>
                  <a:pt x="1828" y="1770"/>
                </a:lnTo>
                <a:lnTo>
                  <a:pt x="1800" y="1799"/>
                </a:lnTo>
                <a:lnTo>
                  <a:pt x="1777" y="1832"/>
                </a:lnTo>
                <a:lnTo>
                  <a:pt x="1760" y="1868"/>
                </a:lnTo>
                <a:lnTo>
                  <a:pt x="1749" y="1907"/>
                </a:lnTo>
                <a:lnTo>
                  <a:pt x="1745" y="1949"/>
                </a:lnTo>
                <a:lnTo>
                  <a:pt x="1747" y="1984"/>
                </a:lnTo>
                <a:lnTo>
                  <a:pt x="1756" y="2020"/>
                </a:lnTo>
                <a:lnTo>
                  <a:pt x="1769" y="2053"/>
                </a:lnTo>
                <a:lnTo>
                  <a:pt x="1788" y="2083"/>
                </a:lnTo>
                <a:lnTo>
                  <a:pt x="1811" y="2110"/>
                </a:lnTo>
                <a:lnTo>
                  <a:pt x="1832" y="2136"/>
                </a:lnTo>
                <a:lnTo>
                  <a:pt x="1849" y="2164"/>
                </a:lnTo>
                <a:lnTo>
                  <a:pt x="1861" y="2193"/>
                </a:lnTo>
                <a:lnTo>
                  <a:pt x="1870" y="2225"/>
                </a:lnTo>
                <a:lnTo>
                  <a:pt x="1872" y="2258"/>
                </a:lnTo>
                <a:lnTo>
                  <a:pt x="1868" y="2291"/>
                </a:lnTo>
                <a:lnTo>
                  <a:pt x="1861" y="2324"/>
                </a:lnTo>
                <a:lnTo>
                  <a:pt x="1848" y="2354"/>
                </a:lnTo>
                <a:lnTo>
                  <a:pt x="1831" y="2383"/>
                </a:lnTo>
                <a:lnTo>
                  <a:pt x="1809" y="2408"/>
                </a:lnTo>
                <a:lnTo>
                  <a:pt x="1784" y="2429"/>
                </a:lnTo>
                <a:lnTo>
                  <a:pt x="1756" y="2445"/>
                </a:lnTo>
                <a:lnTo>
                  <a:pt x="1727" y="2456"/>
                </a:lnTo>
                <a:lnTo>
                  <a:pt x="1695" y="2463"/>
                </a:lnTo>
                <a:lnTo>
                  <a:pt x="1663" y="2466"/>
                </a:lnTo>
                <a:lnTo>
                  <a:pt x="559" y="2466"/>
                </a:lnTo>
                <a:lnTo>
                  <a:pt x="528" y="2469"/>
                </a:lnTo>
                <a:lnTo>
                  <a:pt x="501" y="2479"/>
                </a:lnTo>
                <a:lnTo>
                  <a:pt x="477" y="2494"/>
                </a:lnTo>
                <a:lnTo>
                  <a:pt x="456" y="2515"/>
                </a:lnTo>
                <a:lnTo>
                  <a:pt x="441" y="2539"/>
                </a:lnTo>
                <a:lnTo>
                  <a:pt x="432" y="2566"/>
                </a:lnTo>
                <a:lnTo>
                  <a:pt x="428" y="2596"/>
                </a:lnTo>
                <a:lnTo>
                  <a:pt x="428" y="3790"/>
                </a:lnTo>
                <a:lnTo>
                  <a:pt x="432" y="3819"/>
                </a:lnTo>
                <a:lnTo>
                  <a:pt x="441" y="3848"/>
                </a:lnTo>
                <a:lnTo>
                  <a:pt x="456" y="3872"/>
                </a:lnTo>
                <a:lnTo>
                  <a:pt x="477" y="3891"/>
                </a:lnTo>
                <a:lnTo>
                  <a:pt x="501" y="3907"/>
                </a:lnTo>
                <a:lnTo>
                  <a:pt x="528" y="3917"/>
                </a:lnTo>
                <a:lnTo>
                  <a:pt x="559" y="3921"/>
                </a:lnTo>
                <a:lnTo>
                  <a:pt x="3722" y="3921"/>
                </a:lnTo>
                <a:lnTo>
                  <a:pt x="3753" y="3917"/>
                </a:lnTo>
                <a:lnTo>
                  <a:pt x="3780" y="3907"/>
                </a:lnTo>
                <a:lnTo>
                  <a:pt x="3804" y="3891"/>
                </a:lnTo>
                <a:lnTo>
                  <a:pt x="3825" y="3872"/>
                </a:lnTo>
                <a:lnTo>
                  <a:pt x="3840" y="3848"/>
                </a:lnTo>
                <a:lnTo>
                  <a:pt x="3849" y="3819"/>
                </a:lnTo>
                <a:lnTo>
                  <a:pt x="3853" y="3790"/>
                </a:lnTo>
                <a:lnTo>
                  <a:pt x="3853" y="2596"/>
                </a:lnTo>
                <a:lnTo>
                  <a:pt x="3849" y="2566"/>
                </a:lnTo>
                <a:lnTo>
                  <a:pt x="3840" y="2539"/>
                </a:lnTo>
                <a:lnTo>
                  <a:pt x="3825" y="2515"/>
                </a:lnTo>
                <a:lnTo>
                  <a:pt x="3804" y="2494"/>
                </a:lnTo>
                <a:lnTo>
                  <a:pt x="3780" y="2479"/>
                </a:lnTo>
                <a:lnTo>
                  <a:pt x="3753" y="2469"/>
                </a:lnTo>
                <a:lnTo>
                  <a:pt x="3722" y="2466"/>
                </a:lnTo>
                <a:lnTo>
                  <a:pt x="2279" y="2466"/>
                </a:lnTo>
                <a:lnTo>
                  <a:pt x="2261" y="2462"/>
                </a:lnTo>
                <a:lnTo>
                  <a:pt x="2246" y="2455"/>
                </a:lnTo>
                <a:lnTo>
                  <a:pt x="2234" y="2442"/>
                </a:lnTo>
                <a:lnTo>
                  <a:pt x="2227" y="2428"/>
                </a:lnTo>
                <a:lnTo>
                  <a:pt x="2223" y="2409"/>
                </a:lnTo>
                <a:lnTo>
                  <a:pt x="2227" y="2392"/>
                </a:lnTo>
                <a:lnTo>
                  <a:pt x="2234" y="2376"/>
                </a:lnTo>
                <a:lnTo>
                  <a:pt x="2246" y="2364"/>
                </a:lnTo>
                <a:lnTo>
                  <a:pt x="2261" y="2357"/>
                </a:lnTo>
                <a:lnTo>
                  <a:pt x="2279" y="2354"/>
                </a:lnTo>
                <a:lnTo>
                  <a:pt x="3722" y="2354"/>
                </a:lnTo>
                <a:lnTo>
                  <a:pt x="3761" y="2357"/>
                </a:lnTo>
                <a:lnTo>
                  <a:pt x="3799" y="2367"/>
                </a:lnTo>
                <a:lnTo>
                  <a:pt x="3833" y="2381"/>
                </a:lnTo>
                <a:lnTo>
                  <a:pt x="3865" y="2401"/>
                </a:lnTo>
                <a:lnTo>
                  <a:pt x="3893" y="2425"/>
                </a:lnTo>
                <a:lnTo>
                  <a:pt x="3918" y="2453"/>
                </a:lnTo>
                <a:lnTo>
                  <a:pt x="3937" y="2485"/>
                </a:lnTo>
                <a:lnTo>
                  <a:pt x="3952" y="2519"/>
                </a:lnTo>
                <a:lnTo>
                  <a:pt x="3962" y="2557"/>
                </a:lnTo>
                <a:lnTo>
                  <a:pt x="3964" y="2596"/>
                </a:lnTo>
                <a:lnTo>
                  <a:pt x="3964" y="3790"/>
                </a:lnTo>
                <a:lnTo>
                  <a:pt x="3962" y="3829"/>
                </a:lnTo>
                <a:lnTo>
                  <a:pt x="3952" y="3866"/>
                </a:lnTo>
                <a:lnTo>
                  <a:pt x="3937" y="3901"/>
                </a:lnTo>
                <a:lnTo>
                  <a:pt x="3918" y="3933"/>
                </a:lnTo>
                <a:lnTo>
                  <a:pt x="3893" y="3961"/>
                </a:lnTo>
                <a:lnTo>
                  <a:pt x="3865" y="3986"/>
                </a:lnTo>
                <a:lnTo>
                  <a:pt x="3833" y="4005"/>
                </a:lnTo>
                <a:lnTo>
                  <a:pt x="3799" y="4020"/>
                </a:lnTo>
                <a:lnTo>
                  <a:pt x="3761" y="4028"/>
                </a:lnTo>
                <a:lnTo>
                  <a:pt x="3722" y="4032"/>
                </a:lnTo>
                <a:lnTo>
                  <a:pt x="559" y="4032"/>
                </a:lnTo>
                <a:lnTo>
                  <a:pt x="520" y="4028"/>
                </a:lnTo>
                <a:lnTo>
                  <a:pt x="482" y="4020"/>
                </a:lnTo>
                <a:lnTo>
                  <a:pt x="448" y="4005"/>
                </a:lnTo>
                <a:lnTo>
                  <a:pt x="416" y="3986"/>
                </a:lnTo>
                <a:lnTo>
                  <a:pt x="388" y="3961"/>
                </a:lnTo>
                <a:lnTo>
                  <a:pt x="363" y="3933"/>
                </a:lnTo>
                <a:lnTo>
                  <a:pt x="344" y="3901"/>
                </a:lnTo>
                <a:lnTo>
                  <a:pt x="329" y="3866"/>
                </a:lnTo>
                <a:lnTo>
                  <a:pt x="319" y="3829"/>
                </a:lnTo>
                <a:lnTo>
                  <a:pt x="317" y="3790"/>
                </a:lnTo>
                <a:lnTo>
                  <a:pt x="317" y="2596"/>
                </a:lnTo>
                <a:lnTo>
                  <a:pt x="319" y="2557"/>
                </a:lnTo>
                <a:lnTo>
                  <a:pt x="329" y="2519"/>
                </a:lnTo>
                <a:lnTo>
                  <a:pt x="344" y="2485"/>
                </a:lnTo>
                <a:lnTo>
                  <a:pt x="363" y="2453"/>
                </a:lnTo>
                <a:lnTo>
                  <a:pt x="388" y="2425"/>
                </a:lnTo>
                <a:lnTo>
                  <a:pt x="416" y="2401"/>
                </a:lnTo>
                <a:lnTo>
                  <a:pt x="448" y="2381"/>
                </a:lnTo>
                <a:lnTo>
                  <a:pt x="482" y="2367"/>
                </a:lnTo>
                <a:lnTo>
                  <a:pt x="520" y="2357"/>
                </a:lnTo>
                <a:lnTo>
                  <a:pt x="559" y="2354"/>
                </a:lnTo>
                <a:lnTo>
                  <a:pt x="1664" y="2354"/>
                </a:lnTo>
                <a:lnTo>
                  <a:pt x="1689" y="2351"/>
                </a:lnTo>
                <a:lnTo>
                  <a:pt x="1711" y="2342"/>
                </a:lnTo>
                <a:lnTo>
                  <a:pt x="1730" y="2328"/>
                </a:lnTo>
                <a:lnTo>
                  <a:pt x="1744" y="2313"/>
                </a:lnTo>
                <a:lnTo>
                  <a:pt x="1752" y="2296"/>
                </a:lnTo>
                <a:lnTo>
                  <a:pt x="1758" y="2277"/>
                </a:lnTo>
                <a:lnTo>
                  <a:pt x="1760" y="2258"/>
                </a:lnTo>
                <a:lnTo>
                  <a:pt x="1757" y="2232"/>
                </a:lnTo>
                <a:lnTo>
                  <a:pt x="1747" y="2210"/>
                </a:lnTo>
                <a:lnTo>
                  <a:pt x="1731" y="2189"/>
                </a:lnTo>
                <a:lnTo>
                  <a:pt x="1730" y="2188"/>
                </a:lnTo>
                <a:lnTo>
                  <a:pt x="1729" y="2187"/>
                </a:lnTo>
                <a:lnTo>
                  <a:pt x="1728" y="2186"/>
                </a:lnTo>
                <a:lnTo>
                  <a:pt x="1700" y="2153"/>
                </a:lnTo>
                <a:lnTo>
                  <a:pt x="1676" y="2116"/>
                </a:lnTo>
                <a:lnTo>
                  <a:pt x="1658" y="2077"/>
                </a:lnTo>
                <a:lnTo>
                  <a:pt x="1645" y="2037"/>
                </a:lnTo>
                <a:lnTo>
                  <a:pt x="1636" y="1993"/>
                </a:lnTo>
                <a:lnTo>
                  <a:pt x="1634" y="1949"/>
                </a:lnTo>
                <a:lnTo>
                  <a:pt x="1637" y="1897"/>
                </a:lnTo>
                <a:lnTo>
                  <a:pt x="1648" y="1850"/>
                </a:lnTo>
                <a:lnTo>
                  <a:pt x="1665" y="1803"/>
                </a:lnTo>
                <a:lnTo>
                  <a:pt x="1689" y="1762"/>
                </a:lnTo>
                <a:lnTo>
                  <a:pt x="1718" y="1723"/>
                </a:lnTo>
                <a:lnTo>
                  <a:pt x="1752" y="1690"/>
                </a:lnTo>
                <a:lnTo>
                  <a:pt x="1790" y="1660"/>
                </a:lnTo>
                <a:lnTo>
                  <a:pt x="1833" y="1637"/>
                </a:lnTo>
                <a:lnTo>
                  <a:pt x="1878" y="1619"/>
                </a:lnTo>
                <a:lnTo>
                  <a:pt x="1927" y="1609"/>
                </a:lnTo>
                <a:lnTo>
                  <a:pt x="1977" y="1604"/>
                </a:lnTo>
                <a:lnTo>
                  <a:pt x="2767" y="1604"/>
                </a:lnTo>
                <a:lnTo>
                  <a:pt x="2810" y="1602"/>
                </a:lnTo>
                <a:lnTo>
                  <a:pt x="2850" y="1593"/>
                </a:lnTo>
                <a:lnTo>
                  <a:pt x="2891" y="1581"/>
                </a:lnTo>
                <a:lnTo>
                  <a:pt x="2927" y="1563"/>
                </a:lnTo>
                <a:lnTo>
                  <a:pt x="2963" y="1541"/>
                </a:lnTo>
                <a:lnTo>
                  <a:pt x="2995" y="1514"/>
                </a:lnTo>
                <a:lnTo>
                  <a:pt x="3024" y="1483"/>
                </a:lnTo>
                <a:lnTo>
                  <a:pt x="3048" y="1449"/>
                </a:lnTo>
                <a:lnTo>
                  <a:pt x="3070" y="1408"/>
                </a:lnTo>
                <a:lnTo>
                  <a:pt x="3086" y="1365"/>
                </a:lnTo>
                <a:lnTo>
                  <a:pt x="3095" y="1320"/>
                </a:lnTo>
                <a:lnTo>
                  <a:pt x="3099" y="1273"/>
                </a:lnTo>
                <a:lnTo>
                  <a:pt x="3095" y="1224"/>
                </a:lnTo>
                <a:lnTo>
                  <a:pt x="3085" y="1178"/>
                </a:lnTo>
                <a:lnTo>
                  <a:pt x="3068" y="1134"/>
                </a:lnTo>
                <a:lnTo>
                  <a:pt x="3045" y="1092"/>
                </a:lnTo>
                <a:lnTo>
                  <a:pt x="3018" y="1056"/>
                </a:lnTo>
                <a:lnTo>
                  <a:pt x="2985" y="1023"/>
                </a:lnTo>
                <a:lnTo>
                  <a:pt x="2947" y="995"/>
                </a:lnTo>
                <a:lnTo>
                  <a:pt x="2907" y="973"/>
                </a:lnTo>
                <a:lnTo>
                  <a:pt x="2863" y="955"/>
                </a:lnTo>
                <a:lnTo>
                  <a:pt x="2816" y="946"/>
                </a:lnTo>
                <a:lnTo>
                  <a:pt x="2767" y="942"/>
                </a:lnTo>
                <a:lnTo>
                  <a:pt x="2766" y="942"/>
                </a:lnTo>
                <a:lnTo>
                  <a:pt x="2764" y="942"/>
                </a:lnTo>
                <a:lnTo>
                  <a:pt x="2762" y="942"/>
                </a:lnTo>
                <a:lnTo>
                  <a:pt x="2760" y="942"/>
                </a:lnTo>
                <a:lnTo>
                  <a:pt x="2759" y="942"/>
                </a:lnTo>
                <a:lnTo>
                  <a:pt x="2744" y="941"/>
                </a:lnTo>
                <a:lnTo>
                  <a:pt x="2731" y="935"/>
                </a:lnTo>
                <a:lnTo>
                  <a:pt x="2718" y="926"/>
                </a:lnTo>
                <a:lnTo>
                  <a:pt x="2710" y="914"/>
                </a:lnTo>
                <a:lnTo>
                  <a:pt x="2704" y="900"/>
                </a:lnTo>
                <a:lnTo>
                  <a:pt x="2702" y="886"/>
                </a:lnTo>
                <a:lnTo>
                  <a:pt x="2699" y="811"/>
                </a:lnTo>
                <a:lnTo>
                  <a:pt x="2688" y="739"/>
                </a:lnTo>
                <a:lnTo>
                  <a:pt x="2671" y="668"/>
                </a:lnTo>
                <a:lnTo>
                  <a:pt x="2649" y="601"/>
                </a:lnTo>
                <a:lnTo>
                  <a:pt x="2619" y="536"/>
                </a:lnTo>
                <a:lnTo>
                  <a:pt x="2585" y="474"/>
                </a:lnTo>
                <a:lnTo>
                  <a:pt x="2545" y="417"/>
                </a:lnTo>
                <a:lnTo>
                  <a:pt x="2501" y="363"/>
                </a:lnTo>
                <a:lnTo>
                  <a:pt x="2450" y="314"/>
                </a:lnTo>
                <a:lnTo>
                  <a:pt x="2398" y="269"/>
                </a:lnTo>
                <a:lnTo>
                  <a:pt x="2340" y="228"/>
                </a:lnTo>
                <a:lnTo>
                  <a:pt x="2279" y="194"/>
                </a:lnTo>
                <a:lnTo>
                  <a:pt x="2214" y="165"/>
                </a:lnTo>
                <a:lnTo>
                  <a:pt x="2147" y="142"/>
                </a:lnTo>
                <a:lnTo>
                  <a:pt x="2078" y="126"/>
                </a:lnTo>
                <a:lnTo>
                  <a:pt x="2005" y="115"/>
                </a:lnTo>
                <a:lnTo>
                  <a:pt x="1931" y="111"/>
                </a:lnTo>
                <a:lnTo>
                  <a:pt x="1862" y="115"/>
                </a:lnTo>
                <a:lnTo>
                  <a:pt x="1795" y="123"/>
                </a:lnTo>
                <a:lnTo>
                  <a:pt x="1729" y="138"/>
                </a:lnTo>
                <a:lnTo>
                  <a:pt x="1664" y="159"/>
                </a:lnTo>
                <a:lnTo>
                  <a:pt x="1603" y="184"/>
                </a:lnTo>
                <a:lnTo>
                  <a:pt x="1544" y="216"/>
                </a:lnTo>
                <a:lnTo>
                  <a:pt x="1488" y="252"/>
                </a:lnTo>
                <a:lnTo>
                  <a:pt x="1436" y="292"/>
                </a:lnTo>
                <a:lnTo>
                  <a:pt x="1385" y="337"/>
                </a:lnTo>
                <a:lnTo>
                  <a:pt x="1340" y="387"/>
                </a:lnTo>
                <a:lnTo>
                  <a:pt x="1300" y="440"/>
                </a:lnTo>
                <a:lnTo>
                  <a:pt x="1263" y="497"/>
                </a:lnTo>
                <a:lnTo>
                  <a:pt x="1231" y="557"/>
                </a:lnTo>
                <a:lnTo>
                  <a:pt x="1206" y="622"/>
                </a:lnTo>
                <a:lnTo>
                  <a:pt x="1198" y="634"/>
                </a:lnTo>
                <a:lnTo>
                  <a:pt x="1189" y="645"/>
                </a:lnTo>
                <a:lnTo>
                  <a:pt x="1175" y="654"/>
                </a:lnTo>
                <a:lnTo>
                  <a:pt x="1162" y="657"/>
                </a:lnTo>
                <a:lnTo>
                  <a:pt x="1146" y="657"/>
                </a:lnTo>
                <a:lnTo>
                  <a:pt x="1131" y="654"/>
                </a:lnTo>
                <a:lnTo>
                  <a:pt x="1088" y="638"/>
                </a:lnTo>
                <a:lnTo>
                  <a:pt x="1043" y="627"/>
                </a:lnTo>
                <a:lnTo>
                  <a:pt x="998" y="621"/>
                </a:lnTo>
                <a:lnTo>
                  <a:pt x="951" y="618"/>
                </a:lnTo>
                <a:lnTo>
                  <a:pt x="893" y="622"/>
                </a:lnTo>
                <a:lnTo>
                  <a:pt x="838" y="632"/>
                </a:lnTo>
                <a:lnTo>
                  <a:pt x="784" y="648"/>
                </a:lnTo>
                <a:lnTo>
                  <a:pt x="734" y="671"/>
                </a:lnTo>
                <a:lnTo>
                  <a:pt x="687" y="698"/>
                </a:lnTo>
                <a:lnTo>
                  <a:pt x="644" y="731"/>
                </a:lnTo>
                <a:lnTo>
                  <a:pt x="605" y="769"/>
                </a:lnTo>
                <a:lnTo>
                  <a:pt x="571" y="810"/>
                </a:lnTo>
                <a:lnTo>
                  <a:pt x="542" y="856"/>
                </a:lnTo>
                <a:lnTo>
                  <a:pt x="518" y="905"/>
                </a:lnTo>
                <a:lnTo>
                  <a:pt x="500" y="958"/>
                </a:lnTo>
                <a:lnTo>
                  <a:pt x="488" y="1013"/>
                </a:lnTo>
                <a:lnTo>
                  <a:pt x="483" y="1072"/>
                </a:lnTo>
                <a:lnTo>
                  <a:pt x="479" y="1087"/>
                </a:lnTo>
                <a:lnTo>
                  <a:pt x="472" y="1102"/>
                </a:lnTo>
                <a:lnTo>
                  <a:pt x="461" y="1114"/>
                </a:lnTo>
                <a:lnTo>
                  <a:pt x="446" y="1123"/>
                </a:lnTo>
                <a:lnTo>
                  <a:pt x="430" y="1127"/>
                </a:lnTo>
                <a:lnTo>
                  <a:pt x="413" y="1125"/>
                </a:lnTo>
                <a:lnTo>
                  <a:pt x="393" y="1122"/>
                </a:lnTo>
                <a:lnTo>
                  <a:pt x="373" y="1119"/>
                </a:lnTo>
                <a:lnTo>
                  <a:pt x="355" y="1118"/>
                </a:lnTo>
                <a:lnTo>
                  <a:pt x="315" y="1122"/>
                </a:lnTo>
                <a:lnTo>
                  <a:pt x="278" y="1130"/>
                </a:lnTo>
                <a:lnTo>
                  <a:pt x="242" y="1145"/>
                </a:lnTo>
                <a:lnTo>
                  <a:pt x="210" y="1166"/>
                </a:lnTo>
                <a:lnTo>
                  <a:pt x="182" y="1190"/>
                </a:lnTo>
                <a:lnTo>
                  <a:pt x="158" y="1218"/>
                </a:lnTo>
                <a:lnTo>
                  <a:pt x="138" y="1250"/>
                </a:lnTo>
                <a:lnTo>
                  <a:pt x="124" y="1284"/>
                </a:lnTo>
                <a:lnTo>
                  <a:pt x="114" y="1322"/>
                </a:lnTo>
                <a:lnTo>
                  <a:pt x="111" y="1361"/>
                </a:lnTo>
                <a:lnTo>
                  <a:pt x="114" y="1401"/>
                </a:lnTo>
                <a:lnTo>
                  <a:pt x="124" y="1438"/>
                </a:lnTo>
                <a:lnTo>
                  <a:pt x="138" y="1474"/>
                </a:lnTo>
                <a:lnTo>
                  <a:pt x="158" y="1505"/>
                </a:lnTo>
                <a:lnTo>
                  <a:pt x="182" y="1533"/>
                </a:lnTo>
                <a:lnTo>
                  <a:pt x="210" y="1558"/>
                </a:lnTo>
                <a:lnTo>
                  <a:pt x="242" y="1577"/>
                </a:lnTo>
                <a:lnTo>
                  <a:pt x="278" y="1592"/>
                </a:lnTo>
                <a:lnTo>
                  <a:pt x="315" y="1602"/>
                </a:lnTo>
                <a:lnTo>
                  <a:pt x="355" y="1604"/>
                </a:lnTo>
                <a:lnTo>
                  <a:pt x="1586" y="1604"/>
                </a:lnTo>
                <a:lnTo>
                  <a:pt x="1603" y="1608"/>
                </a:lnTo>
                <a:lnTo>
                  <a:pt x="1619" y="1615"/>
                </a:lnTo>
                <a:lnTo>
                  <a:pt x="1631" y="1627"/>
                </a:lnTo>
                <a:lnTo>
                  <a:pt x="1639" y="1643"/>
                </a:lnTo>
                <a:lnTo>
                  <a:pt x="1642" y="1660"/>
                </a:lnTo>
                <a:lnTo>
                  <a:pt x="1639" y="1678"/>
                </a:lnTo>
                <a:lnTo>
                  <a:pt x="1631" y="1693"/>
                </a:lnTo>
                <a:lnTo>
                  <a:pt x="1619" y="1706"/>
                </a:lnTo>
                <a:lnTo>
                  <a:pt x="1603" y="1713"/>
                </a:lnTo>
                <a:lnTo>
                  <a:pt x="1586" y="1717"/>
                </a:lnTo>
                <a:lnTo>
                  <a:pt x="355" y="1717"/>
                </a:lnTo>
                <a:lnTo>
                  <a:pt x="302" y="1713"/>
                </a:lnTo>
                <a:lnTo>
                  <a:pt x="252" y="1701"/>
                </a:lnTo>
                <a:lnTo>
                  <a:pt x="205" y="1684"/>
                </a:lnTo>
                <a:lnTo>
                  <a:pt x="161" y="1659"/>
                </a:lnTo>
                <a:lnTo>
                  <a:pt x="121" y="1629"/>
                </a:lnTo>
                <a:lnTo>
                  <a:pt x="87" y="1594"/>
                </a:lnTo>
                <a:lnTo>
                  <a:pt x="56" y="1554"/>
                </a:lnTo>
                <a:lnTo>
                  <a:pt x="33" y="1511"/>
                </a:lnTo>
                <a:lnTo>
                  <a:pt x="15" y="1464"/>
                </a:lnTo>
                <a:lnTo>
                  <a:pt x="4" y="1414"/>
                </a:lnTo>
                <a:lnTo>
                  <a:pt x="0" y="1361"/>
                </a:lnTo>
                <a:lnTo>
                  <a:pt x="2" y="1312"/>
                </a:lnTo>
                <a:lnTo>
                  <a:pt x="13" y="1265"/>
                </a:lnTo>
                <a:lnTo>
                  <a:pt x="29" y="1219"/>
                </a:lnTo>
                <a:lnTo>
                  <a:pt x="51" y="1177"/>
                </a:lnTo>
                <a:lnTo>
                  <a:pt x="79" y="1139"/>
                </a:lnTo>
                <a:lnTo>
                  <a:pt x="111" y="1103"/>
                </a:lnTo>
                <a:lnTo>
                  <a:pt x="148" y="1074"/>
                </a:lnTo>
                <a:lnTo>
                  <a:pt x="187" y="1048"/>
                </a:lnTo>
                <a:lnTo>
                  <a:pt x="231" y="1029"/>
                </a:lnTo>
                <a:lnTo>
                  <a:pt x="278" y="1015"/>
                </a:lnTo>
                <a:lnTo>
                  <a:pt x="325" y="1008"/>
                </a:lnTo>
                <a:lnTo>
                  <a:pt x="375" y="1008"/>
                </a:lnTo>
                <a:lnTo>
                  <a:pt x="389" y="943"/>
                </a:lnTo>
                <a:lnTo>
                  <a:pt x="407" y="881"/>
                </a:lnTo>
                <a:lnTo>
                  <a:pt x="433" y="822"/>
                </a:lnTo>
                <a:lnTo>
                  <a:pt x="465" y="769"/>
                </a:lnTo>
                <a:lnTo>
                  <a:pt x="501" y="717"/>
                </a:lnTo>
                <a:lnTo>
                  <a:pt x="544" y="671"/>
                </a:lnTo>
                <a:lnTo>
                  <a:pt x="592" y="630"/>
                </a:lnTo>
                <a:lnTo>
                  <a:pt x="643" y="594"/>
                </a:lnTo>
                <a:lnTo>
                  <a:pt x="698" y="563"/>
                </a:lnTo>
                <a:lnTo>
                  <a:pt x="757" y="539"/>
                </a:lnTo>
                <a:lnTo>
                  <a:pt x="819" y="522"/>
                </a:lnTo>
                <a:lnTo>
                  <a:pt x="884" y="511"/>
                </a:lnTo>
                <a:lnTo>
                  <a:pt x="951" y="506"/>
                </a:lnTo>
                <a:lnTo>
                  <a:pt x="1009" y="509"/>
                </a:lnTo>
                <a:lnTo>
                  <a:pt x="1065" y="518"/>
                </a:lnTo>
                <a:lnTo>
                  <a:pt x="1121" y="531"/>
                </a:lnTo>
                <a:lnTo>
                  <a:pt x="1153" y="464"/>
                </a:lnTo>
                <a:lnTo>
                  <a:pt x="1191" y="402"/>
                </a:lnTo>
                <a:lnTo>
                  <a:pt x="1234" y="342"/>
                </a:lnTo>
                <a:lnTo>
                  <a:pt x="1280" y="286"/>
                </a:lnTo>
                <a:lnTo>
                  <a:pt x="1332" y="235"/>
                </a:lnTo>
                <a:lnTo>
                  <a:pt x="1387" y="188"/>
                </a:lnTo>
                <a:lnTo>
                  <a:pt x="1445" y="145"/>
                </a:lnTo>
                <a:lnTo>
                  <a:pt x="1508" y="109"/>
                </a:lnTo>
                <a:lnTo>
                  <a:pt x="1573" y="76"/>
                </a:lnTo>
                <a:lnTo>
                  <a:pt x="1641" y="49"/>
                </a:lnTo>
                <a:lnTo>
                  <a:pt x="1711" y="28"/>
                </a:lnTo>
                <a:lnTo>
                  <a:pt x="1783" y="12"/>
                </a:lnTo>
                <a:lnTo>
                  <a:pt x="1856" y="4"/>
                </a:lnTo>
                <a:lnTo>
                  <a:pt x="1931" y="0"/>
                </a:lnTo>
                <a:close/>
              </a:path>
            </a:pathLst>
          </a:custGeom>
          <a:solidFill>
            <a:schemeClr val="bg2">
              <a:lumMod val="25000"/>
            </a:schemeClr>
          </a:solidFill>
          <a:ln w="0">
            <a:solidFill>
              <a:schemeClr val="bg2">
                <a:lumMod val="25000"/>
              </a:schemeClr>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Freeform 9">
            <a:extLst>
              <a:ext uri="{FF2B5EF4-FFF2-40B4-BE49-F238E27FC236}">
                <a16:creationId xmlns:a16="http://schemas.microsoft.com/office/drawing/2014/main" id="{D2F86B3E-376E-47D6-A62C-A5A1EC7173DD}"/>
              </a:ext>
            </a:extLst>
          </p:cNvPr>
          <p:cNvSpPr>
            <a:spLocks noChangeAspect="1" noEditPoints="1"/>
          </p:cNvSpPr>
          <p:nvPr/>
        </p:nvSpPr>
        <p:spPr bwMode="auto">
          <a:xfrm>
            <a:off x="6226237" y="701590"/>
            <a:ext cx="683610" cy="697316"/>
          </a:xfrm>
          <a:custGeom>
            <a:avLst/>
            <a:gdLst>
              <a:gd name="T0" fmla="*/ 751 w 4190"/>
              <a:gd name="T1" fmla="*/ 1783 h 4805"/>
              <a:gd name="T2" fmla="*/ 751 w 4190"/>
              <a:gd name="T3" fmla="*/ 1783 h 4805"/>
              <a:gd name="T4" fmla="*/ 2405 w 4190"/>
              <a:gd name="T5" fmla="*/ 3438 h 4805"/>
              <a:gd name="T6" fmla="*/ 4059 w 4190"/>
              <a:gd name="T7" fmla="*/ 1783 h 4805"/>
              <a:gd name="T8" fmla="*/ 2405 w 4190"/>
              <a:gd name="T9" fmla="*/ 129 h 4805"/>
              <a:gd name="T10" fmla="*/ 751 w 4190"/>
              <a:gd name="T11" fmla="*/ 1783 h 4805"/>
              <a:gd name="T12" fmla="*/ 751 w 4190"/>
              <a:gd name="T13" fmla="*/ 1783 h 4805"/>
              <a:gd name="T14" fmla="*/ 620 w 4190"/>
              <a:gd name="T15" fmla="*/ 1783 h 4805"/>
              <a:gd name="T16" fmla="*/ 620 w 4190"/>
              <a:gd name="T17" fmla="*/ 1783 h 4805"/>
              <a:gd name="T18" fmla="*/ 2405 w 4190"/>
              <a:gd name="T19" fmla="*/ 0 h 4805"/>
              <a:gd name="T20" fmla="*/ 4190 w 4190"/>
              <a:gd name="T21" fmla="*/ 1783 h 4805"/>
              <a:gd name="T22" fmla="*/ 2405 w 4190"/>
              <a:gd name="T23" fmla="*/ 3568 h 4805"/>
              <a:gd name="T24" fmla="*/ 620 w 4190"/>
              <a:gd name="T25" fmla="*/ 1783 h 4805"/>
              <a:gd name="T26" fmla="*/ 620 w 4190"/>
              <a:gd name="T27" fmla="*/ 1783 h 4805"/>
              <a:gd name="T28" fmla="*/ 4107 w 4190"/>
              <a:gd name="T29" fmla="*/ 3391 h 4805"/>
              <a:gd name="T30" fmla="*/ 4107 w 4190"/>
              <a:gd name="T31" fmla="*/ 3391 h 4805"/>
              <a:gd name="T32" fmla="*/ 4107 w 4190"/>
              <a:gd name="T33" fmla="*/ 3483 h 4805"/>
              <a:gd name="T34" fmla="*/ 2470 w 4190"/>
              <a:gd name="T35" fmla="*/ 4187 h 4805"/>
              <a:gd name="T36" fmla="*/ 2470 w 4190"/>
              <a:gd name="T37" fmla="*/ 4413 h 4805"/>
              <a:gd name="T38" fmla="*/ 3308 w 4190"/>
              <a:gd name="T39" fmla="*/ 4682 h 4805"/>
              <a:gd name="T40" fmla="*/ 3319 w 4190"/>
              <a:gd name="T41" fmla="*/ 4773 h 4805"/>
              <a:gd name="T42" fmla="*/ 3268 w 4190"/>
              <a:gd name="T43" fmla="*/ 4799 h 4805"/>
              <a:gd name="T44" fmla="*/ 3228 w 4190"/>
              <a:gd name="T45" fmla="*/ 4785 h 4805"/>
              <a:gd name="T46" fmla="*/ 2403 w 4190"/>
              <a:gd name="T47" fmla="*/ 4541 h 4805"/>
              <a:gd name="T48" fmla="*/ 1579 w 4190"/>
              <a:gd name="T49" fmla="*/ 4783 h 4805"/>
              <a:gd name="T50" fmla="*/ 1488 w 4190"/>
              <a:gd name="T51" fmla="*/ 4771 h 4805"/>
              <a:gd name="T52" fmla="*/ 1500 w 4190"/>
              <a:gd name="T53" fmla="*/ 4680 h 4805"/>
              <a:gd name="T54" fmla="*/ 2340 w 4190"/>
              <a:gd name="T55" fmla="*/ 4413 h 4805"/>
              <a:gd name="T56" fmla="*/ 2340 w 4190"/>
              <a:gd name="T57" fmla="*/ 4187 h 4805"/>
              <a:gd name="T58" fmla="*/ 0 w 4190"/>
              <a:gd name="T59" fmla="*/ 1783 h 4805"/>
              <a:gd name="T60" fmla="*/ 704 w 4190"/>
              <a:gd name="T61" fmla="*/ 82 h 4805"/>
              <a:gd name="T62" fmla="*/ 796 w 4190"/>
              <a:gd name="T63" fmla="*/ 82 h 4805"/>
              <a:gd name="T64" fmla="*/ 1029 w 4190"/>
              <a:gd name="T65" fmla="*/ 315 h 4805"/>
              <a:gd name="T66" fmla="*/ 1029 w 4190"/>
              <a:gd name="T67" fmla="*/ 407 h 4805"/>
              <a:gd name="T68" fmla="*/ 937 w 4190"/>
              <a:gd name="T69" fmla="*/ 407 h 4805"/>
              <a:gd name="T70" fmla="*/ 751 w 4190"/>
              <a:gd name="T71" fmla="*/ 221 h 4805"/>
              <a:gd name="T72" fmla="*/ 130 w 4190"/>
              <a:gd name="T73" fmla="*/ 1783 h 4805"/>
              <a:gd name="T74" fmla="*/ 2405 w 4190"/>
              <a:gd name="T75" fmla="*/ 4058 h 4805"/>
              <a:gd name="T76" fmla="*/ 3968 w 4190"/>
              <a:gd name="T77" fmla="*/ 3436 h 4805"/>
              <a:gd name="T78" fmla="*/ 3767 w 4190"/>
              <a:gd name="T79" fmla="*/ 3234 h 4805"/>
              <a:gd name="T80" fmla="*/ 3767 w 4190"/>
              <a:gd name="T81" fmla="*/ 3142 h 4805"/>
              <a:gd name="T82" fmla="*/ 3859 w 4190"/>
              <a:gd name="T83" fmla="*/ 3142 h 4805"/>
              <a:gd name="T84" fmla="*/ 4107 w 4190"/>
              <a:gd name="T85" fmla="*/ 3391 h 4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190" h="4805">
                <a:moveTo>
                  <a:pt x="751" y="1783"/>
                </a:moveTo>
                <a:lnTo>
                  <a:pt x="751" y="1783"/>
                </a:lnTo>
                <a:cubicBezTo>
                  <a:pt x="751" y="2695"/>
                  <a:pt x="1493" y="3438"/>
                  <a:pt x="2405" y="3438"/>
                </a:cubicBezTo>
                <a:cubicBezTo>
                  <a:pt x="3317" y="3438"/>
                  <a:pt x="4059" y="2695"/>
                  <a:pt x="4059" y="1783"/>
                </a:cubicBezTo>
                <a:cubicBezTo>
                  <a:pt x="4059" y="871"/>
                  <a:pt x="3317" y="129"/>
                  <a:pt x="2405" y="129"/>
                </a:cubicBezTo>
                <a:cubicBezTo>
                  <a:pt x="1493" y="129"/>
                  <a:pt x="751" y="871"/>
                  <a:pt x="751" y="1783"/>
                </a:cubicBezTo>
                <a:lnTo>
                  <a:pt x="751" y="1783"/>
                </a:lnTo>
                <a:close/>
                <a:moveTo>
                  <a:pt x="620" y="1783"/>
                </a:moveTo>
                <a:lnTo>
                  <a:pt x="620" y="1783"/>
                </a:lnTo>
                <a:cubicBezTo>
                  <a:pt x="620" y="799"/>
                  <a:pt x="1421" y="0"/>
                  <a:pt x="2405" y="0"/>
                </a:cubicBezTo>
                <a:cubicBezTo>
                  <a:pt x="3389" y="0"/>
                  <a:pt x="4190" y="799"/>
                  <a:pt x="4190" y="1783"/>
                </a:cubicBezTo>
                <a:cubicBezTo>
                  <a:pt x="4190" y="2767"/>
                  <a:pt x="3389" y="3568"/>
                  <a:pt x="2405" y="3568"/>
                </a:cubicBezTo>
                <a:cubicBezTo>
                  <a:pt x="1421" y="3568"/>
                  <a:pt x="620" y="2767"/>
                  <a:pt x="620" y="1783"/>
                </a:cubicBezTo>
                <a:lnTo>
                  <a:pt x="620" y="1783"/>
                </a:lnTo>
                <a:close/>
                <a:moveTo>
                  <a:pt x="4107" y="3391"/>
                </a:moveTo>
                <a:lnTo>
                  <a:pt x="4107" y="3391"/>
                </a:lnTo>
                <a:cubicBezTo>
                  <a:pt x="4133" y="3416"/>
                  <a:pt x="4133" y="3457"/>
                  <a:pt x="4107" y="3483"/>
                </a:cubicBezTo>
                <a:cubicBezTo>
                  <a:pt x="3668" y="3923"/>
                  <a:pt x="3089" y="4171"/>
                  <a:pt x="2470" y="4187"/>
                </a:cubicBezTo>
                <a:lnTo>
                  <a:pt x="2470" y="4413"/>
                </a:lnTo>
                <a:cubicBezTo>
                  <a:pt x="2798" y="4425"/>
                  <a:pt x="3100" y="4521"/>
                  <a:pt x="3308" y="4682"/>
                </a:cubicBezTo>
                <a:cubicBezTo>
                  <a:pt x="3336" y="4704"/>
                  <a:pt x="3341" y="4745"/>
                  <a:pt x="3319" y="4773"/>
                </a:cubicBezTo>
                <a:cubicBezTo>
                  <a:pt x="3306" y="4790"/>
                  <a:pt x="3287" y="4799"/>
                  <a:pt x="3268" y="4799"/>
                </a:cubicBezTo>
                <a:cubicBezTo>
                  <a:pt x="3254" y="4799"/>
                  <a:pt x="3240" y="4794"/>
                  <a:pt x="3228" y="4785"/>
                </a:cubicBezTo>
                <a:cubicBezTo>
                  <a:pt x="3028" y="4630"/>
                  <a:pt x="2727" y="4541"/>
                  <a:pt x="2403" y="4541"/>
                </a:cubicBezTo>
                <a:cubicBezTo>
                  <a:pt x="2079" y="4541"/>
                  <a:pt x="1779" y="4629"/>
                  <a:pt x="1579" y="4783"/>
                </a:cubicBezTo>
                <a:cubicBezTo>
                  <a:pt x="1551" y="4805"/>
                  <a:pt x="1510" y="4800"/>
                  <a:pt x="1488" y="4771"/>
                </a:cubicBezTo>
                <a:cubicBezTo>
                  <a:pt x="1466" y="4743"/>
                  <a:pt x="1471" y="4702"/>
                  <a:pt x="1500" y="4680"/>
                </a:cubicBezTo>
                <a:cubicBezTo>
                  <a:pt x="1709" y="4519"/>
                  <a:pt x="2012" y="4424"/>
                  <a:pt x="2340" y="4413"/>
                </a:cubicBezTo>
                <a:lnTo>
                  <a:pt x="2340" y="4187"/>
                </a:lnTo>
                <a:cubicBezTo>
                  <a:pt x="1044" y="4152"/>
                  <a:pt x="0" y="3088"/>
                  <a:pt x="0" y="1783"/>
                </a:cubicBezTo>
                <a:cubicBezTo>
                  <a:pt x="0" y="1141"/>
                  <a:pt x="250" y="537"/>
                  <a:pt x="704" y="82"/>
                </a:cubicBezTo>
                <a:cubicBezTo>
                  <a:pt x="730" y="57"/>
                  <a:pt x="771" y="57"/>
                  <a:pt x="796" y="82"/>
                </a:cubicBezTo>
                <a:lnTo>
                  <a:pt x="1029" y="315"/>
                </a:lnTo>
                <a:cubicBezTo>
                  <a:pt x="1055" y="341"/>
                  <a:pt x="1055" y="382"/>
                  <a:pt x="1029" y="407"/>
                </a:cubicBezTo>
                <a:cubicBezTo>
                  <a:pt x="1004" y="433"/>
                  <a:pt x="963" y="433"/>
                  <a:pt x="937" y="407"/>
                </a:cubicBezTo>
                <a:lnTo>
                  <a:pt x="751" y="221"/>
                </a:lnTo>
                <a:cubicBezTo>
                  <a:pt x="350" y="645"/>
                  <a:pt x="130" y="1197"/>
                  <a:pt x="130" y="1783"/>
                </a:cubicBezTo>
                <a:cubicBezTo>
                  <a:pt x="130" y="3038"/>
                  <a:pt x="1150" y="4058"/>
                  <a:pt x="2405" y="4058"/>
                </a:cubicBezTo>
                <a:cubicBezTo>
                  <a:pt x="2992" y="4058"/>
                  <a:pt x="3544" y="3838"/>
                  <a:pt x="3968" y="3436"/>
                </a:cubicBezTo>
                <a:lnTo>
                  <a:pt x="3767" y="3234"/>
                </a:lnTo>
                <a:cubicBezTo>
                  <a:pt x="3741" y="3209"/>
                  <a:pt x="3741" y="3168"/>
                  <a:pt x="3767" y="3142"/>
                </a:cubicBezTo>
                <a:cubicBezTo>
                  <a:pt x="3792" y="3117"/>
                  <a:pt x="3833" y="3117"/>
                  <a:pt x="3859" y="3142"/>
                </a:cubicBezTo>
                <a:lnTo>
                  <a:pt x="4107" y="3391"/>
                </a:lnTo>
                <a:close/>
              </a:path>
            </a:pathLst>
          </a:custGeom>
          <a:solidFill>
            <a:schemeClr val="tx2"/>
          </a:solidFill>
          <a:ln w="0">
            <a:solidFill>
              <a:schemeClr val="tx2"/>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TextBox 59">
            <a:extLst>
              <a:ext uri="{FF2B5EF4-FFF2-40B4-BE49-F238E27FC236}">
                <a16:creationId xmlns:a16="http://schemas.microsoft.com/office/drawing/2014/main" id="{0573FCB7-B53D-401B-8D31-7545A1B52F86}"/>
              </a:ext>
            </a:extLst>
          </p:cNvPr>
          <p:cNvSpPr txBox="1"/>
          <p:nvPr/>
        </p:nvSpPr>
        <p:spPr>
          <a:xfrm>
            <a:off x="6340770" y="717451"/>
            <a:ext cx="575568" cy="461665"/>
          </a:xfrm>
          <a:prstGeom prst="rect">
            <a:avLst/>
          </a:prstGeom>
          <a:noFill/>
        </p:spPr>
        <p:txBody>
          <a:bodyPr wrap="square" rtlCol="0">
            <a:spAutoFit/>
          </a:bodyPr>
          <a:lstStyle/>
          <a:p>
            <a:pPr algn="ctr"/>
            <a:r>
              <a:rPr lang="en-US" sz="2400">
                <a:solidFill>
                  <a:schemeClr val="accent1">
                    <a:lumMod val="75000"/>
                  </a:schemeClr>
                </a:solidFill>
              </a:rPr>
              <a:t>@</a:t>
            </a:r>
          </a:p>
        </p:txBody>
      </p:sp>
      <p:cxnSp>
        <p:nvCxnSpPr>
          <p:cNvPr id="61" name="Connector: Curved 60">
            <a:extLst>
              <a:ext uri="{FF2B5EF4-FFF2-40B4-BE49-F238E27FC236}">
                <a16:creationId xmlns:a16="http://schemas.microsoft.com/office/drawing/2014/main" id="{34637CC9-0ED3-4751-A661-428E7D6A74A2}"/>
              </a:ext>
            </a:extLst>
          </p:cNvPr>
          <p:cNvCxnSpPr>
            <a:cxnSpLocks/>
            <a:stCxn id="59" idx="10"/>
            <a:endCxn id="58" idx="44"/>
          </p:cNvCxnSpPr>
          <p:nvPr/>
        </p:nvCxnSpPr>
        <p:spPr>
          <a:xfrm>
            <a:off x="6909847" y="960344"/>
            <a:ext cx="997521" cy="250344"/>
          </a:xfrm>
          <a:prstGeom prst="curvedConnector5">
            <a:avLst>
              <a:gd name="adj1" fmla="val 45940"/>
              <a:gd name="adj2" fmla="val 195935"/>
              <a:gd name="adj3" fmla="val 122917"/>
            </a:avLst>
          </a:prstGeom>
          <a:ln w="19050">
            <a:solidFill>
              <a:schemeClr val="tx2"/>
            </a:solidFill>
          </a:ln>
        </p:spPr>
        <p:style>
          <a:lnRef idx="1">
            <a:schemeClr val="dk1"/>
          </a:lnRef>
          <a:fillRef idx="0">
            <a:schemeClr val="dk1"/>
          </a:fillRef>
          <a:effectRef idx="0">
            <a:schemeClr val="dk1"/>
          </a:effectRef>
          <a:fontRef idx="minor">
            <a:schemeClr val="tx1"/>
          </a:fontRef>
        </p:style>
      </p:cxnSp>
      <p:sp>
        <p:nvSpPr>
          <p:cNvPr id="2" name="Left Brace 1">
            <a:extLst>
              <a:ext uri="{FF2B5EF4-FFF2-40B4-BE49-F238E27FC236}">
                <a16:creationId xmlns:a16="http://schemas.microsoft.com/office/drawing/2014/main" id="{696DE8B2-B664-4CE4-8D46-790CF72DA395}"/>
              </a:ext>
            </a:extLst>
          </p:cNvPr>
          <p:cNvSpPr/>
          <p:nvPr/>
        </p:nvSpPr>
        <p:spPr>
          <a:xfrm rot="16200000">
            <a:off x="4452939" y="3028948"/>
            <a:ext cx="271463" cy="2709864"/>
          </a:xfrm>
          <a:prstGeom prst="leftBrace">
            <a:avLst>
              <a:gd name="adj1" fmla="val 8333"/>
              <a:gd name="adj2" fmla="val 49297"/>
            </a:avLst>
          </a:prstGeom>
          <a:ln w="28575"/>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4" name="TextBox 3">
            <a:extLst>
              <a:ext uri="{FF2B5EF4-FFF2-40B4-BE49-F238E27FC236}">
                <a16:creationId xmlns:a16="http://schemas.microsoft.com/office/drawing/2014/main" id="{70C189EE-7AC3-4925-AB04-2366E6B64E90}"/>
              </a:ext>
            </a:extLst>
          </p:cNvPr>
          <p:cNvSpPr txBox="1"/>
          <p:nvPr/>
        </p:nvSpPr>
        <p:spPr>
          <a:xfrm>
            <a:off x="3705225" y="4505325"/>
            <a:ext cx="1752600" cy="369332"/>
          </a:xfrm>
          <a:prstGeom prst="rect">
            <a:avLst/>
          </a:prstGeom>
          <a:noFill/>
        </p:spPr>
        <p:txBody>
          <a:bodyPr wrap="square" rtlCol="0">
            <a:spAutoFit/>
          </a:bodyPr>
          <a:lstStyle/>
          <a:p>
            <a:pPr algn="ctr"/>
            <a:r>
              <a:rPr lang="en-US"/>
              <a:t>128 columns</a:t>
            </a:r>
          </a:p>
        </p:txBody>
      </p:sp>
      <p:sp>
        <p:nvSpPr>
          <p:cNvPr id="144" name="Left Brace 143">
            <a:extLst>
              <a:ext uri="{FF2B5EF4-FFF2-40B4-BE49-F238E27FC236}">
                <a16:creationId xmlns:a16="http://schemas.microsoft.com/office/drawing/2014/main" id="{3FF9BE08-88A0-4E2C-BFD8-B260CD519567}"/>
              </a:ext>
            </a:extLst>
          </p:cNvPr>
          <p:cNvSpPr/>
          <p:nvPr/>
        </p:nvSpPr>
        <p:spPr>
          <a:xfrm rot="10800000">
            <a:off x="6034088" y="2857500"/>
            <a:ext cx="271463" cy="1304925"/>
          </a:xfrm>
          <a:prstGeom prst="leftBrace">
            <a:avLst>
              <a:gd name="adj1" fmla="val 8333"/>
              <a:gd name="adj2" fmla="val 49297"/>
            </a:avLst>
          </a:prstGeom>
          <a:ln w="28575"/>
        </p:spPr>
        <p:style>
          <a:lnRef idx="1">
            <a:schemeClr val="accent6"/>
          </a:lnRef>
          <a:fillRef idx="0">
            <a:schemeClr val="accent6"/>
          </a:fillRef>
          <a:effectRef idx="0">
            <a:schemeClr val="accent6"/>
          </a:effectRef>
          <a:fontRef idx="minor">
            <a:schemeClr val="tx1"/>
          </a:fontRef>
        </p:style>
        <p:txBody>
          <a:bodyPr rtlCol="0" anchor="ctr"/>
          <a:lstStyle/>
          <a:p>
            <a:pPr algn="ctr"/>
            <a:endParaRPr lang="en-US"/>
          </a:p>
        </p:txBody>
      </p:sp>
      <p:sp>
        <p:nvSpPr>
          <p:cNvPr id="145" name="TextBox 144">
            <a:extLst>
              <a:ext uri="{FF2B5EF4-FFF2-40B4-BE49-F238E27FC236}">
                <a16:creationId xmlns:a16="http://schemas.microsoft.com/office/drawing/2014/main" id="{2F05046C-F2D3-403E-BC73-05E84CBC4F6B}"/>
              </a:ext>
            </a:extLst>
          </p:cNvPr>
          <p:cNvSpPr txBox="1"/>
          <p:nvPr/>
        </p:nvSpPr>
        <p:spPr>
          <a:xfrm>
            <a:off x="6124576" y="3324224"/>
            <a:ext cx="1752600" cy="369332"/>
          </a:xfrm>
          <a:prstGeom prst="rect">
            <a:avLst/>
          </a:prstGeom>
          <a:noFill/>
        </p:spPr>
        <p:txBody>
          <a:bodyPr wrap="square" rtlCol="0">
            <a:spAutoFit/>
          </a:bodyPr>
          <a:lstStyle/>
          <a:p>
            <a:pPr algn="ctr"/>
            <a:r>
              <a:rPr lang="en-US"/>
              <a:t>&gt; 56,000 rows</a:t>
            </a:r>
          </a:p>
        </p:txBody>
      </p:sp>
      <p:grpSp>
        <p:nvGrpSpPr>
          <p:cNvPr id="28" name="Group 27">
            <a:extLst>
              <a:ext uri="{FF2B5EF4-FFF2-40B4-BE49-F238E27FC236}">
                <a16:creationId xmlns:a16="http://schemas.microsoft.com/office/drawing/2014/main" id="{BE8D0090-D8A6-4E52-BFB9-76A6138C0E8F}"/>
              </a:ext>
            </a:extLst>
          </p:cNvPr>
          <p:cNvGrpSpPr/>
          <p:nvPr/>
        </p:nvGrpSpPr>
        <p:grpSpPr>
          <a:xfrm>
            <a:off x="3777368" y="277676"/>
            <a:ext cx="1595596" cy="1532762"/>
            <a:chOff x="3767843" y="277676"/>
            <a:chExt cx="1595596" cy="1532762"/>
          </a:xfrm>
        </p:grpSpPr>
        <p:sp>
          <p:nvSpPr>
            <p:cNvPr id="29" name="Oval 28">
              <a:extLst>
                <a:ext uri="{FF2B5EF4-FFF2-40B4-BE49-F238E27FC236}">
                  <a16:creationId xmlns:a16="http://schemas.microsoft.com/office/drawing/2014/main" id="{7E4DB7C3-6B0D-4AED-A852-F6AC198C30CC}"/>
                </a:ext>
              </a:extLst>
            </p:cNvPr>
            <p:cNvSpPr/>
            <p:nvPr/>
          </p:nvSpPr>
          <p:spPr>
            <a:xfrm>
              <a:off x="3767843" y="277676"/>
              <a:ext cx="1595596" cy="1532762"/>
            </a:xfrm>
            <a:prstGeom prst="ellipse">
              <a:avLst/>
            </a:prstGeom>
            <a:solidFill>
              <a:schemeClr val="bg1">
                <a:lumMod val="85000"/>
              </a:schemeClr>
            </a:solidFill>
            <a:ln w="28575" cap="flat" cmpd="sng" algn="ctr">
              <a:solidFill>
                <a:srgbClr val="FFCC3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endParaRPr lang="en-US">
                <a:solidFill>
                  <a:schemeClr val="tx1"/>
                </a:solidFill>
              </a:endParaRPr>
            </a:p>
          </p:txBody>
        </p:sp>
        <p:pic>
          <p:nvPicPr>
            <p:cNvPr id="30" name="Picture 29">
              <a:extLst>
                <a:ext uri="{FF2B5EF4-FFF2-40B4-BE49-F238E27FC236}">
                  <a16:creationId xmlns:a16="http://schemas.microsoft.com/office/drawing/2014/main" id="{C71D0DC2-F462-487D-98C4-BF4095B541B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062782" y="537328"/>
              <a:ext cx="1015180" cy="895547"/>
            </a:xfrm>
            <a:prstGeom prst="rect">
              <a:avLst/>
            </a:prstGeom>
          </p:spPr>
        </p:pic>
      </p:grpSp>
      <p:sp>
        <p:nvSpPr>
          <p:cNvPr id="31" name="Rectangle: Rounded Corners 30">
            <a:extLst>
              <a:ext uri="{FF2B5EF4-FFF2-40B4-BE49-F238E27FC236}">
                <a16:creationId xmlns:a16="http://schemas.microsoft.com/office/drawing/2014/main" id="{AA2CCA4D-A73B-43F3-9E42-0E5481103E97}"/>
              </a:ext>
            </a:extLst>
          </p:cNvPr>
          <p:cNvSpPr/>
          <p:nvPr/>
        </p:nvSpPr>
        <p:spPr>
          <a:xfrm>
            <a:off x="3667125" y="1552574"/>
            <a:ext cx="1819275" cy="352425"/>
          </a:xfrm>
          <a:prstGeom prst="roundRect">
            <a:avLst/>
          </a:prstGeom>
          <a:solidFill>
            <a:srgbClr val="DD5757"/>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Customer Churn</a:t>
            </a:r>
          </a:p>
        </p:txBody>
      </p:sp>
      <p:sp>
        <p:nvSpPr>
          <p:cNvPr id="5" name="TextBox 4">
            <a:extLst>
              <a:ext uri="{FF2B5EF4-FFF2-40B4-BE49-F238E27FC236}">
                <a16:creationId xmlns:a16="http://schemas.microsoft.com/office/drawing/2014/main" id="{3838BA97-2304-501D-258B-89E2EC53A586}"/>
              </a:ext>
            </a:extLst>
          </p:cNvPr>
          <p:cNvSpPr txBox="1"/>
          <p:nvPr/>
        </p:nvSpPr>
        <p:spPr>
          <a:xfrm>
            <a:off x="3117979" y="2022603"/>
            <a:ext cx="2819400" cy="369332"/>
          </a:xfrm>
          <a:prstGeom prst="rect">
            <a:avLst/>
          </a:prstGeom>
          <a:noFill/>
        </p:spPr>
        <p:txBody>
          <a:bodyPr wrap="square" rtlCol="0">
            <a:spAutoFit/>
          </a:bodyPr>
          <a:lstStyle/>
          <a:p>
            <a:r>
              <a:rPr lang="en-US"/>
              <a:t>commsdata</a:t>
            </a:r>
          </a:p>
        </p:txBody>
      </p:sp>
    </p:spTree>
    <p:extLst>
      <p:ext uri="{BB962C8B-B14F-4D97-AF65-F5344CB8AC3E}">
        <p14:creationId xmlns:p14="http://schemas.microsoft.com/office/powerpoint/2010/main" val="109109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44"/>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45"/>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2"/>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144" grpId="0" animBg="1"/>
      <p:bldP spid="14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4720F52E-1B7A-47C1-B061-B6125B8E5B88}"/>
              </a:ext>
            </a:extLst>
          </p:cNvPr>
          <p:cNvSpPr/>
          <p:nvPr/>
        </p:nvSpPr>
        <p:spPr>
          <a:xfrm>
            <a:off x="1219200" y="1219200"/>
            <a:ext cx="6724650" cy="2838449"/>
          </a:xfrm>
          <a:prstGeom prst="roundRect">
            <a:avLst/>
          </a:prstGeom>
          <a:noFill/>
          <a:ln w="57150" cap="flat" cmpd="sng" algn="ctr">
            <a:solidFill>
              <a:srgbClr val="FFCC32"/>
            </a:solidFill>
            <a:prstDash val="sysDot"/>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p>
        </p:txBody>
      </p:sp>
      <p:sp>
        <p:nvSpPr>
          <p:cNvPr id="146" name="Oval 145">
            <a:extLst>
              <a:ext uri="{FF2B5EF4-FFF2-40B4-BE49-F238E27FC236}">
                <a16:creationId xmlns:a16="http://schemas.microsoft.com/office/drawing/2014/main" id="{D8295076-1CD5-4831-88DD-F8C5EBEE8B69}"/>
              </a:ext>
            </a:extLst>
          </p:cNvPr>
          <p:cNvSpPr/>
          <p:nvPr/>
        </p:nvSpPr>
        <p:spPr>
          <a:xfrm>
            <a:off x="3777368" y="277676"/>
            <a:ext cx="1595596" cy="1532762"/>
          </a:xfrm>
          <a:prstGeom prst="ellipse">
            <a:avLst/>
          </a:prstGeom>
          <a:solidFill>
            <a:srgbClr val="FFCC32"/>
          </a:solidFill>
          <a:ln w="28575" cap="flat" cmpd="sng" algn="ctr">
            <a:solidFill>
              <a:srgbClr val="FFCC3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91440" numCol="1" spcCol="0" rtlCol="0" fromWordArt="0" anchor="ctr" anchorCtr="0" forceAA="0" compatLnSpc="1">
            <a:prstTxWarp prst="textNoShape">
              <a:avLst/>
            </a:prstTxWarp>
            <a:noAutofit/>
          </a:bodyPr>
          <a:lstStyle/>
          <a:p>
            <a:pPr algn="ctr"/>
            <a:r>
              <a:rPr lang="en-US">
                <a:solidFill>
                  <a:schemeClr val="tx1"/>
                </a:solidFill>
              </a:rPr>
              <a:t>Any Business Problem</a:t>
            </a:r>
          </a:p>
        </p:txBody>
      </p:sp>
      <p:grpSp>
        <p:nvGrpSpPr>
          <p:cNvPr id="14" name="Group 13">
            <a:extLst>
              <a:ext uri="{FF2B5EF4-FFF2-40B4-BE49-F238E27FC236}">
                <a16:creationId xmlns:a16="http://schemas.microsoft.com/office/drawing/2014/main" id="{4AC49A71-9CF5-4C0E-84AD-B094FACDE2EE}"/>
              </a:ext>
            </a:extLst>
          </p:cNvPr>
          <p:cNvGrpSpPr/>
          <p:nvPr/>
        </p:nvGrpSpPr>
        <p:grpSpPr>
          <a:xfrm>
            <a:off x="1898943" y="2149119"/>
            <a:ext cx="5351056" cy="1542459"/>
            <a:chOff x="1822743" y="2511069"/>
            <a:chExt cx="5351056" cy="1542459"/>
          </a:xfrm>
        </p:grpSpPr>
        <p:grpSp>
          <p:nvGrpSpPr>
            <p:cNvPr id="15" name="Group 14">
              <a:extLst>
                <a:ext uri="{FF2B5EF4-FFF2-40B4-BE49-F238E27FC236}">
                  <a16:creationId xmlns:a16="http://schemas.microsoft.com/office/drawing/2014/main" id="{C0FBBB0E-85C1-4BDC-B3A7-5D938AEF8AE6}"/>
                </a:ext>
              </a:extLst>
            </p:cNvPr>
            <p:cNvGrpSpPr/>
            <p:nvPr/>
          </p:nvGrpSpPr>
          <p:grpSpPr>
            <a:xfrm>
              <a:off x="5918791" y="2587882"/>
              <a:ext cx="1255008" cy="1371376"/>
              <a:chOff x="4042848" y="1805361"/>
              <a:chExt cx="1071962" cy="1229979"/>
            </a:xfrm>
          </p:grpSpPr>
          <p:sp>
            <p:nvSpPr>
              <p:cNvPr id="18" name="Oval 17">
                <a:extLst>
                  <a:ext uri="{FF2B5EF4-FFF2-40B4-BE49-F238E27FC236}">
                    <a16:creationId xmlns:a16="http://schemas.microsoft.com/office/drawing/2014/main" id="{687156E5-8EB5-4C5A-A653-09225A4018F2}"/>
                  </a:ext>
                </a:extLst>
              </p:cNvPr>
              <p:cNvSpPr/>
              <p:nvPr/>
            </p:nvSpPr>
            <p:spPr>
              <a:xfrm>
                <a:off x="4160340" y="1890978"/>
                <a:ext cx="841679" cy="841679"/>
              </a:xfrm>
              <a:prstGeom prst="ellipse">
                <a:avLst/>
              </a:prstGeom>
              <a:solidFill>
                <a:schemeClr val="accent4">
                  <a:lumMod val="20000"/>
                  <a:lumOff val="80000"/>
                </a:schemeClr>
              </a:solidFill>
              <a:ln w="38100" cap="flat" cmpd="sng" algn="ctr">
                <a:solidFill>
                  <a:schemeClr val="bg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0" numCol="1" spcCol="0" rtlCol="0" fromWordArt="0" anchor="b" anchorCtr="0" forceAA="0" compatLnSpc="1">
                <a:prstTxWarp prst="textNoShape">
                  <a:avLst/>
                </a:prstTxWarp>
                <a:noAutofit/>
              </a:bodyPr>
              <a:lstStyle/>
              <a:p>
                <a:pPr algn="ctr"/>
                <a:r>
                  <a:rPr lang="en-US">
                    <a:solidFill>
                      <a:schemeClr val="tx1"/>
                    </a:solidFill>
                  </a:rPr>
                  <a:t> </a:t>
                </a:r>
              </a:p>
            </p:txBody>
          </p:sp>
          <p:grpSp>
            <p:nvGrpSpPr>
              <p:cNvPr id="19" name="Group 18">
                <a:extLst>
                  <a:ext uri="{FF2B5EF4-FFF2-40B4-BE49-F238E27FC236}">
                    <a16:creationId xmlns:a16="http://schemas.microsoft.com/office/drawing/2014/main" id="{277DDEC9-84CB-4F91-A01D-AB46C5EF8E18}"/>
                  </a:ext>
                </a:extLst>
              </p:cNvPr>
              <p:cNvGrpSpPr/>
              <p:nvPr/>
            </p:nvGrpSpPr>
            <p:grpSpPr>
              <a:xfrm>
                <a:off x="4042848" y="1805361"/>
                <a:ext cx="1071962" cy="1229979"/>
                <a:chOff x="4868460" y="1940790"/>
                <a:chExt cx="1230587" cy="1411988"/>
              </a:xfrm>
            </p:grpSpPr>
            <p:pic>
              <p:nvPicPr>
                <p:cNvPr id="20" name="Picture 19">
                  <a:extLst>
                    <a:ext uri="{FF2B5EF4-FFF2-40B4-BE49-F238E27FC236}">
                      <a16:creationId xmlns:a16="http://schemas.microsoft.com/office/drawing/2014/main" id="{B6ACED71-3588-4736-8DF5-9DF216699C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6492" y="2251687"/>
                  <a:ext cx="642150" cy="665249"/>
                </a:xfrm>
                <a:prstGeom prst="rect">
                  <a:avLst/>
                </a:prstGeom>
              </p:spPr>
            </p:pic>
            <p:pic>
              <p:nvPicPr>
                <p:cNvPr id="21" name="Picture 20">
                  <a:extLst>
                    <a:ext uri="{FF2B5EF4-FFF2-40B4-BE49-F238E27FC236}">
                      <a16:creationId xmlns:a16="http://schemas.microsoft.com/office/drawing/2014/main" id="{062407AC-21B4-41CB-AE3A-D24F327D2B1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868460" y="1940790"/>
                  <a:ext cx="1230587" cy="1411988"/>
                </a:xfrm>
                <a:prstGeom prst="rect">
                  <a:avLst/>
                </a:prstGeom>
              </p:spPr>
            </p:pic>
          </p:grpSp>
        </p:grpSp>
        <p:pic>
          <p:nvPicPr>
            <p:cNvPr id="16" name="Picture 15">
              <a:extLst>
                <a:ext uri="{FF2B5EF4-FFF2-40B4-BE49-F238E27FC236}">
                  <a16:creationId xmlns:a16="http://schemas.microsoft.com/office/drawing/2014/main" id="{84CD6875-E9F2-4A67-8DB4-22E57918A9D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746836" y="2636665"/>
              <a:ext cx="1666244" cy="1115203"/>
            </a:xfrm>
            <a:prstGeom prst="rect">
              <a:avLst/>
            </a:prstGeom>
          </p:spPr>
        </p:pic>
        <p:pic>
          <p:nvPicPr>
            <p:cNvPr id="17" name="Picture 16">
              <a:extLst>
                <a:ext uri="{FF2B5EF4-FFF2-40B4-BE49-F238E27FC236}">
                  <a16:creationId xmlns:a16="http://schemas.microsoft.com/office/drawing/2014/main" id="{7448720F-2997-41D5-ACDB-82D50E4C8C9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22743" y="2511069"/>
              <a:ext cx="1562081" cy="1542459"/>
            </a:xfrm>
            <a:prstGeom prst="rect">
              <a:avLst/>
            </a:prstGeom>
          </p:spPr>
        </p:pic>
      </p:grpSp>
      <p:sp>
        <p:nvSpPr>
          <p:cNvPr id="12" name="Rectangle: Rounded Corners 11">
            <a:extLst>
              <a:ext uri="{FF2B5EF4-FFF2-40B4-BE49-F238E27FC236}">
                <a16:creationId xmlns:a16="http://schemas.microsoft.com/office/drawing/2014/main" id="{E2DB31B6-538E-4DAA-A378-284DFFB7836B}"/>
              </a:ext>
            </a:extLst>
          </p:cNvPr>
          <p:cNvSpPr/>
          <p:nvPr/>
        </p:nvSpPr>
        <p:spPr>
          <a:xfrm>
            <a:off x="3667125" y="1552574"/>
            <a:ext cx="1819275" cy="352425"/>
          </a:xfrm>
          <a:prstGeom prst="roundRect">
            <a:avLst/>
          </a:prstGeom>
          <a:solidFill>
            <a:srgbClr val="DD5757"/>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Customer Churn</a:t>
            </a:r>
          </a:p>
        </p:txBody>
      </p:sp>
    </p:spTree>
    <p:extLst>
      <p:ext uri="{BB962C8B-B14F-4D97-AF65-F5344CB8AC3E}">
        <p14:creationId xmlns:p14="http://schemas.microsoft.com/office/powerpoint/2010/main" val="1284896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6"/>
                                        </p:tgtEl>
                                        <p:attrNameLst>
                                          <p:attrName>style.visibility</p:attrName>
                                        </p:attrNameLst>
                                      </p:cBhvr>
                                      <p:to>
                                        <p:strVal val="visible"/>
                                      </p:to>
                                    </p:set>
                                    <p:animEffect transition="in" filter="fade">
                                      <p:cBhvr>
                                        <p:cTn id="7" dur="500"/>
                                        <p:tgtEl>
                                          <p:spTgt spid="14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4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7DE01C2B-937D-74F7-36A1-C73C72DDF264}"/>
              </a:ext>
            </a:extLst>
          </p:cNvPr>
          <p:cNvSpPr txBox="1">
            <a:spLocks/>
          </p:cNvSpPr>
          <p:nvPr/>
        </p:nvSpPr>
        <p:spPr>
          <a:xfrm>
            <a:off x="530080" y="1359605"/>
            <a:ext cx="7889875" cy="2005012"/>
          </a:xfrm>
          <a:prstGeom prst="rect">
            <a:avLst/>
          </a:prstGeom>
        </p:spPr>
        <p:txBody>
          <a:bodyPr vert="horz" wrap="square" lIns="0" tIns="0" rIns="0" bIns="0" rtlCol="0" anchorCtr="0">
            <a:noAutofit/>
          </a:bodyPr>
          <a:lstStyle>
            <a:lvl1pPr algn="ctr" defTabSz="685800" rtl="0" eaLnBrk="1" latinLnBrk="0" hangingPunct="1">
              <a:lnSpc>
                <a:spcPct val="100000"/>
              </a:lnSpc>
              <a:spcBef>
                <a:spcPts val="300"/>
              </a:spcBef>
              <a:buNone/>
              <a:defRPr sz="3600" b="0" i="0" kern="1200">
                <a:solidFill>
                  <a:schemeClr val="accent5">
                    <a:lumMod val="50000"/>
                  </a:schemeClr>
                </a:solidFill>
                <a:latin typeface="Anova Bold" panose="020B0503020203020204" pitchFamily="34" charset="0"/>
                <a:ea typeface="+mj-ea"/>
                <a:cs typeface="+mj-cs"/>
              </a:defRPr>
            </a:lvl1pPr>
          </a:lstStyle>
          <a:p>
            <a:pPr algn="l">
              <a:lnSpc>
                <a:spcPct val="90000"/>
              </a:lnSpc>
              <a:spcAft>
                <a:spcPts val="300"/>
              </a:spcAft>
              <a:buClr>
                <a:schemeClr val="accent5"/>
              </a:buClr>
            </a:pPr>
            <a:r>
              <a:rPr lang="en-US" sz="1200" b="0" i="0" kern="1200" dirty="0">
                <a:solidFill>
                  <a:schemeClr val="accent3"/>
                </a:solidFill>
                <a:latin typeface="+mn-lt"/>
                <a:ea typeface="+mn-ea"/>
                <a:cs typeface="+mn-cs"/>
              </a:rPr>
              <a:t>Fraud  - </a:t>
            </a:r>
            <a:r>
              <a:rPr lang="en-US" sz="1200" b="0" i="0" u="none" strike="noStrike" baseline="0" dirty="0">
                <a:solidFill>
                  <a:schemeClr val="accent3"/>
                </a:solidFill>
                <a:latin typeface="Arial" panose="020B0604020202020204" pitchFamily="34" charset="0"/>
              </a:rPr>
              <a:t>Fraud is intentionally committing a deceitful act in order to profit or gain an advantage. Fraud detection methods attempt to detect and impede illegal activity (for example, involving financial transactions). </a:t>
            </a:r>
            <a:br>
              <a:rPr lang="en-US" sz="1200" b="0" i="0" kern="1200" dirty="0">
                <a:solidFill>
                  <a:schemeClr val="accent3"/>
                </a:solidFill>
                <a:latin typeface="+mn-lt"/>
                <a:ea typeface="+mn-ea"/>
                <a:cs typeface="+mn-cs"/>
              </a:rPr>
            </a:br>
            <a:br>
              <a:rPr lang="en-US" sz="1200" b="0" i="0" kern="1200" dirty="0">
                <a:solidFill>
                  <a:schemeClr val="accent3"/>
                </a:solidFill>
                <a:latin typeface="+mn-lt"/>
                <a:ea typeface="+mn-ea"/>
                <a:cs typeface="+mn-cs"/>
              </a:rPr>
            </a:br>
            <a:br>
              <a:rPr lang="en-US" sz="1200" b="0" i="0" kern="1200" dirty="0">
                <a:solidFill>
                  <a:schemeClr val="accent3"/>
                </a:solidFill>
                <a:latin typeface="+mn-lt"/>
                <a:ea typeface="+mn-ea"/>
                <a:cs typeface="+mn-cs"/>
              </a:rPr>
            </a:br>
            <a:r>
              <a:rPr lang="en-US" sz="1200" b="0" i="0" kern="1200" dirty="0">
                <a:solidFill>
                  <a:schemeClr val="accent3"/>
                </a:solidFill>
                <a:latin typeface="+mn-lt"/>
                <a:ea typeface="+mn-ea"/>
                <a:cs typeface="+mn-cs"/>
              </a:rPr>
              <a:t>Targeted Marketing  - </a:t>
            </a:r>
            <a:r>
              <a:rPr lang="en-US" sz="1200" b="0" i="0" u="none" strike="noStrike" baseline="0" dirty="0">
                <a:solidFill>
                  <a:schemeClr val="accent3"/>
                </a:solidFill>
                <a:latin typeface="Arial" panose="020B0604020202020204" pitchFamily="34" charset="0"/>
              </a:rPr>
              <a:t>Most companies rely on some form of targeted marketing, also referred to as direct marketing. Targeted marketing involves identifying individuals who are most likely to respond to a marketing action, and then designing and implementing a marketing campaign that targets those individuals. </a:t>
            </a:r>
            <a:br>
              <a:rPr lang="en-US" sz="1200" b="0" i="0" kern="1200" dirty="0">
                <a:solidFill>
                  <a:schemeClr val="accent3"/>
                </a:solidFill>
                <a:latin typeface="+mn-lt"/>
                <a:ea typeface="+mn-ea"/>
                <a:cs typeface="+mn-cs"/>
              </a:rPr>
            </a:br>
            <a:br>
              <a:rPr lang="en-US" sz="1200" b="0" i="0" kern="1200" dirty="0">
                <a:solidFill>
                  <a:schemeClr val="accent3"/>
                </a:solidFill>
                <a:latin typeface="+mn-lt"/>
                <a:ea typeface="+mn-ea"/>
                <a:cs typeface="+mn-cs"/>
              </a:rPr>
            </a:br>
            <a:r>
              <a:rPr lang="en-US" sz="1200" b="0" i="0" kern="1200" dirty="0">
                <a:solidFill>
                  <a:schemeClr val="accent3"/>
                </a:solidFill>
                <a:latin typeface="+mn-lt"/>
                <a:ea typeface="+mn-ea"/>
                <a:cs typeface="+mn-cs"/>
              </a:rPr>
              <a:t> </a:t>
            </a:r>
            <a:br>
              <a:rPr lang="en-US" sz="1200" b="0" i="0" kern="1200" dirty="0">
                <a:solidFill>
                  <a:schemeClr val="accent3"/>
                </a:solidFill>
                <a:latin typeface="+mn-lt"/>
                <a:ea typeface="+mn-ea"/>
                <a:cs typeface="+mn-cs"/>
              </a:rPr>
            </a:br>
            <a:r>
              <a:rPr lang="en-US" sz="1200" b="0" i="0" kern="1200" dirty="0">
                <a:solidFill>
                  <a:schemeClr val="accent3"/>
                </a:solidFill>
                <a:latin typeface="+mn-lt"/>
                <a:ea typeface="+mn-ea"/>
                <a:cs typeface="+mn-cs"/>
              </a:rPr>
              <a:t>Financial Risk  - </a:t>
            </a:r>
            <a:r>
              <a:rPr lang="en-US" sz="1200" b="0" i="0" u="none" strike="noStrike" baseline="0" dirty="0">
                <a:solidFill>
                  <a:schemeClr val="accent3"/>
                </a:solidFill>
                <a:latin typeface="Arial" panose="020B0604020202020204" pitchFamily="34" charset="0"/>
              </a:rPr>
              <a:t>Financial risk management models attempt to predict monetary events such as credit default, loan prepayment, and insurance claims. </a:t>
            </a:r>
            <a:br>
              <a:rPr lang="en-US" sz="1200" b="0" i="0" kern="1200" dirty="0">
                <a:solidFill>
                  <a:schemeClr val="accent3"/>
                </a:solidFill>
                <a:latin typeface="+mn-lt"/>
                <a:ea typeface="+mn-ea"/>
                <a:cs typeface="+mn-cs"/>
              </a:rPr>
            </a:br>
            <a:br>
              <a:rPr lang="en-US" sz="1200" b="0" i="0" kern="1200" dirty="0">
                <a:solidFill>
                  <a:schemeClr val="accent3"/>
                </a:solidFill>
                <a:latin typeface="+mn-lt"/>
                <a:ea typeface="+mn-ea"/>
                <a:cs typeface="+mn-cs"/>
              </a:rPr>
            </a:br>
            <a:br>
              <a:rPr lang="en-US" sz="1200" b="0" i="0" kern="1200" dirty="0">
                <a:solidFill>
                  <a:schemeClr val="accent3"/>
                </a:solidFill>
                <a:latin typeface="+mn-lt"/>
                <a:ea typeface="+mn-ea"/>
                <a:cs typeface="+mn-cs"/>
              </a:rPr>
            </a:br>
            <a:r>
              <a:rPr lang="en-US" sz="1200" b="0" i="0" kern="1200" dirty="0">
                <a:solidFill>
                  <a:schemeClr val="accent3"/>
                </a:solidFill>
                <a:latin typeface="+mn-lt"/>
                <a:ea typeface="+mn-ea"/>
                <a:cs typeface="+mn-cs"/>
              </a:rPr>
              <a:t>Customer Churn - </a:t>
            </a:r>
            <a:r>
              <a:rPr lang="en-US" sz="1200" b="0" i="0" u="none" strike="noStrike" baseline="0" dirty="0">
                <a:solidFill>
                  <a:schemeClr val="accent3"/>
                </a:solidFill>
                <a:latin typeface="Arial" panose="020B0604020202020204" pitchFamily="34" charset="0"/>
              </a:rPr>
              <a:t>Customer churn is a problem for many businesses. Churn (also known as attrition) is the turnover of customers who use a product or service. Studies have shown that attracting new customers is much more expensive than retaining existing ones. Consequently, companies focus on developing accurate and reliable predictive models to identify potential customers who will churn soon. Customer churn is the business challenge that's featured throughout the course. </a:t>
            </a:r>
            <a:br>
              <a:rPr lang="en-US" sz="1200" b="0" i="0" kern="1200" dirty="0">
                <a:solidFill>
                  <a:schemeClr val="accent3"/>
                </a:solidFill>
                <a:latin typeface="+mn-lt"/>
                <a:ea typeface="+mn-ea"/>
                <a:cs typeface="+mn-cs"/>
              </a:rPr>
            </a:br>
            <a:endParaRPr lang="en-US" sz="1200" b="0" i="0" kern="1200" dirty="0">
              <a:solidFill>
                <a:schemeClr val="accent3"/>
              </a:solidFill>
              <a:latin typeface="+mn-lt"/>
              <a:ea typeface="+mn-ea"/>
              <a:cs typeface="+mn-cs"/>
            </a:endParaRPr>
          </a:p>
        </p:txBody>
      </p:sp>
      <p:sp>
        <p:nvSpPr>
          <p:cNvPr id="2" name="Text Placeholder 4">
            <a:extLst>
              <a:ext uri="{FF2B5EF4-FFF2-40B4-BE49-F238E27FC236}">
                <a16:creationId xmlns:a16="http://schemas.microsoft.com/office/drawing/2014/main" id="{5C2FC714-E031-7FF7-9B60-A866E5E2F8B1}"/>
              </a:ext>
            </a:extLst>
          </p:cNvPr>
          <p:cNvSpPr txBox="1">
            <a:spLocks/>
          </p:cNvSpPr>
          <p:nvPr/>
        </p:nvSpPr>
        <p:spPr>
          <a:xfrm>
            <a:off x="404543" y="380732"/>
            <a:ext cx="7889135" cy="738664"/>
          </a:xfrm>
          <a:prstGeom prst="rect">
            <a:avLst/>
          </a:prstGeom>
        </p:spPr>
        <p:txBody>
          <a:bodyPr vert="horz" wrap="square" lIns="0" tIns="0" rIns="0" bIns="182880" rtlCol="0" anchor="b" anchorCtr="0">
            <a:normAutofit/>
          </a:bodyPr>
          <a:lstStyle>
            <a:lvl1pPr marL="0" indent="0" algn="l" defTabSz="685800" rtl="0" eaLnBrk="1" latinLnBrk="0" hangingPunct="1">
              <a:lnSpc>
                <a:spcPct val="100000"/>
              </a:lnSpc>
              <a:spcBef>
                <a:spcPts val="600"/>
              </a:spcBef>
              <a:spcAft>
                <a:spcPts val="300"/>
              </a:spcAft>
              <a:buClr>
                <a:schemeClr val="accent5"/>
              </a:buClr>
              <a:buFont typeface="Anova Light" panose="020B0403020203020204" pitchFamily="34" charset="0"/>
              <a:buNone/>
              <a:defRPr sz="1800" b="0" i="0" kern="1200">
                <a:solidFill>
                  <a:schemeClr val="tx1"/>
                </a:solidFill>
                <a:latin typeface="+mn-lt"/>
                <a:ea typeface="+mn-ea"/>
                <a:cs typeface="+mn-cs"/>
              </a:defRPr>
            </a:lvl1pPr>
            <a:lvl2pPr marL="365760" indent="-182880" algn="l" defTabSz="685800" rtl="0" eaLnBrk="1" latinLnBrk="0" hangingPunct="1">
              <a:lnSpc>
                <a:spcPct val="100000"/>
              </a:lnSpc>
              <a:spcBef>
                <a:spcPts val="600"/>
              </a:spcBef>
              <a:spcAft>
                <a:spcPts val="300"/>
              </a:spcAft>
              <a:buClr>
                <a:schemeClr val="accent5"/>
              </a:buClr>
              <a:buFont typeface="Anova Light" panose="020B0403020203020204" pitchFamily="34" charset="0"/>
              <a:buChar char="•"/>
              <a:defRPr sz="1600" b="0" i="0" kern="1200">
                <a:solidFill>
                  <a:schemeClr val="tx1"/>
                </a:solidFill>
                <a:latin typeface="+mn-lt"/>
                <a:ea typeface="+mn-ea"/>
                <a:cs typeface="+mn-cs"/>
              </a:defRPr>
            </a:lvl2pPr>
            <a:lvl3pPr marL="548640" indent="-182880" algn="l" defTabSz="685800" rtl="0" eaLnBrk="1" latinLnBrk="0" hangingPunct="1">
              <a:lnSpc>
                <a:spcPct val="100000"/>
              </a:lnSpc>
              <a:spcBef>
                <a:spcPts val="600"/>
              </a:spcBef>
              <a:spcAft>
                <a:spcPts val="300"/>
              </a:spcAft>
              <a:buClr>
                <a:schemeClr val="accent5"/>
              </a:buClr>
              <a:buFont typeface="Anova Light" panose="020B0604020202020204" charset="0"/>
              <a:buChar char="–"/>
              <a:defRPr sz="16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4pPr>
            <a:lvl5pPr marL="15430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9pPr>
          </a:lstStyle>
          <a:p>
            <a:pPr marL="0" marR="0" lvl="0" indent="0" fontAlgn="auto">
              <a:lnSpc>
                <a:spcPct val="90000"/>
              </a:lnSpc>
              <a:spcBef>
                <a:spcPts val="300"/>
              </a:spcBef>
              <a:spcAft>
                <a:spcPts val="300"/>
              </a:spcAft>
              <a:buClr>
                <a:srgbClr val="7E889A"/>
              </a:buClr>
              <a:buSzTx/>
              <a:tabLst/>
              <a:defRPr/>
            </a:pPr>
            <a:r>
              <a:rPr lang="en-US" sz="2800" b="0" i="0" kern="1200" dirty="0">
                <a:solidFill>
                  <a:schemeClr val="bg1"/>
                </a:solidFill>
                <a:latin typeface="Anova Bold" panose="020B0503020203020204" pitchFamily="34" charset="0"/>
                <a:ea typeface="+mj-ea"/>
                <a:cs typeface="+mj-cs"/>
              </a:rPr>
              <a:t>Applications of Prediction-Based Decision Making</a:t>
            </a:r>
            <a:endParaRPr kumimoji="0" lang="en-US" sz="2800" b="0" i="0" u="none" strike="noStrike" kern="1200" cap="none" spc="0" normalizeH="0" baseline="0" noProof="0" dirty="0">
              <a:ln>
                <a:noFill/>
              </a:ln>
              <a:solidFill>
                <a:schemeClr val="bg1"/>
              </a:solidFill>
              <a:effectLst/>
              <a:uLnTx/>
              <a:uFillTx/>
              <a:latin typeface="Anova Bold" panose="020B0503020203020204" pitchFamily="34" charset="0"/>
              <a:ea typeface="+mj-ea"/>
              <a:cs typeface="+mj-cs"/>
            </a:endParaRPr>
          </a:p>
        </p:txBody>
      </p:sp>
      <p:sp>
        <p:nvSpPr>
          <p:cNvPr id="4" name="Title 3">
            <a:extLst>
              <a:ext uri="{FF2B5EF4-FFF2-40B4-BE49-F238E27FC236}">
                <a16:creationId xmlns:a16="http://schemas.microsoft.com/office/drawing/2014/main" id="{5A53F2E1-23E8-134A-D894-B907BF28CA17}"/>
              </a:ext>
            </a:extLst>
          </p:cNvPr>
          <p:cNvSpPr>
            <a:spLocks noGrp="1"/>
          </p:cNvSpPr>
          <p:nvPr>
            <p:ph type="title"/>
          </p:nvPr>
        </p:nvSpPr>
        <p:spPr>
          <a:xfrm>
            <a:off x="-96982" y="9787949"/>
            <a:ext cx="9144000" cy="1292662"/>
          </a:xfrm>
        </p:spPr>
        <p:txBody>
          <a:bodyPr/>
          <a:lstStyle/>
          <a:p>
            <a:pPr algn="l"/>
            <a:br>
              <a:rPr lang="en-US" sz="1800" b="0" i="0" u="none" strike="noStrike" baseline="0" dirty="0">
                <a:solidFill>
                  <a:srgbClr val="000000"/>
                </a:solidFill>
                <a:latin typeface="Arial" panose="020B0604020202020204" pitchFamily="34" charset="0"/>
              </a:rPr>
            </a:br>
            <a:r>
              <a:rPr lang="en-MY" sz="1800" b="1" i="0" u="none" strike="noStrike" baseline="0" dirty="0">
                <a:solidFill>
                  <a:srgbClr val="000000"/>
                </a:solidFill>
                <a:latin typeface="Arial" panose="020B0604020202020204" pitchFamily="34" charset="0"/>
              </a:rPr>
              <a:t>Customer Churn </a:t>
            </a:r>
            <a:br>
              <a:rPr lang="en-MY" sz="1800" b="0" i="0" u="none" strike="noStrike" baseline="0" dirty="0">
                <a:solidFill>
                  <a:srgbClr val="000000"/>
                </a:solidFill>
                <a:latin typeface="Arial" panose="020B0604020202020204" pitchFamily="34" charset="0"/>
              </a:rPr>
            </a:br>
            <a:r>
              <a:rPr lang="en-US" sz="1800" b="0" i="0" u="none" strike="noStrike" baseline="0" dirty="0">
                <a:solidFill>
                  <a:srgbClr val="000000"/>
                </a:solidFill>
                <a:latin typeface="Arial" panose="020B0604020202020204" pitchFamily="34" charset="0"/>
              </a:rPr>
              <a:t>Customer churn is a problem for many businesses. Churn (also known as attrition) is the turnover of customers who use a product or service. </a:t>
            </a:r>
            <a:endParaRPr lang="en-US" dirty="0"/>
          </a:p>
        </p:txBody>
      </p:sp>
    </p:spTree>
    <p:extLst>
      <p:ext uri="{BB962C8B-B14F-4D97-AF65-F5344CB8AC3E}">
        <p14:creationId xmlns:p14="http://schemas.microsoft.com/office/powerpoint/2010/main" val="3868659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C1405C8-AFD6-C17A-07CF-E10B6C5D7D03}"/>
              </a:ext>
            </a:extLst>
          </p:cNvPr>
          <p:cNvSpPr>
            <a:spLocks noGrp="1"/>
          </p:cNvSpPr>
          <p:nvPr>
            <p:ph type="title"/>
          </p:nvPr>
        </p:nvSpPr>
        <p:spPr>
          <a:xfrm>
            <a:off x="628650" y="355152"/>
            <a:ext cx="7886700" cy="302073"/>
          </a:xfrm>
        </p:spPr>
        <p:txBody>
          <a:bodyPr anchor="ctr">
            <a:normAutofit/>
          </a:bodyPr>
          <a:lstStyle/>
          <a:p>
            <a:r>
              <a:rPr lang="en-MY" sz="1100" b="1" i="0" u="none" strike="noStrike" baseline="0"/>
              <a:t>Other Applications </a:t>
            </a:r>
            <a:br>
              <a:rPr lang="en-MY" sz="1100" b="0" i="0" u="none" strike="noStrike" baseline="0"/>
            </a:br>
            <a:endParaRPr lang="en-MY" sz="1100"/>
          </a:p>
        </p:txBody>
      </p:sp>
      <p:sp>
        <p:nvSpPr>
          <p:cNvPr id="11" name="Text Placeholder 3">
            <a:extLst>
              <a:ext uri="{FF2B5EF4-FFF2-40B4-BE49-F238E27FC236}">
                <a16:creationId xmlns:a16="http://schemas.microsoft.com/office/drawing/2014/main" id="{498D5E6C-460B-51D1-A39A-29B7E3F6A394}"/>
              </a:ext>
            </a:extLst>
          </p:cNvPr>
          <p:cNvSpPr>
            <a:spLocks noGrp="1"/>
          </p:cNvSpPr>
          <p:nvPr>
            <p:ph type="body" sz="quarter" idx="10"/>
          </p:nvPr>
        </p:nvSpPr>
        <p:spPr>
          <a:xfrm>
            <a:off x="628650" y="781050"/>
            <a:ext cx="7886700" cy="274691"/>
          </a:xfrm>
        </p:spPr>
        <p:txBody>
          <a:bodyPr>
            <a:normAutofit fontScale="92500" lnSpcReduction="10000"/>
          </a:bodyPr>
          <a:lstStyle/>
          <a:p>
            <a:r>
              <a:rPr lang="en-US" b="0" i="0" baseline="0" dirty="0"/>
              <a:t>Additional examples of prediction-based decision making are listed below: </a:t>
            </a:r>
            <a:endParaRPr lang="en-US" dirty="0"/>
          </a:p>
          <a:p>
            <a:endParaRPr lang="en-US" dirty="0"/>
          </a:p>
        </p:txBody>
      </p:sp>
      <p:graphicFrame>
        <p:nvGraphicFramePr>
          <p:cNvPr id="7" name="Text Placeholder 4">
            <a:extLst>
              <a:ext uri="{FF2B5EF4-FFF2-40B4-BE49-F238E27FC236}">
                <a16:creationId xmlns:a16="http://schemas.microsoft.com/office/drawing/2014/main" id="{F5E3EB4F-06BD-61FC-1EB4-A41BE8D0EF8B}"/>
              </a:ext>
            </a:extLst>
          </p:cNvPr>
          <p:cNvGraphicFramePr/>
          <p:nvPr>
            <p:extLst>
              <p:ext uri="{D42A27DB-BD31-4B8C-83A1-F6EECF244321}">
                <p14:modId xmlns:p14="http://schemas.microsoft.com/office/powerpoint/2010/main" val="2272650322"/>
              </p:ext>
            </p:extLst>
          </p:nvPr>
        </p:nvGraphicFramePr>
        <p:xfrm>
          <a:off x="628650" y="1200149"/>
          <a:ext cx="7886700" cy="34747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39707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3F2E1-23E8-134A-D894-B907BF28CA17}"/>
              </a:ext>
            </a:extLst>
          </p:cNvPr>
          <p:cNvSpPr>
            <a:spLocks noGrp="1"/>
          </p:cNvSpPr>
          <p:nvPr>
            <p:ph type="title"/>
          </p:nvPr>
        </p:nvSpPr>
        <p:spPr>
          <a:xfrm>
            <a:off x="143616" y="465758"/>
            <a:ext cx="8644784" cy="4294894"/>
          </a:xfrm>
        </p:spPr>
        <p:txBody>
          <a:bodyPr/>
          <a:lstStyle/>
          <a:p>
            <a:pPr>
              <a:lnSpc>
                <a:spcPct val="150000"/>
              </a:lnSpc>
            </a:pPr>
            <a:br>
              <a:rPr lang="en-US" sz="1800" b="0" i="0" u="none" strike="noStrike" baseline="0" dirty="0">
                <a:solidFill>
                  <a:srgbClr val="000000"/>
                </a:solidFill>
                <a:latin typeface="Arial" panose="020B0604020202020204" pitchFamily="34" charset="0"/>
              </a:rPr>
            </a:br>
            <a:r>
              <a:rPr lang="en-US" sz="1800" b="0" i="0" u="none" strike="noStrike" baseline="0" dirty="0">
                <a:solidFill>
                  <a:srgbClr val="000000"/>
                </a:solidFill>
                <a:latin typeface="Arial" panose="020B0604020202020204" pitchFamily="34" charset="0"/>
              </a:rPr>
              <a:t>The </a:t>
            </a:r>
            <a:r>
              <a:rPr lang="en-US" sz="1800" b="1" i="0" u="none" strike="noStrike" baseline="0" dirty="0" err="1">
                <a:solidFill>
                  <a:srgbClr val="000000"/>
                </a:solidFill>
                <a:latin typeface="Segoe UI" panose="020B0502040204020203" pitchFamily="34" charset="0"/>
              </a:rPr>
              <a:t>commsdata</a:t>
            </a:r>
            <a:r>
              <a:rPr lang="en-US" sz="1800" b="1" i="0" u="none" strike="noStrike" baseline="0" dirty="0">
                <a:solidFill>
                  <a:srgbClr val="000000"/>
                </a:solidFill>
                <a:latin typeface="Segoe UI" panose="020B0502040204020203" pitchFamily="34" charset="0"/>
              </a:rPr>
              <a:t> </a:t>
            </a:r>
            <a:r>
              <a:rPr lang="en-US" sz="1800" b="0" i="0" u="none" strike="noStrike" baseline="0" dirty="0">
                <a:solidFill>
                  <a:srgbClr val="000000"/>
                </a:solidFill>
                <a:latin typeface="Arial" panose="020B0604020202020204" pitchFamily="34" charset="0"/>
              </a:rPr>
              <a:t>data set contains information about customers of a telecommunications company and their use of the company's services. The input variables include demographic variables, variables that describe product usage and type, billing data, and customer service and call center information. The main goal is to use this set of input variables and train supervised learning models to predict the churn event. </a:t>
            </a:r>
            <a:br>
              <a:rPr lang="en-US" sz="1800" b="0" i="0" u="none" strike="noStrike" baseline="0" dirty="0">
                <a:solidFill>
                  <a:srgbClr val="000000"/>
                </a:solidFill>
                <a:latin typeface="Arial" panose="020B0604020202020204" pitchFamily="34" charset="0"/>
              </a:rPr>
            </a:br>
            <a:br>
              <a:rPr lang="en-US" sz="1800" b="0" i="0" u="none" strike="noStrike" baseline="0" dirty="0">
                <a:solidFill>
                  <a:srgbClr val="000000"/>
                </a:solidFill>
                <a:latin typeface="Arial" panose="020B0604020202020204" pitchFamily="34" charset="0"/>
              </a:rPr>
            </a:br>
            <a:br>
              <a:rPr lang="en-US" sz="1800" b="0" i="0" u="none" strike="noStrike" baseline="0" dirty="0">
                <a:solidFill>
                  <a:srgbClr val="000000"/>
                </a:solidFill>
                <a:latin typeface="Arial" panose="020B0604020202020204" pitchFamily="34" charset="0"/>
              </a:rPr>
            </a:br>
            <a:r>
              <a:rPr lang="en-US" sz="1800" b="0" i="0" u="none" strike="noStrike" baseline="0" dirty="0">
                <a:solidFill>
                  <a:srgbClr val="000000"/>
                </a:solidFill>
                <a:latin typeface="Arial" panose="020B0604020202020204" pitchFamily="34" charset="0"/>
              </a:rPr>
              <a:t>Refer Pg 1-19</a:t>
            </a:r>
            <a:endParaRPr lang="en-US" dirty="0"/>
          </a:p>
        </p:txBody>
      </p:sp>
      <p:sp>
        <p:nvSpPr>
          <p:cNvPr id="2" name="Text Placeholder 4">
            <a:extLst>
              <a:ext uri="{FF2B5EF4-FFF2-40B4-BE49-F238E27FC236}">
                <a16:creationId xmlns:a16="http://schemas.microsoft.com/office/drawing/2014/main" id="{5C2FC714-E031-7FF7-9B60-A866E5E2F8B1}"/>
              </a:ext>
            </a:extLst>
          </p:cNvPr>
          <p:cNvSpPr txBox="1">
            <a:spLocks/>
          </p:cNvSpPr>
          <p:nvPr/>
        </p:nvSpPr>
        <p:spPr>
          <a:xfrm>
            <a:off x="-1878584" y="382848"/>
            <a:ext cx="7730975" cy="461665"/>
          </a:xfrm>
          <a:prstGeom prst="rect">
            <a:avLst/>
          </a:prstGeom>
        </p:spPr>
        <p:txBody>
          <a:bodyPr/>
          <a:lstStyle>
            <a:lvl1pPr marL="0" indent="0" algn="l" defTabSz="685800" rtl="0" eaLnBrk="1" latinLnBrk="0" hangingPunct="1">
              <a:lnSpc>
                <a:spcPct val="100000"/>
              </a:lnSpc>
              <a:spcBef>
                <a:spcPts val="600"/>
              </a:spcBef>
              <a:spcAft>
                <a:spcPts val="300"/>
              </a:spcAft>
              <a:buClr>
                <a:schemeClr val="accent5"/>
              </a:buClr>
              <a:buFont typeface="Anova Light" panose="020B0403020203020204" pitchFamily="34" charset="0"/>
              <a:buNone/>
              <a:defRPr sz="1800" b="0" i="0" kern="1200">
                <a:solidFill>
                  <a:schemeClr val="tx1"/>
                </a:solidFill>
                <a:latin typeface="+mn-lt"/>
                <a:ea typeface="+mn-ea"/>
                <a:cs typeface="+mn-cs"/>
              </a:defRPr>
            </a:lvl1pPr>
            <a:lvl2pPr marL="365760" indent="-182880" algn="l" defTabSz="685800" rtl="0" eaLnBrk="1" latinLnBrk="0" hangingPunct="1">
              <a:lnSpc>
                <a:spcPct val="100000"/>
              </a:lnSpc>
              <a:spcBef>
                <a:spcPts val="600"/>
              </a:spcBef>
              <a:spcAft>
                <a:spcPts val="300"/>
              </a:spcAft>
              <a:buClr>
                <a:schemeClr val="accent5"/>
              </a:buClr>
              <a:buFont typeface="Anova Light" panose="020B0403020203020204" pitchFamily="34" charset="0"/>
              <a:buChar char="•"/>
              <a:defRPr sz="1600" b="0" i="0" kern="1200">
                <a:solidFill>
                  <a:schemeClr val="tx1"/>
                </a:solidFill>
                <a:latin typeface="+mn-lt"/>
                <a:ea typeface="+mn-ea"/>
                <a:cs typeface="+mn-cs"/>
              </a:defRPr>
            </a:lvl2pPr>
            <a:lvl3pPr marL="548640" indent="-182880" algn="l" defTabSz="685800" rtl="0" eaLnBrk="1" latinLnBrk="0" hangingPunct="1">
              <a:lnSpc>
                <a:spcPct val="100000"/>
              </a:lnSpc>
              <a:spcBef>
                <a:spcPts val="600"/>
              </a:spcBef>
              <a:spcAft>
                <a:spcPts val="300"/>
              </a:spcAft>
              <a:buClr>
                <a:schemeClr val="accent5"/>
              </a:buClr>
              <a:buFont typeface="Anova Light" panose="020B0604020202020204" charset="0"/>
              <a:buChar char="–"/>
              <a:defRPr sz="16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4pPr>
            <a:lvl5pPr marL="15430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600"/>
              </a:spcBef>
              <a:spcAft>
                <a:spcPts val="300"/>
              </a:spcAft>
              <a:buClr>
                <a:srgbClr val="7E889A"/>
              </a:buClr>
              <a:buSzTx/>
              <a:buFont typeface="Anova Light" panose="020B0403020203020204" pitchFamily="34" charset="0"/>
              <a:buNone/>
              <a:tabLst/>
              <a:defRPr/>
            </a:pPr>
            <a:r>
              <a:rPr lang="en-US" sz="2400" b="1" dirty="0"/>
              <a:t>Case Study: Data Dictionary</a:t>
            </a:r>
            <a:endParaRPr kumimoji="0" lang="en-US" sz="2400" b="1" i="0" u="none" strike="noStrike" kern="1200" cap="none" spc="0" normalizeH="0" baseline="0" noProof="0" dirty="0">
              <a:ln>
                <a:noFill/>
              </a:ln>
              <a:solidFill>
                <a:srgbClr val="000000"/>
              </a:solidFill>
              <a:effectLst/>
              <a:uLnTx/>
              <a:uFillTx/>
              <a:latin typeface="Anova Light"/>
              <a:ea typeface="+mn-ea"/>
              <a:cs typeface="+mn-cs"/>
            </a:endParaRPr>
          </a:p>
        </p:txBody>
      </p:sp>
    </p:spTree>
    <p:extLst>
      <p:ext uri="{BB962C8B-B14F-4D97-AF65-F5344CB8AC3E}">
        <p14:creationId xmlns:p14="http://schemas.microsoft.com/office/powerpoint/2010/main" val="1584454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5C2FC714-E031-7FF7-9B60-A866E5E2F8B1}"/>
              </a:ext>
            </a:extLst>
          </p:cNvPr>
          <p:cNvSpPr txBox="1">
            <a:spLocks/>
          </p:cNvSpPr>
          <p:nvPr/>
        </p:nvSpPr>
        <p:spPr>
          <a:xfrm>
            <a:off x="628650" y="355152"/>
            <a:ext cx="7886700" cy="302073"/>
          </a:xfrm>
          <a:prstGeom prst="rect">
            <a:avLst/>
          </a:prstGeom>
        </p:spPr>
        <p:txBody>
          <a:bodyPr vert="horz" lIns="0" tIns="0" rIns="0" bIns="0" rtlCol="0" anchor="ctr">
            <a:normAutofit/>
          </a:bodyPr>
          <a:lstStyle>
            <a:lvl1pPr marL="0" indent="0" algn="l" defTabSz="685800" rtl="0" eaLnBrk="1" latinLnBrk="0" hangingPunct="1">
              <a:lnSpc>
                <a:spcPct val="100000"/>
              </a:lnSpc>
              <a:spcBef>
                <a:spcPts val="600"/>
              </a:spcBef>
              <a:spcAft>
                <a:spcPts val="300"/>
              </a:spcAft>
              <a:buClr>
                <a:schemeClr val="accent5"/>
              </a:buClr>
              <a:buFont typeface="Anova Light" panose="020B0403020203020204" pitchFamily="34" charset="0"/>
              <a:buNone/>
              <a:defRPr sz="1800" b="0" i="0" kern="1200">
                <a:solidFill>
                  <a:schemeClr val="tx1"/>
                </a:solidFill>
                <a:latin typeface="+mn-lt"/>
                <a:ea typeface="+mn-ea"/>
                <a:cs typeface="+mn-cs"/>
              </a:defRPr>
            </a:lvl1pPr>
            <a:lvl2pPr marL="365760" indent="-182880" algn="l" defTabSz="685800" rtl="0" eaLnBrk="1" latinLnBrk="0" hangingPunct="1">
              <a:lnSpc>
                <a:spcPct val="100000"/>
              </a:lnSpc>
              <a:spcBef>
                <a:spcPts val="600"/>
              </a:spcBef>
              <a:spcAft>
                <a:spcPts val="300"/>
              </a:spcAft>
              <a:buClr>
                <a:schemeClr val="accent5"/>
              </a:buClr>
              <a:buFont typeface="Anova Light" panose="020B0403020203020204" pitchFamily="34" charset="0"/>
              <a:buChar char="•"/>
              <a:defRPr sz="1600" b="0" i="0" kern="1200">
                <a:solidFill>
                  <a:schemeClr val="tx1"/>
                </a:solidFill>
                <a:latin typeface="+mn-lt"/>
                <a:ea typeface="+mn-ea"/>
                <a:cs typeface="+mn-cs"/>
              </a:defRPr>
            </a:lvl2pPr>
            <a:lvl3pPr marL="548640" indent="-182880" algn="l" defTabSz="685800" rtl="0" eaLnBrk="1" latinLnBrk="0" hangingPunct="1">
              <a:lnSpc>
                <a:spcPct val="100000"/>
              </a:lnSpc>
              <a:spcBef>
                <a:spcPts val="600"/>
              </a:spcBef>
              <a:spcAft>
                <a:spcPts val="300"/>
              </a:spcAft>
              <a:buClr>
                <a:schemeClr val="accent5"/>
              </a:buClr>
              <a:buFont typeface="Anova Light" panose="020B0604020202020204" charset="0"/>
              <a:buChar char="–"/>
              <a:defRPr sz="16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4pPr>
            <a:lvl5pPr marL="15430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9pPr>
          </a:lstStyle>
          <a:p>
            <a:pPr marL="0" marR="0" lvl="0" indent="0" fontAlgn="auto">
              <a:lnSpc>
                <a:spcPct val="90000"/>
              </a:lnSpc>
              <a:spcBef>
                <a:spcPct val="0"/>
              </a:spcBef>
              <a:spcAft>
                <a:spcPts val="300"/>
              </a:spcAft>
              <a:buClr>
                <a:srgbClr val="7E889A"/>
              </a:buClr>
              <a:buSzTx/>
              <a:tabLst/>
              <a:defRPr/>
            </a:pPr>
            <a:r>
              <a:rPr lang="en-US" sz="2000" b="1" i="0" kern="1200">
                <a:solidFill>
                  <a:schemeClr val="accent5">
                    <a:lumMod val="75000"/>
                  </a:schemeClr>
                </a:solidFill>
                <a:latin typeface="Anova Bold" panose="020B0503020203020204" pitchFamily="34" charset="0"/>
                <a:ea typeface="+mj-ea"/>
                <a:cs typeface="+mj-cs"/>
              </a:rPr>
              <a:t>SAS Viya Applications Menu</a:t>
            </a:r>
            <a:endParaRPr kumimoji="0" lang="en-US" sz="2000" b="1" i="0" u="none" strike="noStrike" kern="1200" cap="none" spc="0" normalizeH="0" baseline="0" noProof="0">
              <a:ln>
                <a:noFill/>
              </a:ln>
              <a:solidFill>
                <a:schemeClr val="accent5">
                  <a:lumMod val="75000"/>
                </a:schemeClr>
              </a:solidFill>
              <a:effectLst/>
              <a:uLnTx/>
              <a:uFillTx/>
              <a:latin typeface="Anova Bold" panose="020B0503020203020204" pitchFamily="34" charset="0"/>
              <a:ea typeface="+mj-ea"/>
              <a:cs typeface="+mj-cs"/>
            </a:endParaRPr>
          </a:p>
        </p:txBody>
      </p:sp>
      <p:pic>
        <p:nvPicPr>
          <p:cNvPr id="7" name="Content Placeholder 6">
            <a:extLst>
              <a:ext uri="{FF2B5EF4-FFF2-40B4-BE49-F238E27FC236}">
                <a16:creationId xmlns:a16="http://schemas.microsoft.com/office/drawing/2014/main" id="{C4095757-F8BA-2FCB-9676-0A44C80E3F0A}"/>
              </a:ext>
            </a:extLst>
          </p:cNvPr>
          <p:cNvPicPr>
            <a:picLocks noGrp="1" noChangeAspect="1"/>
          </p:cNvPicPr>
          <p:nvPr>
            <p:ph idx="1"/>
          </p:nvPr>
        </p:nvPicPr>
        <p:blipFill>
          <a:blip r:embed="rId3"/>
          <a:srcRect t="2914" r="-1" b="6219"/>
          <a:stretch/>
        </p:blipFill>
        <p:spPr>
          <a:xfrm>
            <a:off x="628650" y="1200149"/>
            <a:ext cx="3870923" cy="3474720"/>
          </a:xfrm>
          <a:noFill/>
        </p:spPr>
      </p:pic>
      <p:pic>
        <p:nvPicPr>
          <p:cNvPr id="5" name="Picture 4">
            <a:extLst>
              <a:ext uri="{FF2B5EF4-FFF2-40B4-BE49-F238E27FC236}">
                <a16:creationId xmlns:a16="http://schemas.microsoft.com/office/drawing/2014/main" id="{94496B4C-521E-AB0B-7048-1C19B3B0ED9C}"/>
              </a:ext>
            </a:extLst>
          </p:cNvPr>
          <p:cNvPicPr>
            <a:picLocks noChangeAspect="1"/>
          </p:cNvPicPr>
          <p:nvPr/>
        </p:nvPicPr>
        <p:blipFill>
          <a:blip r:embed="rId4"/>
          <a:srcRect l="1609" r="15954" b="1"/>
          <a:stretch/>
        </p:blipFill>
        <p:spPr>
          <a:xfrm>
            <a:off x="4644428" y="1200149"/>
            <a:ext cx="3870924" cy="3474720"/>
          </a:xfrm>
          <a:prstGeom prst="rect">
            <a:avLst/>
          </a:prstGeom>
          <a:noFill/>
        </p:spPr>
      </p:pic>
    </p:spTree>
    <p:extLst>
      <p:ext uri="{BB962C8B-B14F-4D97-AF65-F5344CB8AC3E}">
        <p14:creationId xmlns:p14="http://schemas.microsoft.com/office/powerpoint/2010/main" val="1126612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a:extLst>
              <a:ext uri="{FF2B5EF4-FFF2-40B4-BE49-F238E27FC236}">
                <a16:creationId xmlns:a16="http://schemas.microsoft.com/office/drawing/2014/main" id="{EED0886D-02B5-45EC-A8BD-48E29FC5DD11}"/>
              </a:ext>
            </a:extLst>
          </p:cNvPr>
          <p:cNvSpPr txBox="1"/>
          <p:nvPr/>
        </p:nvSpPr>
        <p:spPr>
          <a:xfrm>
            <a:off x="4000500" y="2877207"/>
            <a:ext cx="1086340" cy="638176"/>
          </a:xfrm>
          <a:prstGeom prst="rect">
            <a:avLst/>
          </a:prstGeom>
          <a:solidFill>
            <a:srgbClr val="E0EBF0"/>
          </a:solidFill>
        </p:spPr>
        <p:txBody>
          <a:bodyPr wrap="square" rtlCol="0" anchor="ctr">
            <a:noAutofit/>
          </a:bodyPr>
          <a:lstStyle/>
          <a:p>
            <a:pPr algn="ctr"/>
            <a:endParaRPr lang="en-US"/>
          </a:p>
        </p:txBody>
      </p:sp>
      <p:pic>
        <p:nvPicPr>
          <p:cNvPr id="6" name="Picture 5">
            <a:extLst>
              <a:ext uri="{FF2B5EF4-FFF2-40B4-BE49-F238E27FC236}">
                <a16:creationId xmlns:a16="http://schemas.microsoft.com/office/drawing/2014/main" id="{031531F8-C107-4056-A0EB-975E93F67C33}"/>
              </a:ext>
            </a:extLst>
          </p:cNvPr>
          <p:cNvPicPr>
            <a:picLocks noChangeAspect="1"/>
          </p:cNvPicPr>
          <p:nvPr/>
        </p:nvPicPr>
        <p:blipFill>
          <a:blip r:embed="rId3" cstate="print">
            <a:duotone>
              <a:prstClr val="black"/>
              <a:schemeClr val="accent4">
                <a:tint val="45000"/>
                <a:satMod val="400000"/>
              </a:schemeClr>
            </a:duotone>
            <a:extLst>
              <a:ext uri="{28A0092B-C50C-407E-A947-70E740481C1C}">
                <a14:useLocalDpi xmlns:a14="http://schemas.microsoft.com/office/drawing/2010/main" val="0"/>
              </a:ext>
            </a:extLst>
          </a:blip>
          <a:stretch>
            <a:fillRect/>
          </a:stretch>
        </p:blipFill>
        <p:spPr>
          <a:xfrm>
            <a:off x="4314824" y="2939121"/>
            <a:ext cx="504826" cy="503121"/>
          </a:xfrm>
          <a:prstGeom prst="rect">
            <a:avLst/>
          </a:prstGeom>
        </p:spPr>
      </p:pic>
      <p:sp>
        <p:nvSpPr>
          <p:cNvPr id="20" name="Rectangle 19">
            <a:extLst>
              <a:ext uri="{FF2B5EF4-FFF2-40B4-BE49-F238E27FC236}">
                <a16:creationId xmlns:a16="http://schemas.microsoft.com/office/drawing/2014/main" id="{8BBC0E55-084F-4E6B-9122-9E89E3DE2EF7}"/>
              </a:ext>
            </a:extLst>
          </p:cNvPr>
          <p:cNvSpPr/>
          <p:nvPr/>
        </p:nvSpPr>
        <p:spPr>
          <a:xfrm>
            <a:off x="449249" y="4008501"/>
            <a:ext cx="8239125" cy="485775"/>
          </a:xfrm>
          <a:prstGeom prst="rect">
            <a:avLst/>
          </a:prstGeom>
          <a:solidFill>
            <a:schemeClr val="accent4">
              <a:lumMod val="20000"/>
              <a:lumOff val="8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SAS Viya</a:t>
            </a:r>
          </a:p>
        </p:txBody>
      </p:sp>
      <p:pic>
        <p:nvPicPr>
          <p:cNvPr id="21" name="Picture 20">
            <a:extLst>
              <a:ext uri="{FF2B5EF4-FFF2-40B4-BE49-F238E27FC236}">
                <a16:creationId xmlns:a16="http://schemas.microsoft.com/office/drawing/2014/main" id="{CC0823CA-B833-44A5-A7FF-53F09406B584}"/>
              </a:ext>
            </a:extLst>
          </p:cNvPr>
          <p:cNvPicPr>
            <a:picLocks noChangeAspect="1"/>
          </p:cNvPicPr>
          <p:nvPr/>
        </p:nvPicPr>
        <p:blipFill>
          <a:blip r:embed="rId4">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641699" y="2683518"/>
            <a:ext cx="1854225" cy="1155716"/>
          </a:xfrm>
          <a:prstGeom prst="rect">
            <a:avLst/>
          </a:prstGeom>
        </p:spPr>
      </p:pic>
      <p:sp>
        <p:nvSpPr>
          <p:cNvPr id="3" name="Title 2">
            <a:extLst>
              <a:ext uri="{FF2B5EF4-FFF2-40B4-BE49-F238E27FC236}">
                <a16:creationId xmlns:a16="http://schemas.microsoft.com/office/drawing/2014/main" id="{369BC6A4-ED09-4C94-1392-D78529291D6E}"/>
              </a:ext>
            </a:extLst>
          </p:cNvPr>
          <p:cNvSpPr>
            <a:spLocks noGrp="1"/>
          </p:cNvSpPr>
          <p:nvPr>
            <p:ph type="title"/>
          </p:nvPr>
        </p:nvSpPr>
        <p:spPr/>
        <p:txBody>
          <a:bodyPr/>
          <a:lstStyle/>
          <a:p>
            <a:pPr algn="l"/>
            <a:r>
              <a:rPr lang="en-US" sz="2000"/>
              <a:t>SAS Viya Tools for Machine Learning</a:t>
            </a:r>
          </a:p>
        </p:txBody>
      </p:sp>
      <p:sp>
        <p:nvSpPr>
          <p:cNvPr id="4" name="Rectangle 3">
            <a:extLst>
              <a:ext uri="{FF2B5EF4-FFF2-40B4-BE49-F238E27FC236}">
                <a16:creationId xmlns:a16="http://schemas.microsoft.com/office/drawing/2014/main" id="{818B5D94-005E-6D60-D553-9BF4FAB4CAF6}"/>
              </a:ext>
            </a:extLst>
          </p:cNvPr>
          <p:cNvSpPr/>
          <p:nvPr/>
        </p:nvSpPr>
        <p:spPr>
          <a:xfrm>
            <a:off x="4303730" y="1031304"/>
            <a:ext cx="521208"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solidFill>
                <a:schemeClr val="bg1"/>
              </a:solidFill>
            </a:endParaRPr>
          </a:p>
        </p:txBody>
      </p:sp>
      <p:sp>
        <p:nvSpPr>
          <p:cNvPr id="5" name="Rectangle 4">
            <a:extLst>
              <a:ext uri="{FF2B5EF4-FFF2-40B4-BE49-F238E27FC236}">
                <a16:creationId xmlns:a16="http://schemas.microsoft.com/office/drawing/2014/main" id="{2BA63DBA-5569-4A10-8028-B876C982E9AF}"/>
              </a:ext>
            </a:extLst>
          </p:cNvPr>
          <p:cNvSpPr/>
          <p:nvPr/>
        </p:nvSpPr>
        <p:spPr>
          <a:xfrm>
            <a:off x="5030770" y="1031304"/>
            <a:ext cx="521208"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7" name="Rectangle 6">
            <a:extLst>
              <a:ext uri="{FF2B5EF4-FFF2-40B4-BE49-F238E27FC236}">
                <a16:creationId xmlns:a16="http://schemas.microsoft.com/office/drawing/2014/main" id="{E435C83F-C0EF-A7F5-F8FF-907056775CAA}"/>
              </a:ext>
            </a:extLst>
          </p:cNvPr>
          <p:cNvSpPr/>
          <p:nvPr/>
        </p:nvSpPr>
        <p:spPr>
          <a:xfrm>
            <a:off x="3589353" y="1031304"/>
            <a:ext cx="521208"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8" name="TextBox 7">
            <a:extLst>
              <a:ext uri="{FF2B5EF4-FFF2-40B4-BE49-F238E27FC236}">
                <a16:creationId xmlns:a16="http://schemas.microsoft.com/office/drawing/2014/main" id="{6C083321-6DCE-8497-EBF9-CD8D33BCA0BE}"/>
              </a:ext>
            </a:extLst>
          </p:cNvPr>
          <p:cNvSpPr txBox="1"/>
          <p:nvPr/>
        </p:nvSpPr>
        <p:spPr>
          <a:xfrm>
            <a:off x="3610366" y="649224"/>
            <a:ext cx="1875934" cy="369332"/>
          </a:xfrm>
          <a:prstGeom prst="rect">
            <a:avLst/>
          </a:prstGeom>
          <a:noFill/>
        </p:spPr>
        <p:txBody>
          <a:bodyPr wrap="square" rtlCol="0">
            <a:spAutoFit/>
          </a:bodyPr>
          <a:lstStyle/>
          <a:p>
            <a:pPr algn="ctr"/>
            <a:r>
              <a:rPr lang="en-US"/>
              <a:t>Solutions</a:t>
            </a:r>
          </a:p>
        </p:txBody>
      </p:sp>
      <p:cxnSp>
        <p:nvCxnSpPr>
          <p:cNvPr id="9" name="Straight Connector 8">
            <a:extLst>
              <a:ext uri="{FF2B5EF4-FFF2-40B4-BE49-F238E27FC236}">
                <a16:creationId xmlns:a16="http://schemas.microsoft.com/office/drawing/2014/main" id="{FA8C40C1-B2B7-600D-76EA-8516524899B8}"/>
              </a:ext>
            </a:extLst>
          </p:cNvPr>
          <p:cNvCxnSpPr>
            <a:cxnSpLocks/>
          </p:cNvCxnSpPr>
          <p:nvPr/>
        </p:nvCxnSpPr>
        <p:spPr>
          <a:xfrm>
            <a:off x="4568812" y="1608634"/>
            <a:ext cx="0" cy="1074884"/>
          </a:xfrm>
          <a:prstGeom prst="line">
            <a:avLst/>
          </a:prstGeom>
          <a:ln w="69850" cap="rnd">
            <a:solidFill>
              <a:schemeClr val="accent6"/>
            </a:solidFill>
            <a:prstDash val="sysDot"/>
            <a:head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7FBD1AF-5FA2-17E1-48D0-2F7D5654720C}"/>
              </a:ext>
            </a:extLst>
          </p:cNvPr>
          <p:cNvSpPr txBox="1"/>
          <p:nvPr/>
        </p:nvSpPr>
        <p:spPr>
          <a:xfrm>
            <a:off x="4003011" y="2872284"/>
            <a:ext cx="1086340" cy="638176"/>
          </a:xfrm>
          <a:prstGeom prst="rect">
            <a:avLst/>
          </a:prstGeom>
          <a:solidFill>
            <a:srgbClr val="E0EBF0"/>
          </a:solidFill>
        </p:spPr>
        <p:txBody>
          <a:bodyPr wrap="square" rtlCol="0" anchor="ctr">
            <a:noAutofit/>
          </a:bodyPr>
          <a:lstStyle/>
          <a:p>
            <a:pPr algn="ctr"/>
            <a:r>
              <a:rPr lang="en-US"/>
              <a:t>Data Mining</a:t>
            </a:r>
          </a:p>
        </p:txBody>
      </p:sp>
      <p:sp>
        <p:nvSpPr>
          <p:cNvPr id="12" name="Rectangle 11">
            <a:extLst>
              <a:ext uri="{FF2B5EF4-FFF2-40B4-BE49-F238E27FC236}">
                <a16:creationId xmlns:a16="http://schemas.microsoft.com/office/drawing/2014/main" id="{23289258-E607-1CF7-AB56-8C8D4085781F}"/>
              </a:ext>
            </a:extLst>
          </p:cNvPr>
          <p:cNvSpPr/>
          <p:nvPr/>
        </p:nvSpPr>
        <p:spPr>
          <a:xfrm>
            <a:off x="2324101" y="1031304"/>
            <a:ext cx="4495798"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bg1"/>
                </a:solidFill>
              </a:rPr>
              <a:t>SAS Machine Learning</a:t>
            </a:r>
          </a:p>
        </p:txBody>
      </p:sp>
    </p:spTree>
    <p:extLst>
      <p:ext uri="{BB962C8B-B14F-4D97-AF65-F5344CB8AC3E}">
        <p14:creationId xmlns:p14="http://schemas.microsoft.com/office/powerpoint/2010/main" val="2877178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8"/>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4"/>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5"/>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5" grpId="0" animBg="1"/>
      <p:bldP spid="5" grpId="1" animBg="1"/>
      <p:bldP spid="7" grpId="0" animBg="1"/>
      <p:bldP spid="7" grpId="1" animBg="1"/>
      <p:bldP spid="8" grpId="0"/>
      <p:bldP spid="8" grpId="1"/>
      <p:bldP spid="11"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9E036B-A00E-4E5C-849C-5C3A64459898}"/>
              </a:ext>
            </a:extLst>
          </p:cNvPr>
          <p:cNvSpPr/>
          <p:nvPr/>
        </p:nvSpPr>
        <p:spPr>
          <a:xfrm>
            <a:off x="428624" y="3743325"/>
            <a:ext cx="8239125" cy="485775"/>
          </a:xfrm>
          <a:prstGeom prst="rect">
            <a:avLst/>
          </a:prstGeom>
          <a:solidFill>
            <a:schemeClr val="accent4">
              <a:lumMod val="20000"/>
              <a:lumOff val="8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SAS Viya</a:t>
            </a:r>
          </a:p>
        </p:txBody>
      </p:sp>
      <p:pic>
        <p:nvPicPr>
          <p:cNvPr id="6" name="Picture 5">
            <a:extLst>
              <a:ext uri="{FF2B5EF4-FFF2-40B4-BE49-F238E27FC236}">
                <a16:creationId xmlns:a16="http://schemas.microsoft.com/office/drawing/2014/main" id="{3A647A0D-E6A8-4A0A-B352-3E9E7A132872}"/>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3603599" y="2578085"/>
            <a:ext cx="1854225" cy="1155716"/>
          </a:xfrm>
          <a:prstGeom prst="rect">
            <a:avLst/>
          </a:prstGeom>
        </p:spPr>
      </p:pic>
      <p:cxnSp>
        <p:nvCxnSpPr>
          <p:cNvPr id="11" name="Straight Connector 10">
            <a:extLst>
              <a:ext uri="{FF2B5EF4-FFF2-40B4-BE49-F238E27FC236}">
                <a16:creationId xmlns:a16="http://schemas.microsoft.com/office/drawing/2014/main" id="{0A62889D-C639-4526-8824-D6A06742984F}"/>
              </a:ext>
            </a:extLst>
          </p:cNvPr>
          <p:cNvCxnSpPr>
            <a:cxnSpLocks/>
            <a:endCxn id="6" idx="0"/>
          </p:cNvCxnSpPr>
          <p:nvPr/>
        </p:nvCxnSpPr>
        <p:spPr>
          <a:xfrm>
            <a:off x="4530712" y="762000"/>
            <a:ext cx="0" cy="1816085"/>
          </a:xfrm>
          <a:prstGeom prst="line">
            <a:avLst/>
          </a:prstGeom>
          <a:ln w="69850" cap="rnd">
            <a:solidFill>
              <a:schemeClr val="accent6"/>
            </a:solidFill>
            <a:prstDash val="sysDot"/>
            <a:headEnd type="triangle"/>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FFB0709-0E7E-46C7-B954-01388288079E}"/>
              </a:ext>
            </a:extLst>
          </p:cNvPr>
          <p:cNvSpPr/>
          <p:nvPr/>
        </p:nvSpPr>
        <p:spPr>
          <a:xfrm>
            <a:off x="2286001" y="104775"/>
            <a:ext cx="4495798"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bg1"/>
                </a:solidFill>
              </a:rPr>
              <a:t>SAS Machine Learning</a:t>
            </a:r>
          </a:p>
        </p:txBody>
      </p:sp>
      <p:sp>
        <p:nvSpPr>
          <p:cNvPr id="8" name="Speech Bubble: Rectangle with Corners Rounded 7">
            <a:extLst>
              <a:ext uri="{FF2B5EF4-FFF2-40B4-BE49-F238E27FC236}">
                <a16:creationId xmlns:a16="http://schemas.microsoft.com/office/drawing/2014/main" id="{97051B88-9495-43FB-942F-345720B43FF9}"/>
              </a:ext>
            </a:extLst>
          </p:cNvPr>
          <p:cNvSpPr/>
          <p:nvPr/>
        </p:nvSpPr>
        <p:spPr>
          <a:xfrm>
            <a:off x="5562600" y="2657474"/>
            <a:ext cx="876300" cy="504825"/>
          </a:xfrm>
          <a:prstGeom prst="wedgeRoundRectCallout">
            <a:avLst>
              <a:gd name="adj1" fmla="val -82611"/>
              <a:gd name="adj2" fmla="val 34910"/>
              <a:gd name="adj3" fmla="val 16667"/>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hub</a:t>
            </a:r>
          </a:p>
        </p:txBody>
      </p:sp>
      <p:sp>
        <p:nvSpPr>
          <p:cNvPr id="9" name="TextBox 8">
            <a:extLst>
              <a:ext uri="{FF2B5EF4-FFF2-40B4-BE49-F238E27FC236}">
                <a16:creationId xmlns:a16="http://schemas.microsoft.com/office/drawing/2014/main" id="{8EF64842-41A5-4672-B79F-4324782E5A49}"/>
              </a:ext>
            </a:extLst>
          </p:cNvPr>
          <p:cNvSpPr txBox="1"/>
          <p:nvPr/>
        </p:nvSpPr>
        <p:spPr>
          <a:xfrm>
            <a:off x="3962400" y="2771774"/>
            <a:ext cx="1086340" cy="638176"/>
          </a:xfrm>
          <a:prstGeom prst="rect">
            <a:avLst/>
          </a:prstGeom>
          <a:solidFill>
            <a:srgbClr val="E0EBF0"/>
          </a:solidFill>
        </p:spPr>
        <p:txBody>
          <a:bodyPr wrap="square" rtlCol="0" anchor="ctr">
            <a:noAutofit/>
          </a:bodyPr>
          <a:lstStyle/>
          <a:p>
            <a:pPr algn="ctr"/>
            <a:r>
              <a:rPr lang="en-US"/>
              <a:t>SAS Drive</a:t>
            </a:r>
          </a:p>
        </p:txBody>
      </p:sp>
      <p:sp>
        <p:nvSpPr>
          <p:cNvPr id="10" name="Speech Bubble: Rectangle with Corners Rounded 9">
            <a:extLst>
              <a:ext uri="{FF2B5EF4-FFF2-40B4-BE49-F238E27FC236}">
                <a16:creationId xmlns:a16="http://schemas.microsoft.com/office/drawing/2014/main" id="{C1020C92-07C4-4FED-B231-5B0830F43C78}"/>
              </a:ext>
            </a:extLst>
          </p:cNvPr>
          <p:cNvSpPr/>
          <p:nvPr/>
        </p:nvSpPr>
        <p:spPr>
          <a:xfrm>
            <a:off x="5562599" y="1469691"/>
            <a:ext cx="1104899" cy="504825"/>
          </a:xfrm>
          <a:prstGeom prst="wedgeRoundRectCallout">
            <a:avLst>
              <a:gd name="adj1" fmla="val -82611"/>
              <a:gd name="adj2" fmla="val 34910"/>
              <a:gd name="adj3" fmla="val 16667"/>
            </a:avLst>
          </a:prstGeom>
          <a:solidFill>
            <a:srgbClr val="FFCC32"/>
          </a:solidFill>
          <a:ln w="12700" cap="flat" cmpd="sng" algn="ctr">
            <a:no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interface</a:t>
            </a:r>
          </a:p>
        </p:txBody>
      </p:sp>
      <p:sp>
        <p:nvSpPr>
          <p:cNvPr id="12" name="Rectangle: Rounded Corners 11">
            <a:extLst>
              <a:ext uri="{FF2B5EF4-FFF2-40B4-BE49-F238E27FC236}">
                <a16:creationId xmlns:a16="http://schemas.microsoft.com/office/drawing/2014/main" id="{4AF3C6BA-7CE2-4EE8-818A-077F208AF376}"/>
              </a:ext>
            </a:extLst>
          </p:cNvPr>
          <p:cNvSpPr/>
          <p:nvPr/>
        </p:nvSpPr>
        <p:spPr>
          <a:xfrm>
            <a:off x="3962399" y="1409701"/>
            <a:ext cx="1152525" cy="695324"/>
          </a:xfrm>
          <a:prstGeom prst="roundRect">
            <a:avLst>
              <a:gd name="adj" fmla="val 6990"/>
            </a:avLst>
          </a:prstGeom>
          <a:solidFill>
            <a:srgbClr val="E0EBF0"/>
          </a:solidFill>
          <a:ln w="381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Model Studio</a:t>
            </a:r>
          </a:p>
        </p:txBody>
      </p:sp>
      <p:cxnSp>
        <p:nvCxnSpPr>
          <p:cNvPr id="13" name="Straight Connector 12">
            <a:extLst>
              <a:ext uri="{FF2B5EF4-FFF2-40B4-BE49-F238E27FC236}">
                <a16:creationId xmlns:a16="http://schemas.microsoft.com/office/drawing/2014/main" id="{F8E34BAC-E34F-4334-845D-DA0D02B69AF4}"/>
              </a:ext>
            </a:extLst>
          </p:cNvPr>
          <p:cNvCxnSpPr>
            <a:cxnSpLocks/>
          </p:cNvCxnSpPr>
          <p:nvPr/>
        </p:nvCxnSpPr>
        <p:spPr>
          <a:xfrm>
            <a:off x="3419474" y="1200150"/>
            <a:ext cx="476250" cy="371475"/>
          </a:xfrm>
          <a:prstGeom prst="line">
            <a:avLst/>
          </a:prstGeom>
          <a:ln w="69850" cap="rnd">
            <a:solidFill>
              <a:schemeClr val="accent6"/>
            </a:solidFill>
            <a:prstDash val="sysDot"/>
            <a:head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A9CA3C90-57AF-40A4-BB5A-B7752DD60C88}"/>
              </a:ext>
            </a:extLst>
          </p:cNvPr>
          <p:cNvSpPr/>
          <p:nvPr/>
        </p:nvSpPr>
        <p:spPr>
          <a:xfrm>
            <a:off x="657224" y="657225"/>
            <a:ext cx="2724150"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bg1"/>
                </a:solidFill>
              </a:rPr>
              <a:t>SAS Visual Text Analytics</a:t>
            </a:r>
          </a:p>
        </p:txBody>
      </p:sp>
      <p:sp>
        <p:nvSpPr>
          <p:cNvPr id="15" name="Rectangle 14">
            <a:extLst>
              <a:ext uri="{FF2B5EF4-FFF2-40B4-BE49-F238E27FC236}">
                <a16:creationId xmlns:a16="http://schemas.microsoft.com/office/drawing/2014/main" id="{D03A1214-BA1B-4F8D-82B9-DD52E0B009C8}"/>
              </a:ext>
            </a:extLst>
          </p:cNvPr>
          <p:cNvSpPr/>
          <p:nvPr/>
        </p:nvSpPr>
        <p:spPr>
          <a:xfrm>
            <a:off x="5714999" y="657225"/>
            <a:ext cx="2724150"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bg1"/>
                </a:solidFill>
              </a:rPr>
              <a:t>SAS Visual Forecasting</a:t>
            </a:r>
          </a:p>
        </p:txBody>
      </p:sp>
      <p:cxnSp>
        <p:nvCxnSpPr>
          <p:cNvPr id="16" name="Straight Connector 15">
            <a:extLst>
              <a:ext uri="{FF2B5EF4-FFF2-40B4-BE49-F238E27FC236}">
                <a16:creationId xmlns:a16="http://schemas.microsoft.com/office/drawing/2014/main" id="{D0EA8E09-0C89-467C-88FC-E4F5DA48D323}"/>
              </a:ext>
            </a:extLst>
          </p:cNvPr>
          <p:cNvCxnSpPr>
            <a:cxnSpLocks/>
          </p:cNvCxnSpPr>
          <p:nvPr/>
        </p:nvCxnSpPr>
        <p:spPr>
          <a:xfrm flipH="1">
            <a:off x="5181599" y="1200150"/>
            <a:ext cx="476250" cy="371475"/>
          </a:xfrm>
          <a:prstGeom prst="line">
            <a:avLst/>
          </a:prstGeom>
          <a:ln w="69850" cap="rnd">
            <a:solidFill>
              <a:schemeClr val="accent6"/>
            </a:solidFill>
            <a:prstDash val="sysDot"/>
            <a:head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1066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par>
                                <p:cTn id="19" presetID="10"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fade">
                                      <p:cBhvr>
                                        <p:cTn id="21" dur="500"/>
                                        <p:tgtEl>
                                          <p:spTgt spid="16"/>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4" grpId="0" animBg="1"/>
      <p:bldP spid="15"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9E036B-A00E-4E5C-849C-5C3A64459898}"/>
              </a:ext>
            </a:extLst>
          </p:cNvPr>
          <p:cNvSpPr/>
          <p:nvPr/>
        </p:nvSpPr>
        <p:spPr>
          <a:xfrm>
            <a:off x="466724" y="3819525"/>
            <a:ext cx="8239125" cy="485775"/>
          </a:xfrm>
          <a:prstGeom prst="rect">
            <a:avLst/>
          </a:prstGeom>
          <a:solidFill>
            <a:schemeClr val="accent4">
              <a:lumMod val="20000"/>
              <a:lumOff val="8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SAS Viya</a:t>
            </a:r>
          </a:p>
        </p:txBody>
      </p:sp>
      <p:cxnSp>
        <p:nvCxnSpPr>
          <p:cNvPr id="11" name="!!Straight Connector 10">
            <a:extLst>
              <a:ext uri="{FF2B5EF4-FFF2-40B4-BE49-F238E27FC236}">
                <a16:creationId xmlns:a16="http://schemas.microsoft.com/office/drawing/2014/main" id="{61F1E351-B00B-45D0-B4AE-3A4CB4E15C22}"/>
              </a:ext>
            </a:extLst>
          </p:cNvPr>
          <p:cNvCxnSpPr>
            <a:cxnSpLocks/>
          </p:cNvCxnSpPr>
          <p:nvPr/>
        </p:nvCxnSpPr>
        <p:spPr>
          <a:xfrm>
            <a:off x="2997187" y="838200"/>
            <a:ext cx="0" cy="1816085"/>
          </a:xfrm>
          <a:prstGeom prst="line">
            <a:avLst/>
          </a:prstGeom>
          <a:ln w="69850" cap="rnd">
            <a:solidFill>
              <a:schemeClr val="accent6"/>
            </a:solidFill>
            <a:prstDash val="sysDot"/>
            <a:head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3C4FFFCE-E40F-4006-905F-138E49C34425}"/>
              </a:ext>
            </a:extLst>
          </p:cNvPr>
          <p:cNvSpPr/>
          <p:nvPr/>
        </p:nvSpPr>
        <p:spPr>
          <a:xfrm>
            <a:off x="2324101" y="180975"/>
            <a:ext cx="4495798"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bg1"/>
                </a:solidFill>
              </a:rPr>
              <a:t>SAS Machine Learning</a:t>
            </a:r>
          </a:p>
        </p:txBody>
      </p:sp>
      <p:pic>
        <p:nvPicPr>
          <p:cNvPr id="36" name="Picture 35">
            <a:extLst>
              <a:ext uri="{FF2B5EF4-FFF2-40B4-BE49-F238E27FC236}">
                <a16:creationId xmlns:a16="http://schemas.microsoft.com/office/drawing/2014/main" id="{968A9DA8-606B-4738-A503-E088AA249DFC}"/>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79599" y="2654285"/>
            <a:ext cx="1854225" cy="1155716"/>
          </a:xfrm>
          <a:prstGeom prst="rect">
            <a:avLst/>
          </a:prstGeom>
        </p:spPr>
      </p:pic>
      <p:sp>
        <p:nvSpPr>
          <p:cNvPr id="37" name="TextBox 36">
            <a:extLst>
              <a:ext uri="{FF2B5EF4-FFF2-40B4-BE49-F238E27FC236}">
                <a16:creationId xmlns:a16="http://schemas.microsoft.com/office/drawing/2014/main" id="{FBFA5148-32FC-4874-BC97-205DAC73A899}"/>
              </a:ext>
            </a:extLst>
          </p:cNvPr>
          <p:cNvSpPr txBox="1"/>
          <p:nvPr/>
        </p:nvSpPr>
        <p:spPr>
          <a:xfrm>
            <a:off x="2438400" y="2847974"/>
            <a:ext cx="1086340" cy="638176"/>
          </a:xfrm>
          <a:prstGeom prst="rect">
            <a:avLst/>
          </a:prstGeom>
          <a:solidFill>
            <a:srgbClr val="E0EBF0"/>
          </a:solidFill>
        </p:spPr>
        <p:txBody>
          <a:bodyPr wrap="square" rtlCol="0" anchor="ctr">
            <a:noAutofit/>
          </a:bodyPr>
          <a:lstStyle/>
          <a:p>
            <a:pPr algn="ctr"/>
            <a:r>
              <a:rPr lang="en-US"/>
              <a:t>SAS Drive</a:t>
            </a:r>
          </a:p>
        </p:txBody>
      </p:sp>
      <p:sp>
        <p:nvSpPr>
          <p:cNvPr id="38" name="Rectangle: Rounded Corners 37">
            <a:extLst>
              <a:ext uri="{FF2B5EF4-FFF2-40B4-BE49-F238E27FC236}">
                <a16:creationId xmlns:a16="http://schemas.microsoft.com/office/drawing/2014/main" id="{F1AC50C1-25D4-4801-889D-B39FADA73BA4}"/>
              </a:ext>
            </a:extLst>
          </p:cNvPr>
          <p:cNvSpPr/>
          <p:nvPr/>
        </p:nvSpPr>
        <p:spPr>
          <a:xfrm>
            <a:off x="2438399" y="1485901"/>
            <a:ext cx="1152525" cy="695324"/>
          </a:xfrm>
          <a:prstGeom prst="roundRect">
            <a:avLst>
              <a:gd name="adj" fmla="val 6990"/>
            </a:avLst>
          </a:prstGeom>
          <a:solidFill>
            <a:srgbClr val="E0EBF0"/>
          </a:solidFill>
          <a:ln w="381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Model Studio</a:t>
            </a:r>
          </a:p>
        </p:txBody>
      </p:sp>
      <p:grpSp>
        <p:nvGrpSpPr>
          <p:cNvPr id="2" name="Group 1">
            <a:extLst>
              <a:ext uri="{FF2B5EF4-FFF2-40B4-BE49-F238E27FC236}">
                <a16:creationId xmlns:a16="http://schemas.microsoft.com/office/drawing/2014/main" id="{8E8F1669-7796-4CCF-9C52-496F830A1C53}"/>
              </a:ext>
            </a:extLst>
          </p:cNvPr>
          <p:cNvGrpSpPr/>
          <p:nvPr/>
        </p:nvGrpSpPr>
        <p:grpSpPr>
          <a:xfrm>
            <a:off x="3594462" y="1351074"/>
            <a:ext cx="1351372" cy="508851"/>
            <a:chOff x="3603988" y="1684449"/>
            <a:chExt cx="1351372" cy="508851"/>
          </a:xfrm>
        </p:grpSpPr>
        <p:cxnSp>
          <p:nvCxnSpPr>
            <p:cNvPr id="39" name="Straight Connector 38">
              <a:extLst>
                <a:ext uri="{FF2B5EF4-FFF2-40B4-BE49-F238E27FC236}">
                  <a16:creationId xmlns:a16="http://schemas.microsoft.com/office/drawing/2014/main" id="{F6E6890B-9CC4-49A4-8646-CF723CFA3642}"/>
                </a:ext>
              </a:extLst>
            </p:cNvPr>
            <p:cNvCxnSpPr>
              <a:cxnSpLocks/>
            </p:cNvCxnSpPr>
            <p:nvPr/>
          </p:nvCxnSpPr>
          <p:spPr>
            <a:xfrm flipV="1">
              <a:off x="3603988" y="1938976"/>
              <a:ext cx="48410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30B9CC35-A3E8-47F3-8DDA-6F747188D24E}"/>
                </a:ext>
              </a:extLst>
            </p:cNvPr>
            <p:cNvSpPr/>
            <p:nvPr/>
          </p:nvSpPr>
          <p:spPr>
            <a:xfrm>
              <a:off x="4083871" y="1684449"/>
              <a:ext cx="871489" cy="508851"/>
            </a:xfrm>
            <a:prstGeom prst="roundRect">
              <a:avLst>
                <a:gd name="adj" fmla="val 6990"/>
              </a:avLst>
            </a:prstGeom>
            <a:solidFill>
              <a:schemeClr val="accent1">
                <a:lumMod val="20000"/>
                <a:lumOff val="80000"/>
              </a:schemeClr>
            </a:solidFill>
            <a:ln w="381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Project</a:t>
              </a:r>
            </a:p>
          </p:txBody>
        </p:sp>
      </p:grpSp>
      <p:grpSp>
        <p:nvGrpSpPr>
          <p:cNvPr id="12" name="Group 11">
            <a:extLst>
              <a:ext uri="{FF2B5EF4-FFF2-40B4-BE49-F238E27FC236}">
                <a16:creationId xmlns:a16="http://schemas.microsoft.com/office/drawing/2014/main" id="{7A47A542-8689-4E84-BBD0-CA4A8426C736}"/>
              </a:ext>
            </a:extLst>
          </p:cNvPr>
          <p:cNvGrpSpPr/>
          <p:nvPr/>
        </p:nvGrpSpPr>
        <p:grpSpPr>
          <a:xfrm>
            <a:off x="4881222" y="904875"/>
            <a:ext cx="1891052" cy="1343026"/>
            <a:chOff x="4890748" y="1238250"/>
            <a:chExt cx="1891052" cy="1343026"/>
          </a:xfrm>
        </p:grpSpPr>
        <p:sp>
          <p:nvSpPr>
            <p:cNvPr id="13" name="Rectangle: Rounded Corners 12">
              <a:extLst>
                <a:ext uri="{FF2B5EF4-FFF2-40B4-BE49-F238E27FC236}">
                  <a16:creationId xmlns:a16="http://schemas.microsoft.com/office/drawing/2014/main" id="{99B55332-A63F-45D1-9E4F-A5CE31019699}"/>
                </a:ext>
              </a:extLst>
            </p:cNvPr>
            <p:cNvSpPr/>
            <p:nvPr/>
          </p:nvSpPr>
          <p:spPr>
            <a:xfrm>
              <a:off x="5295900" y="1238250"/>
              <a:ext cx="1485900" cy="390526"/>
            </a:xfrm>
            <a:prstGeom prst="roundRect">
              <a:avLst/>
            </a:prstGeom>
            <a:solidFill>
              <a:srgbClr val="FFE48F"/>
            </a:solid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Data Source</a:t>
              </a:r>
            </a:p>
          </p:txBody>
        </p:sp>
        <p:cxnSp>
          <p:nvCxnSpPr>
            <p:cNvPr id="14" name="Straight Connector 13">
              <a:extLst>
                <a:ext uri="{FF2B5EF4-FFF2-40B4-BE49-F238E27FC236}">
                  <a16:creationId xmlns:a16="http://schemas.microsoft.com/office/drawing/2014/main" id="{20579AFF-A48F-4F4F-BEFA-889D77EE7A15}"/>
                </a:ext>
              </a:extLst>
            </p:cNvPr>
            <p:cNvCxnSpPr>
              <a:cxnSpLocks/>
            </p:cNvCxnSpPr>
            <p:nvPr/>
          </p:nvCxnSpPr>
          <p:spPr>
            <a:xfrm flipV="1">
              <a:off x="4944166" y="1931120"/>
              <a:ext cx="484106" cy="0"/>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D1F77E-B090-413B-9CB6-82673FC4B077}"/>
                </a:ext>
              </a:extLst>
            </p:cNvPr>
            <p:cNvCxnSpPr>
              <a:cxnSpLocks/>
            </p:cNvCxnSpPr>
            <p:nvPr/>
          </p:nvCxnSpPr>
          <p:spPr>
            <a:xfrm rot="2700000" flipV="1">
              <a:off x="4879749" y="2092947"/>
              <a:ext cx="484106" cy="0"/>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5F34AC73-B5A6-48E9-9A7B-51D822F4B93B}"/>
                </a:ext>
              </a:extLst>
            </p:cNvPr>
            <p:cNvCxnSpPr>
              <a:cxnSpLocks/>
            </p:cNvCxnSpPr>
            <p:nvPr/>
          </p:nvCxnSpPr>
          <p:spPr>
            <a:xfrm rot="18900000">
              <a:off x="4890748" y="1736303"/>
              <a:ext cx="484106" cy="0"/>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952C6282-5084-4C87-9035-DB34900AC286}"/>
                </a:ext>
              </a:extLst>
            </p:cNvPr>
            <p:cNvSpPr/>
            <p:nvPr/>
          </p:nvSpPr>
          <p:spPr>
            <a:xfrm>
              <a:off x="5438775" y="1714500"/>
              <a:ext cx="1343025" cy="390526"/>
            </a:xfrm>
            <a:prstGeom prst="roundRect">
              <a:avLst/>
            </a:prstGeom>
            <a:solidFill>
              <a:srgbClr val="FFE48F"/>
            </a:solid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Pipeline</a:t>
              </a:r>
            </a:p>
          </p:txBody>
        </p:sp>
        <p:sp>
          <p:nvSpPr>
            <p:cNvPr id="18" name="Rectangle: Rounded Corners 17">
              <a:extLst>
                <a:ext uri="{FF2B5EF4-FFF2-40B4-BE49-F238E27FC236}">
                  <a16:creationId xmlns:a16="http://schemas.microsoft.com/office/drawing/2014/main" id="{6440E3FA-D216-4E44-8858-01270F4E32C9}"/>
                </a:ext>
              </a:extLst>
            </p:cNvPr>
            <p:cNvSpPr/>
            <p:nvPr/>
          </p:nvSpPr>
          <p:spPr>
            <a:xfrm>
              <a:off x="5286375" y="2190750"/>
              <a:ext cx="1485900" cy="390526"/>
            </a:xfrm>
            <a:prstGeom prst="roundRect">
              <a:avLst/>
            </a:prstGeom>
            <a:solidFill>
              <a:srgbClr val="FFE48F"/>
            </a:solid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Metadata</a:t>
              </a:r>
            </a:p>
          </p:txBody>
        </p:sp>
      </p:grpSp>
      <p:grpSp>
        <p:nvGrpSpPr>
          <p:cNvPr id="4" name="Group 3">
            <a:extLst>
              <a:ext uri="{FF2B5EF4-FFF2-40B4-BE49-F238E27FC236}">
                <a16:creationId xmlns:a16="http://schemas.microsoft.com/office/drawing/2014/main" id="{5769C773-0535-4D0E-A31A-92271F678894}"/>
              </a:ext>
            </a:extLst>
          </p:cNvPr>
          <p:cNvGrpSpPr/>
          <p:nvPr/>
        </p:nvGrpSpPr>
        <p:grpSpPr>
          <a:xfrm>
            <a:off x="7115174" y="514350"/>
            <a:ext cx="1676400" cy="2676525"/>
            <a:chOff x="7124700" y="847725"/>
            <a:chExt cx="1676400" cy="2676525"/>
          </a:xfrm>
        </p:grpSpPr>
        <p:pic>
          <p:nvPicPr>
            <p:cNvPr id="19" name="Picture 18">
              <a:extLst>
                <a:ext uri="{FF2B5EF4-FFF2-40B4-BE49-F238E27FC236}">
                  <a16:creationId xmlns:a16="http://schemas.microsoft.com/office/drawing/2014/main" id="{DFF67CA6-883F-4B25-B481-B04207C77DC5}"/>
                </a:ext>
              </a:extLst>
            </p:cNvPr>
            <p:cNvPicPr>
              <a:picLocks noChangeAspect="1"/>
            </p:cNvPicPr>
            <p:nvPr/>
          </p:nvPicPr>
          <p:blipFill>
            <a:blip r:embed="rId4"/>
            <a:stretch>
              <a:fillRect/>
            </a:stretch>
          </p:blipFill>
          <p:spPr>
            <a:xfrm>
              <a:off x="7210601" y="1000410"/>
              <a:ext cx="1509378" cy="2447640"/>
            </a:xfrm>
            <a:prstGeom prst="rect">
              <a:avLst/>
            </a:prstGeom>
          </p:spPr>
        </p:pic>
        <p:sp>
          <p:nvSpPr>
            <p:cNvPr id="20" name="Speech Bubble: Rectangle with Corners Rounded 19">
              <a:extLst>
                <a:ext uri="{FF2B5EF4-FFF2-40B4-BE49-F238E27FC236}">
                  <a16:creationId xmlns:a16="http://schemas.microsoft.com/office/drawing/2014/main" id="{8F3BD88F-43B5-4157-8C0E-87A473DAFF1C}"/>
                </a:ext>
              </a:extLst>
            </p:cNvPr>
            <p:cNvSpPr/>
            <p:nvPr/>
          </p:nvSpPr>
          <p:spPr>
            <a:xfrm>
              <a:off x="7124700" y="847725"/>
              <a:ext cx="1676400" cy="2676525"/>
            </a:xfrm>
            <a:prstGeom prst="wedgeRoundRectCallout">
              <a:avLst>
                <a:gd name="adj1" fmla="val -65316"/>
                <a:gd name="adj2" fmla="val -10381"/>
                <a:gd name="adj3" fmla="val 16667"/>
              </a:avLst>
            </a:prstGeom>
            <a:noFill/>
            <a:ln w="38100" cap="flat" cmpd="sng" algn="ctr">
              <a:solidFill>
                <a:srgbClr val="FFCC32"/>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endParaRPr lang="en-US">
                <a:solidFill>
                  <a:srgbClr val="000000"/>
                </a:solidFill>
              </a:endParaRPr>
            </a:p>
          </p:txBody>
        </p:sp>
      </p:grpSp>
    </p:spTree>
    <p:extLst>
      <p:ext uri="{BB962C8B-B14F-4D97-AF65-F5344CB8AC3E}">
        <p14:creationId xmlns:p14="http://schemas.microsoft.com/office/powerpoint/2010/main" val="30828212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9E036B-A00E-4E5C-849C-5C3A64459898}"/>
              </a:ext>
            </a:extLst>
          </p:cNvPr>
          <p:cNvSpPr/>
          <p:nvPr/>
        </p:nvSpPr>
        <p:spPr>
          <a:xfrm>
            <a:off x="571500" y="3752850"/>
            <a:ext cx="8239125" cy="485775"/>
          </a:xfrm>
          <a:prstGeom prst="rect">
            <a:avLst/>
          </a:prstGeom>
          <a:solidFill>
            <a:schemeClr val="accent4">
              <a:lumMod val="20000"/>
              <a:lumOff val="8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SAS Viya</a:t>
            </a:r>
          </a:p>
        </p:txBody>
      </p:sp>
      <p:sp>
        <p:nvSpPr>
          <p:cNvPr id="21" name="Rectangle 20">
            <a:extLst>
              <a:ext uri="{FF2B5EF4-FFF2-40B4-BE49-F238E27FC236}">
                <a16:creationId xmlns:a16="http://schemas.microsoft.com/office/drawing/2014/main" id="{3C4FFFCE-E40F-4006-905F-138E49C34425}"/>
              </a:ext>
            </a:extLst>
          </p:cNvPr>
          <p:cNvSpPr/>
          <p:nvPr/>
        </p:nvSpPr>
        <p:spPr>
          <a:xfrm>
            <a:off x="2428877" y="114300"/>
            <a:ext cx="4495798"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bg1"/>
                </a:solidFill>
              </a:rPr>
              <a:t>SAS Machine Learning</a:t>
            </a:r>
          </a:p>
        </p:txBody>
      </p:sp>
      <p:cxnSp>
        <p:nvCxnSpPr>
          <p:cNvPr id="17" name="Straight Connector 16">
            <a:extLst>
              <a:ext uri="{FF2B5EF4-FFF2-40B4-BE49-F238E27FC236}">
                <a16:creationId xmlns:a16="http://schemas.microsoft.com/office/drawing/2014/main" id="{ECFD594F-F1F7-4E17-966C-FA64805ACCBA}"/>
              </a:ext>
            </a:extLst>
          </p:cNvPr>
          <p:cNvCxnSpPr>
            <a:cxnSpLocks/>
          </p:cNvCxnSpPr>
          <p:nvPr/>
        </p:nvCxnSpPr>
        <p:spPr>
          <a:xfrm>
            <a:off x="3105597" y="771525"/>
            <a:ext cx="0" cy="1816085"/>
          </a:xfrm>
          <a:prstGeom prst="line">
            <a:avLst/>
          </a:prstGeom>
          <a:ln w="69850" cap="rnd">
            <a:solidFill>
              <a:schemeClr val="accent6"/>
            </a:solidFill>
            <a:prstDash val="sysDot"/>
            <a:head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B60C76BA-187D-4CFB-AE75-1C313E794456}"/>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184375" y="2587610"/>
            <a:ext cx="1854225" cy="1155716"/>
          </a:xfrm>
          <a:prstGeom prst="rect">
            <a:avLst/>
          </a:prstGeom>
        </p:spPr>
      </p:pic>
      <p:sp>
        <p:nvSpPr>
          <p:cNvPr id="19" name="TextBox 18">
            <a:extLst>
              <a:ext uri="{FF2B5EF4-FFF2-40B4-BE49-F238E27FC236}">
                <a16:creationId xmlns:a16="http://schemas.microsoft.com/office/drawing/2014/main" id="{D3302C28-72C6-4325-A672-C1FC94F040DC}"/>
              </a:ext>
            </a:extLst>
          </p:cNvPr>
          <p:cNvSpPr txBox="1"/>
          <p:nvPr/>
        </p:nvSpPr>
        <p:spPr>
          <a:xfrm>
            <a:off x="2543176" y="2781299"/>
            <a:ext cx="1086340" cy="638176"/>
          </a:xfrm>
          <a:prstGeom prst="rect">
            <a:avLst/>
          </a:prstGeom>
          <a:solidFill>
            <a:srgbClr val="E0EBF0"/>
          </a:solidFill>
        </p:spPr>
        <p:txBody>
          <a:bodyPr wrap="square" rtlCol="0" anchor="ctr">
            <a:noAutofit/>
          </a:bodyPr>
          <a:lstStyle/>
          <a:p>
            <a:pPr algn="ctr"/>
            <a:r>
              <a:rPr lang="en-US"/>
              <a:t>SAS Drive</a:t>
            </a:r>
          </a:p>
        </p:txBody>
      </p:sp>
      <p:sp>
        <p:nvSpPr>
          <p:cNvPr id="23" name="Rectangle: Rounded Corners 22">
            <a:extLst>
              <a:ext uri="{FF2B5EF4-FFF2-40B4-BE49-F238E27FC236}">
                <a16:creationId xmlns:a16="http://schemas.microsoft.com/office/drawing/2014/main" id="{BD5EA1FD-26E6-44E7-A256-AAC2EB3D5C97}"/>
              </a:ext>
            </a:extLst>
          </p:cNvPr>
          <p:cNvSpPr/>
          <p:nvPr/>
        </p:nvSpPr>
        <p:spPr>
          <a:xfrm>
            <a:off x="2543175" y="1419226"/>
            <a:ext cx="1152525" cy="695324"/>
          </a:xfrm>
          <a:prstGeom prst="roundRect">
            <a:avLst>
              <a:gd name="adj" fmla="val 6990"/>
            </a:avLst>
          </a:prstGeom>
          <a:solidFill>
            <a:srgbClr val="E0EBF0"/>
          </a:solidFill>
          <a:ln w="381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Model Studio</a:t>
            </a:r>
          </a:p>
        </p:txBody>
      </p:sp>
      <p:cxnSp>
        <p:nvCxnSpPr>
          <p:cNvPr id="24" name="Straight Connector 23">
            <a:extLst>
              <a:ext uri="{FF2B5EF4-FFF2-40B4-BE49-F238E27FC236}">
                <a16:creationId xmlns:a16="http://schemas.microsoft.com/office/drawing/2014/main" id="{F09A142B-6269-4055-B409-BDDBA09DB3E4}"/>
              </a:ext>
            </a:extLst>
          </p:cNvPr>
          <p:cNvCxnSpPr>
            <a:cxnSpLocks/>
          </p:cNvCxnSpPr>
          <p:nvPr/>
        </p:nvCxnSpPr>
        <p:spPr>
          <a:xfrm flipV="1">
            <a:off x="3699238" y="1538926"/>
            <a:ext cx="48410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E76CC939-DBA2-4FF9-AA74-18D3ECF5F28A}"/>
              </a:ext>
            </a:extLst>
          </p:cNvPr>
          <p:cNvSpPr/>
          <p:nvPr/>
        </p:nvSpPr>
        <p:spPr>
          <a:xfrm>
            <a:off x="4179121" y="1284399"/>
            <a:ext cx="871489" cy="508851"/>
          </a:xfrm>
          <a:prstGeom prst="roundRect">
            <a:avLst>
              <a:gd name="adj" fmla="val 6990"/>
            </a:avLst>
          </a:prstGeom>
          <a:solidFill>
            <a:schemeClr val="accent1">
              <a:lumMod val="20000"/>
              <a:lumOff val="80000"/>
            </a:schemeClr>
          </a:solidFill>
          <a:ln w="381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Project</a:t>
            </a:r>
          </a:p>
        </p:txBody>
      </p:sp>
      <p:sp>
        <p:nvSpPr>
          <p:cNvPr id="27" name="Rectangle: Rounded Corners 26">
            <a:extLst>
              <a:ext uri="{FF2B5EF4-FFF2-40B4-BE49-F238E27FC236}">
                <a16:creationId xmlns:a16="http://schemas.microsoft.com/office/drawing/2014/main" id="{2E10EABB-3998-4F9D-A302-EE1B1711FBBD}"/>
              </a:ext>
            </a:extLst>
          </p:cNvPr>
          <p:cNvSpPr/>
          <p:nvPr/>
        </p:nvSpPr>
        <p:spPr>
          <a:xfrm>
            <a:off x="5391150" y="838200"/>
            <a:ext cx="1485900" cy="390526"/>
          </a:xfrm>
          <a:prstGeom prst="roundRect">
            <a:avLst/>
          </a:prstGeom>
          <a:no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Data Source</a:t>
            </a:r>
          </a:p>
        </p:txBody>
      </p:sp>
      <p:cxnSp>
        <p:nvCxnSpPr>
          <p:cNvPr id="37" name="Straight Connector 36">
            <a:extLst>
              <a:ext uri="{FF2B5EF4-FFF2-40B4-BE49-F238E27FC236}">
                <a16:creationId xmlns:a16="http://schemas.microsoft.com/office/drawing/2014/main" id="{CFA304CD-7AE5-4C38-BF9F-8C585159BEE2}"/>
              </a:ext>
            </a:extLst>
          </p:cNvPr>
          <p:cNvCxnSpPr>
            <a:cxnSpLocks/>
          </p:cNvCxnSpPr>
          <p:nvPr/>
        </p:nvCxnSpPr>
        <p:spPr>
          <a:xfrm flipV="1">
            <a:off x="5039416" y="1531070"/>
            <a:ext cx="484106" cy="0"/>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BD18B55-5ECB-490D-B584-9BC06DD32392}"/>
              </a:ext>
            </a:extLst>
          </p:cNvPr>
          <p:cNvCxnSpPr>
            <a:cxnSpLocks/>
          </p:cNvCxnSpPr>
          <p:nvPr/>
        </p:nvCxnSpPr>
        <p:spPr>
          <a:xfrm rot="2700000" flipV="1">
            <a:off x="4974999" y="1692897"/>
            <a:ext cx="484106" cy="0"/>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68C176C-DBEF-4CD3-B3FC-9D45B879EB96}"/>
              </a:ext>
            </a:extLst>
          </p:cNvPr>
          <p:cNvCxnSpPr>
            <a:cxnSpLocks/>
          </p:cNvCxnSpPr>
          <p:nvPr/>
        </p:nvCxnSpPr>
        <p:spPr>
          <a:xfrm rot="18900000">
            <a:off x="4985998" y="1336253"/>
            <a:ext cx="484106" cy="0"/>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5CA95822-966C-4008-819F-BF8CB8769EEC}"/>
              </a:ext>
            </a:extLst>
          </p:cNvPr>
          <p:cNvSpPr/>
          <p:nvPr/>
        </p:nvSpPr>
        <p:spPr>
          <a:xfrm>
            <a:off x="5534025" y="1314450"/>
            <a:ext cx="1343025" cy="390526"/>
          </a:xfrm>
          <a:prstGeom prst="roundRect">
            <a:avLst/>
          </a:prstGeom>
          <a:no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Pipeline</a:t>
            </a:r>
          </a:p>
        </p:txBody>
      </p:sp>
      <p:sp>
        <p:nvSpPr>
          <p:cNvPr id="41" name="Rectangle: Rounded Corners 40">
            <a:extLst>
              <a:ext uri="{FF2B5EF4-FFF2-40B4-BE49-F238E27FC236}">
                <a16:creationId xmlns:a16="http://schemas.microsoft.com/office/drawing/2014/main" id="{D6A8D5F9-BDFA-4136-A259-95B9B8B6E22B}"/>
              </a:ext>
            </a:extLst>
          </p:cNvPr>
          <p:cNvSpPr/>
          <p:nvPr/>
        </p:nvSpPr>
        <p:spPr>
          <a:xfrm>
            <a:off x="5381625" y="1790700"/>
            <a:ext cx="1485900" cy="390526"/>
          </a:xfrm>
          <a:prstGeom prst="roundRect">
            <a:avLst/>
          </a:prstGeom>
          <a:solidFill>
            <a:srgbClr val="FFE48F"/>
          </a:solid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Metadata</a:t>
            </a:r>
          </a:p>
        </p:txBody>
      </p:sp>
      <p:sp>
        <p:nvSpPr>
          <p:cNvPr id="42" name="Speech Bubble: Rectangle with Corners Rounded 41">
            <a:extLst>
              <a:ext uri="{FF2B5EF4-FFF2-40B4-BE49-F238E27FC236}">
                <a16:creationId xmlns:a16="http://schemas.microsoft.com/office/drawing/2014/main" id="{E2E8DE0B-140C-408E-BE54-F21198CCEDB6}"/>
              </a:ext>
            </a:extLst>
          </p:cNvPr>
          <p:cNvSpPr/>
          <p:nvPr/>
        </p:nvSpPr>
        <p:spPr>
          <a:xfrm>
            <a:off x="5810250" y="2438399"/>
            <a:ext cx="2019300" cy="1171576"/>
          </a:xfrm>
          <a:prstGeom prst="wedgeRoundRectCallout">
            <a:avLst>
              <a:gd name="adj1" fmla="val -29643"/>
              <a:gd name="adj2" fmla="val -66854"/>
              <a:gd name="adj3" fmla="val 16667"/>
            </a:avLst>
          </a:prstGeom>
          <a:noFill/>
          <a:ln w="38100" cap="flat" cmpd="sng" algn="ctr">
            <a:solidFill>
              <a:srgbClr val="FFCC32"/>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en-US">
                <a:solidFill>
                  <a:srgbClr val="000000"/>
                </a:solidFill>
              </a:rPr>
              <a:t>project type</a:t>
            </a:r>
          </a:p>
          <a:p>
            <a:pPr marL="285750" indent="-285750">
              <a:buFont typeface="Arial" panose="020B0604020202020204" pitchFamily="34" charset="0"/>
              <a:buChar char="•"/>
            </a:pPr>
            <a:r>
              <a:rPr lang="en-US">
                <a:solidFill>
                  <a:srgbClr val="000000"/>
                </a:solidFill>
              </a:rPr>
              <a:t>project creator</a:t>
            </a:r>
          </a:p>
          <a:p>
            <a:pPr marL="285750" indent="-285750">
              <a:buFont typeface="Arial" panose="020B0604020202020204" pitchFamily="34" charset="0"/>
              <a:buChar char="•"/>
            </a:pPr>
            <a:r>
              <a:rPr lang="en-US">
                <a:solidFill>
                  <a:srgbClr val="000000"/>
                </a:solidFill>
              </a:rPr>
              <a:t>creation date</a:t>
            </a:r>
          </a:p>
          <a:p>
            <a:pPr marL="285750" indent="-285750">
              <a:buFont typeface="Arial" panose="020B0604020202020204" pitchFamily="34" charset="0"/>
              <a:buChar char="•"/>
            </a:pPr>
            <a:r>
              <a:rPr lang="en-US">
                <a:solidFill>
                  <a:srgbClr val="000000"/>
                </a:solidFill>
              </a:rPr>
              <a:t>last update</a:t>
            </a:r>
          </a:p>
        </p:txBody>
      </p:sp>
      <p:sp>
        <p:nvSpPr>
          <p:cNvPr id="4" name="TextBox 3">
            <a:extLst>
              <a:ext uri="{FF2B5EF4-FFF2-40B4-BE49-F238E27FC236}">
                <a16:creationId xmlns:a16="http://schemas.microsoft.com/office/drawing/2014/main" id="{84F6D82D-3204-8C31-F062-419B0898EA24}"/>
              </a:ext>
            </a:extLst>
          </p:cNvPr>
          <p:cNvSpPr txBox="1"/>
          <p:nvPr/>
        </p:nvSpPr>
        <p:spPr>
          <a:xfrm>
            <a:off x="33340" y="4371975"/>
            <a:ext cx="8958260" cy="646331"/>
          </a:xfrm>
          <a:prstGeom prst="rect">
            <a:avLst/>
          </a:prstGeom>
          <a:noFill/>
        </p:spPr>
        <p:txBody>
          <a:bodyPr wrap="square">
            <a:spAutoFit/>
          </a:bodyPr>
          <a:lstStyle/>
          <a:p>
            <a:pPr defTabSz="914132">
              <a:defRPr/>
            </a:pPr>
            <a:r>
              <a:rPr lang="en-US" b="1" dirty="0"/>
              <a:t>Some examples of project metadata are the project type, project creator, creation date, and last update.</a:t>
            </a:r>
          </a:p>
        </p:txBody>
      </p:sp>
    </p:spTree>
    <p:extLst>
      <p:ext uri="{BB962C8B-B14F-4D97-AF65-F5344CB8AC3E}">
        <p14:creationId xmlns:p14="http://schemas.microsoft.com/office/powerpoint/2010/main" val="41848591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39E036B-A00E-4E5C-849C-5C3A64459898}"/>
              </a:ext>
            </a:extLst>
          </p:cNvPr>
          <p:cNvSpPr/>
          <p:nvPr/>
        </p:nvSpPr>
        <p:spPr>
          <a:xfrm>
            <a:off x="466724" y="3857625"/>
            <a:ext cx="8239125" cy="485775"/>
          </a:xfrm>
          <a:prstGeom prst="rect">
            <a:avLst/>
          </a:prstGeom>
          <a:solidFill>
            <a:schemeClr val="accent4">
              <a:lumMod val="20000"/>
              <a:lumOff val="80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SAS Viya</a:t>
            </a:r>
          </a:p>
        </p:txBody>
      </p:sp>
      <p:sp>
        <p:nvSpPr>
          <p:cNvPr id="21" name="Rectangle 20">
            <a:extLst>
              <a:ext uri="{FF2B5EF4-FFF2-40B4-BE49-F238E27FC236}">
                <a16:creationId xmlns:a16="http://schemas.microsoft.com/office/drawing/2014/main" id="{3C4FFFCE-E40F-4006-905F-138E49C34425}"/>
              </a:ext>
            </a:extLst>
          </p:cNvPr>
          <p:cNvSpPr/>
          <p:nvPr/>
        </p:nvSpPr>
        <p:spPr>
          <a:xfrm>
            <a:off x="2324101" y="219075"/>
            <a:ext cx="4495798" cy="485775"/>
          </a:xfrm>
          <a:prstGeom prst="rect">
            <a:avLst/>
          </a:prstGeom>
          <a:solidFill>
            <a:schemeClr val="accent1">
              <a:lumMod val="75000"/>
            </a:schemeClr>
          </a:solidFill>
          <a:ln w="38100" cap="flat"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bg1"/>
                </a:solidFill>
              </a:rPr>
              <a:t>SAS Machine Learning</a:t>
            </a:r>
          </a:p>
        </p:txBody>
      </p:sp>
      <p:cxnSp>
        <p:nvCxnSpPr>
          <p:cNvPr id="17" name="Straight Connector 16">
            <a:extLst>
              <a:ext uri="{FF2B5EF4-FFF2-40B4-BE49-F238E27FC236}">
                <a16:creationId xmlns:a16="http://schemas.microsoft.com/office/drawing/2014/main" id="{ECFD594F-F1F7-4E17-966C-FA64805ACCBA}"/>
              </a:ext>
            </a:extLst>
          </p:cNvPr>
          <p:cNvCxnSpPr>
            <a:cxnSpLocks/>
          </p:cNvCxnSpPr>
          <p:nvPr/>
        </p:nvCxnSpPr>
        <p:spPr>
          <a:xfrm>
            <a:off x="3000821" y="876300"/>
            <a:ext cx="0" cy="1816085"/>
          </a:xfrm>
          <a:prstGeom prst="line">
            <a:avLst/>
          </a:prstGeom>
          <a:ln w="69850" cap="rnd">
            <a:solidFill>
              <a:schemeClr val="accent6"/>
            </a:solidFill>
            <a:prstDash val="sysDot"/>
            <a:headEnd type="triangle"/>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B60C76BA-187D-4CFB-AE75-1C313E794456}"/>
              </a:ext>
            </a:extLst>
          </p:cNvPr>
          <p:cNvPicPr>
            <a:picLocks noChangeAspect="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2079599" y="2692385"/>
            <a:ext cx="1854225" cy="1155716"/>
          </a:xfrm>
          <a:prstGeom prst="rect">
            <a:avLst/>
          </a:prstGeom>
        </p:spPr>
      </p:pic>
      <p:sp>
        <p:nvSpPr>
          <p:cNvPr id="19" name="TextBox 18">
            <a:extLst>
              <a:ext uri="{FF2B5EF4-FFF2-40B4-BE49-F238E27FC236}">
                <a16:creationId xmlns:a16="http://schemas.microsoft.com/office/drawing/2014/main" id="{D3302C28-72C6-4325-A672-C1FC94F040DC}"/>
              </a:ext>
            </a:extLst>
          </p:cNvPr>
          <p:cNvSpPr txBox="1"/>
          <p:nvPr/>
        </p:nvSpPr>
        <p:spPr>
          <a:xfrm>
            <a:off x="2438400" y="2886074"/>
            <a:ext cx="1086340" cy="638176"/>
          </a:xfrm>
          <a:prstGeom prst="rect">
            <a:avLst/>
          </a:prstGeom>
          <a:solidFill>
            <a:srgbClr val="E0EBF0"/>
          </a:solidFill>
        </p:spPr>
        <p:txBody>
          <a:bodyPr wrap="square" rtlCol="0" anchor="ctr">
            <a:noAutofit/>
          </a:bodyPr>
          <a:lstStyle/>
          <a:p>
            <a:pPr algn="ctr"/>
            <a:r>
              <a:rPr lang="en-US"/>
              <a:t>SAS Drive</a:t>
            </a:r>
          </a:p>
        </p:txBody>
      </p:sp>
      <p:sp>
        <p:nvSpPr>
          <p:cNvPr id="23" name="Rectangle: Rounded Corners 22">
            <a:extLst>
              <a:ext uri="{FF2B5EF4-FFF2-40B4-BE49-F238E27FC236}">
                <a16:creationId xmlns:a16="http://schemas.microsoft.com/office/drawing/2014/main" id="{BD5EA1FD-26E6-44E7-A256-AAC2EB3D5C97}"/>
              </a:ext>
            </a:extLst>
          </p:cNvPr>
          <p:cNvSpPr/>
          <p:nvPr/>
        </p:nvSpPr>
        <p:spPr>
          <a:xfrm>
            <a:off x="2438399" y="1524001"/>
            <a:ext cx="1152525" cy="695324"/>
          </a:xfrm>
          <a:prstGeom prst="roundRect">
            <a:avLst>
              <a:gd name="adj" fmla="val 6990"/>
            </a:avLst>
          </a:prstGeom>
          <a:solidFill>
            <a:srgbClr val="E0EBF0"/>
          </a:solidFill>
          <a:ln w="381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Model Studio</a:t>
            </a:r>
          </a:p>
        </p:txBody>
      </p:sp>
      <p:cxnSp>
        <p:nvCxnSpPr>
          <p:cNvPr id="24" name="Straight Connector 23">
            <a:extLst>
              <a:ext uri="{FF2B5EF4-FFF2-40B4-BE49-F238E27FC236}">
                <a16:creationId xmlns:a16="http://schemas.microsoft.com/office/drawing/2014/main" id="{F09A142B-6269-4055-B409-BDDBA09DB3E4}"/>
              </a:ext>
            </a:extLst>
          </p:cNvPr>
          <p:cNvCxnSpPr>
            <a:cxnSpLocks/>
          </p:cNvCxnSpPr>
          <p:nvPr/>
        </p:nvCxnSpPr>
        <p:spPr>
          <a:xfrm flipV="1">
            <a:off x="3594462" y="1643701"/>
            <a:ext cx="484106"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E76CC939-DBA2-4FF9-AA74-18D3ECF5F28A}"/>
              </a:ext>
            </a:extLst>
          </p:cNvPr>
          <p:cNvSpPr/>
          <p:nvPr/>
        </p:nvSpPr>
        <p:spPr>
          <a:xfrm>
            <a:off x="4074345" y="1389174"/>
            <a:ext cx="871489" cy="508851"/>
          </a:xfrm>
          <a:prstGeom prst="roundRect">
            <a:avLst>
              <a:gd name="adj" fmla="val 6990"/>
            </a:avLst>
          </a:prstGeom>
          <a:solidFill>
            <a:schemeClr val="accent1">
              <a:lumMod val="20000"/>
              <a:lumOff val="80000"/>
            </a:schemeClr>
          </a:solidFill>
          <a:ln w="38100" cap="flat" cmpd="sng" algn="ctr">
            <a:solidFill>
              <a:schemeClr val="accent1"/>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chemeClr val="tx1"/>
                </a:solidFill>
              </a:rPr>
              <a:t>Project</a:t>
            </a:r>
          </a:p>
        </p:txBody>
      </p:sp>
      <p:sp>
        <p:nvSpPr>
          <p:cNvPr id="27" name="Rectangle: Rounded Corners 26">
            <a:extLst>
              <a:ext uri="{FF2B5EF4-FFF2-40B4-BE49-F238E27FC236}">
                <a16:creationId xmlns:a16="http://schemas.microsoft.com/office/drawing/2014/main" id="{2E10EABB-3998-4F9D-A302-EE1B1711FBBD}"/>
              </a:ext>
            </a:extLst>
          </p:cNvPr>
          <p:cNvSpPr/>
          <p:nvPr/>
        </p:nvSpPr>
        <p:spPr>
          <a:xfrm>
            <a:off x="5286374" y="857250"/>
            <a:ext cx="1485900" cy="390526"/>
          </a:xfrm>
          <a:prstGeom prst="roundRect">
            <a:avLst/>
          </a:prstGeom>
          <a:no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Data Source</a:t>
            </a:r>
          </a:p>
        </p:txBody>
      </p:sp>
      <p:cxnSp>
        <p:nvCxnSpPr>
          <p:cNvPr id="37" name="Straight Connector 36">
            <a:extLst>
              <a:ext uri="{FF2B5EF4-FFF2-40B4-BE49-F238E27FC236}">
                <a16:creationId xmlns:a16="http://schemas.microsoft.com/office/drawing/2014/main" id="{CFA304CD-7AE5-4C38-BF9F-8C585159BEE2}"/>
              </a:ext>
            </a:extLst>
          </p:cNvPr>
          <p:cNvCxnSpPr>
            <a:cxnSpLocks/>
            <a:stCxn id="25" idx="3"/>
            <a:endCxn id="40" idx="1"/>
          </p:cNvCxnSpPr>
          <p:nvPr/>
        </p:nvCxnSpPr>
        <p:spPr>
          <a:xfrm flipV="1">
            <a:off x="4945834" y="1528763"/>
            <a:ext cx="483415" cy="114837"/>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9BD18B55-5ECB-490D-B584-9BC06DD32392}"/>
              </a:ext>
            </a:extLst>
          </p:cNvPr>
          <p:cNvCxnSpPr>
            <a:cxnSpLocks/>
            <a:stCxn id="25" idx="3"/>
            <a:endCxn id="20" idx="1"/>
          </p:cNvCxnSpPr>
          <p:nvPr/>
        </p:nvCxnSpPr>
        <p:spPr>
          <a:xfrm>
            <a:off x="4945834" y="1643600"/>
            <a:ext cx="473890" cy="361413"/>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68C176C-DBEF-4CD3-B3FC-9D45B879EB96}"/>
              </a:ext>
            </a:extLst>
          </p:cNvPr>
          <p:cNvCxnSpPr>
            <a:cxnSpLocks/>
            <a:stCxn id="25" idx="3"/>
            <a:endCxn id="27" idx="1"/>
          </p:cNvCxnSpPr>
          <p:nvPr/>
        </p:nvCxnSpPr>
        <p:spPr>
          <a:xfrm flipV="1">
            <a:off x="4945834" y="1052513"/>
            <a:ext cx="340540" cy="591087"/>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sp>
        <p:nvSpPr>
          <p:cNvPr id="40" name="Rectangle: Rounded Corners 39">
            <a:extLst>
              <a:ext uri="{FF2B5EF4-FFF2-40B4-BE49-F238E27FC236}">
                <a16:creationId xmlns:a16="http://schemas.microsoft.com/office/drawing/2014/main" id="{5CA95822-966C-4008-819F-BF8CB8769EEC}"/>
              </a:ext>
            </a:extLst>
          </p:cNvPr>
          <p:cNvSpPr/>
          <p:nvPr/>
        </p:nvSpPr>
        <p:spPr>
          <a:xfrm>
            <a:off x="5429249" y="1333500"/>
            <a:ext cx="1343025" cy="390526"/>
          </a:xfrm>
          <a:prstGeom prst="roundRect">
            <a:avLst/>
          </a:prstGeom>
          <a:solidFill>
            <a:srgbClr val="FFE48F"/>
          </a:solid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Pipeline</a:t>
            </a:r>
          </a:p>
        </p:txBody>
      </p:sp>
      <p:sp>
        <p:nvSpPr>
          <p:cNvPr id="41" name="Rectangle: Rounded Corners 40">
            <a:extLst>
              <a:ext uri="{FF2B5EF4-FFF2-40B4-BE49-F238E27FC236}">
                <a16:creationId xmlns:a16="http://schemas.microsoft.com/office/drawing/2014/main" id="{D6A8D5F9-BDFA-4136-A259-95B9B8B6E22B}"/>
              </a:ext>
            </a:extLst>
          </p:cNvPr>
          <p:cNvSpPr/>
          <p:nvPr/>
        </p:nvSpPr>
        <p:spPr>
          <a:xfrm>
            <a:off x="5305424" y="3238500"/>
            <a:ext cx="1485900" cy="390526"/>
          </a:xfrm>
          <a:prstGeom prst="roundRect">
            <a:avLst/>
          </a:prstGeom>
          <a:no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Metadata</a:t>
            </a:r>
          </a:p>
        </p:txBody>
      </p:sp>
      <p:sp>
        <p:nvSpPr>
          <p:cNvPr id="20" name="Rectangle: Rounded Corners 19">
            <a:extLst>
              <a:ext uri="{FF2B5EF4-FFF2-40B4-BE49-F238E27FC236}">
                <a16:creationId xmlns:a16="http://schemas.microsoft.com/office/drawing/2014/main" id="{07D2B014-1067-4A56-B19A-81EB69F1D1FB}"/>
              </a:ext>
            </a:extLst>
          </p:cNvPr>
          <p:cNvSpPr/>
          <p:nvPr/>
        </p:nvSpPr>
        <p:spPr>
          <a:xfrm>
            <a:off x="5419724" y="1809750"/>
            <a:ext cx="1343025" cy="390526"/>
          </a:xfrm>
          <a:prstGeom prst="roundRect">
            <a:avLst/>
          </a:prstGeom>
          <a:solidFill>
            <a:srgbClr val="FFE48F"/>
          </a:solid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Pipeline</a:t>
            </a:r>
          </a:p>
        </p:txBody>
      </p:sp>
      <p:sp>
        <p:nvSpPr>
          <p:cNvPr id="22" name="Rectangle: Rounded Corners 21">
            <a:extLst>
              <a:ext uri="{FF2B5EF4-FFF2-40B4-BE49-F238E27FC236}">
                <a16:creationId xmlns:a16="http://schemas.microsoft.com/office/drawing/2014/main" id="{8FCDEE31-C433-4B85-A8AF-DED4EC8C3D3F}"/>
              </a:ext>
            </a:extLst>
          </p:cNvPr>
          <p:cNvSpPr/>
          <p:nvPr/>
        </p:nvSpPr>
        <p:spPr>
          <a:xfrm>
            <a:off x="5429249" y="2286000"/>
            <a:ext cx="1343025" cy="390526"/>
          </a:xfrm>
          <a:prstGeom prst="roundRect">
            <a:avLst/>
          </a:prstGeom>
          <a:solidFill>
            <a:srgbClr val="FFE48F"/>
          </a:solid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Pipeline</a:t>
            </a:r>
          </a:p>
        </p:txBody>
      </p:sp>
      <p:cxnSp>
        <p:nvCxnSpPr>
          <p:cNvPr id="26" name="Straight Connector 25">
            <a:extLst>
              <a:ext uri="{FF2B5EF4-FFF2-40B4-BE49-F238E27FC236}">
                <a16:creationId xmlns:a16="http://schemas.microsoft.com/office/drawing/2014/main" id="{0AB71A48-3FF9-45BD-BC06-3B6BAA9077C0}"/>
              </a:ext>
            </a:extLst>
          </p:cNvPr>
          <p:cNvCxnSpPr>
            <a:cxnSpLocks/>
            <a:stCxn id="25" idx="3"/>
            <a:endCxn id="22" idx="1"/>
          </p:cNvCxnSpPr>
          <p:nvPr/>
        </p:nvCxnSpPr>
        <p:spPr>
          <a:xfrm>
            <a:off x="4945834" y="1643600"/>
            <a:ext cx="483415" cy="837663"/>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C0C1C89D-3B5A-4790-AE97-80F38FBC99DC}"/>
              </a:ext>
            </a:extLst>
          </p:cNvPr>
          <p:cNvSpPr/>
          <p:nvPr/>
        </p:nvSpPr>
        <p:spPr>
          <a:xfrm>
            <a:off x="5429248" y="2762250"/>
            <a:ext cx="2162175" cy="390526"/>
          </a:xfrm>
          <a:prstGeom prst="roundRect">
            <a:avLst/>
          </a:prstGeom>
          <a:solidFill>
            <a:srgbClr val="FFE48F"/>
          </a:solidFill>
          <a:ln w="38100" cap="flat" cmpd="sng" algn="ctr">
            <a:solidFill>
              <a:schemeClr val="accent1"/>
            </a:solidFill>
            <a:prstDash val="solid"/>
            <a:round/>
            <a:headEnd type="none" w="med" len="lg"/>
            <a:tailEnd type="triangle" w="med" len="lg"/>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r>
              <a:rPr lang="en-US">
                <a:solidFill>
                  <a:srgbClr val="000000"/>
                </a:solidFill>
              </a:rPr>
              <a:t>Pipeline Comparison</a:t>
            </a:r>
          </a:p>
        </p:txBody>
      </p:sp>
      <p:cxnSp>
        <p:nvCxnSpPr>
          <p:cNvPr id="29" name="Straight Connector 28">
            <a:extLst>
              <a:ext uri="{FF2B5EF4-FFF2-40B4-BE49-F238E27FC236}">
                <a16:creationId xmlns:a16="http://schemas.microsoft.com/office/drawing/2014/main" id="{86976772-A873-4DE3-9571-8F7C89FE0891}"/>
              </a:ext>
            </a:extLst>
          </p:cNvPr>
          <p:cNvCxnSpPr>
            <a:cxnSpLocks/>
            <a:stCxn id="25" idx="3"/>
            <a:endCxn id="28" idx="1"/>
          </p:cNvCxnSpPr>
          <p:nvPr/>
        </p:nvCxnSpPr>
        <p:spPr>
          <a:xfrm>
            <a:off x="4945834" y="1643600"/>
            <a:ext cx="483414" cy="1313913"/>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2B98A3DA-8A27-496C-92ED-2211AF097C50}"/>
              </a:ext>
            </a:extLst>
          </p:cNvPr>
          <p:cNvCxnSpPr>
            <a:cxnSpLocks/>
            <a:stCxn id="25" idx="3"/>
            <a:endCxn id="41" idx="1"/>
          </p:cNvCxnSpPr>
          <p:nvPr/>
        </p:nvCxnSpPr>
        <p:spPr>
          <a:xfrm>
            <a:off x="4945834" y="1643600"/>
            <a:ext cx="359590" cy="1790163"/>
          </a:xfrm>
          <a:prstGeom prst="line">
            <a:avLst/>
          </a:prstGeom>
          <a:ln w="38100">
            <a:tailEnd type="none"/>
          </a:ln>
        </p:spPr>
        <p:style>
          <a:lnRef idx="1">
            <a:schemeClr val="accent1"/>
          </a:lnRef>
          <a:fillRef idx="0">
            <a:schemeClr val="accent1"/>
          </a:fillRef>
          <a:effectRef idx="0">
            <a:schemeClr val="accent1"/>
          </a:effectRef>
          <a:fontRef idx="minor">
            <a:schemeClr val="tx1"/>
          </a:fontRef>
        </p:style>
      </p:cxnSp>
      <p:sp>
        <p:nvSpPr>
          <p:cNvPr id="2" name="Right Brace 1">
            <a:extLst>
              <a:ext uri="{FF2B5EF4-FFF2-40B4-BE49-F238E27FC236}">
                <a16:creationId xmlns:a16="http://schemas.microsoft.com/office/drawing/2014/main" id="{5BD5FF9E-9305-B808-D56D-2AC7BF17B149}"/>
              </a:ext>
            </a:extLst>
          </p:cNvPr>
          <p:cNvSpPr/>
          <p:nvPr/>
        </p:nvSpPr>
        <p:spPr>
          <a:xfrm>
            <a:off x="6804557" y="1326243"/>
            <a:ext cx="321490" cy="1358885"/>
          </a:xfrm>
          <a:prstGeom prst="rightBrace">
            <a:avLst/>
          </a:prstGeom>
          <a:ln w="12700">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 name="TextBox 3">
            <a:extLst>
              <a:ext uri="{FF2B5EF4-FFF2-40B4-BE49-F238E27FC236}">
                <a16:creationId xmlns:a16="http://schemas.microsoft.com/office/drawing/2014/main" id="{F1C72DE4-6E45-9B62-72AD-5911CEDA7DB3}"/>
              </a:ext>
            </a:extLst>
          </p:cNvPr>
          <p:cNvSpPr txBox="1"/>
          <p:nvPr/>
        </p:nvSpPr>
        <p:spPr>
          <a:xfrm>
            <a:off x="7063253" y="1681851"/>
            <a:ext cx="1315848" cy="646331"/>
          </a:xfrm>
          <a:prstGeom prst="rect">
            <a:avLst/>
          </a:prstGeom>
          <a:noFill/>
        </p:spPr>
        <p:txBody>
          <a:bodyPr wrap="square" rtlCol="0">
            <a:spAutoFit/>
          </a:bodyPr>
          <a:lstStyle/>
          <a:p>
            <a:r>
              <a:rPr lang="en-US" i="1"/>
              <a:t>multiple pipelines</a:t>
            </a:r>
            <a:endParaRPr lang="en-IN" i="1"/>
          </a:p>
        </p:txBody>
      </p:sp>
      <p:sp>
        <p:nvSpPr>
          <p:cNvPr id="6" name="TextBox 5">
            <a:extLst>
              <a:ext uri="{FF2B5EF4-FFF2-40B4-BE49-F238E27FC236}">
                <a16:creationId xmlns:a16="http://schemas.microsoft.com/office/drawing/2014/main" id="{46910149-5B1F-4FDB-E574-48A25E506CD4}"/>
              </a:ext>
            </a:extLst>
          </p:cNvPr>
          <p:cNvSpPr txBox="1"/>
          <p:nvPr/>
        </p:nvSpPr>
        <p:spPr>
          <a:xfrm>
            <a:off x="152399" y="4433248"/>
            <a:ext cx="8448676" cy="369332"/>
          </a:xfrm>
          <a:prstGeom prst="rect">
            <a:avLst/>
          </a:prstGeom>
          <a:noFill/>
        </p:spPr>
        <p:txBody>
          <a:bodyPr wrap="square">
            <a:spAutoFit/>
          </a:bodyPr>
          <a:lstStyle/>
          <a:p>
            <a:pPr defTabSz="914132">
              <a:defRPr/>
            </a:pPr>
            <a:r>
              <a:rPr lang="en-US" b="1" dirty="0"/>
              <a:t>A project can also have multiple pipelines and pipeline comparison results. </a:t>
            </a:r>
          </a:p>
        </p:txBody>
      </p:sp>
    </p:spTree>
    <p:extLst>
      <p:ext uri="{BB962C8B-B14F-4D97-AF65-F5344CB8AC3E}">
        <p14:creationId xmlns:p14="http://schemas.microsoft.com/office/powerpoint/2010/main" val="21681622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A53F2E1-23E8-134A-D894-B907BF28CA17}"/>
              </a:ext>
            </a:extLst>
          </p:cNvPr>
          <p:cNvSpPr>
            <a:spLocks noGrp="1"/>
          </p:cNvSpPr>
          <p:nvPr>
            <p:ph type="title"/>
          </p:nvPr>
        </p:nvSpPr>
        <p:spPr>
          <a:xfrm>
            <a:off x="0" y="1863686"/>
            <a:ext cx="9144000" cy="738664"/>
          </a:xfrm>
        </p:spPr>
        <p:txBody>
          <a:bodyPr/>
          <a:lstStyle/>
          <a:p>
            <a:r>
              <a:rPr lang="en-US" dirty="0"/>
              <a:t>HTML Placeholder</a:t>
            </a:r>
          </a:p>
        </p:txBody>
      </p:sp>
      <p:sp>
        <p:nvSpPr>
          <p:cNvPr id="2" name="Text Placeholder 4">
            <a:extLst>
              <a:ext uri="{FF2B5EF4-FFF2-40B4-BE49-F238E27FC236}">
                <a16:creationId xmlns:a16="http://schemas.microsoft.com/office/drawing/2014/main" id="{5C2FC714-E031-7FF7-9B60-A866E5E2F8B1}"/>
              </a:ext>
            </a:extLst>
          </p:cNvPr>
          <p:cNvSpPr txBox="1">
            <a:spLocks/>
          </p:cNvSpPr>
          <p:nvPr/>
        </p:nvSpPr>
        <p:spPr>
          <a:xfrm>
            <a:off x="626216" y="2671377"/>
            <a:ext cx="7730975" cy="461665"/>
          </a:xfrm>
          <a:prstGeom prst="rect">
            <a:avLst/>
          </a:prstGeom>
        </p:spPr>
        <p:txBody>
          <a:bodyPr/>
          <a:lstStyle>
            <a:lvl1pPr marL="0" indent="0" algn="l" defTabSz="685800" rtl="0" eaLnBrk="1" latinLnBrk="0" hangingPunct="1">
              <a:lnSpc>
                <a:spcPct val="100000"/>
              </a:lnSpc>
              <a:spcBef>
                <a:spcPts val="600"/>
              </a:spcBef>
              <a:spcAft>
                <a:spcPts val="300"/>
              </a:spcAft>
              <a:buClr>
                <a:schemeClr val="accent5"/>
              </a:buClr>
              <a:buFont typeface="Anova Light" panose="020B0403020203020204" pitchFamily="34" charset="0"/>
              <a:buNone/>
              <a:defRPr sz="1800" b="0" i="0" kern="1200">
                <a:solidFill>
                  <a:schemeClr val="tx1"/>
                </a:solidFill>
                <a:latin typeface="+mn-lt"/>
                <a:ea typeface="+mn-ea"/>
                <a:cs typeface="+mn-cs"/>
              </a:defRPr>
            </a:lvl1pPr>
            <a:lvl2pPr marL="365760" indent="-182880" algn="l" defTabSz="685800" rtl="0" eaLnBrk="1" latinLnBrk="0" hangingPunct="1">
              <a:lnSpc>
                <a:spcPct val="100000"/>
              </a:lnSpc>
              <a:spcBef>
                <a:spcPts val="600"/>
              </a:spcBef>
              <a:spcAft>
                <a:spcPts val="300"/>
              </a:spcAft>
              <a:buClr>
                <a:schemeClr val="accent5"/>
              </a:buClr>
              <a:buFont typeface="Anova Light" panose="020B0403020203020204" pitchFamily="34" charset="0"/>
              <a:buChar char="•"/>
              <a:defRPr sz="1600" b="0" i="0" kern="1200">
                <a:solidFill>
                  <a:schemeClr val="tx1"/>
                </a:solidFill>
                <a:latin typeface="+mn-lt"/>
                <a:ea typeface="+mn-ea"/>
                <a:cs typeface="+mn-cs"/>
              </a:defRPr>
            </a:lvl2pPr>
            <a:lvl3pPr marL="548640" indent="-182880" algn="l" defTabSz="685800" rtl="0" eaLnBrk="1" latinLnBrk="0" hangingPunct="1">
              <a:lnSpc>
                <a:spcPct val="100000"/>
              </a:lnSpc>
              <a:spcBef>
                <a:spcPts val="600"/>
              </a:spcBef>
              <a:spcAft>
                <a:spcPts val="300"/>
              </a:spcAft>
              <a:buClr>
                <a:schemeClr val="accent5"/>
              </a:buClr>
              <a:buFont typeface="Anova Light" panose="020B0604020202020204" charset="0"/>
              <a:buChar char="–"/>
              <a:defRPr sz="1600" b="0" i="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4pPr>
            <a:lvl5pPr marL="1543050" indent="-171450" algn="l" defTabSz="685800" rtl="0" eaLnBrk="1" latinLnBrk="0" hangingPunct="1">
              <a:lnSpc>
                <a:spcPct val="90000"/>
              </a:lnSpc>
              <a:spcBef>
                <a:spcPts val="375"/>
              </a:spcBef>
              <a:buFont typeface="Anova Light" panose="020B0403020203020204" pitchFamily="34" charset="0"/>
              <a:buChar char="•"/>
              <a:defRPr sz="1350" kern="1200">
                <a:solidFill>
                  <a:schemeClr val="bg2"/>
                </a:solidFill>
                <a:latin typeface="+mj-lt"/>
                <a:ea typeface="+mn-ea"/>
                <a:cs typeface="+mn-cs"/>
              </a:defRPr>
            </a:lvl5pPr>
            <a:lvl6pPr marL="18859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nova Light" panose="020B0403020203020204" pitchFamily="34" charset="0"/>
              <a:buChar char="•"/>
              <a:defRPr sz="135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600"/>
              </a:spcBef>
              <a:spcAft>
                <a:spcPts val="300"/>
              </a:spcAft>
              <a:buClr>
                <a:srgbClr val="7E889A"/>
              </a:buClr>
              <a:buSzTx/>
              <a:buFont typeface="Anova Light" panose="020B0403020203020204" pitchFamily="34" charset="0"/>
              <a:buNone/>
              <a:tabLst/>
              <a:defRPr/>
            </a:pPr>
            <a:r>
              <a:rPr lang="en-US" sz="1800" dirty="0"/>
              <a:t>SAS Drive and the Application Bar</a:t>
            </a:r>
            <a:endParaRPr kumimoji="0" lang="en-US" sz="1800" b="0" i="0" u="none" strike="noStrike" kern="1200" cap="none" spc="0" normalizeH="0" baseline="0" noProof="0" dirty="0">
              <a:ln>
                <a:noFill/>
              </a:ln>
              <a:solidFill>
                <a:srgbClr val="000000"/>
              </a:solidFill>
              <a:effectLst/>
              <a:uLnTx/>
              <a:uFillTx/>
              <a:latin typeface="Anova Light"/>
              <a:ea typeface="+mn-ea"/>
              <a:cs typeface="+mn-cs"/>
            </a:endParaRPr>
          </a:p>
        </p:txBody>
      </p:sp>
    </p:spTree>
    <p:extLst>
      <p:ext uri="{BB962C8B-B14F-4D97-AF65-F5344CB8AC3E}">
        <p14:creationId xmlns:p14="http://schemas.microsoft.com/office/powerpoint/2010/main" val="4291998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F0273C3-FC0E-49B4-5963-EE3EE312BCE9}"/>
              </a:ext>
            </a:extLst>
          </p:cNvPr>
          <p:cNvSpPr>
            <a:spLocks noGrp="1"/>
          </p:cNvSpPr>
          <p:nvPr>
            <p:ph type="title"/>
          </p:nvPr>
        </p:nvSpPr>
        <p:spPr>
          <a:xfrm>
            <a:off x="626216" y="1432799"/>
            <a:ext cx="7730975" cy="1169551"/>
          </a:xfrm>
        </p:spPr>
        <p:txBody>
          <a:bodyPr/>
          <a:lstStyle/>
          <a:p>
            <a:r>
              <a:rPr lang="en-US"/>
              <a:t>Demo: Creating a Project and Loading Data</a:t>
            </a:r>
          </a:p>
        </p:txBody>
      </p:sp>
      <p:sp>
        <p:nvSpPr>
          <p:cNvPr id="5" name="Text Placeholder 4">
            <a:extLst>
              <a:ext uri="{FF2B5EF4-FFF2-40B4-BE49-F238E27FC236}">
                <a16:creationId xmlns:a16="http://schemas.microsoft.com/office/drawing/2014/main" id="{17C66B18-F6B5-3B5F-D51A-177A0F5D6BAF}"/>
              </a:ext>
            </a:extLst>
          </p:cNvPr>
          <p:cNvSpPr>
            <a:spLocks noGrp="1"/>
          </p:cNvSpPr>
          <p:nvPr>
            <p:ph type="body" sz="quarter" idx="10"/>
          </p:nvPr>
        </p:nvSpPr>
        <p:spPr>
          <a:xfrm>
            <a:off x="626216" y="2671377"/>
            <a:ext cx="7730975" cy="461665"/>
          </a:xfrm>
        </p:spPr>
        <p:txBody>
          <a:bodyPr/>
          <a:lstStyle/>
          <a:p>
            <a:pPr algn="l"/>
            <a:r>
              <a:rPr lang="en-US"/>
              <a:t>In this demonstration, you create a new project in Model Studio based on the </a:t>
            </a:r>
            <a:r>
              <a:rPr lang="en-US" b="1">
                <a:solidFill>
                  <a:srgbClr val="FFFFFF"/>
                </a:solidFill>
              </a:rPr>
              <a:t>commsdata</a:t>
            </a:r>
            <a:r>
              <a:rPr lang="en-US">
                <a:solidFill>
                  <a:srgbClr val="FFFFFF"/>
                </a:solidFill>
              </a:rPr>
              <a:t> data set</a:t>
            </a:r>
            <a:r>
              <a:rPr lang="en-US"/>
              <a:t>.</a:t>
            </a:r>
          </a:p>
        </p:txBody>
      </p:sp>
    </p:spTree>
    <p:extLst>
      <p:ext uri="{BB962C8B-B14F-4D97-AF65-F5344CB8AC3E}">
        <p14:creationId xmlns:p14="http://schemas.microsoft.com/office/powerpoint/2010/main" val="2209145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svg="http://schemas.microsoft.com/office/drawing/2016/SVG/main" xmlns:a14="http://schemas.microsoft.com/office/drawing/2010/main" xmlns:a16="http://schemas.microsoft.com/office/drawing/2014/main"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D2E7D-AEF1-C4AE-E538-602BF9E6B16B}"/>
              </a:ext>
            </a:extLst>
          </p:cNvPr>
          <p:cNvSpPr>
            <a:spLocks noGrp="1"/>
          </p:cNvSpPr>
          <p:nvPr>
            <p:ph type="title"/>
          </p:nvPr>
        </p:nvSpPr>
        <p:spPr>
          <a:xfrm>
            <a:off x="628650" y="355152"/>
            <a:ext cx="7886700" cy="302073"/>
          </a:xfrm>
        </p:spPr>
        <p:txBody>
          <a:bodyPr/>
          <a:lstStyle/>
          <a:p>
            <a:r>
              <a:rPr lang="en-US"/>
              <a:t>Question: Model Studio</a:t>
            </a:r>
          </a:p>
        </p:txBody>
      </p:sp>
      <p:sp>
        <p:nvSpPr>
          <p:cNvPr id="3" name="Text Placeholder 2">
            <a:extLst>
              <a:ext uri="{FF2B5EF4-FFF2-40B4-BE49-F238E27FC236}">
                <a16:creationId xmlns:a16="http://schemas.microsoft.com/office/drawing/2014/main" id="{CA9893EA-CC1D-9C40-2E58-3C1568A35B7D}"/>
              </a:ext>
            </a:extLst>
          </p:cNvPr>
          <p:cNvSpPr>
            <a:spLocks noGrp="1"/>
          </p:cNvSpPr>
          <p:nvPr>
            <p:ph type="body" sz="quarter" idx="10"/>
          </p:nvPr>
        </p:nvSpPr>
        <p:spPr>
          <a:xfrm>
            <a:off x="628649" y="822960"/>
            <a:ext cx="7891272" cy="3840480"/>
          </a:xfrm>
        </p:spPr>
        <p:txBody>
          <a:bodyPr/>
          <a:lstStyle/>
          <a:p>
            <a:pPr defTabSz="365751">
              <a:defRPr/>
            </a:pPr>
            <a:r>
              <a:rPr lang="en-US" b="0" i="0">
                <a:solidFill>
                  <a:srgbClr val="000000"/>
                </a:solidFill>
                <a:effectLst/>
              </a:rPr>
              <a:t>Model Studio is a web-based platform that includes a suite of integrated data mining tools to facilitate end-to-end data mining analysis. Model Studio can be used with SAS Machine Learning in SAS Viya and two other visual tools: SAS Visual Text Analytics and SAS Visual Forecasting.</a:t>
            </a:r>
          </a:p>
          <a:p>
            <a:endParaRPr lang="en-US"/>
          </a:p>
          <a:p>
            <a:pPr marL="342900" indent="-342900">
              <a:buFont typeface="+mj-lt"/>
              <a:buAutoNum type="alphaLcPeriod"/>
            </a:pPr>
            <a:r>
              <a:rPr lang="en-US"/>
              <a:t>True</a:t>
            </a:r>
          </a:p>
          <a:p>
            <a:pPr marL="342900" indent="-342900">
              <a:buFont typeface="+mj-lt"/>
              <a:buAutoNum type="alphaLcPeriod"/>
            </a:pPr>
            <a:r>
              <a:rPr lang="en-US"/>
              <a:t>False</a:t>
            </a:r>
          </a:p>
          <a:p>
            <a:endParaRPr lang="en-US"/>
          </a:p>
        </p:txBody>
      </p:sp>
      <p:pic>
        <p:nvPicPr>
          <p:cNvPr id="4" name="Graphic 5">
            <a:extLst>
              <a:ext uri="{FF2B5EF4-FFF2-40B4-BE49-F238E27FC236}">
                <a16:creationId xmlns:a16="http://schemas.microsoft.com/office/drawing/2014/main" id="{73F0FD00-721A-CE94-D8C3-353C4C24B98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rot="10800000">
            <a:off x="8187581" y="0"/>
            <a:ext cx="956419" cy="956419"/>
          </a:xfrm>
          <a:prstGeom prst="rect">
            <a:avLst/>
          </a:prstGeom>
        </p:spPr>
      </p:pic>
    </p:spTree>
    <p:extLst>
      <p:ext uri="{BB962C8B-B14F-4D97-AF65-F5344CB8AC3E}">
        <p14:creationId xmlns:p14="http://schemas.microsoft.com/office/powerpoint/2010/main" val="3041543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D2E7D-AEF1-C4AE-E538-602BF9E6B16B}"/>
              </a:ext>
            </a:extLst>
          </p:cNvPr>
          <p:cNvSpPr>
            <a:spLocks noGrp="1"/>
          </p:cNvSpPr>
          <p:nvPr>
            <p:ph type="title"/>
          </p:nvPr>
        </p:nvSpPr>
        <p:spPr>
          <a:xfrm>
            <a:off x="628650" y="355152"/>
            <a:ext cx="7886700" cy="302073"/>
          </a:xfrm>
        </p:spPr>
        <p:txBody>
          <a:bodyPr/>
          <a:lstStyle/>
          <a:p>
            <a:r>
              <a:rPr lang="en-US"/>
              <a:t>Answer: Model Studio</a:t>
            </a:r>
          </a:p>
        </p:txBody>
      </p:sp>
      <p:sp>
        <p:nvSpPr>
          <p:cNvPr id="3" name="Text Placeholder 2">
            <a:extLst>
              <a:ext uri="{FF2B5EF4-FFF2-40B4-BE49-F238E27FC236}">
                <a16:creationId xmlns:a16="http://schemas.microsoft.com/office/drawing/2014/main" id="{CA9893EA-CC1D-9C40-2E58-3C1568A35B7D}"/>
              </a:ext>
            </a:extLst>
          </p:cNvPr>
          <p:cNvSpPr>
            <a:spLocks noGrp="1"/>
          </p:cNvSpPr>
          <p:nvPr>
            <p:ph type="body" sz="quarter" idx="10"/>
          </p:nvPr>
        </p:nvSpPr>
        <p:spPr>
          <a:xfrm>
            <a:off x="628649" y="822960"/>
            <a:ext cx="7891272" cy="3840480"/>
          </a:xfrm>
        </p:spPr>
        <p:txBody>
          <a:bodyPr/>
          <a:lstStyle/>
          <a:p>
            <a:pPr defTabSz="365751">
              <a:defRPr/>
            </a:pPr>
            <a:r>
              <a:rPr lang="en-US" b="0" i="0">
                <a:solidFill>
                  <a:srgbClr val="000000"/>
                </a:solidFill>
                <a:effectLst/>
              </a:rPr>
              <a:t>Model Studio is a web-based platform that includes a suite of integrated data mining tools to facilitate end-to-end data mining analysis. Model Studio can be used with SAS Machine Learning in SAS Viya and two other visual tools: SAS Visual Text Analytics and SAS Visual Forecasting.</a:t>
            </a:r>
          </a:p>
          <a:p>
            <a:endParaRPr lang="en-US"/>
          </a:p>
          <a:p>
            <a:pPr marL="342900" indent="-342900">
              <a:buFont typeface="+mj-lt"/>
              <a:buAutoNum type="alphaLcPeriod"/>
            </a:pPr>
            <a:r>
              <a:rPr lang="en-US"/>
              <a:t>True</a:t>
            </a:r>
          </a:p>
          <a:p>
            <a:pPr marL="342900" indent="-342900">
              <a:buFont typeface="+mj-lt"/>
              <a:buAutoNum type="alphaLcPeriod"/>
            </a:pPr>
            <a:r>
              <a:rPr lang="en-US"/>
              <a:t>False</a:t>
            </a:r>
          </a:p>
          <a:p>
            <a:endParaRPr lang="en-US"/>
          </a:p>
        </p:txBody>
      </p:sp>
      <p:sp>
        <p:nvSpPr>
          <p:cNvPr id="4" name="Oval 3">
            <a:extLst>
              <a:ext uri="{FF2B5EF4-FFF2-40B4-BE49-F238E27FC236}">
                <a16:creationId xmlns:a16="http://schemas.microsoft.com/office/drawing/2014/main" id="{6BCBFB7F-46F8-ABC2-FB49-598718D01CB2}"/>
              </a:ext>
            </a:extLst>
          </p:cNvPr>
          <p:cNvSpPr/>
          <p:nvPr>
            <p:custDataLst>
              <p:tags r:id="rId1"/>
            </p:custDataLst>
          </p:nvPr>
        </p:nvSpPr>
        <p:spPr>
          <a:xfrm>
            <a:off x="534620" y="2425211"/>
            <a:ext cx="338328" cy="338328"/>
          </a:xfrm>
          <a:prstGeom prst="ellipse">
            <a:avLst/>
          </a:prstGeom>
          <a:noFill/>
          <a:ln w="19050" cap="flat" cmpd="sng" algn="ctr">
            <a:solidFill>
              <a:schemeClr val="accent1"/>
            </a:solidFill>
            <a:prstDash val="solid"/>
            <a:round/>
            <a:headEnd type="none" w="med" len="lg"/>
            <a:tailEnd type="triangle" w="med" len="lg"/>
          </a:ln>
          <a:extLst>
            <a:ext uri="{909E8E84-426E-40DD-AFC4-6F175D3DCCD1}">
              <a14:hiddenFill xmlns:a14="http://schemas.microsoft.com/office/drawing/2010/main">
                <a:solidFill>
                  <a:srgbClr val="D7EAA0"/>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a:solidFill>
                <a:srgbClr val="000000"/>
              </a:solidFill>
            </a:endParaRPr>
          </a:p>
        </p:txBody>
      </p:sp>
      <p:pic>
        <p:nvPicPr>
          <p:cNvPr id="5" name="Graphic 5">
            <a:extLst>
              <a:ext uri="{FF2B5EF4-FFF2-40B4-BE49-F238E27FC236}">
                <a16:creationId xmlns:a16="http://schemas.microsoft.com/office/drawing/2014/main" id="{522C1654-9572-7B8E-B1A1-1CB1FC18BC0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rot="10800000">
            <a:off x="8187581" y="0"/>
            <a:ext cx="956419" cy="956419"/>
          </a:xfrm>
          <a:prstGeom prst="rect">
            <a:avLst/>
          </a:prstGeom>
        </p:spPr>
      </p:pic>
    </p:spTree>
    <p:extLst>
      <p:ext uri="{BB962C8B-B14F-4D97-AF65-F5344CB8AC3E}">
        <p14:creationId xmlns:p14="http://schemas.microsoft.com/office/powerpoint/2010/main" val="15999102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PPTADDIN" val="C:\Users\sasrvc\My Documents\My Projects\SystemFiles\Templates\CDSPptAddin_2015.ppa"/>
  <p:tag name="MMPROD_UIDATA" val="&lt;database version=&quot;11.0&quot;&gt;&lt;object type=&quot;1&quot; unique_id=&quot;10001&quot;&gt;&lt;object type=&quot;8&quot; unique_id=&quot;10002&quot;&gt;&lt;/object&gt;&lt;object type=&quot;2&quot; unique_id=&quot;10003&quot;&gt;&lt;object type=&quot;3&quot; unique_id=&quot;10766&quot;&gt;&lt;property id=&quot;20148&quot; value=&quot;5&quot;/&gt;&lt;property id=&quot;20300&quot; value=&quot;Slide 3&quot;/&gt;&lt;property id=&quot;20307&quot; value=&quot;258&quot;/&gt;&lt;/object&gt;&lt;object type=&quot;3&quot; unique_id=&quot;10789&quot;&gt;&lt;property id=&quot;20148&quot; value=&quot;5&quot;/&gt;&lt;property id=&quot;20300&quot; value=&quot;Slide 26&quot;/&gt;&lt;property id=&quot;20307&quot; value=&quot;301&quot;/&gt;&lt;/object&gt;&lt;object type=&quot;3&quot; unique_id=&quot;10984&quot;&gt;&lt;property id=&quot;20148&quot; value=&quot;5&quot;/&gt;&lt;property id=&quot;20300&quot; value=&quot;Slide 1 - &amp;quot;Chapter 1: Introduction&amp;quot;&quot;/&gt;&lt;property id=&quot;20307&quot; value=&quot;335&quot;/&gt;&lt;/object&gt;&lt;object type=&quot;3&quot; unique_id=&quot;10986&quot;&gt;&lt;property id=&quot;20148&quot; value=&quot;5&quot;/&gt;&lt;property id=&quot;20300&quot; value=&quot;Slide 4 - &amp;quot;Machine Learning&amp;quot;&quot;/&gt;&lt;property id=&quot;20307&quot; value=&quot;383&quot;/&gt;&lt;/object&gt;&lt;object type=&quot;3&quot; unique_id=&quot;10987&quot;&gt;&lt;property id=&quot;20148&quot; value=&quot;5&quot;/&gt;&lt;property id=&quot;20300&quot; value=&quot;Slide 5 - &amp;quot;Today’s Business Challenges&amp;quot;&quot;/&gt;&lt;property id=&quot;20307&quot; value=&quot;304&quot;/&gt;&lt;/object&gt;&lt;object type=&quot;3&quot; unique_id=&quot;10988&quot;&gt;&lt;property id=&quot;20148&quot; value=&quot;5&quot;/&gt;&lt;property id=&quot;20300&quot; value=&quot;Slide 6 - &amp;quot;Today’s Tools&amp;quot;&quot;/&gt;&lt;property id=&quot;20307&quot; value=&quot;305&quot;/&gt;&lt;/object&gt;&lt;object type=&quot;3&quot; unique_id=&quot;10989&quot;&gt;&lt;property id=&quot;20148&quot; value=&quot;5&quot;/&gt;&lt;property id=&quot;20300&quot; value=&quot;Slide 7 - &amp;quot;Today’s Tools&amp;quot;&quot;/&gt;&lt;property id=&quot;20307&quot; value=&quot;307&quot;/&gt;&lt;/object&gt;&lt;object type=&quot;3&quot; unique_id=&quot;10990&quot;&gt;&lt;property id=&quot;20148&quot; value=&quot;5&quot;/&gt;&lt;property id=&quot;20300&quot; value=&quot;Slide 8 - &amp;quot;Customer Churn&amp;quot;&quot;/&gt;&lt;property id=&quot;20307&quot; value=&quot;384&quot;/&gt;&lt;/object&gt;&lt;object type=&quot;3&quot; unique_id=&quot;10991&quot;&gt;&lt;property id=&quot;20148&quot; value=&quot;5&quot;/&gt;&lt;property id=&quot;20300&quot; value=&quot;Slide 9 - &amp;quot;Course Data Introduction&amp;quot;&quot;/&gt;&lt;property id=&quot;20307&quot; value=&quot;329&quot;/&gt;&lt;/object&gt;&lt;object type=&quot;3&quot; unique_id=&quot;10992&quot;&gt;&lt;property id=&quot;20148&quot; value=&quot;5&quot;/&gt;&lt;property id=&quot;20300&quot; value=&quot;Slide 10 - &amp;quot;Financial Services Demonstration&amp;quot;&quot;/&gt;&lt;property id=&quot;20307&quot; value=&quot;380&quot;/&gt;&lt;/object&gt;&lt;object type=&quot;3&quot; unique_id=&quot;10993&quot;&gt;&lt;property id=&quot;20148&quot; value=&quot;5&quot;/&gt;&lt;property id=&quot;20300&quot; value=&quot;Slide 11 - &amp;quot;Financial Services Demonstration&amp;quot;&quot;/&gt;&lt;property id=&quot;20307&quot; value=&quot;381&quot;/&gt;&lt;/object&gt;&lt;object type=&quot;3&quot; unique_id=&quot;10994&quot;&gt;&lt;property id=&quot;20148&quot; value=&quot;5&quot;/&gt;&lt;property id=&quot;20300&quot; value=&quot;Slide 12 - &amp;quot;Modeling Essentials&amp;quot;&quot;/&gt;&lt;property id=&quot;20307&quot; value=&quot;386&quot;/&gt;&lt;/object&gt;&lt;object type=&quot;3&quot; unique_id=&quot;10995&quot;&gt;&lt;property id=&quot;20148&quot; value=&quot;5&quot;/&gt;&lt;property id=&quot;20300&quot; value=&quot;Slide 13 - &amp;quot;Modeling Essentials&amp;quot;&quot;/&gt;&lt;property id=&quot;20307&quot; value=&quot;445&quot;/&gt;&lt;/object&gt;&lt;object type=&quot;3&quot; unique_id=&quot;10996&quot;&gt;&lt;property id=&quot;20148&quot; value=&quot;5&quot;/&gt;&lt;property id=&quot;20300&quot; value=&quot;Slide 14 - &amp;quot;Model Complexity&amp;quot;&quot;/&gt;&lt;property id=&quot;20307&quot; value=&quot;351&quot;/&gt;&lt;/object&gt;&lt;object type=&quot;3&quot; unique_id=&quot;10997&quot;&gt;&lt;property id=&quot;20148&quot; value=&quot;5&quot;/&gt;&lt;property id=&quot;20300&quot; value=&quot;Slide 15 - &amp;quot;Partitioning the Input Data Set&amp;quot;&quot;/&gt;&lt;property id=&quot;20307&quot; value=&quot;352&quot;/&gt;&lt;/object&gt;&lt;object type=&quot;3&quot; unique_id=&quot;10998&quot;&gt;&lt;property id=&quot;20148&quot; value=&quot;5&quot;/&gt;&lt;property id=&quot;20300&quot; value=&quot;Slide 16 - &amp;quot;A Note on Partitioning Data (or reproducing results?)&amp;quot;&quot;/&gt;&lt;property id=&quot;20307&quot; value=&quot;361&quot;/&gt;&lt;/object&gt;&lt;object type=&quot;3&quot; unique_id=&quot;10999&quot;&gt;&lt;property id=&quot;20148&quot; value=&quot;5&quot;/&gt;&lt;property id=&quot;20300&quot; value=&quot;Slide 17 - &amp;quot;Modeling Essentials&amp;quot;&quot;/&gt;&lt;property id=&quot;20307&quot; value=&quot;446&quot;/&gt;&lt;/object&gt;&lt;object type=&quot;3&quot; unique_id=&quot;11000&quot;&gt;&lt;property id=&quot;20148&quot; value=&quot;5&quot;/&gt;&lt;property id=&quot;20300&quot; value=&quot;Slide 18 - &amp;quot;Event-based Sampling&amp;quot;&quot;/&gt;&lt;property id=&quot;20307&quot; value=&quot;355&quot;/&gt;&lt;/object&gt;&lt;object type=&quot;3&quot; unique_id=&quot;11001&quot;&gt;&lt;property id=&quot;20148&quot; value=&quot;5&quot;/&gt;&lt;property id=&quot;20300&quot; value=&quot;Slide 19 - &amp;quot;Event-based Sampling &amp;quot;&quot;/&gt;&lt;property id=&quot;20307&quot; value=&quot;356&quot;/&gt;&lt;/object&gt;&lt;object type=&quot;3&quot; unique_id=&quot;11002&quot;&gt;&lt;property id=&quot;20148&quot; value=&quot;5&quot;/&gt;&lt;property id=&quot;20300&quot; value=&quot;Slide 20 - &amp;quot;Event-based Sampling &amp;quot;&quot;/&gt;&lt;property id=&quot;20307&quot; value=&quot;357&quot;/&gt;&lt;/object&gt;&lt;object type=&quot;3&quot; unique_id=&quot;11003&quot;&gt;&lt;property id=&quot;20148&quot; value=&quot;5&quot;/&gt;&lt;property id=&quot;20300&quot; value=&quot;Slide 21 - &amp;quot;Event-based Sampling &amp;quot;&quot;/&gt;&lt;property id=&quot;20307&quot; value=&quot;358&quot;/&gt;&lt;/object&gt;&lt;object type=&quot;3&quot; unique_id=&quot;11004&quot;&gt;&lt;property id=&quot;20148&quot; value=&quot;5&quot;/&gt;&lt;property id=&quot;20300&quot; value=&quot;Slide 22 - &amp;quot;The Modeling Sample &amp;quot;&quot;/&gt;&lt;property id=&quot;20307&quot; value=&quot;359&quot;/&gt;&lt;/object&gt;&lt;object type=&quot;3&quot; unique_id=&quot;11005&quot;&gt;&lt;property id=&quot;20148&quot; value=&quot;5&quot;/&gt;&lt;property id=&quot;20300&quot; value=&quot;Slide 23 - &amp;quot;Creating a Project and Loading Data&amp;quot;&quot;/&gt;&lt;property id=&quot;20307&quot; value=&quot;345&quot;/&gt;&lt;/object&gt;&lt;object type=&quot;3&quot; unique_id=&quot;11006&quot;&gt;&lt;property id=&quot;20148&quot; value=&quot;5&quot;/&gt;&lt;property id=&quot;20300&quot; value=&quot;Slide 24 - &amp;quot;Questions?&amp;quot;&quot;/&gt;&lt;property id=&quot;20307&quot; value=&quot;444&quot;/&gt;&lt;/object&gt;&lt;object type=&quot;3&quot; unique_id=&quot;11008&quot;&gt;&lt;property id=&quot;20148&quot; value=&quot;5&quot;/&gt;&lt;property id=&quot;20300&quot; value=&quot;Slide 27 - &amp;quot;Model Studio&amp;quot;&quot;/&gt;&lt;property id=&quot;20307&quot; value=&quot;313&quot;/&gt;&lt;/object&gt;&lt;object type=&quot;3&quot; unique_id=&quot;11009&quot;&gt;&lt;property id=&quot;20148&quot; value=&quot;5&quot;/&gt;&lt;property id=&quot;20300&quot; value=&quot;Slide 28 - &amp;quot;Analysis Element Organization&amp;quot;&quot;/&gt;&lt;property id=&quot;20307&quot; value=&quot;448&quot;/&gt;&lt;/object&gt;&lt;object type=&quot;3&quot; unique_id=&quot;11010&quot;&gt;&lt;property id=&quot;20148&quot; value=&quot;5&quot;/&gt;&lt;property id=&quot;20300&quot; value=&quot;Slide 29 - &amp;quot;Pipelines&amp;quot;&quot;/&gt;&lt;property id=&quot;20307&quot; value=&quot;407&quot;/&gt;&lt;/object&gt;&lt;object type=&quot;3&quot; unique_id=&quot;11011&quot;&gt;&lt;property id=&quot;20148&quot; value=&quot;5&quot;/&gt;&lt;property id=&quot;20300&quot; value=&quot;Slide 30 - &amp;quot;Logistic Regression&amp;quot;&quot;/&gt;&lt;property id=&quot;20307&quot; value=&quot;390&quot;/&gt;&lt;/object&gt;&lt;object type=&quot;3&quot; unique_id=&quot;11012&quot;&gt;&lt;property id=&quot;20148&quot; value=&quot;5&quot;/&gt;&lt;property id=&quot;20300&quot; value=&quot;Slide 31 - &amp;quot;Logistic Regression&amp;quot;&quot;/&gt;&lt;property id=&quot;20307&quot; value=&quot;391&quot;/&gt;&lt;/object&gt;&lt;object type=&quot;3&quot; unique_id=&quot;11013&quot;&gt;&lt;property id=&quot;20148&quot; value=&quot;5&quot;/&gt;&lt;property id=&quot;20300&quot; value=&quot;Slide 32 - &amp;quot;Modeling Essentials&amp;quot;&quot;/&gt;&lt;property id=&quot;20307&quot; value=&quot;447&quot;/&gt;&lt;/object&gt;&lt;object type=&quot;3&quot; unique_id=&quot;11014&quot;&gt;&lt;property id=&quot;20148&quot; value=&quot;5&quot;/&gt;&lt;property id=&quot;20300&quot; value=&quot;Slide 33 - &amp;quot;Problems with Missing Values&amp;quot;&quot;/&gt;&lt;property id=&quot;20307&quot; value=&quot;392&quot;/&gt;&lt;/object&gt;&lt;object type=&quot;3&quot; unique_id=&quot;11015&quot;&gt;&lt;property id=&quot;20148&quot; value=&quot;5&quot;/&gt;&lt;property id=&quot;20300&quot; value=&quot;Slide 34 - &amp;quot;Problems with Missing Values&amp;quot;&quot;/&gt;&lt;property id=&quot;20307&quot; value=&quot;393&quot;/&gt;&lt;/object&gt;&lt;object type=&quot;3&quot; unique_id=&quot;11016&quot;&gt;&lt;property id=&quot;20148&quot; value=&quot;5&quot;/&gt;&lt;property id=&quot;20300&quot; value=&quot;Slide 35 - &amp;quot;Problems with Missing Values&amp;quot;&quot;/&gt;&lt;property id=&quot;20307&quot; value=&quot;394&quot;/&gt;&lt;/object&gt;&lt;object type=&quot;3&quot; unique_id=&quot;11017&quot;&gt;&lt;property id=&quot;20148&quot; value=&quot;5&quot;/&gt;&lt;property id=&quot;20300&quot; value=&quot;Slide 36 - &amp;quot;Problems with Missing Values&amp;quot;&quot;/&gt;&lt;property id=&quot;20307&quot; value=&quot;395&quot;/&gt;&lt;/object&gt;&lt;object type=&quot;3&quot; unique_id=&quot;11018&quot;&gt;&lt;property id=&quot;20148&quot; value=&quot;5&quot;/&gt;&lt;property id=&quot;20300&quot; value=&quot;Slide 37 - &amp;quot;Problems with Missing Values&amp;quot;&quot;/&gt;&lt;property id=&quot;20307&quot; value=&quot;396&quot;/&gt;&lt;/object&gt;&lt;object type=&quot;3&quot; unique_id=&quot;11019&quot;&gt;&lt;property id=&quot;20148&quot; value=&quot;5&quot;/&gt;&lt;property id=&quot;20300&quot; value=&quot;Slide 38 - &amp;quot;Missing Value Imputation&amp;quot;&quot;/&gt;&lt;property id=&quot;20307&quot; value=&quot;397&quot;/&gt;&lt;/object&gt;&lt;object type=&quot;3&quot; unique_id=&quot;11020&quot;&gt;&lt;property id=&quot;20148&quot; value=&quot;5&quot;/&gt;&lt;property id=&quot;20300&quot; value=&quot;Slide 39 - &amp;quot;Building a Pipeline from a Basic Template&amp;quot;&quot;/&gt;&lt;property id=&quot;20307&quot; value=&quot;399&quot;/&gt;&lt;/object&gt;&lt;object type=&quot;3&quot; unique_id=&quot;11021&quot;&gt;&lt;property id=&quot;20148&quot; value=&quot;5&quot;/&gt;&lt;property id=&quot;20300&quot; value=&quot;Slide 40 - &amp;quot;Questions?&amp;quot;&quot;/&gt;&lt;property id=&quot;20307&quot; value=&quot;443&quot;/&gt;&lt;/object&gt;&lt;object type=&quot;3&quot; unique_id=&quot;11023&quot;&gt;&lt;property id=&quot;20148&quot; value=&quot;5&quot;/&gt;&lt;property id=&quot;20300&quot; value=&quot;Slide 42 - &amp;quot;Objectives&amp;quot;&quot;/&gt;&lt;property id=&quot;20307&quot; value=&quot;411&quot;/&gt;&lt;/object&gt;&lt;object type=&quot;3&quot; unique_id=&quot;11024&quot;&gt;&lt;property id=&quot;20148&quot; value=&quot;5&quot;/&gt;&lt;property id=&quot;20300&quot; value=&quot;Slide 43 - &amp;quot;SAS Viya on the SAS Platform&amp;quot;&quot;/&gt;&lt;property id=&quot;20307&quot; value=&quot;412&quot;/&gt;&lt;/object&gt;&lt;object type=&quot;3&quot; unique_id=&quot;11025&quot;&gt;&lt;property id=&quot;20148&quot; value=&quot;5&quot;/&gt;&lt;property id=&quot;20300&quot; value=&quot;Slide 44 - &amp;quot;1.01 Multiple Choice Poll&amp;quot;&quot;/&gt;&lt;property id=&quot;20307&quot; value=&quot;413&quot;/&gt;&lt;/object&gt;&lt;object type=&quot;3&quot; unique_id=&quot;11026&quot;&gt;&lt;property id=&quot;20148&quot; value=&quot;5&quot;/&gt;&lt;property id=&quot;20300&quot; value=&quot;Slide 45 - &amp;quot;SAS Platform Architecture&amp;quot;&quot;/&gt;&lt;property id=&quot;20307&quot; value=&quot;416&quot;/&gt;&lt;/object&gt;&lt;object type=&quot;3&quot; unique_id=&quot;11027&quot;&gt;&lt;property id=&quot;20148&quot; value=&quot;5&quot;/&gt;&lt;property id=&quot;20300&quot; value=&quot;Slide 46 - &amp;quot;Cloud Analytic Services&amp;quot;&quot;/&gt;&lt;property id=&quot;20307&quot; value=&quot;417&quot;/&gt;&lt;/object&gt;&lt;object type=&quot;3&quot; unique_id=&quot;11028&quot;&gt;&lt;property id=&quot;20148&quot; value=&quot;5&quot;/&gt;&lt;property id=&quot;20300&quot; value=&quot;Slide 47 - &amp;quot;1.02 Multiple Choice Poll&amp;quot;&quot;/&gt;&lt;property id=&quot;20307&quot; value=&quot;438&quot;/&gt;&lt;/object&gt;&lt;object type=&quot;3&quot; unique_id=&quot;11029&quot;&gt;&lt;property id=&quot;20148&quot; value=&quot;5&quot;/&gt;&lt;property id=&quot;20300&quot; value=&quot;Slide 48 - &amp;quot;1.02 Multiple Choice Poll – Correct Answer&amp;quot;&quot;/&gt;&lt;property id=&quot;20307&quot; value=&quot;439&quot;/&gt;&lt;/object&gt;&lt;object type=&quot;3&quot; unique_id=&quot;11030&quot;&gt;&lt;property id=&quot;20148&quot; value=&quot;5&quot;/&gt;&lt;property id=&quot;20300&quot; value=&quot;Slide 49 - &amp;quot;SAS Viya Infrastructure&amp;quot;&quot;/&gt;&lt;property id=&quot;20307&quot; value=&quot;418&quot;/&gt;&lt;/object&gt;&lt;object type=&quot;3&quot; unique_id=&quot;11031&quot;&gt;&lt;property id=&quot;20148&quot; value=&quot;5&quot;/&gt;&lt;property id=&quot;20300&quot; value=&quot;Slide 50 - &amp;quot;Data Sources and SAS Viya&amp;quot;&quot;/&gt;&lt;property id=&quot;20307&quot; value=&quot;419&quot;/&gt;&lt;/object&gt;&lt;object type=&quot;3&quot; unique_id=&quot;11032&quot;&gt;&lt;property id=&quot;20148&quot; value=&quot;5&quot;/&gt;&lt;property id=&quot;20300&quot; value=&quot;Slide 51 - &amp;quot;Interfaces to SAS Viya&amp;quot;&quot;/&gt;&lt;property id=&quot;20307&quot; value=&quot;420&quot;/&gt;&lt;/object&gt;&lt;object type=&quot;3&quot; unique_id=&quot;11033&quot;&gt;&lt;property id=&quot;20148&quot; value=&quot;5&quot;/&gt;&lt;property id=&quot;20300&quot; value=&quot;Slide 52 - &amp;quot;SAS Platform Architecture&amp;quot;&quot;/&gt;&lt;property id=&quot;20307&quot; value=&quot;421&quot;/&gt;&lt;/object&gt;&lt;object type=&quot;3&quot; unique_id=&quot;11034&quot;&gt;&lt;property id=&quot;20148&quot; value=&quot;5&quot;/&gt;&lt;property id=&quot;20300&quot; value=&quot;Slide 53 - &amp;quot;Products on SAS Viya&amp;quot;&quot;/&gt;&lt;property id=&quot;20307&quot; value=&quot;430&quot;/&gt;&lt;/object&gt;&lt;object type=&quot;3&quot; unique_id=&quot;11035&quot;&gt;&lt;property id=&quot;20148&quot; value=&quot;5&quot;/&gt;&lt;property id=&quot;20300&quot; value=&quot;Slide 54 - &amp;quot;SAS Visual Data Mining and Machine Learning&amp;quot;&quot;/&gt;&lt;property id=&quot;20307&quot; value=&quot;441&quot;/&gt;&lt;/object&gt;&lt;object type=&quot;3&quot; unique_id=&quot;11036&quot;&gt;&lt;property id=&quot;20148&quot; value=&quot;5&quot;/&gt;&lt;property id=&quot;20300&quot; value=&quot;Slide 55 - &amp;quot;SAS Home Interface&amp;quot;&quot;/&gt;&lt;property id=&quot;20307&quot; value=&quot;424&quot;/&gt;&lt;/object&gt;&lt;object type=&quot;3&quot; unique_id=&quot;11037&quot;&gt;&lt;property id=&quot;20148&quot; value=&quot;5&quot;/&gt;&lt;property id=&quot;20300&quot; value=&quot;Slide 56 - &amp;quot;Questions?&amp;quot;&quot;/&gt;&lt;property id=&quot;20307&quot; value=&quot;429&quot;/&gt;&lt;/object&gt;&lt;object type=&quot;3&quot; unique_id=&quot;11039&quot;&gt;&lt;property id=&quot;20148&quot; value=&quot;5&quot;/&gt;&lt;property id=&quot;20300&quot; value=&quot;Slide 58&quot;/&gt;&lt;property id=&quot;20307&quot; value=&quot;442&quot;/&gt;&lt;/object&gt;&lt;object type=&quot;3&quot; unique_id=&quot;11646&quot;&gt;&lt;property id=&quot;20148&quot; value=&quot;5&quot;/&gt;&lt;property id=&quot;20300&quot; value=&quot;Slide 2 - &amp;quot;Chapter 1: Introduction&amp;quot;&quot;/&gt;&lt;property id=&quot;20307&quot; value=&quot;449&quot;/&gt;&lt;/object&gt;&lt;object type=&quot;3&quot; unique_id=&quot;11647&quot;&gt;&lt;property id=&quot;20148&quot; value=&quot;5&quot;/&gt;&lt;property id=&quot;20300&quot; value=&quot;Slide 25 - &amp;quot;Chapter 1: Introduction&amp;quot;&quot;/&gt;&lt;property id=&quot;20307&quot; value=&quot;450&quot;/&gt;&lt;/object&gt;&lt;object type=&quot;3&quot; unique_id=&quot;11648&quot;&gt;&lt;property id=&quot;20148&quot; value=&quot;5&quot;/&gt;&lt;property id=&quot;20300&quot; value=&quot;Slide 41 - &amp;quot;Chapter 1: Introduction&amp;quot;&quot;/&gt;&lt;property id=&quot;20307&quot; value=&quot;451&quot;/&gt;&lt;/object&gt;&lt;object type=&quot;3&quot; unique_id=&quot;11649&quot;&gt;&lt;property id=&quot;20148&quot; value=&quot;5&quot;/&gt;&lt;property id=&quot;20300&quot; value=&quot;Slide 57 - &amp;quot;Chapter 1: Introduction&amp;quot;&quot;/&gt;&lt;property id=&quot;20307&quot; value=&quot;452&quot;/&gt;&lt;/object&gt;&lt;/object&gt;&lt;/object&gt;&lt;/database&gt;"/>
  <p:tag name="SECTOMILLISECCONVERTED" val="1"/>
  <p:tag name="SLIDENUMBERCLEANUP" val="True"/>
  <p:tag name="CHAPTERTITLE" val="Getting Started with Machine Learning and SAS Viya"/>
  <p:tag name="CHAPTERHEADING" val="Lesson 1"/>
  <p:tag name="CHAPTERLABEL" val="Lesson"/>
  <p:tag name="PPTOBJECTDEFINITION" val="CDS"/>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OBJECTTYPE" val="PollCircle"/>
</p:tagLst>
</file>

<file path=ppt/theme/theme1.xml><?xml version="1.0" encoding="utf-8"?>
<a:theme xmlns:a="http://schemas.openxmlformats.org/drawingml/2006/main" name="SAS E-Learning">
  <a:themeElements>
    <a:clrScheme name="SAS-Palette">
      <a:dk1>
        <a:srgbClr val="000000"/>
      </a:dk1>
      <a:lt1>
        <a:srgbClr val="FFFFFF"/>
      </a:lt1>
      <a:dk2>
        <a:srgbClr val="04304B"/>
      </a:dk2>
      <a:lt2>
        <a:srgbClr val="C0E3F6"/>
      </a:lt2>
      <a:accent1>
        <a:srgbClr val="0074BE"/>
      </a:accent1>
      <a:accent2>
        <a:srgbClr val="61BAE9"/>
      </a:accent2>
      <a:accent3>
        <a:srgbClr val="04304B"/>
      </a:accent3>
      <a:accent4>
        <a:srgbClr val="00B08D"/>
      </a:accent4>
      <a:accent5>
        <a:srgbClr val="90B328"/>
      </a:accent5>
      <a:accent6>
        <a:srgbClr val="F58220"/>
      </a:accent6>
      <a:hlink>
        <a:srgbClr val="0074BE"/>
      </a:hlink>
      <a:folHlink>
        <a:srgbClr val="8E2F8A"/>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D7EAA0"/>
        </a:solidFill>
        <a:ln w="12700" cap="flat" cmpd="sng" algn="ctr">
          <a:solidFill>
            <a:srgbClr val="000000"/>
          </a:solidFill>
          <a:prstDash val="solid"/>
          <a:round/>
          <a:headEnd type="none" w="med" len="lg"/>
          <a:tailEnd type="triangle" w="med" len="lg"/>
        </a:ln>
      </a:spPr>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defPPr algn="ctr">
          <a:defRPr smtClean="0">
            <a:solidFill>
              <a:srgbClr val="000000"/>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ECourse_2019.potx" id="{705745C1-1C50-429A-BB25-61C29662B2DD}" vid="{82DCB15F-3BFC-42D6-9DCE-53C2FB2487DC}"/>
    </a:ext>
  </a:extLst>
</a:theme>
</file>

<file path=ppt/theme/theme2.xml><?xml version="1.0" encoding="utf-8"?>
<a:theme xmlns:a="http://schemas.openxmlformats.org/drawingml/2006/main" name="SAS - EXTERNAL">
  <a:themeElements>
    <a:clrScheme name="Custom 3">
      <a:dk1>
        <a:srgbClr val="000000"/>
      </a:dk1>
      <a:lt1>
        <a:srgbClr val="FFFFFF"/>
      </a:lt1>
      <a:dk2>
        <a:srgbClr val="032954"/>
      </a:dk2>
      <a:lt2>
        <a:srgbClr val="0766D1"/>
      </a:lt2>
      <a:accent1>
        <a:srgbClr val="0766D1"/>
      </a:accent1>
      <a:accent2>
        <a:srgbClr val="4398F9"/>
      </a:accent2>
      <a:accent3>
        <a:srgbClr val="C4DEFD"/>
      </a:accent3>
      <a:accent4>
        <a:srgbClr val="032954"/>
      </a:accent4>
      <a:accent5>
        <a:srgbClr val="7E889A"/>
      </a:accent5>
      <a:accent6>
        <a:srgbClr val="BAC0C9"/>
      </a:accent6>
      <a:hlink>
        <a:srgbClr val="0766D1"/>
      </a:hlink>
      <a:folHlink>
        <a:srgbClr val="838E9E"/>
      </a:folHlink>
    </a:clrScheme>
    <a:fontScheme name="Anova">
      <a:majorFont>
        <a:latin typeface="Anova Bold"/>
        <a:ea typeface=""/>
        <a:cs typeface=""/>
      </a:majorFont>
      <a:minorFont>
        <a:latin typeface="Anova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25400">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dirty="0" smtClean="0">
            <a:solidFill>
              <a:schemeClr val="tx1"/>
            </a:solidFill>
          </a:defRPr>
        </a:defPPr>
      </a:lstStyle>
    </a:txDef>
  </a:objectDefaults>
  <a:extraClrSchemeLst/>
  <a:extLst>
    <a:ext uri="{05A4C25C-085E-4340-85A3-A5531E510DB2}">
      <thm15:themeFamily xmlns:thm15="http://schemas.microsoft.com/office/thememl/2012/main" name="SAS EDU PowerPoint 2023.potx" id="{11A40C7F-A284-421B-9DBB-0AB2BF557913}" vid="{219E7DE5-889D-4AAF-A1A9-6C76C5E27C25}"/>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66BFA350ADC394DABCCB798D5C2067D" ma:contentTypeVersion="22" ma:contentTypeDescription="Create a new document." ma:contentTypeScope="" ma:versionID="3bd4e3d7542df0e593906575d2e1fdf8">
  <xsd:schema xmlns:xsd="http://www.w3.org/2001/XMLSchema" xmlns:xs="http://www.w3.org/2001/XMLSchema" xmlns:p="http://schemas.microsoft.com/office/2006/metadata/properties" xmlns:ns2="1d9bfb7e-5e2b-41f7-90d0-148f9ec41e13" xmlns:ns3="1552acdc-6a21-443b-9ae6-a2f6944c7e0f" targetNamespace="http://schemas.microsoft.com/office/2006/metadata/properties" ma:root="true" ma:fieldsID="a5b2ffa18079f60b196af38cd3123e84" ns2:_="" ns3:_="">
    <xsd:import namespace="1d9bfb7e-5e2b-41f7-90d0-148f9ec41e13"/>
    <xsd:import namespace="1552acdc-6a21-443b-9ae6-a2f6944c7e0f"/>
    <xsd:element name="properties">
      <xsd:complexType>
        <xsd:sequence>
          <xsd:element name="documentManagement">
            <xsd:complexType>
              <xsd:all>
                <xsd:element ref="ns2:seq" minOccurs="0"/>
                <xsd:element ref="ns2:z1id" minOccurs="0"/>
                <xsd:element ref="ns2:_Flow_SignoffStatu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9bfb7e-5e2b-41f7-90d0-148f9ec41e13" elementFormDefault="qualified">
    <xsd:import namespace="http://schemas.microsoft.com/office/2006/documentManagement/types"/>
    <xsd:import namespace="http://schemas.microsoft.com/office/infopath/2007/PartnerControls"/>
    <xsd:element name="seq" ma:index="2" nillable="true" ma:displayName="seq" ma:format="Dropdown" ma:internalName="seq" ma:readOnly="false">
      <xsd:simpleType>
        <xsd:restriction base="dms:Text">
          <xsd:maxLength value="255"/>
        </xsd:restriction>
      </xsd:simpleType>
    </xsd:element>
    <xsd:element name="z1id" ma:index="3" nillable="true" ma:displayName="Shortname" ma:internalName="z1id" ma:readOnly="false">
      <xsd:simpleType>
        <xsd:restriction base="dms:Text"/>
      </xsd:simpleType>
    </xsd:element>
    <xsd:element name="_Flow_SignoffStatus" ma:index="4" nillable="true" ma:displayName="Sign-off status" ma:internalName="Sign_x002d_off_x0020_status" ma:readOnly="false">
      <xsd:simpleType>
        <xsd:restriction base="dms:Text"/>
      </xsd:simple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hidden="true" ma:internalName="MediaServiceKeyPoints" ma:readOnly="true">
      <xsd:simpleType>
        <xsd:restriction base="dms:Note"/>
      </xsd:simpleType>
    </xsd:element>
    <xsd:element name="MediaServiceAutoTags" ma:index="16" nillable="true" ma:displayName="Tags" ma:hidden="true" ma:internalName="MediaServiceAutoTags" ma:readOnly="true">
      <xsd:simpleType>
        <xsd:restriction base="dms:Text"/>
      </xsd:simpleType>
    </xsd:element>
    <xsd:element name="MediaServiceOCR" ma:index="17" nillable="true" ma:displayName="Extracted Text" ma:hidden="true" ma:internalName="MediaServiceOCR"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2" nillable="true" ma:displayName="Length (seconds)" ma:hidden="true"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7fd0e135-c9ac-4e89-9c36-fb2929ad0f0a"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552acdc-6a21-443b-9ae6-a2f6944c7e0f" elementFormDefault="qualified">
    <xsd:import namespace="http://schemas.microsoft.com/office/2006/documentManagement/types"/>
    <xsd:import namespace="http://schemas.microsoft.com/office/infopath/2007/PartnerControls"/>
    <xsd:element name="SharedWithUsers" ma:index="11"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hidden="true" ma:internalName="SharedWithDetails" ma:readOnly="true">
      <xsd:simpleType>
        <xsd:restriction base="dms:Note"/>
      </xsd:simpleType>
    </xsd:element>
    <xsd:element name="TaxCatchAll" ma:index="25" nillable="true" ma:displayName="Taxonomy Catch All Column" ma:hidden="true" ma:list="{4520389d-01e9-47b9-8f55-9c59dd142c24}" ma:internalName="TaxCatchAll" ma:readOnly="false" ma:showField="CatchAllData" ma:web="1552acdc-6a21-443b-9ae6-a2f6944c7e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d9bfb7e-5e2b-41f7-90d0-148f9ec41e13">
      <Terms xmlns="http://schemas.microsoft.com/office/infopath/2007/PartnerControls"/>
    </lcf76f155ced4ddcb4097134ff3c332f>
    <TaxCatchAll xmlns="1552acdc-6a21-443b-9ae6-a2f6944c7e0f" xsi:nil="true"/>
    <seq xmlns="1d9bfb7e-5e2b-41f7-90d0-148f9ec41e13" xsi:nil="true"/>
    <_Flow_SignoffStatus xmlns="1d9bfb7e-5e2b-41f7-90d0-148f9ec41e13" xsi:nil="true"/>
    <z1id xmlns="1d9bfb7e-5e2b-41f7-90d0-148f9ec41e13" xsi:nil="true"/>
  </documentManagement>
</p:properties>
</file>

<file path=customXml/itemProps1.xml><?xml version="1.0" encoding="utf-8"?>
<ds:datastoreItem xmlns:ds="http://schemas.openxmlformats.org/officeDocument/2006/customXml" ds:itemID="{3BE83A65-9EC5-4F44-9F79-932547848D3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9bfb7e-5e2b-41f7-90d0-148f9ec41e13"/>
    <ds:schemaRef ds:uri="1552acdc-6a21-443b-9ae6-a2f6944c7e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FA76A45-8CA5-4E6A-AB42-D10D03E13E47}">
  <ds:schemaRefs>
    <ds:schemaRef ds:uri="http://schemas.microsoft.com/sharepoint/v3/contenttype/forms"/>
  </ds:schemaRefs>
</ds:datastoreItem>
</file>

<file path=customXml/itemProps3.xml><?xml version="1.0" encoding="utf-8"?>
<ds:datastoreItem xmlns:ds="http://schemas.openxmlformats.org/officeDocument/2006/customXml" ds:itemID="{01CCCD9B-20F9-4801-9F0B-A6A2DA69390F}">
  <ds:schemaRefs>
    <ds:schemaRef ds:uri="http://schemas.microsoft.com/office/2006/metadata/properties"/>
    <ds:schemaRef ds:uri="http://purl.org/dc/terms/"/>
    <ds:schemaRef ds:uri="1d9bfb7e-5e2b-41f7-90d0-148f9ec41e13"/>
    <ds:schemaRef ds:uri="http://schemas.microsoft.com/office/2006/documentManagement/types"/>
    <ds:schemaRef ds:uri="http://purl.org/dc/elements/1.1/"/>
    <ds:schemaRef ds:uri="1552acdc-6a21-443b-9ae6-a2f6944c7e0f"/>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ECourse_2019</Template>
  <TotalTime>4993</TotalTime>
  <Words>4572</Words>
  <Application>Microsoft Office PowerPoint</Application>
  <PresentationFormat>On-screen Show (16:9)</PresentationFormat>
  <Paragraphs>629</Paragraphs>
  <Slides>33</Slides>
  <Notes>32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33</vt:i4>
      </vt:variant>
    </vt:vector>
  </HeadingPairs>
  <TitlesOfParts>
    <vt:vector size="41" baseType="lpstr">
      <vt:lpstr>Anova Bold</vt:lpstr>
      <vt:lpstr>Anova Light</vt:lpstr>
      <vt:lpstr>Avenir Next Cyr W04 Light</vt:lpstr>
      <vt:lpstr>Arial</vt:lpstr>
      <vt:lpstr>Calibri</vt:lpstr>
      <vt:lpstr>Segoe UI</vt:lpstr>
      <vt:lpstr>SAS E-Learning</vt:lpstr>
      <vt:lpstr>SAS - EXTERNAL</vt:lpstr>
      <vt:lpstr>Machine Learning in Business Decision Making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Analytics Life 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Customer Churn  Customer churn is a problem for many businesses. Churn (also known as attrition) is the turnover of customers who use a product or service. </vt:lpstr>
      <vt:lpstr>Other Applications  </vt:lpstr>
      <vt:lpstr> The commsdata data set contains information about customers of a telecommunications company and their use of the company's services. The input variables include demographic variables, variables that describe product usage and type, billing data, and customer service and call center information. The main goal is to use this set of input variables and train supervised learning models to predict the churn event.    Refer Pg 1-19</vt:lpstr>
      <vt:lpstr>PowerPoint Presentation</vt:lpstr>
      <vt:lpstr>SAS Viya Tools for Machine Learning</vt:lpstr>
      <vt:lpstr>PowerPoint Presentation</vt:lpstr>
      <vt:lpstr>PowerPoint Presentation</vt:lpstr>
      <vt:lpstr>PowerPoint Presentation</vt:lpstr>
      <vt:lpstr>PowerPoint Presentation</vt:lpstr>
      <vt:lpstr>HTML Placeholder</vt:lpstr>
      <vt:lpstr>Demo: Creating a Project and Loading Data</vt:lpstr>
      <vt:lpstr>Question: Model Studio</vt:lpstr>
      <vt:lpstr>Answer: Model Studio</vt:lpstr>
    </vt:vector>
  </TitlesOfParts>
  <Company>SAS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dc:title>
  <dc:creator>HUDSOn</dc:creator>
  <cp:keywords>2025</cp:keywords>
  <cp:lastModifiedBy>HUDSOn C.</cp:lastModifiedBy>
  <cp:revision>31</cp:revision>
  <cp:lastPrinted>2019-01-08T18:54:22Z</cp:lastPrinted>
  <dcterms:created xsi:type="dcterms:W3CDTF">2016-09-20T18:53:56Z</dcterms:created>
  <dcterms:modified xsi:type="dcterms:W3CDTF">2025-12-03T15:47:57Z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0x010100666BFA350ADC394DABCCB798D5C2067D</vt:lpwstr>
  </property>
  <property fmtid="{D5CDD505-2E9C-101B-9397-08002B2CF9AE}" pid="3" name="MediaServiceImageTags">
    <vt:lpwstr/>
  </property>
</Properties>
</file>