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0058400" cy="7772400"/>
  <p:notesSz cx="10058400" cy="77724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9BF1686E-9A92-4C3A-935F-E4206EEF3367}">
          <p14:sldIdLst>
            <p14:sldId id="256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Thread" id="{DC01B83F-890A-4FD2-B06E-793A4D14A897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Why we Need Concurrent Programming?" id="{34C4269A-16E0-49F4-9D7B-0A8364044E7C}">
          <p14:sldIdLst>
            <p14:sldId id="273"/>
            <p14:sldId id="274"/>
          </p14:sldIdLst>
        </p14:section>
        <p14:section name="Summary" id="{068E9CA5-F1BE-4751-999D-7898CB3F3CC5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22819" autoAdjust="0"/>
  </p:normalViewPr>
  <p:slideViewPr>
    <p:cSldViewPr>
      <p:cViewPr varScale="1">
        <p:scale>
          <a:sx n="21" d="100"/>
          <a:sy n="21" d="100"/>
        </p:scale>
        <p:origin x="4056" y="24"/>
      </p:cViewPr>
      <p:guideLst>
        <p:guide orient="horz" pos="2880"/>
        <p:guide pos="2160"/>
      </p:guideLst>
    </p:cSldViewPr>
  </p:slideViewPr>
  <p:notesTextViewPr>
    <p:cViewPr>
      <p:scale>
        <a:sx n="125" d="100"/>
        <a:sy n="125" d="100"/>
      </p:scale>
      <p:origin x="0" y="-160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E5E9D-3E5B-4504-842C-F95FC60B65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FF993-5C5D-4947-A73D-BD813CBD5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2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>
                <a:latin typeface="+mn-lt"/>
                <a:cs typeface="Times New Roman" panose="02020603050405020304" pitchFamily="18" charset="0"/>
              </a:rPr>
              <a:t>Learning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>
                <a:latin typeface="+mn-lt"/>
                <a:cs typeface="Times New Roman" panose="02020603050405020304" pitchFamily="18" charset="0"/>
              </a:rPr>
              <a:t>At the end of this topic, You should be able to: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>
                <a:latin typeface="+mn-lt"/>
                <a:cs typeface="Times New Roman" panose="02020603050405020304" pitchFamily="18" charset="0"/>
              </a:rPr>
              <a:t>Describe concurrent programs and its advantages/ disadvantages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>
                <a:latin typeface="+mn-lt"/>
                <a:cs typeface="Times New Roman" panose="02020603050405020304" pitchFamily="18" charset="0"/>
              </a:rPr>
              <a:t>Describe parallel programs and its advantages/ disadvantages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>
                <a:latin typeface="+mn-lt"/>
                <a:cs typeface="Times New Roman" panose="02020603050405020304" pitchFamily="18" charset="0"/>
              </a:rPr>
              <a:t>Describe Multi-Tasking.</a:t>
            </a:r>
          </a:p>
          <a:p>
            <a:endParaRPr lang="en-MY" dirty="0">
              <a:latin typeface="+mn-lt"/>
              <a:cs typeface="Times New Roman" panose="02020603050405020304" pitchFamily="18" charset="0"/>
            </a:endParaRPr>
          </a:p>
          <a:p>
            <a:endParaRPr lang="en-US" dirty="0">
              <a:latin typeface="+mn-lt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6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Concurrent Programming?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Concurrent programming is when a computer does </a:t>
            </a:r>
            <a:r>
              <a:rPr lang="en-MY" b="1" dirty="0"/>
              <a:t>many things at the same time</a:t>
            </a:r>
            <a:r>
              <a:rPr lang="en-MY" dirty="0"/>
              <a:t>, or switches quickly between tasks to make it look like they happen at the same time.</a:t>
            </a:r>
          </a:p>
          <a:p>
            <a:br>
              <a:rPr lang="en-MY" dirty="0"/>
            </a:br>
            <a:endParaRPr lang="en-MY" dirty="0"/>
          </a:p>
          <a:p>
            <a:endParaRPr lang="en-MY" dirty="0"/>
          </a:p>
          <a:p>
            <a:r>
              <a:rPr lang="en-MY" b="1" dirty="0"/>
              <a:t>Important Terms</a:t>
            </a:r>
          </a:p>
          <a:p>
            <a:r>
              <a:rPr lang="en-MY" b="1" dirty="0"/>
              <a:t>1) Program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program is a </a:t>
            </a:r>
            <a:r>
              <a:rPr lang="en-MY" b="1" dirty="0"/>
              <a:t>complete application</a:t>
            </a:r>
            <a:r>
              <a:rPr lang="en-MY" dirty="0"/>
              <a:t> such as Google Chrome, WhatsApp, or a game.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r>
              <a:rPr lang="en-MY" b="1" dirty="0"/>
              <a:t>2) 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process is a </a:t>
            </a:r>
            <a:r>
              <a:rPr lang="en-MY" b="1" dirty="0"/>
              <a:t>running program</a:t>
            </a:r>
            <a:r>
              <a:rPr lang="en-MY" dirty="0"/>
              <a:t> in your computer’s memory.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When you open Google Chrome, it becomes a </a:t>
            </a:r>
            <a:r>
              <a:rPr lang="en-MY" b="1" dirty="0"/>
              <a:t>process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r>
              <a:rPr lang="en-MY" b="1" dirty="0"/>
              <a:t>3) Thread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thread is a </a:t>
            </a:r>
            <a:r>
              <a:rPr lang="en-MY" b="1" dirty="0"/>
              <a:t>small part of a process</a:t>
            </a:r>
            <a:r>
              <a:rPr lang="en-MY" dirty="0"/>
              <a:t> that does one job or action.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In Chrome, one thread shows the web page, another downloads files, another plays audio.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r>
              <a:rPr lang="en-MY" b="1" dirty="0"/>
              <a:t>4) Task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task is a </a:t>
            </a:r>
            <a:r>
              <a:rPr lang="en-MY" b="1" dirty="0"/>
              <a:t>job that a thread needs to do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Loading a webpage is a task.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r>
              <a:rPr lang="en-MY" b="1" dirty="0"/>
              <a:t>5) Multi-Threading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Multi-threading means </a:t>
            </a:r>
            <a:r>
              <a:rPr lang="en-MY" b="1" dirty="0"/>
              <a:t>a program uses many threads at the same time</a:t>
            </a:r>
            <a:r>
              <a:rPr lang="en-MY" dirty="0"/>
              <a:t> so it can do multiple tasks faster.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A game can move characters, play music, and save scores at the same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r>
              <a:rPr lang="en-MY" b="1" dirty="0"/>
              <a:t>6) Priority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Priority means </a:t>
            </a:r>
            <a:r>
              <a:rPr lang="en-MY" b="1" dirty="0"/>
              <a:t>how important a thread is</a:t>
            </a:r>
            <a:r>
              <a:rPr lang="en-MY" dirty="0"/>
              <a:t>, so the CPU decides which one runs first or faster.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Playing video might get higher priority than downloading ads.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r>
              <a:rPr lang="en-MY" b="1" dirty="0"/>
              <a:t>7) Dedicated Resources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These are resources used </a:t>
            </a:r>
            <a:r>
              <a:rPr lang="en-MY" b="1" dirty="0"/>
              <a:t>only by one process or thread</a:t>
            </a:r>
            <a:r>
              <a:rPr lang="en-MY" dirty="0"/>
              <a:t>, not shared with others.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A private memory space for one process.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r>
              <a:rPr lang="en-MY" b="1" dirty="0"/>
              <a:t>8) Shared Resources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These are resources </a:t>
            </a:r>
            <a:r>
              <a:rPr lang="en-MY" b="1" dirty="0"/>
              <a:t>used by more than one process or thread at the same time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Files, the same RAM area, or a printer.</a:t>
            </a:r>
          </a:p>
          <a:p>
            <a:br>
              <a:rPr lang="en-MY" dirty="0"/>
            </a:br>
            <a:endParaRPr lang="en-MY" dirty="0"/>
          </a:p>
          <a:p>
            <a:endParaRPr lang="en-MY" dirty="0"/>
          </a:p>
          <a:p>
            <a:r>
              <a:rPr lang="en-MY" b="1" dirty="0"/>
              <a:t>Summary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Concurrent programming lets a computer do many tasks at the same time by using threads, processes, and resource management.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69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a Program?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</a:t>
            </a:r>
            <a:r>
              <a:rPr lang="en-MY" b="1" dirty="0"/>
              <a:t>program</a:t>
            </a:r>
            <a:r>
              <a:rPr lang="en-MY" dirty="0"/>
              <a:t> is a set of instructions that we give to a computer to make it do a specific job.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Think of it like a </a:t>
            </a:r>
            <a:r>
              <a:rPr lang="en-MY" b="1" dirty="0"/>
              <a:t>recipe</a:t>
            </a:r>
            <a:r>
              <a:rPr lang="en-MY" dirty="0"/>
              <a:t>: Just as a recipe tells you step-by-step how to cook something, a program tells the computer step-by-step how to solve a problem.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Example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program can be written to </a:t>
            </a:r>
            <a:r>
              <a:rPr lang="en-MY" b="1" dirty="0"/>
              <a:t>calculate the area of a rectangle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 user enters the length and width (like </a:t>
            </a:r>
            <a:r>
              <a:rPr lang="en-MY" b="1" dirty="0"/>
              <a:t>35 cm</a:t>
            </a:r>
            <a:r>
              <a:rPr lang="en-MY" dirty="0"/>
              <a:t> and </a:t>
            </a:r>
            <a:r>
              <a:rPr lang="en-MY" b="1" dirty="0"/>
              <a:t>20 cm</a:t>
            </a:r>
            <a:r>
              <a:rPr lang="en-MY" dirty="0"/>
              <a:t> in the picture), and the computer will follow the instructions to calculate: </a:t>
            </a: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Area = length × width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So the program will calculate: </a:t>
            </a: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Area = 35 × 20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Summary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program is a list of instructions that tells a computer how to solve a problem.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21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an Application?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An </a:t>
            </a:r>
            <a:r>
              <a:rPr lang="en-MY" b="1" dirty="0"/>
              <a:t>application</a:t>
            </a:r>
            <a:r>
              <a:rPr lang="en-MY" dirty="0"/>
              <a:t> is a software that uses one or more </a:t>
            </a:r>
            <a:r>
              <a:rPr lang="en-MY" b="1" dirty="0"/>
              <a:t>programs</a:t>
            </a:r>
            <a:r>
              <a:rPr lang="en-MY" dirty="0"/>
              <a:t> to help users achieve a goal or do certain tasks.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You can think of an application as a </a:t>
            </a:r>
            <a:r>
              <a:rPr lang="en-MY" b="1" dirty="0"/>
              <a:t>collection of programs working together</a:t>
            </a:r>
            <a:r>
              <a:rPr lang="en-MY" dirty="0"/>
              <a:t> to provide different features for the user.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An </a:t>
            </a:r>
            <a:r>
              <a:rPr lang="en-MY" b="1" dirty="0"/>
              <a:t>E-Wallet application</a:t>
            </a:r>
            <a:r>
              <a:rPr lang="en-MY" dirty="0"/>
              <a:t> (like Touch ‘n Go, </a:t>
            </a:r>
            <a:r>
              <a:rPr lang="en-MY" dirty="0" err="1"/>
              <a:t>GrabPay</a:t>
            </a:r>
            <a:r>
              <a:rPr lang="en-MY" dirty="0"/>
              <a:t>, Boost, etc.) contains many programs inside it.</a:t>
            </a:r>
            <a:br>
              <a:rPr lang="en-MY" dirty="0"/>
            </a:b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Each program does a different job, such as: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Money Transfer</a:t>
            </a: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Online Shopping (e-shopping)</a:t>
            </a: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Parking Payment</a:t>
            </a: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Bill Payment</a:t>
            </a: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Buying Tickets (movies, flights, etc.)</a:t>
            </a: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Top-up phone credit</a:t>
            </a: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Even though you see only </a:t>
            </a:r>
            <a:r>
              <a:rPr lang="en-MY" b="1" dirty="0"/>
              <a:t>one app icon</a:t>
            </a:r>
            <a:r>
              <a:rPr lang="en-MY" dirty="0"/>
              <a:t>, inside it there are </a:t>
            </a:r>
            <a:r>
              <a:rPr lang="en-MY" b="1" dirty="0"/>
              <a:t>many programs working together</a:t>
            </a:r>
            <a:r>
              <a:rPr lang="en-MY" dirty="0"/>
              <a:t>.</a:t>
            </a:r>
          </a:p>
          <a:p>
            <a:endParaRPr lang="en-MY" dirty="0"/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Simple Comparison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Term = Meaning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Program</a:t>
            </a:r>
            <a:r>
              <a:rPr lang="en-MY" dirty="0"/>
              <a:t> = A set of instructions for one task.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Application</a:t>
            </a:r>
            <a:r>
              <a:rPr lang="en-MY" dirty="0"/>
              <a:t> = A group of programs that serve many tasks for users.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Summary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An application is a software that combines many programs to provide useful features to the user.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91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an Operating System? (Simple Explanation)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An </a:t>
            </a:r>
            <a:r>
              <a:rPr lang="en-MY" b="1" dirty="0"/>
              <a:t>Operating System (OS)</a:t>
            </a:r>
            <a:r>
              <a:rPr lang="en-MY" dirty="0"/>
              <a:t> is the main software that controls and manages everything in a computer.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makes sure </a:t>
            </a:r>
            <a:r>
              <a:rPr lang="en-MY" b="1" dirty="0"/>
              <a:t>hardware</a:t>
            </a:r>
            <a:r>
              <a:rPr lang="en-MY" dirty="0"/>
              <a:t> (like CPU, memory, keyboard, screen) and </a:t>
            </a:r>
            <a:r>
              <a:rPr lang="en-MY" b="1" dirty="0"/>
              <a:t>applications</a:t>
            </a:r>
            <a:r>
              <a:rPr lang="en-MY" dirty="0"/>
              <a:t> (like games, Word, Chrome) work properly together.</a:t>
            </a:r>
          </a:p>
          <a:p>
            <a:endParaRPr lang="en-MY" dirty="0"/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Example: Microsoft Windows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Windows is an operating system that contains </a:t>
            </a:r>
            <a:r>
              <a:rPr lang="en-MY" b="1" dirty="0"/>
              <a:t>many applications</a:t>
            </a:r>
            <a:r>
              <a:rPr lang="en-MY" dirty="0"/>
              <a:t>, including: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1. Core Applications (Built-in by OS)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These are necessary to make the computer work. They help manage hardware and system resources.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Examples: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MY" b="1" dirty="0"/>
              <a:t>File Explorer</a:t>
            </a:r>
            <a:r>
              <a:rPr lang="en-MY" dirty="0"/>
              <a:t> (to manage files and folders)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MY" b="1" dirty="0"/>
              <a:t>Windows Registry</a:t>
            </a:r>
            <a:r>
              <a:rPr lang="en-MY" dirty="0"/>
              <a:t> (stores system settings)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MY" b="1" dirty="0"/>
              <a:t>OS Kernel</a:t>
            </a:r>
            <a:r>
              <a:rPr lang="en-MY" dirty="0"/>
              <a:t> (controls hardware directly)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These are essential — without them, the computer cannot run.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2. Third-Party Applications (Installed by Users)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These are extra programs that we install for special tasks.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Examples: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MY" b="1" dirty="0"/>
              <a:t>Photoshop</a:t>
            </a:r>
            <a:r>
              <a:rPr lang="en-MY" dirty="0"/>
              <a:t> (photo editing)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MY" b="1" dirty="0"/>
              <a:t>Microsoft Word / Excel</a:t>
            </a:r>
            <a:r>
              <a:rPr lang="en-MY" dirty="0"/>
              <a:t> (office work)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MY" b="1" dirty="0"/>
              <a:t>PDF reader</a:t>
            </a:r>
            <a:r>
              <a:rPr lang="en-MY" dirty="0"/>
              <a:t> (open PDF files)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These are optional — the computer can still run without them.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Simple Analogy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Think of an Operating System as: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The </a:t>
            </a:r>
            <a:r>
              <a:rPr lang="en-MY" b="1" dirty="0"/>
              <a:t>manager</a:t>
            </a:r>
            <a:r>
              <a:rPr lang="en-MY" dirty="0"/>
              <a:t> of the whole computer.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The </a:t>
            </a:r>
            <a:r>
              <a:rPr lang="en-MY" b="1" dirty="0"/>
              <a:t>core applications</a:t>
            </a:r>
            <a:r>
              <a:rPr lang="en-MY" dirty="0"/>
              <a:t> are like important workers who keep the building running.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Third-party applications</a:t>
            </a:r>
            <a:r>
              <a:rPr lang="en-MY" dirty="0"/>
              <a:t> are like extra workers hired to do special jobs.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One Sentence Summary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An operating system is the main software that controls the computer and manages both built-in and user-installed applications.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96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an Instruction?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An </a:t>
            </a:r>
            <a:r>
              <a:rPr lang="en-MY" b="1" dirty="0"/>
              <a:t>instruction</a:t>
            </a:r>
            <a:r>
              <a:rPr lang="en-MY" dirty="0"/>
              <a:t> is a single command given to a computer.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tells the computer exactly </a:t>
            </a:r>
            <a:r>
              <a:rPr lang="en-MY" b="1" dirty="0"/>
              <a:t>one small action</a:t>
            </a:r>
            <a:r>
              <a:rPr lang="en-MY" dirty="0"/>
              <a:t> to 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program is made up of </a:t>
            </a:r>
            <a:r>
              <a:rPr lang="en-MY" b="1" dirty="0"/>
              <a:t>many instructions working together</a:t>
            </a:r>
            <a:r>
              <a:rPr lang="en-MY" dirty="0"/>
              <a:t> to solve a problem.</a:t>
            </a:r>
          </a:p>
          <a:p>
            <a:br>
              <a:rPr lang="en-MY" dirty="0"/>
            </a:br>
            <a:endParaRPr lang="en-MY" dirty="0"/>
          </a:p>
          <a:p>
            <a:endParaRPr lang="en-MY" dirty="0"/>
          </a:p>
          <a:p>
            <a:r>
              <a:rPr lang="en-MY" b="1" dirty="0"/>
              <a:t>Example (Rectangle Area Program)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If we make a program that finds the area of a rectangle, it needs several instructions: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Get the length</a:t>
            </a:r>
            <a:r>
              <a:rPr lang="en-MY" dirty="0"/>
              <a:t> from the user.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Get the width</a:t>
            </a:r>
            <a:r>
              <a:rPr lang="en-MY" dirty="0"/>
              <a:t> from the user.</a:t>
            </a:r>
            <a:endParaRPr lang="en-MY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Calculate the area</a:t>
            </a:r>
            <a:r>
              <a:rPr lang="en-MY" dirty="0"/>
              <a:t> using the formula: </a:t>
            </a: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Area = length × width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Show the result</a:t>
            </a:r>
            <a:r>
              <a:rPr lang="en-MY" dirty="0"/>
              <a:t> on the screen.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Each step above is </a:t>
            </a:r>
            <a:r>
              <a:rPr lang="en-MY" b="1" dirty="0"/>
              <a:t>one instruction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Together, they form a </a:t>
            </a:r>
            <a:r>
              <a:rPr lang="en-MY" b="1" dirty="0"/>
              <a:t>complete program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Simple Analogy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Think of cooking noodles.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One recipe (program) contains many steps (instructions):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Boil water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Add noodles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Drain water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Add sauce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Each step alone is an </a:t>
            </a:r>
            <a:r>
              <a:rPr lang="en-MY" b="1" dirty="0"/>
              <a:t>instruction</a:t>
            </a:r>
            <a:r>
              <a:rPr lang="en-MY" dirty="0"/>
              <a:t>, and all steps together make the </a:t>
            </a:r>
            <a:r>
              <a:rPr lang="en-MY" b="1" dirty="0"/>
              <a:t>recipe/program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Summary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An instruction is a single step or command that a computer follows, and many instructions together create a program.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66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a Process?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</a:t>
            </a:r>
            <a:r>
              <a:rPr lang="en-MY" b="1" dirty="0"/>
              <a:t>process</a:t>
            </a:r>
            <a:r>
              <a:rPr lang="en-MY" dirty="0"/>
              <a:t> is a program </a:t>
            </a:r>
            <a:r>
              <a:rPr lang="en-MY" b="1" dirty="0"/>
              <a:t>that is currently running</a:t>
            </a:r>
            <a:r>
              <a:rPr lang="en-MY" dirty="0"/>
              <a:t> on the computer.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</a:t>
            </a:r>
            <a:r>
              <a:rPr lang="en-MY" b="1" dirty="0"/>
              <a:t>program</a:t>
            </a:r>
            <a:r>
              <a:rPr lang="en-MY" dirty="0"/>
              <a:t> is just written instructions stored on disk.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</a:t>
            </a:r>
            <a:r>
              <a:rPr lang="en-MY" b="1" dirty="0"/>
              <a:t>process</a:t>
            </a:r>
            <a:r>
              <a:rPr lang="en-MY" dirty="0"/>
              <a:t> happens </a:t>
            </a:r>
            <a:r>
              <a:rPr lang="en-MY" b="1" dirty="0"/>
              <a:t>only after you execute (run) that program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So, a </a:t>
            </a:r>
            <a:r>
              <a:rPr lang="en-MY" b="1" dirty="0"/>
              <a:t>program becomes a process when it starts running.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Example (Rectangle Area Program)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You have a program that calculates the area of a rectangle.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When you </a:t>
            </a:r>
            <a:r>
              <a:rPr lang="en-MY" b="1" dirty="0"/>
              <a:t>run</a:t>
            </a:r>
            <a:r>
              <a:rPr lang="en-MY" dirty="0"/>
              <a:t> this program, it becomes a </a:t>
            </a:r>
            <a:r>
              <a:rPr lang="en-MY" b="1" dirty="0"/>
              <a:t>process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process works by doing several tasks.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1. Sub-Process 1: Getting User Input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Task 1:</a:t>
            </a:r>
            <a:r>
              <a:rPr lang="en-MY" dirty="0"/>
              <a:t> Ask user for rectangle length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Instruction: Get length input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Task 2:</a:t>
            </a:r>
            <a:r>
              <a:rPr lang="en-MY" dirty="0"/>
              <a:t> Ask user for rectangle width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Instruction: Get width input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2. Sub-Process 2: Calculation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Task 3:</a:t>
            </a:r>
            <a:r>
              <a:rPr lang="en-MY" dirty="0"/>
              <a:t> Calculate the area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Instruction: Compute length × width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3. Sub-Process 3: Display Result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Task 4:</a:t>
            </a:r>
            <a:r>
              <a:rPr lang="en-MY" dirty="0"/>
              <a:t> Show the result on the screen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Instruction: Print the answer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Important Idea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One process can have one or many tasks.</a:t>
            </a: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Just like a worker may do many steps to finish a job, a process may include many tasks to finish a program’s goal.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Simple Analogy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Imagine a recipe (program) written in a book.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Nothing happens unless someone </a:t>
            </a:r>
            <a:r>
              <a:rPr lang="en-MY" b="1" dirty="0"/>
              <a:t>starts cooking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When you start cooking, that action becomes a </a:t>
            </a:r>
            <a:r>
              <a:rPr lang="en-MY" b="1" dirty="0"/>
              <a:t>process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Cooking involves tasks like: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Boiling water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Cutting vegetables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Mixing ingredients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Serving food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Each task is part of one big process: </a:t>
            </a:r>
            <a:r>
              <a:rPr lang="en-MY" b="1" dirty="0"/>
              <a:t>making the meal.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Summary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process is a running program that performs one or more tasks to achieve its purpose.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2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So far, what have we learned?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 picture shows the </a:t>
            </a:r>
            <a:r>
              <a:rPr lang="en-MY" b="1" dirty="0"/>
              <a:t>relationship between different software levels</a:t>
            </a:r>
            <a:r>
              <a:rPr lang="en-MY" dirty="0"/>
              <a:t>, from the smallest part to the biggest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Let’s understand it step by step:</a:t>
            </a:r>
            <a:br>
              <a:rPr lang="en-MY" dirty="0"/>
            </a:br>
            <a:r>
              <a:rPr lang="en-MY" b="1" dirty="0"/>
              <a:t>1. Instruction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An instruction is a </a:t>
            </a:r>
            <a:r>
              <a:rPr lang="en-MY" b="1" dirty="0"/>
              <a:t>single command</a:t>
            </a:r>
            <a:r>
              <a:rPr lang="en-MY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Many instructions</a:t>
            </a:r>
            <a:r>
              <a:rPr lang="en-MY" dirty="0"/>
              <a:t> are needed to complete…</a:t>
            </a:r>
          </a:p>
          <a:p>
            <a:pPr lvl="1"/>
            <a:endParaRPr lang="en-MY" dirty="0"/>
          </a:p>
          <a:p>
            <a:pPr lvl="1"/>
            <a:r>
              <a:rPr lang="en-MY" b="1" dirty="0"/>
              <a:t>2. Task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 task is </a:t>
            </a:r>
            <a:r>
              <a:rPr lang="en-MY" b="1" dirty="0"/>
              <a:t>a small job</a:t>
            </a:r>
            <a:r>
              <a:rPr lang="en-MY" dirty="0"/>
              <a:t> made up of instructions.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Many tasks</a:t>
            </a:r>
            <a:r>
              <a:rPr lang="en-MY" dirty="0"/>
              <a:t> are needed to complete…</a:t>
            </a:r>
            <a:br>
              <a:rPr lang="en-MY" dirty="0"/>
            </a:br>
            <a:endParaRPr lang="en-MY" dirty="0"/>
          </a:p>
          <a:p>
            <a:pPr lvl="1"/>
            <a:r>
              <a:rPr lang="en-MY" b="1" dirty="0"/>
              <a:t>3. Process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 process is a </a:t>
            </a:r>
            <a:r>
              <a:rPr lang="en-MY" b="1" dirty="0"/>
              <a:t>running program</a:t>
            </a:r>
            <a:r>
              <a:rPr lang="en-MY" dirty="0"/>
              <a:t> that performs tasks.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 process follows the </a:t>
            </a:r>
            <a:r>
              <a:rPr lang="en-MY" b="1" dirty="0"/>
              <a:t>blueprint</a:t>
            </a:r>
            <a:r>
              <a:rPr lang="en-MY" dirty="0"/>
              <a:t> of…</a:t>
            </a:r>
          </a:p>
          <a:p>
            <a:pPr lvl="1"/>
            <a:endParaRPr lang="en-MY" dirty="0"/>
          </a:p>
          <a:p>
            <a:pPr lvl="1"/>
            <a:r>
              <a:rPr lang="en-MY" b="1" dirty="0"/>
              <a:t>4. Program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 program is </a:t>
            </a:r>
            <a:r>
              <a:rPr lang="en-MY" b="1" dirty="0"/>
              <a:t>written code</a:t>
            </a:r>
            <a:r>
              <a:rPr lang="en-MY" dirty="0"/>
              <a:t> that contains instructions and tasks.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When you run it, it becomes a </a:t>
            </a:r>
            <a:r>
              <a:rPr lang="en-MY" b="1" dirty="0"/>
              <a:t>process</a:t>
            </a:r>
            <a:r>
              <a:rPr lang="en-MY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One or more programs</a:t>
            </a:r>
            <a:r>
              <a:rPr lang="en-MY" dirty="0"/>
              <a:t> can be combined to build…</a:t>
            </a:r>
          </a:p>
          <a:p>
            <a:pPr lvl="1"/>
            <a:endParaRPr lang="en-MY" dirty="0"/>
          </a:p>
          <a:p>
            <a:pPr lvl="1"/>
            <a:r>
              <a:rPr lang="en-MY" b="1" dirty="0"/>
              <a:t>5. Application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An application is </a:t>
            </a:r>
            <a:r>
              <a:rPr lang="en-MY" b="1" dirty="0"/>
              <a:t>a group of programs</a:t>
            </a:r>
            <a:r>
              <a:rPr lang="en-MY" dirty="0"/>
              <a:t> working together to help the user do many jobs.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Many applications</a:t>
            </a:r>
            <a:r>
              <a:rPr lang="en-MY" dirty="0"/>
              <a:t> are managed by…</a:t>
            </a:r>
            <a:br>
              <a:rPr lang="en-MY" dirty="0"/>
            </a:br>
            <a:endParaRPr lang="en-MY" dirty="0"/>
          </a:p>
          <a:p>
            <a:pPr lvl="1"/>
            <a:r>
              <a:rPr lang="en-MY" b="1" dirty="0"/>
              <a:t>6. Operating System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The operating system controls the whole computer, manages applications, and communicates with the hardware.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Summary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Small </a:t>
            </a:r>
            <a:r>
              <a:rPr lang="en-MY" b="1" dirty="0"/>
              <a:t>instructions</a:t>
            </a:r>
            <a:r>
              <a:rPr lang="en-MY" dirty="0"/>
              <a:t> form a </a:t>
            </a:r>
            <a:r>
              <a:rPr lang="en-MY" b="1" dirty="0"/>
              <a:t>task</a:t>
            </a:r>
            <a:r>
              <a:rPr lang="en-MY" dirty="0"/>
              <a:t>, tasks run inside a </a:t>
            </a:r>
            <a:r>
              <a:rPr lang="en-MY" b="1" dirty="0"/>
              <a:t>process</a:t>
            </a:r>
            <a:r>
              <a:rPr lang="en-MY" dirty="0"/>
              <a:t> based on a </a:t>
            </a:r>
            <a:r>
              <a:rPr lang="en-MY" b="1" dirty="0"/>
              <a:t>program</a:t>
            </a:r>
            <a:r>
              <a:rPr lang="en-MY" dirty="0"/>
              <a:t>, programs work together in an </a:t>
            </a:r>
            <a:r>
              <a:rPr lang="en-MY" b="1" dirty="0"/>
              <a:t>application</a:t>
            </a:r>
            <a:r>
              <a:rPr lang="en-MY" dirty="0"/>
              <a:t>, and all applications are managed by the </a:t>
            </a:r>
            <a:r>
              <a:rPr lang="en-MY" b="1" dirty="0"/>
              <a:t>operating system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Simple Analogy (Real Life Example)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Computer Concept = Real Life Example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Instruction = One step in a recipe (e.g., chop onions)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Task = Preparing the vegetables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Process = Cooking the food right now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Program = The recipe written in a book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Application = A cookbook with many recipes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Operating System = The kitchen and tools that manage all cooking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60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a Thread?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</a:t>
            </a:r>
            <a:r>
              <a:rPr lang="en-MY" b="1" dirty="0"/>
              <a:t>thread</a:t>
            </a:r>
            <a:r>
              <a:rPr lang="en-MY" dirty="0"/>
              <a:t> is like a </a:t>
            </a:r>
            <a:r>
              <a:rPr lang="en-MY" b="1" dirty="0"/>
              <a:t>small worker inside your CPU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helps your computer </a:t>
            </a:r>
            <a:r>
              <a:rPr lang="en-MY" b="1" dirty="0"/>
              <a:t>do tasks</a:t>
            </a:r>
            <a:r>
              <a:rPr lang="en-MY" dirty="0"/>
              <a:t> (run programs).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Single-Core Processor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</a:t>
            </a:r>
            <a:r>
              <a:rPr lang="en-MY" b="1" dirty="0"/>
              <a:t>single-core CPU</a:t>
            </a:r>
            <a:r>
              <a:rPr lang="en-MY" dirty="0"/>
              <a:t> has </a:t>
            </a:r>
            <a:r>
              <a:rPr lang="en-MY" b="1" dirty="0"/>
              <a:t>only one worker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can </a:t>
            </a:r>
            <a:r>
              <a:rPr lang="en-MY" b="1" dirty="0"/>
              <a:t>only work on one thread at a time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So, it does things </a:t>
            </a:r>
            <a:r>
              <a:rPr lang="en-MY" b="1" dirty="0"/>
              <a:t>one by one</a:t>
            </a:r>
            <a:r>
              <a:rPr lang="en-MY" dirty="0"/>
              <a:t>, </a:t>
            </a:r>
            <a:r>
              <a:rPr lang="en-MY" b="1" dirty="0"/>
              <a:t>not truly at the same time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 slide says </a:t>
            </a:r>
            <a:r>
              <a:rPr lang="en-MY" b="1" dirty="0"/>
              <a:t>“Theoretically”</a:t>
            </a:r>
            <a:r>
              <a:rPr lang="en-MY" dirty="0"/>
              <a:t> because: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Even though it </a:t>
            </a:r>
            <a:r>
              <a:rPr lang="en-MY" i="1" dirty="0"/>
              <a:t>looks like</a:t>
            </a:r>
            <a:r>
              <a:rPr lang="en-MY" dirty="0"/>
              <a:t> it’s doing many tasks together (watch video + download file + type text),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Actually, the single worker </a:t>
            </a:r>
            <a:r>
              <a:rPr lang="en-MY" b="1" dirty="0"/>
              <a:t>switches tasks very fast</a:t>
            </a:r>
            <a:r>
              <a:rPr lang="en-MY" dirty="0"/>
              <a:t>, giving an illusion of multitasking.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It’s like </a:t>
            </a:r>
            <a:r>
              <a:rPr lang="en-MY" b="1" dirty="0"/>
              <a:t>one person doing many jobs very quickly, switching between them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Dual-Core Processor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</a:t>
            </a:r>
            <a:r>
              <a:rPr lang="en-MY" b="1" dirty="0"/>
              <a:t>dual-core CPU</a:t>
            </a:r>
            <a:r>
              <a:rPr lang="en-MY" dirty="0"/>
              <a:t> has </a:t>
            </a:r>
            <a:r>
              <a:rPr lang="en-MY" b="1" dirty="0"/>
              <a:t>two workers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These two workers can </a:t>
            </a:r>
            <a:r>
              <a:rPr lang="en-MY" b="1" dirty="0"/>
              <a:t>handle two threads at the same time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means it can truly do </a:t>
            </a:r>
            <a:r>
              <a:rPr lang="en-MY" b="1" dirty="0"/>
              <a:t>real parallel work</a:t>
            </a:r>
            <a:r>
              <a:rPr lang="en-MY" dirty="0"/>
              <a:t>, not just fast switching.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So, dual-core = </a:t>
            </a:r>
            <a:r>
              <a:rPr lang="en-MY" b="1" dirty="0"/>
              <a:t>real multitasking with two workers working together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Summary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CPU Type = How Many Workers? = What It Can Do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Single Core = 1 Worker = Does tasks one by one, but switches quickly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Dual Core = 2 Workers = Can really do two tasks at the same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60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Happening in the Picture?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We have </a:t>
            </a:r>
            <a:r>
              <a:rPr lang="en-MY" b="1" dirty="0"/>
              <a:t>two CPU cores</a:t>
            </a:r>
            <a:r>
              <a:rPr lang="en-MY" dirty="0"/>
              <a:t> (Core 1 and Core 2).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Each core runs a </a:t>
            </a:r>
            <a:r>
              <a:rPr lang="en-MY" b="1" dirty="0"/>
              <a:t>thread</a:t>
            </a:r>
            <a:r>
              <a:rPr lang="en-MY" dirty="0"/>
              <a:t> (Thread-1 and Thread-2).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Both threads want to </a:t>
            </a:r>
            <a:r>
              <a:rPr lang="en-MY" b="1" dirty="0"/>
              <a:t>use the same shared resource</a:t>
            </a:r>
            <a:r>
              <a:rPr lang="en-MY" dirty="0"/>
              <a:t> (like a file, a database, or a variable).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Shared resource means something that both threads want to use together.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Why “ONLY ONE Thread” Can Use It?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Even though we have </a:t>
            </a:r>
            <a:r>
              <a:rPr lang="en-MY" b="1" dirty="0"/>
              <a:t>two cores</a:t>
            </a:r>
            <a:r>
              <a:rPr lang="en-MY" dirty="0"/>
              <a:t>, only </a:t>
            </a:r>
            <a:r>
              <a:rPr lang="en-MY" b="1" dirty="0"/>
              <a:t>one thread is allowed to use the shared resource at a time</a:t>
            </a:r>
            <a:r>
              <a:rPr lang="en-MY" dirty="0"/>
              <a:t>, or else data will get mixed up or corrupted.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Example</a:t>
            </a:r>
            <a:r>
              <a:rPr lang="en-MY" dirty="0"/>
              <a:t>: Imagine two people writing in one notebook at the same time—it becomes messy and unreadable.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So, we let </a:t>
            </a:r>
            <a:r>
              <a:rPr lang="en-MY" b="1" dirty="0"/>
              <a:t>only one person (one thread)</a:t>
            </a:r>
            <a:r>
              <a:rPr lang="en-MY" dirty="0"/>
              <a:t> write at a time.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Why It “CANNOT Perform Parallelism”?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Even though two threads exist and may run on two cores: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They </a:t>
            </a:r>
            <a:r>
              <a:rPr lang="en-MY" b="1" dirty="0"/>
              <a:t>take turns</a:t>
            </a:r>
            <a:r>
              <a:rPr lang="en-MY" dirty="0"/>
              <a:t> to use the shared resource.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So, they are </a:t>
            </a:r>
            <a:r>
              <a:rPr lang="en-MY" b="1" dirty="0"/>
              <a:t>not truly working in parallel on that resource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They are just doing it </a:t>
            </a:r>
            <a:r>
              <a:rPr lang="en-MY" b="1" dirty="0"/>
              <a:t>one after another very fast</a:t>
            </a:r>
            <a:r>
              <a:rPr lang="en-MY" dirty="0"/>
              <a:t> → Not real parallel work.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Solution: Concurrent Threads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Concurrent threads</a:t>
            </a:r>
            <a:r>
              <a:rPr lang="en-MY" dirty="0"/>
              <a:t> means: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Threads </a:t>
            </a:r>
            <a:r>
              <a:rPr lang="en-MY" b="1" dirty="0"/>
              <a:t>share resources safely</a:t>
            </a: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They </a:t>
            </a:r>
            <a:r>
              <a:rPr lang="en-MY" b="1" dirty="0"/>
              <a:t>take turns properly</a:t>
            </a: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There is no data corruption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They can </a:t>
            </a:r>
            <a:r>
              <a:rPr lang="en-MY" b="1" dirty="0"/>
              <a:t>run at the same time</a:t>
            </a:r>
            <a:r>
              <a:rPr lang="en-MY" dirty="0"/>
              <a:t>, but when they need something shared, they </a:t>
            </a:r>
            <a:r>
              <a:rPr lang="en-MY" b="1" dirty="0"/>
              <a:t>wait patiently and share nicely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Concurrency = working together safely (sharing the resource without fighting).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Summary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Term = Meaning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Shared Resource = Something both threads want to 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Only 1 Thread Access = To avoid mistakes or data corruption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No Parallelism = Because they must wait, not use the resource at the same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Concurrent Threads = Safe teamwork: take turns properly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8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a Thread?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</a:t>
            </a:r>
            <a:r>
              <a:rPr lang="en-MY" b="1" dirty="0"/>
              <a:t>thread</a:t>
            </a:r>
            <a:r>
              <a:rPr lang="en-MY" dirty="0"/>
              <a:t> is like a </a:t>
            </a:r>
            <a:r>
              <a:rPr lang="en-MY" b="1" dirty="0"/>
              <a:t>small worker inside a program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</a:t>
            </a:r>
            <a:r>
              <a:rPr lang="en-MY" b="1" dirty="0"/>
              <a:t>executes (runs)</a:t>
            </a:r>
            <a:r>
              <a:rPr lang="en-MY" dirty="0"/>
              <a:t> a part of the program on its own.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Because of threads, a program can do </a:t>
            </a:r>
            <a:r>
              <a:rPr lang="en-MY" b="1" dirty="0"/>
              <a:t>many tasks at the same time</a:t>
            </a:r>
            <a:r>
              <a:rPr lang="en-MY" dirty="0"/>
              <a:t>, either: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Parallelly</a:t>
            </a:r>
            <a:r>
              <a:rPr lang="en-MY" dirty="0"/>
              <a:t> (truly at the same time using multiple CPU cores)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Concurrently</a:t>
            </a:r>
            <a:r>
              <a:rPr lang="en-MY" dirty="0"/>
              <a:t> (taking turns very fast on one or more cores)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In short: </a:t>
            </a:r>
            <a:r>
              <a:rPr lang="en-MY" b="1" dirty="0"/>
              <a:t>A thread is a worker that helps a program do tasks independently and efficiently.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Main Thread and Sub-Threads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Every program automatically starts with </a:t>
            </a:r>
            <a:r>
              <a:rPr lang="en-MY" b="1" dirty="0"/>
              <a:t>one main thread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main thread begins the execution of the program.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If the program needs to do many things at once (like downloading, processing, printing text), then it can create </a:t>
            </a:r>
            <a:r>
              <a:rPr lang="en-MY" b="1" dirty="0"/>
              <a:t>extra threads</a:t>
            </a:r>
            <a:r>
              <a:rPr lang="en-MY" dirty="0"/>
              <a:t>, called </a:t>
            </a:r>
            <a:r>
              <a:rPr lang="en-MY" b="1" dirty="0"/>
              <a:t>sub-threads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These sub-threads are created </a:t>
            </a:r>
            <a:r>
              <a:rPr lang="en-MY" b="1" dirty="0"/>
              <a:t>inside the main thread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Simple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Think of a program like a </a:t>
            </a:r>
            <a:r>
              <a:rPr lang="en-MY" b="1" dirty="0"/>
              <a:t>restaurant kitchen</a:t>
            </a:r>
            <a:r>
              <a:rPr lang="en-MY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The </a:t>
            </a:r>
            <a:r>
              <a:rPr lang="en-MY" b="1" dirty="0"/>
              <a:t>main chef</a:t>
            </a:r>
            <a:r>
              <a:rPr lang="en-MY" dirty="0"/>
              <a:t> = the </a:t>
            </a:r>
            <a:r>
              <a:rPr lang="en-MY" b="1" dirty="0"/>
              <a:t>main thread</a:t>
            </a: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b="1" dirty="0"/>
              <a:t>Helper chefs</a:t>
            </a:r>
            <a:r>
              <a:rPr lang="en-MY" dirty="0"/>
              <a:t> = </a:t>
            </a:r>
            <a:r>
              <a:rPr lang="en-MY" b="1" dirty="0"/>
              <a:t>sub-threads</a:t>
            </a: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 main chef can cook everything alone, but if the work is heavy (many orders), he will call helper chefs (sub-threads) to help.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Summary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Term = Simple Meaning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Thread = A small worker that runs tasks in a program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Main Thread = The first worker that starts the program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Sub-Threads = Extra workers created inside the main thread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Parallel = Tasks happen truly at the same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Concurrent = Tasks take turns very fast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58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This slide compares </a:t>
            </a:r>
            <a:r>
              <a:rPr lang="en-MY" b="1" dirty="0"/>
              <a:t>two ways</a:t>
            </a:r>
            <a:r>
              <a:rPr lang="en-MY" dirty="0"/>
              <a:t> threads can run in a program:</a:t>
            </a:r>
          </a:p>
          <a:p>
            <a:br>
              <a:rPr lang="en-MY" dirty="0"/>
            </a:br>
            <a:r>
              <a:rPr lang="en-MY" b="1" dirty="0"/>
              <a:t>Parallelism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Two threads run </a:t>
            </a:r>
            <a:r>
              <a:rPr lang="en-MY" b="1" dirty="0"/>
              <a:t>at the same exact time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is possible </a:t>
            </a:r>
            <a:r>
              <a:rPr lang="en-MY" b="1" dirty="0"/>
              <a:t>only if the CPU has more than one core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There is </a:t>
            </a:r>
            <a:r>
              <a:rPr lang="en-MY" b="1" dirty="0"/>
              <a:t>no switching between threads</a:t>
            </a:r>
            <a:r>
              <a:rPr lang="en-MY" dirty="0"/>
              <a:t> — each thread has its own CPU core.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Think of </a:t>
            </a:r>
            <a:r>
              <a:rPr lang="en-MY" b="1" dirty="0"/>
              <a:t>two students writing in two different notebooks at the same time</a:t>
            </a:r>
            <a:r>
              <a:rPr lang="en-MY" dirty="0"/>
              <a:t> — both are working continuously without interrupting each other.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In the image: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Blue = Sub-process 1 (Thread-1)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Green = Sub-process 2 (Thread-2)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Both run </a:t>
            </a:r>
            <a:r>
              <a:rPr lang="en-MY" b="1" dirty="0"/>
              <a:t>side by side with no breaks or mixing</a:t>
            </a:r>
            <a:r>
              <a:rPr lang="en-MY" dirty="0"/>
              <a:t> → </a:t>
            </a:r>
            <a:r>
              <a:rPr lang="en-MY" b="1" dirty="0"/>
              <a:t>No Interleaving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Concurrency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Two threads </a:t>
            </a:r>
            <a:r>
              <a:rPr lang="en-MY" b="1" dirty="0"/>
              <a:t>take turns very quickly</a:t>
            </a:r>
            <a:r>
              <a:rPr lang="en-MY" dirty="0"/>
              <a:t>, but not exactly at the same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usually happens on </a:t>
            </a:r>
            <a:r>
              <a:rPr lang="en-MY" b="1" dirty="0"/>
              <a:t>a single-core CPU</a:t>
            </a:r>
            <a:r>
              <a:rPr lang="en-MY" dirty="0"/>
              <a:t> or when sharing a resource.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 CPU </a:t>
            </a:r>
            <a:r>
              <a:rPr lang="en-MY" b="1" dirty="0"/>
              <a:t>switches between threads</a:t>
            </a:r>
            <a:r>
              <a:rPr lang="en-MY" dirty="0"/>
              <a:t> extremely fast.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Think of </a:t>
            </a:r>
            <a:r>
              <a:rPr lang="en-MY" b="1" dirty="0"/>
              <a:t>one student writing in two notebooks by switching back and forth very quickly</a:t>
            </a:r>
            <a:r>
              <a:rPr lang="en-MY" dirty="0"/>
              <a:t> — it looks like both tasks are happening together, but actually the student keeps switching.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In the image: Blue and green blocks </a:t>
            </a:r>
            <a:r>
              <a:rPr lang="en-MY" b="1" dirty="0"/>
              <a:t>alternate (interleaving)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Simple Summary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Feature = Parallelism = Concurrency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Runs at the same time? = Yes = No (takes turns)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Needs multiple CPU cores? = Yes = No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Switching between tasks? = No = Yes (interleaving)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Example = Two people writing at once = One person switching between notes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Final Idea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Parallelism = True simultaneous execution.</a:t>
            </a:r>
            <a:br>
              <a:rPr lang="en-MY" dirty="0"/>
            </a:br>
            <a:r>
              <a:rPr lang="en-MY" b="1" dirty="0"/>
              <a:t>Concurrency = Looks like simultaneous execution (fast switching).</a:t>
            </a:r>
            <a:endParaRPr lang="en-MY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38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What is a Scheduler?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When threads run </a:t>
            </a:r>
            <a:r>
              <a:rPr lang="en-MY" b="1" dirty="0"/>
              <a:t>concurrently</a:t>
            </a:r>
            <a:r>
              <a:rPr lang="en-MY" dirty="0"/>
              <a:t>, they must </a:t>
            </a:r>
            <a:r>
              <a:rPr lang="en-MY" b="1" dirty="0"/>
              <a:t>take turns</a:t>
            </a:r>
            <a:r>
              <a:rPr lang="en-MY" dirty="0"/>
              <a:t> using the CPU.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</a:t>
            </a:r>
            <a:r>
              <a:rPr lang="en-MY" b="1" dirty="0"/>
              <a:t>scheduler</a:t>
            </a:r>
            <a:r>
              <a:rPr lang="en-MY" dirty="0"/>
              <a:t> is like a </a:t>
            </a:r>
            <a:r>
              <a:rPr lang="en-MY" b="1" dirty="0"/>
              <a:t>manager</a:t>
            </a:r>
            <a:r>
              <a:rPr lang="en-MY" dirty="0"/>
              <a:t> who decides which thread gets the CPU at which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Without a scheduler, all threads would fight for the CPU and the program would crash or run very slowly.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What Does the Scheduler Do?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</a:t>
            </a:r>
            <a:r>
              <a:rPr lang="en-MY" b="1" dirty="0"/>
              <a:t>shares CPU time fairly</a:t>
            </a:r>
            <a:r>
              <a:rPr lang="en-MY" dirty="0"/>
              <a:t> among all running threads.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</a:t>
            </a:r>
            <a:r>
              <a:rPr lang="en-MY" b="1" dirty="0"/>
              <a:t>sets priorities</a:t>
            </a:r>
            <a:r>
              <a:rPr lang="en-MY" dirty="0"/>
              <a:t>, meaning some threads can be allowed to run first or run more often.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If thread A has higher priority than thread B, then thread A will get the CPU </a:t>
            </a:r>
            <a:r>
              <a:rPr lang="en-MY" b="1" dirty="0"/>
              <a:t>more frequently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Real Life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Imagine a fast-food restaurant with </a:t>
            </a:r>
            <a:r>
              <a:rPr lang="en-MY" b="1" dirty="0"/>
              <a:t>one cooking station</a:t>
            </a:r>
            <a:r>
              <a:rPr lang="en-MY" dirty="0"/>
              <a:t> (CPU):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Many customers (threads) are waiting to order food.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The </a:t>
            </a:r>
            <a:r>
              <a:rPr lang="en-MY" b="1" dirty="0"/>
              <a:t>cashier</a:t>
            </a:r>
            <a:r>
              <a:rPr lang="en-MY" dirty="0"/>
              <a:t> (scheduler) decides who will be served next.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The cashier can: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serve customers </a:t>
            </a:r>
            <a:r>
              <a:rPr lang="en-MY" b="1" dirty="0"/>
              <a:t>one by one quickly</a:t>
            </a:r>
            <a:endParaRPr lang="en-MY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MY" dirty="0"/>
              <a:t>decide who gets served </a:t>
            </a:r>
            <a:r>
              <a:rPr lang="en-MY" b="1" dirty="0"/>
              <a:t>first</a:t>
            </a:r>
            <a:r>
              <a:rPr lang="en-MY" dirty="0"/>
              <a:t> (priority)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 customers do not fight because the cashier schedules them properly.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Simple Summary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Concept = Meaning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Scheduler = A manager that controls CPU access for threads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Why Needed? = To share CPU time safely and efficiently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What it does? = Gives CPU time and sets priorities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Final Idea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The scheduler makes concurrency possible by controlling when each thread runs.</a:t>
            </a:r>
            <a:endParaRPr lang="en-MY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0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Implementation (How to Create Threads)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slide is telling you </a:t>
            </a:r>
            <a:r>
              <a:rPr lang="en-MY" b="1" dirty="0"/>
              <a:t>how to create threads in Java</a:t>
            </a:r>
            <a:r>
              <a:rPr lang="en-MY" dirty="0"/>
              <a:t> using two different ways.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Two Common Ways to Create Threads in Java:</a:t>
            </a:r>
          </a:p>
          <a:p>
            <a:r>
              <a:rPr lang="en-MY" b="1" dirty="0"/>
              <a:t>1. Using </a:t>
            </a:r>
            <a:r>
              <a:rPr lang="en-MY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extends Thread</a:t>
            </a:r>
            <a:endParaRPr lang="en-MY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You create a new class.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That class </a:t>
            </a:r>
            <a:r>
              <a:rPr lang="en-MY" b="1" dirty="0"/>
              <a:t>extends (inherits) the Thread class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You override the </a:t>
            </a:r>
            <a:r>
              <a:rPr lang="en-MY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run()</a:t>
            </a:r>
            <a:r>
              <a:rPr lang="en-MY" b="1" dirty="0"/>
              <a:t> method</a:t>
            </a:r>
            <a:r>
              <a:rPr lang="en-MY" dirty="0"/>
              <a:t> to define what the thread will 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is shown in: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Ex_1_MultiThreading (extends Thread)</a:t>
            </a:r>
            <a:endParaRPr lang="en-MY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Ex_2_MultiThreading (extends Thread)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2. Using </a:t>
            </a:r>
            <a:r>
              <a:rPr lang="en-MY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implements Runnable</a:t>
            </a:r>
            <a:endParaRPr lang="en-MY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You create a class that </a:t>
            </a:r>
            <a:r>
              <a:rPr lang="en-MY" b="1" dirty="0"/>
              <a:t>implements the Runnable interface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You override the </a:t>
            </a:r>
            <a:r>
              <a:rPr lang="en-MY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run()</a:t>
            </a:r>
            <a:r>
              <a:rPr lang="en-MY" b="1" dirty="0"/>
              <a:t> method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Then, you create a </a:t>
            </a: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en-MY" dirty="0"/>
              <a:t> object and pass the Runnable object to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is shown in: </a:t>
            </a: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Ex_3_MultiThreading (implements Runnable)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Simple Real-Life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extends Thread</a:t>
            </a:r>
            <a:r>
              <a:rPr lang="en-MY" dirty="0"/>
              <a:t> = You </a:t>
            </a:r>
            <a:r>
              <a:rPr lang="en-MY" i="1" dirty="0"/>
              <a:t>are</a:t>
            </a:r>
            <a:r>
              <a:rPr lang="en-MY" dirty="0"/>
              <a:t> the worker.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implements Runnable</a:t>
            </a:r>
            <a:r>
              <a:rPr lang="en-MY" dirty="0"/>
              <a:t> = You </a:t>
            </a:r>
            <a:r>
              <a:rPr lang="en-MY" i="1" dirty="0"/>
              <a:t>give your job</a:t>
            </a:r>
            <a:r>
              <a:rPr lang="en-MY" dirty="0"/>
              <a:t> to a worker (Thread object).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Summary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Method = How? = Good For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extends Thread</a:t>
            </a:r>
            <a:r>
              <a:rPr lang="en-MY" dirty="0"/>
              <a:t> = Inherit Thread class = Simple programs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implements Runnable</a:t>
            </a:r>
            <a:r>
              <a:rPr lang="en-MY" dirty="0"/>
              <a:t> = Use Runnable + pass to Thread = Better for large programs, supports multiple inheritance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89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Why Do We Need Concurrent Programming?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Concurrent programming means </a:t>
            </a:r>
            <a:r>
              <a:rPr lang="en-MY" b="1" dirty="0"/>
              <a:t>doing many tasks at the same time</a:t>
            </a:r>
            <a:r>
              <a:rPr lang="en-MY" dirty="0"/>
              <a:t> using threads. We need it because it makes computers faster, smarter, and more efficient.</a:t>
            </a:r>
          </a:p>
          <a:p>
            <a:br>
              <a:rPr lang="en-MY" dirty="0"/>
            </a:br>
            <a:r>
              <a:rPr lang="en-MY" b="1" dirty="0"/>
              <a:t>1. Speed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If one processor (CPU core) takes </a:t>
            </a:r>
            <a:r>
              <a:rPr lang="en-MY" b="1" dirty="0"/>
              <a:t>t seconds</a:t>
            </a:r>
            <a:r>
              <a:rPr lang="en-MY" dirty="0"/>
              <a:t> to finish a task, Then multiple processors could finish it faster (for example </a:t>
            </a:r>
            <a:r>
              <a:rPr lang="en-MY" b="1" dirty="0"/>
              <a:t>t/n</a:t>
            </a:r>
            <a:r>
              <a:rPr lang="en-MY" dirty="0"/>
              <a:t> seconds with n processors).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So, doing work in parallel </a:t>
            </a:r>
            <a:r>
              <a:rPr lang="en-MY" b="1" dirty="0"/>
              <a:t>makes programs run faster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One person baking 10 cakes = slow.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10 people baking 1 cake each = faster.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2. Availability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If one processor is </a:t>
            </a:r>
            <a:r>
              <a:rPr lang="en-MY" b="1" dirty="0"/>
              <a:t>busy or slow</a:t>
            </a:r>
            <a:r>
              <a:rPr lang="en-MY" dirty="0"/>
              <a:t>, another processor can </a:t>
            </a:r>
            <a:r>
              <a:rPr lang="en-MY" b="1" dirty="0"/>
              <a:t>take over the work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keeps the program running smoothly.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If one cashier at a shop is busy, you go to another cashier.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3.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Processors in </a:t>
            </a:r>
            <a:r>
              <a:rPr lang="en-MY" b="1" dirty="0"/>
              <a:t>different places</a:t>
            </a:r>
            <a:r>
              <a:rPr lang="en-MY" dirty="0"/>
              <a:t> (even different computers) can work together on a bigger problem.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allows teamwork between machines.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Google, YouTube, Amazon use thousands of computers working together to handle millions of users.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4. Humans Do It, So Why Can't Computers?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Humans naturally do many things together: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We </a:t>
            </a:r>
            <a:r>
              <a:rPr lang="en-MY" b="1" dirty="0"/>
              <a:t>see</a:t>
            </a:r>
            <a:r>
              <a:rPr lang="en-MY" dirty="0"/>
              <a:t> and </a:t>
            </a:r>
            <a:r>
              <a:rPr lang="en-MY" b="1" dirty="0"/>
              <a:t>think</a:t>
            </a:r>
            <a:r>
              <a:rPr lang="en-MY" dirty="0"/>
              <a:t> at the same time.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We </a:t>
            </a:r>
            <a:r>
              <a:rPr lang="en-MY" b="1" dirty="0"/>
              <a:t>walk</a:t>
            </a:r>
            <a:r>
              <a:rPr lang="en-MY" dirty="0"/>
              <a:t> and </a:t>
            </a:r>
            <a:r>
              <a:rPr lang="en-MY" b="1" dirty="0"/>
              <a:t>talk</a:t>
            </a:r>
            <a:r>
              <a:rPr lang="en-MY" dirty="0"/>
              <a:t> at the same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Since humans can multitask, computers should also </a:t>
            </a:r>
            <a:r>
              <a:rPr lang="en-MY" b="1" dirty="0"/>
              <a:t>handle multiple tasks together</a:t>
            </a:r>
            <a:r>
              <a:rPr lang="en-MY" dirty="0"/>
              <a:t> for better performance.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Summary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Reason = Benefit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Speed = Tasks finish faster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Availability = If one processor is busy, another helps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Distribution = Multiple processors can work together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Human </a:t>
            </a:r>
            <a:r>
              <a:rPr lang="en-MY" dirty="0" err="1"/>
              <a:t>Behavior</a:t>
            </a:r>
            <a:r>
              <a:rPr lang="en-MY" dirty="0"/>
              <a:t> = Computers should multitask like humans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68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Downsides of Concurrent Programming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Concurrent programming allows a program to do many things at the same time, </a:t>
            </a:r>
            <a:r>
              <a:rPr lang="en-MY" b="1" dirty="0"/>
              <a:t>but it is not always easy or safe</a:t>
            </a:r>
            <a:r>
              <a:rPr lang="en-MY" dirty="0"/>
              <a:t>. It has several challenges that developers must be careful about:</a:t>
            </a:r>
          </a:p>
          <a:p>
            <a:br>
              <a:rPr lang="en-MY" dirty="0"/>
            </a:br>
            <a:r>
              <a:rPr lang="en-MY" b="1" dirty="0"/>
              <a:t>1. Complexity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Writing programs with many threads is </a:t>
            </a:r>
            <a:r>
              <a:rPr lang="en-MY" b="1" dirty="0"/>
              <a:t>hard to design and understand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More threads = more rules to manage.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2. Concurrency Bugs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When threads run together, they can </a:t>
            </a:r>
            <a:r>
              <a:rPr lang="en-MY" b="1" dirty="0"/>
              <a:t>interfere with each other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can cause </a:t>
            </a:r>
            <a:r>
              <a:rPr lang="en-MY" b="1" dirty="0"/>
              <a:t>unexpected errors</a:t>
            </a:r>
            <a:r>
              <a:rPr lang="en-MY" dirty="0"/>
              <a:t> that are difficult to find.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Two threads update the same data at the same time, causing wrong results.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3. Synchronization Overhead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To prevent errors, we use tools like </a:t>
            </a:r>
            <a:r>
              <a:rPr lang="en-MY" b="1" dirty="0"/>
              <a:t>locks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But locking takes time and </a:t>
            </a:r>
            <a:r>
              <a:rPr lang="en-MY" b="1" dirty="0"/>
              <a:t>slows the program down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So concurrency is not always faster.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4. Deadlocks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Two threads can get stuck waiting for each other </a:t>
            </a:r>
            <a:r>
              <a:rPr lang="en-MY" b="1" dirty="0"/>
              <a:t>forever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When this happens, the program freezes.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Thread A waits for Thread B,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Thread B waits for Thread A → </a:t>
            </a:r>
            <a:r>
              <a:rPr lang="en-MY" b="1" dirty="0"/>
              <a:t>nothing moves!</a:t>
            </a:r>
            <a:endParaRPr lang="en-MY" dirty="0"/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5. Resource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Threads share resources like memory and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We must carefully control access or the system may crash or slow down.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6. Testing and Debugging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Errors in concurrent programs </a:t>
            </a:r>
            <a:r>
              <a:rPr lang="en-MY" b="1" dirty="0"/>
              <a:t>do not always happen every time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They may appear </a:t>
            </a:r>
            <a:r>
              <a:rPr lang="en-MY" b="1" dirty="0"/>
              <a:t>only sometimes</a:t>
            </a:r>
            <a:r>
              <a:rPr lang="en-MY" dirty="0"/>
              <a:t>, making them very hard to test and fix.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7. Portability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Different operating systems and CPUs manage threads differently.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A concurrent program that works smoothly on one system </a:t>
            </a:r>
            <a:r>
              <a:rPr lang="en-MY" b="1" dirty="0"/>
              <a:t>may not work well on another system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Summary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Problem = Simple Meaning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Complexity = Hard to design and understand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Bugs = Threads can disrupt each other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Synchronization = Locks slow things down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Deadlocks = Threads can freeze forever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Resource Management = Must share safely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Testing/Debugging = Hard to find rare errors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Portability = Behaves differently on other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436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Concurrency (Summary in Simple English)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Concurrency</a:t>
            </a:r>
            <a:r>
              <a:rPr lang="en-MY" dirty="0"/>
              <a:t> means that </a:t>
            </a:r>
            <a:r>
              <a:rPr lang="en-MY" b="1" dirty="0"/>
              <a:t>at least two tasks are progressing during the same period of time.</a:t>
            </a: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They </a:t>
            </a:r>
            <a:r>
              <a:rPr lang="en-MY" b="1" dirty="0"/>
              <a:t>may not run at exactly the same moment</a:t>
            </a:r>
            <a:r>
              <a:rPr lang="en-MY" dirty="0"/>
              <a:t>, but they </a:t>
            </a:r>
            <a:r>
              <a:rPr lang="en-MY" b="1" dirty="0"/>
              <a:t>take turns very quickly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turning process is called </a:t>
            </a:r>
            <a:r>
              <a:rPr lang="en-MY" b="1" dirty="0"/>
              <a:t>time-slicing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can work even on </a:t>
            </a:r>
            <a:r>
              <a:rPr lang="en-MY" b="1" dirty="0"/>
              <a:t>one CPU core</a:t>
            </a:r>
            <a:r>
              <a:rPr lang="en-MY" dirty="0"/>
              <a:t>, by switching tasks fast.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Concurrency is a </a:t>
            </a:r>
            <a:r>
              <a:rPr lang="en-MY" b="1" dirty="0"/>
              <a:t>broader concept</a:t>
            </a:r>
            <a:r>
              <a:rPr lang="en-MY" dirty="0"/>
              <a:t> that includes parallelism.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One person writes in two notebooks by </a:t>
            </a:r>
            <a:r>
              <a:rPr lang="en-MY" b="1" dirty="0"/>
              <a:t>switching quickly between them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endParaRPr lang="en-MY" b="1" dirty="0"/>
          </a:p>
          <a:p>
            <a:r>
              <a:rPr lang="en-MY" b="1" dirty="0"/>
              <a:t>Parallelism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Parallelism</a:t>
            </a:r>
            <a:r>
              <a:rPr lang="en-MY" dirty="0"/>
              <a:t> means </a:t>
            </a:r>
            <a:r>
              <a:rPr lang="en-MY" b="1" dirty="0"/>
              <a:t>two or more tasks are literally running at the exact same time.</a:t>
            </a: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requires </a:t>
            </a:r>
            <a:r>
              <a:rPr lang="en-MY" b="1" dirty="0"/>
              <a:t>hardware with multiple CPU cores</a:t>
            </a:r>
            <a:r>
              <a:rPr lang="en-MY" dirty="0"/>
              <a:t> or multiple machines.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No switching happens — tasks work </a:t>
            </a:r>
            <a:r>
              <a:rPr lang="en-MY" b="1" dirty="0"/>
              <a:t>side-by-side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Two people writing in two notebooks at </a:t>
            </a:r>
            <a:r>
              <a:rPr lang="en-MY" b="1" dirty="0"/>
              <a:t>the same time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Simple Comparison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Feature = Concurrency = Parallelism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Time = Tasks </a:t>
            </a:r>
            <a:r>
              <a:rPr lang="en-MY" i="1" dirty="0"/>
              <a:t>appear</a:t>
            </a:r>
            <a:r>
              <a:rPr lang="en-MY" dirty="0"/>
              <a:t> to run together = Tasks run </a:t>
            </a:r>
            <a:r>
              <a:rPr lang="en-MY" i="1" dirty="0"/>
              <a:t>exactly</a:t>
            </a:r>
            <a:r>
              <a:rPr lang="en-MY" dirty="0"/>
              <a:t> at the same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Hardware = Can use 1 CPU = Requires multi-core CPU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Technique = Uses fast switching (time slicing) = No switching needed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Example = One person switching tasks = Two people working together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Final Idea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Concurrency is about dealing with many tasks at once.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Parallelism is about doing many tasks at the same exact time.</a:t>
            </a:r>
            <a:endParaRPr lang="en-MY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205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Conclusion Point: How All Concepts Fit Together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 picture shows the relationship between </a:t>
            </a:r>
            <a:r>
              <a:rPr lang="en-MY" b="1" dirty="0"/>
              <a:t>Concurrency</a:t>
            </a:r>
            <a:r>
              <a:rPr lang="en-MY" dirty="0"/>
              <a:t>, </a:t>
            </a:r>
            <a:r>
              <a:rPr lang="en-MY" b="1" dirty="0"/>
              <a:t>Multitasking</a:t>
            </a:r>
            <a:r>
              <a:rPr lang="en-MY" dirty="0"/>
              <a:t>, and </a:t>
            </a:r>
            <a:r>
              <a:rPr lang="en-MY" b="1" dirty="0"/>
              <a:t>Parallelism</a:t>
            </a:r>
            <a:r>
              <a:rPr lang="en-MY" dirty="0"/>
              <a:t>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1. Concurrency (Largest Concept)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Concurrency is the </a:t>
            </a:r>
            <a:r>
              <a:rPr lang="en-MY" b="1" dirty="0"/>
              <a:t>big overall idea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means handling </a:t>
            </a:r>
            <a:r>
              <a:rPr lang="en-MY" b="1" dirty="0"/>
              <a:t>many tasks during the same period</a:t>
            </a:r>
            <a:r>
              <a:rPr lang="en-MY" dirty="0"/>
              <a:t>, even if they don’t happen at exactly the same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Concurrency includes </a:t>
            </a:r>
            <a:r>
              <a:rPr lang="en-MY" b="1" dirty="0"/>
              <a:t>all ways of doing multiple tasks</a:t>
            </a:r>
            <a:r>
              <a:rPr lang="en-MY" dirty="0"/>
              <a:t>, not just parallel 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You switch quickly between replying messages, eating food, and watching TV.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2. Multitasking (Inside Concurrency)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Multitasking is a </a:t>
            </a:r>
            <a:r>
              <a:rPr lang="en-MY" b="1" dirty="0"/>
              <a:t>part of concurrency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means your system can </a:t>
            </a:r>
            <a:r>
              <a:rPr lang="en-MY" b="1" dirty="0"/>
              <a:t>manage multiple tasks together</a:t>
            </a:r>
            <a:r>
              <a:rPr lang="en-MY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 tasks might be done by switching fast (concurrent) or truly at the same time (parallel).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Using a computer while music is playing in the background.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3. Parallelism (Inside Multitasking)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Parallelism is a </a:t>
            </a:r>
            <a:r>
              <a:rPr lang="en-MY" b="1" dirty="0"/>
              <a:t>special case</a:t>
            </a:r>
            <a:r>
              <a:rPr lang="en-MY" dirty="0"/>
              <a:t> of multitasking.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It happens </a:t>
            </a:r>
            <a:r>
              <a:rPr lang="en-MY" b="1" dirty="0"/>
              <a:t>only when tasks truly run at the same time</a:t>
            </a:r>
            <a:r>
              <a:rPr lang="en-MY" dirty="0"/>
              <a:t>, using multiple CPU cores.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This is the most advanced type of concurrency.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Example: Two CPU cores processing two tasks at the exact same moment.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4. Other Concurrency Concepts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These include: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Time slicing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Asynchronous programming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Thread scheduling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Synchronization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Locks, semaphores, deadlocks,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These are </a:t>
            </a:r>
            <a:r>
              <a:rPr lang="en-MY" b="1" dirty="0"/>
              <a:t>not parallelism</a:t>
            </a:r>
            <a:r>
              <a:rPr lang="en-MY" dirty="0"/>
              <a:t>, but they help make concurrency work safely.</a:t>
            </a:r>
          </a:p>
          <a:p>
            <a:br>
              <a:rPr lang="en-MY" dirty="0"/>
            </a:br>
            <a:endParaRPr lang="en-MY" dirty="0"/>
          </a:p>
          <a:p>
            <a:r>
              <a:rPr lang="en-MY" b="1" dirty="0"/>
              <a:t>Final Summary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dirty="0"/>
              <a:t>Concept = Simple Meaning = Needs Multiple Cores?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Concurrency = Many tasks in the same time frame = No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Multitasking = System handles multiple tasks = No (but can use multiple cores)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MY" dirty="0"/>
              <a:t>Parallelism = Tasks run at the exact same time = Yes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MY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b="1" dirty="0"/>
              <a:t>Parallelism is a subset of Multitasking, and Multitasking is a subset of Concurrency.</a:t>
            </a:r>
            <a:endParaRPr lang="en-MY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FF993-5C5D-4947-A73D-BD813CBD549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96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 u="sng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 u="sng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 u="sng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 u="sng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843" y="415568"/>
            <a:ext cx="7695748" cy="1232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 u="sng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0680" y="2015673"/>
            <a:ext cx="8877039" cy="282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12" Type="http://schemas.openxmlformats.org/officeDocument/2006/relationships/image" Target="../media/image21.png"/><Relationship Id="rId17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jpg"/><Relationship Id="rId15" Type="http://schemas.openxmlformats.org/officeDocument/2006/relationships/image" Target="../media/image24.jpg"/><Relationship Id="rId10" Type="http://schemas.openxmlformats.org/officeDocument/2006/relationships/image" Target="../media/image19.png"/><Relationship Id="rId19" Type="http://schemas.openxmlformats.org/officeDocument/2006/relationships/image" Target="../media/image28.jp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g"/><Relationship Id="rId13" Type="http://schemas.openxmlformats.org/officeDocument/2006/relationships/image" Target="../media/image62.jpg"/><Relationship Id="rId3" Type="http://schemas.openxmlformats.org/officeDocument/2006/relationships/image" Target="../media/image52.jpg"/><Relationship Id="rId7" Type="http://schemas.openxmlformats.org/officeDocument/2006/relationships/image" Target="../media/image56.jpg"/><Relationship Id="rId12" Type="http://schemas.openxmlformats.org/officeDocument/2006/relationships/image" Target="../media/image61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11" Type="http://schemas.openxmlformats.org/officeDocument/2006/relationships/image" Target="../media/image60.jp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jpg"/><Relationship Id="rId4" Type="http://schemas.openxmlformats.org/officeDocument/2006/relationships/image" Target="../media/image53.png"/><Relationship Id="rId9" Type="http://schemas.openxmlformats.org/officeDocument/2006/relationships/image" Target="../media/image58.jpg"/><Relationship Id="rId14" Type="http://schemas.openxmlformats.org/officeDocument/2006/relationships/image" Target="../media/image63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g"/><Relationship Id="rId13" Type="http://schemas.openxmlformats.org/officeDocument/2006/relationships/image" Target="../media/image63.jpg"/><Relationship Id="rId3" Type="http://schemas.openxmlformats.org/officeDocument/2006/relationships/image" Target="../media/image52.jpg"/><Relationship Id="rId7" Type="http://schemas.openxmlformats.org/officeDocument/2006/relationships/image" Target="../media/image65.jpg"/><Relationship Id="rId12" Type="http://schemas.openxmlformats.org/officeDocument/2006/relationships/image" Target="../media/image68.png"/><Relationship Id="rId17" Type="http://schemas.openxmlformats.org/officeDocument/2006/relationships/image" Target="../media/image64.png"/><Relationship Id="rId2" Type="http://schemas.openxmlformats.org/officeDocument/2006/relationships/image" Target="../media/image51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11" Type="http://schemas.openxmlformats.org/officeDocument/2006/relationships/image" Target="../media/image61.jpg"/><Relationship Id="rId5" Type="http://schemas.openxmlformats.org/officeDocument/2006/relationships/image" Target="../media/image54.png"/><Relationship Id="rId15" Type="http://schemas.openxmlformats.org/officeDocument/2006/relationships/image" Target="../media/image70.png"/><Relationship Id="rId10" Type="http://schemas.openxmlformats.org/officeDocument/2006/relationships/image" Target="../media/image67.jpg"/><Relationship Id="rId4" Type="http://schemas.openxmlformats.org/officeDocument/2006/relationships/image" Target="../media/image53.png"/><Relationship Id="rId9" Type="http://schemas.openxmlformats.org/officeDocument/2006/relationships/image" Target="../media/image66.png"/><Relationship Id="rId14" Type="http://schemas.openxmlformats.org/officeDocument/2006/relationships/image" Target="../media/image6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0058400" cy="3771900"/>
          </a:xfrm>
          <a:custGeom>
            <a:avLst/>
            <a:gdLst/>
            <a:ahLst/>
            <a:cxnLst/>
            <a:rect l="l" t="t" r="r" b="b"/>
            <a:pathLst>
              <a:path w="10058400" h="3771900">
                <a:moveTo>
                  <a:pt x="10058400" y="3771900"/>
                </a:moveTo>
                <a:lnTo>
                  <a:pt x="0" y="37719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3771900"/>
                </a:lnTo>
                <a:close/>
              </a:path>
            </a:pathLst>
          </a:custGeom>
          <a:solidFill>
            <a:srgbClr val="A1C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95800" y="1922821"/>
            <a:ext cx="5186680" cy="10979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52855" marR="5080" indent="-1240790">
              <a:lnSpc>
                <a:spcPct val="100600"/>
              </a:lnSpc>
              <a:spcBef>
                <a:spcPts val="90"/>
              </a:spcBef>
            </a:pPr>
            <a:r>
              <a:rPr sz="3500" dirty="0">
                <a:latin typeface="Arial MT"/>
                <a:cs typeface="Arial MT"/>
              </a:rPr>
              <a:t>Introduction</a:t>
            </a:r>
            <a:r>
              <a:rPr sz="3500" spc="-5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to</a:t>
            </a:r>
            <a:r>
              <a:rPr sz="3500" spc="-5" dirty="0">
                <a:latin typeface="Arial MT"/>
                <a:cs typeface="Arial MT"/>
              </a:rPr>
              <a:t> </a:t>
            </a:r>
            <a:r>
              <a:rPr sz="3500" spc="-10" dirty="0">
                <a:latin typeface="Arial MT"/>
                <a:cs typeface="Arial MT"/>
              </a:rPr>
              <a:t>Concurrent Programming</a:t>
            </a:r>
            <a:endParaRPr sz="35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984875" cy="9061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4150" b="0" u="none" dirty="0">
                <a:solidFill>
                  <a:srgbClr val="000000"/>
                </a:solidFill>
                <a:latin typeface="Arial MT"/>
                <a:cs typeface="Arial MT"/>
              </a:rPr>
              <a:t>Concurrent</a:t>
            </a:r>
            <a:r>
              <a:rPr sz="4150" b="0" u="none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150" b="0" u="none" spc="-10" dirty="0">
                <a:solidFill>
                  <a:srgbClr val="000000"/>
                </a:solidFill>
                <a:latin typeface="Arial MT"/>
                <a:cs typeface="Arial MT"/>
              </a:rPr>
              <a:t>Programming</a:t>
            </a:r>
            <a:endParaRPr sz="415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500" b="0" u="none" dirty="0">
                <a:solidFill>
                  <a:srgbClr val="000000"/>
                </a:solidFill>
                <a:latin typeface="Arial MT"/>
                <a:cs typeface="Arial MT"/>
              </a:rPr>
              <a:t>CT074-3-2</a:t>
            </a:r>
            <a:r>
              <a:rPr sz="1500" b="0" u="none" spc="1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u="none" dirty="0">
                <a:solidFill>
                  <a:srgbClr val="000000"/>
                </a:solidFill>
                <a:latin typeface="Arial MT"/>
                <a:cs typeface="Arial MT"/>
              </a:rPr>
              <a:t>Version</a:t>
            </a:r>
            <a:r>
              <a:rPr sz="1500" b="0" u="none" spc="1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u="none" spc="-20" dirty="0">
                <a:solidFill>
                  <a:srgbClr val="000000"/>
                </a:solidFill>
                <a:latin typeface="Arial MT"/>
                <a:cs typeface="Arial MT"/>
              </a:rPr>
              <a:t>0120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45F8862-CAAF-A9D5-A033-3653C7BA1F61}"/>
              </a:ext>
            </a:extLst>
          </p:cNvPr>
          <p:cNvSpPr txBox="1"/>
          <p:nvPr/>
        </p:nvSpPr>
        <p:spPr>
          <a:xfrm>
            <a:off x="0" y="4659298"/>
            <a:ext cx="6096000" cy="2632772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970"/>
              </a:spcBef>
              <a:buFont typeface="Arial MT"/>
              <a:buChar char="•"/>
              <a:tabLst>
                <a:tab pos="390525" algn="l"/>
              </a:tabLst>
            </a:pPr>
            <a:r>
              <a:rPr sz="2000" b="1" dirty="0">
                <a:latin typeface="Arial"/>
                <a:cs typeface="Arial"/>
              </a:rPr>
              <a:t>Introduction</a:t>
            </a:r>
            <a:r>
              <a:rPr sz="2000" b="1" spc="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Concurrent</a:t>
            </a:r>
            <a:r>
              <a:rPr sz="2000" b="1" spc="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Programming</a:t>
            </a:r>
            <a:r>
              <a:rPr sz="2400" spc="-10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515620">
              <a:lnSpc>
                <a:spcPct val="100000"/>
              </a:lnSpc>
              <a:spcBef>
                <a:spcPts val="78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Concurrency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abstract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parallelism</a:t>
            </a:r>
            <a:endParaRPr sz="2000" dirty="0">
              <a:latin typeface="Arial MT"/>
              <a:cs typeface="Arial MT"/>
            </a:endParaRPr>
          </a:p>
          <a:p>
            <a:pPr marL="828675" lvl="1" indent="-313055">
              <a:lnSpc>
                <a:spcPct val="100000"/>
              </a:lnSpc>
              <a:spcBef>
                <a:spcPts val="780"/>
              </a:spcBef>
              <a:buChar char="–"/>
              <a:tabLst>
                <a:tab pos="82867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challenge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concurrent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programming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775"/>
              </a:spcBef>
              <a:buFont typeface="Arial MT"/>
              <a:buChar char="–"/>
            </a:pPr>
            <a:endParaRPr sz="2000" dirty="0">
              <a:latin typeface="Arial MT"/>
              <a:cs typeface="Arial MT"/>
            </a:endParaRPr>
          </a:p>
          <a:p>
            <a:pPr marL="390525" indent="-378460">
              <a:lnSpc>
                <a:spcPct val="100000"/>
              </a:lnSpc>
              <a:buFont typeface="Arial MT"/>
              <a:buChar char="•"/>
              <a:tabLst>
                <a:tab pos="390525" algn="l"/>
                <a:tab pos="515620" algn="l"/>
              </a:tabLst>
            </a:pPr>
            <a:r>
              <a:rPr sz="2000" b="1" dirty="0">
                <a:latin typeface="Arial"/>
                <a:cs typeface="Arial"/>
              </a:rPr>
              <a:t>Introduction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Parallel</a:t>
            </a:r>
            <a:r>
              <a:rPr sz="2000" b="1" spc="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Programming</a:t>
            </a:r>
            <a:r>
              <a:rPr sz="2400" spc="-10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828675" lvl="1" indent="-313055">
              <a:lnSpc>
                <a:spcPct val="100000"/>
              </a:lnSpc>
              <a:spcBef>
                <a:spcPts val="790"/>
              </a:spcBef>
              <a:buChar char="–"/>
              <a:tabLst>
                <a:tab pos="82867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challenge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parallel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programming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E0B602BB-8DA6-328C-D7D1-91B3DA722C34}"/>
              </a:ext>
            </a:extLst>
          </p:cNvPr>
          <p:cNvSpPr txBox="1">
            <a:spLocks/>
          </p:cNvSpPr>
          <p:nvPr/>
        </p:nvSpPr>
        <p:spPr>
          <a:xfrm>
            <a:off x="-27305" y="3790315"/>
            <a:ext cx="74187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>
              <a:defRPr sz="3950" b="1" i="0" u="sng">
                <a:solidFill>
                  <a:srgbClr val="003366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10"/>
              </a:spcBef>
            </a:pPr>
            <a:r>
              <a:rPr lang="en-MY" u="none" spc="-40" dirty="0">
                <a:solidFill>
                  <a:srgbClr val="212167"/>
                </a:solidFill>
                <a:latin typeface="Tahoma"/>
                <a:cs typeface="Tahoma"/>
              </a:rPr>
              <a:t>Topic</a:t>
            </a:r>
            <a:r>
              <a:rPr lang="en-MY" u="none" spc="-254" dirty="0">
                <a:solidFill>
                  <a:srgbClr val="212167"/>
                </a:solidFill>
                <a:latin typeface="Tahoma"/>
                <a:cs typeface="Tahoma"/>
              </a:rPr>
              <a:t> </a:t>
            </a:r>
            <a:r>
              <a:rPr lang="en-MY" u="none" spc="-405" dirty="0">
                <a:solidFill>
                  <a:srgbClr val="212167"/>
                </a:solidFill>
                <a:latin typeface="Tahoma"/>
                <a:cs typeface="Tahoma"/>
              </a:rPr>
              <a:t>&amp;</a:t>
            </a:r>
            <a:r>
              <a:rPr lang="en-MY" u="none" spc="-45" dirty="0">
                <a:solidFill>
                  <a:srgbClr val="212167"/>
                </a:solidFill>
                <a:latin typeface="Tahoma"/>
                <a:cs typeface="Tahoma"/>
              </a:rPr>
              <a:t> </a:t>
            </a:r>
            <a:r>
              <a:rPr lang="en-MY" u="none" spc="-225" dirty="0">
                <a:solidFill>
                  <a:srgbClr val="212167"/>
                </a:solidFill>
                <a:latin typeface="Tahoma"/>
                <a:cs typeface="Tahoma"/>
              </a:rPr>
              <a:t>Structure</a:t>
            </a:r>
            <a:r>
              <a:rPr lang="en-MY" u="none" spc="-65" dirty="0">
                <a:solidFill>
                  <a:srgbClr val="212167"/>
                </a:solidFill>
                <a:latin typeface="Tahoma"/>
                <a:cs typeface="Tahoma"/>
              </a:rPr>
              <a:t> </a:t>
            </a:r>
            <a:r>
              <a:rPr lang="en-MY" u="none" spc="-100" dirty="0">
                <a:solidFill>
                  <a:srgbClr val="212167"/>
                </a:solidFill>
                <a:latin typeface="Tahoma"/>
                <a:cs typeface="Tahoma"/>
              </a:rPr>
              <a:t>of</a:t>
            </a:r>
            <a:r>
              <a:rPr lang="en-MY" u="none" spc="-155" dirty="0">
                <a:solidFill>
                  <a:srgbClr val="212167"/>
                </a:solidFill>
                <a:latin typeface="Tahoma"/>
                <a:cs typeface="Tahoma"/>
              </a:rPr>
              <a:t> </a:t>
            </a:r>
            <a:r>
              <a:rPr lang="en-MY" u="none" spc="-254" dirty="0">
                <a:solidFill>
                  <a:srgbClr val="212167"/>
                </a:solidFill>
                <a:latin typeface="Tahoma"/>
                <a:cs typeface="Tahoma"/>
              </a:rPr>
              <a:t>The</a:t>
            </a:r>
            <a:r>
              <a:rPr lang="en-MY" u="none" spc="-50" dirty="0">
                <a:solidFill>
                  <a:srgbClr val="212167"/>
                </a:solidFill>
                <a:latin typeface="Tahoma"/>
                <a:cs typeface="Tahoma"/>
              </a:rPr>
              <a:t> </a:t>
            </a:r>
            <a:r>
              <a:rPr lang="en-MY" u="none" spc="-114" dirty="0">
                <a:solidFill>
                  <a:srgbClr val="212167"/>
                </a:solidFill>
                <a:latin typeface="Tahoma"/>
                <a:cs typeface="Tahoma"/>
              </a:rPr>
              <a:t>Lesson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9024" y="39707"/>
            <a:ext cx="7695748" cy="893454"/>
          </a:xfrm>
          <a:prstGeom prst="rect">
            <a:avLst/>
          </a:prstGeom>
        </p:spPr>
        <p:txBody>
          <a:bodyPr vert="horz" wrap="square" lIns="0" tIns="351413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114"/>
              </a:spcBef>
            </a:pPr>
            <a:r>
              <a:rPr sz="3500" u="none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sz="3500" u="none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500" u="none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sz="3500" u="none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500" u="none" dirty="0">
                <a:solidFill>
                  <a:srgbClr val="000000"/>
                </a:solidFill>
                <a:latin typeface="Arial MT"/>
                <a:cs typeface="Arial MT"/>
              </a:rPr>
              <a:t>Concurrent</a:t>
            </a:r>
            <a:r>
              <a:rPr sz="3500" u="none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500" u="none" spc="-10" dirty="0">
                <a:solidFill>
                  <a:srgbClr val="000000"/>
                </a:solidFill>
                <a:latin typeface="Arial MT"/>
                <a:cs typeface="Arial MT"/>
              </a:rPr>
              <a:t>Programming?</a:t>
            </a:r>
            <a:endParaRPr sz="35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631" y="1304289"/>
            <a:ext cx="9220369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90525" marR="5080" indent="-378460">
              <a:lnSpc>
                <a:spcPts val="3170"/>
              </a:lnSpc>
              <a:spcBef>
                <a:spcPts val="195"/>
              </a:spcBef>
              <a:buChar char="•"/>
              <a:tabLst>
                <a:tab pos="390525" algn="l"/>
              </a:tabLst>
            </a:pPr>
            <a:r>
              <a:rPr sz="2650" dirty="0">
                <a:latin typeface="Arial MT"/>
                <a:cs typeface="Arial MT"/>
              </a:rPr>
              <a:t>Before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we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can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define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Concurrent</a:t>
            </a:r>
            <a:r>
              <a:rPr sz="2650" spc="-7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Programming,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we</a:t>
            </a:r>
            <a:r>
              <a:rPr sz="2650" spc="-120" dirty="0">
                <a:latin typeface="Arial MT"/>
                <a:cs typeface="Arial MT"/>
              </a:rPr>
              <a:t> </a:t>
            </a:r>
            <a:r>
              <a:rPr sz="2650" spc="-20" dirty="0">
                <a:latin typeface="Arial MT"/>
                <a:cs typeface="Arial MT"/>
              </a:rPr>
              <a:t>need </a:t>
            </a:r>
            <a:r>
              <a:rPr sz="2650" dirty="0">
                <a:latin typeface="Arial MT"/>
                <a:cs typeface="Arial MT"/>
              </a:rPr>
              <a:t>to</a:t>
            </a:r>
            <a:r>
              <a:rPr sz="2650" spc="-11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understand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some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terminologies.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1" y="3026919"/>
            <a:ext cx="2011679" cy="7726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07020" y="3178798"/>
            <a:ext cx="114236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10" dirty="0">
                <a:latin typeface="Arial"/>
                <a:cs typeface="Arial"/>
              </a:rPr>
              <a:t>Thread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6705" y="2723643"/>
            <a:ext cx="2668523" cy="12176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858295" y="2937979"/>
            <a:ext cx="1642110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362585">
              <a:lnSpc>
                <a:spcPts val="3170"/>
              </a:lnSpc>
              <a:spcBef>
                <a:spcPts val="195"/>
              </a:spcBef>
            </a:pPr>
            <a:r>
              <a:rPr sz="2650" b="1" spc="-10" dirty="0">
                <a:latin typeface="Arial"/>
                <a:cs typeface="Arial"/>
              </a:rPr>
              <a:t>Multi- </a:t>
            </a:r>
            <a:r>
              <a:rPr sz="2650" b="1" spc="-20" dirty="0">
                <a:latin typeface="Arial"/>
                <a:cs typeface="Arial"/>
              </a:rPr>
              <a:t>Threading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09232" y="2752600"/>
            <a:ext cx="2426207" cy="7650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20785" y="2901471"/>
            <a:ext cx="140335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10" dirty="0">
                <a:latin typeface="Arial"/>
                <a:cs typeface="Arial"/>
              </a:rPr>
              <a:t>Program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4313" y="4086100"/>
            <a:ext cx="2211324" cy="76962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74198" y="4238009"/>
            <a:ext cx="132842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10" dirty="0">
                <a:latin typeface="Arial"/>
                <a:cs typeface="Arial"/>
              </a:rPr>
              <a:t>Process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06824" y="4282695"/>
            <a:ext cx="2016251" cy="76809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34204" y="4434626"/>
            <a:ext cx="76517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/>
                <a:cs typeface="Arial"/>
              </a:rPr>
              <a:t>Task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71132" y="3837688"/>
            <a:ext cx="2011679" cy="76809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79011" y="3986548"/>
            <a:ext cx="120142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10" dirty="0">
                <a:latin typeface="Arial"/>
                <a:cs typeface="Arial"/>
              </a:rPr>
              <a:t>Priority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5000" y="5250436"/>
            <a:ext cx="2933700" cy="121767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504895" y="5466333"/>
            <a:ext cx="1737995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55880">
              <a:lnSpc>
                <a:spcPts val="3170"/>
              </a:lnSpc>
              <a:spcBef>
                <a:spcPts val="195"/>
              </a:spcBef>
            </a:pPr>
            <a:r>
              <a:rPr sz="2650" b="1" spc="-10" dirty="0">
                <a:latin typeface="Arial"/>
                <a:cs typeface="Arial"/>
              </a:rPr>
              <a:t>Dedicated </a:t>
            </a:r>
            <a:r>
              <a:rPr sz="2650" b="1" spc="-20" dirty="0">
                <a:latin typeface="Arial"/>
                <a:cs typeface="Arial"/>
              </a:rPr>
              <a:t>Resources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62017" y="5043172"/>
            <a:ext cx="2935223" cy="122224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062010" y="5260549"/>
            <a:ext cx="1737995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287655">
              <a:lnSpc>
                <a:spcPts val="3170"/>
              </a:lnSpc>
              <a:spcBef>
                <a:spcPts val="195"/>
              </a:spcBef>
            </a:pPr>
            <a:r>
              <a:rPr sz="2650" b="1" spc="-10" dirty="0">
                <a:latin typeface="Arial"/>
                <a:cs typeface="Arial"/>
              </a:rPr>
              <a:t>Shared </a:t>
            </a:r>
            <a:r>
              <a:rPr sz="2650" b="1" spc="-20" dirty="0">
                <a:latin typeface="Arial"/>
                <a:cs typeface="Arial"/>
              </a:rPr>
              <a:t>Resources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20053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466215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u="none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u="none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u="none" spc="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Program?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303555"/>
            <a:ext cx="9525000" cy="2466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8620" marR="554990" indent="-376555" algn="just">
              <a:lnSpc>
                <a:spcPct val="101000"/>
              </a:lnSpc>
              <a:spcBef>
                <a:spcPts val="95"/>
              </a:spcBef>
              <a:buChar char="•"/>
              <a:tabLst>
                <a:tab pos="390525" algn="l"/>
              </a:tabLst>
            </a:pPr>
            <a:r>
              <a:rPr sz="3050" dirty="0">
                <a:latin typeface="Arial MT"/>
                <a:cs typeface="Arial MT"/>
              </a:rPr>
              <a:t>A</a:t>
            </a:r>
            <a:r>
              <a:rPr sz="3050" spc="4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set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of</a:t>
            </a:r>
            <a:r>
              <a:rPr sz="3050" spc="4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instructions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given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to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computer</a:t>
            </a:r>
            <a:r>
              <a:rPr sz="3050" spc="2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to 	</a:t>
            </a:r>
            <a:r>
              <a:rPr sz="3050" dirty="0">
                <a:latin typeface="Arial MT"/>
                <a:cs typeface="Arial MT"/>
              </a:rPr>
              <a:t>achieve</a:t>
            </a:r>
            <a:r>
              <a:rPr sz="3050" spc="4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specific</a:t>
            </a:r>
            <a:r>
              <a:rPr sz="3050" spc="6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goal.</a:t>
            </a:r>
            <a:endParaRPr sz="3050" dirty="0">
              <a:latin typeface="Arial MT"/>
              <a:cs typeface="Arial MT"/>
            </a:endParaRPr>
          </a:p>
          <a:p>
            <a:pPr marL="388620" marR="5080" indent="-376555" algn="just">
              <a:lnSpc>
                <a:spcPct val="101000"/>
              </a:lnSpc>
              <a:spcBef>
                <a:spcPts val="735"/>
              </a:spcBef>
              <a:buChar char="•"/>
              <a:tabLst>
                <a:tab pos="390525" algn="l"/>
              </a:tabLst>
            </a:pPr>
            <a:r>
              <a:rPr sz="3050" dirty="0">
                <a:latin typeface="Arial MT"/>
                <a:cs typeface="Arial MT"/>
              </a:rPr>
              <a:t>Example: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b="1" dirty="0">
                <a:latin typeface="Arial"/>
                <a:cs typeface="Arial"/>
              </a:rPr>
              <a:t>Program</a:t>
            </a:r>
            <a:r>
              <a:rPr sz="3050" b="1" spc="25" dirty="0">
                <a:latin typeface="Arial"/>
                <a:cs typeface="Arial"/>
              </a:rPr>
              <a:t> </a:t>
            </a:r>
            <a:r>
              <a:rPr sz="3050" dirty="0">
                <a:latin typeface="Arial MT"/>
                <a:cs typeface="Arial MT"/>
              </a:rPr>
              <a:t>to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calculate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2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area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of</a:t>
            </a:r>
            <a:r>
              <a:rPr sz="3050" spc="45" dirty="0">
                <a:latin typeface="Arial MT"/>
                <a:cs typeface="Arial MT"/>
              </a:rPr>
              <a:t> </a:t>
            </a:r>
            <a:r>
              <a:rPr sz="3050" spc="-50" dirty="0">
                <a:latin typeface="Arial MT"/>
                <a:cs typeface="Arial MT"/>
              </a:rPr>
              <a:t>a 	</a:t>
            </a:r>
            <a:r>
              <a:rPr sz="3050" dirty="0">
                <a:latin typeface="Arial MT"/>
                <a:cs typeface="Arial MT"/>
              </a:rPr>
              <a:t>rectangle</a:t>
            </a:r>
            <a:r>
              <a:rPr sz="3050" spc="4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with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given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side</a:t>
            </a:r>
            <a:r>
              <a:rPr sz="3050" spc="4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lengths</a:t>
            </a:r>
            <a:r>
              <a:rPr sz="3050" spc="3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entered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by</a:t>
            </a:r>
            <a:r>
              <a:rPr sz="3050" spc="30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the 	</a:t>
            </a:r>
            <a:r>
              <a:rPr sz="3050" spc="-10" dirty="0">
                <a:latin typeface="Arial MT"/>
                <a:cs typeface="Arial MT"/>
              </a:rPr>
              <a:t>user.</a:t>
            </a:r>
            <a:endParaRPr sz="30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0208" y="3858126"/>
            <a:ext cx="5170932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1326" y="152400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061085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u="none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u="none" spc="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 Application?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159573"/>
            <a:ext cx="9144000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90525" marR="5080" indent="-378460">
              <a:lnSpc>
                <a:spcPts val="3170"/>
              </a:lnSpc>
              <a:spcBef>
                <a:spcPts val="195"/>
              </a:spcBef>
              <a:buChar char="•"/>
              <a:tabLst>
                <a:tab pos="390525" algn="l"/>
              </a:tabLst>
            </a:pPr>
            <a:r>
              <a:rPr sz="2650" dirty="0">
                <a:latin typeface="Arial MT"/>
                <a:cs typeface="Arial MT"/>
              </a:rPr>
              <a:t>An</a:t>
            </a:r>
            <a:r>
              <a:rPr sz="2650" spc="1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Application</a:t>
            </a:r>
            <a:r>
              <a:rPr sz="2650" spc="14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consists</a:t>
            </a:r>
            <a:r>
              <a:rPr sz="2650" spc="1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of</a:t>
            </a:r>
            <a:r>
              <a:rPr sz="2650" spc="1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</a:t>
            </a:r>
            <a:r>
              <a:rPr sz="2650" spc="14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single</a:t>
            </a:r>
            <a:r>
              <a:rPr sz="2650" spc="14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or</a:t>
            </a:r>
            <a:r>
              <a:rPr sz="2650" spc="1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multiple</a:t>
            </a:r>
            <a:r>
              <a:rPr sz="2650" spc="114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Programs </a:t>
            </a:r>
            <a:r>
              <a:rPr sz="2650" dirty="0">
                <a:latin typeface="Arial MT"/>
                <a:cs typeface="Arial MT"/>
              </a:rPr>
              <a:t>to</a:t>
            </a:r>
            <a:r>
              <a:rPr sz="2650" spc="-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achieve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the</a:t>
            </a:r>
            <a:r>
              <a:rPr sz="2650" spc="-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desired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goal(s).</a:t>
            </a:r>
            <a:endParaRPr sz="26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054" y="2590800"/>
            <a:ext cx="9314946" cy="28661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1160" indent="-378460" algn="l">
              <a:lnSpc>
                <a:spcPts val="3175"/>
              </a:lnSpc>
              <a:spcBef>
                <a:spcPts val="90"/>
              </a:spcBef>
              <a:buFontTx/>
              <a:buChar char="•"/>
              <a:tabLst>
                <a:tab pos="391160" algn="l"/>
                <a:tab pos="2124710" algn="l"/>
                <a:tab pos="3726179" algn="l"/>
              </a:tabLst>
            </a:pPr>
            <a:r>
              <a:rPr sz="2650" dirty="0">
                <a:solidFill>
                  <a:schemeClr val="tx1"/>
                </a:solidFill>
                <a:latin typeface="Arial MT"/>
                <a:cs typeface="Arial MT"/>
              </a:rPr>
              <a:t>Example:</a:t>
            </a:r>
            <a:r>
              <a:rPr lang="en-MY" sz="26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chemeClr val="tx1"/>
                </a:solidFill>
                <a:latin typeface="Arial MT"/>
                <a:cs typeface="Arial MT"/>
              </a:rPr>
              <a:t>E-Wallet</a:t>
            </a:r>
            <a:r>
              <a:rPr lang="en-MY" sz="26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650" b="1" u="sng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Application</a:t>
            </a:r>
            <a:r>
              <a:rPr lang="en-MY" sz="265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2650" dirty="0">
                <a:solidFill>
                  <a:schemeClr val="tx1"/>
                </a:solidFill>
                <a:latin typeface="Arial MT"/>
                <a:cs typeface="Arial MT"/>
              </a:rPr>
              <a:t>consists of many</a:t>
            </a:r>
          </a:p>
          <a:p>
            <a:pPr marL="391160" indent="-378460" algn="l">
              <a:lnSpc>
                <a:spcPts val="3175"/>
              </a:lnSpc>
              <a:spcBef>
                <a:spcPts val="90"/>
              </a:spcBef>
              <a:buChar char="•"/>
              <a:tabLst>
                <a:tab pos="391160" algn="l"/>
                <a:tab pos="2124710" algn="l"/>
                <a:tab pos="3726179" algn="l"/>
              </a:tabLst>
            </a:pPr>
            <a:endParaRPr sz="26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90525" algn="l">
              <a:lnSpc>
                <a:spcPts val="3175"/>
              </a:lnSpc>
            </a:pPr>
            <a:r>
              <a:rPr sz="2650" dirty="0">
                <a:solidFill>
                  <a:schemeClr val="tx1"/>
                </a:solidFill>
                <a:latin typeface="Arial MT"/>
                <a:cs typeface="Arial MT"/>
              </a:rPr>
              <a:t>Programs such as:</a:t>
            </a:r>
          </a:p>
          <a:p>
            <a:pPr marL="830580" lvl="1" indent="-315595" algn="l">
              <a:lnSpc>
                <a:spcPct val="100000"/>
              </a:lnSpc>
              <a:spcBef>
                <a:spcPts val="530"/>
              </a:spcBef>
              <a:buChar char="–"/>
              <a:tabLst>
                <a:tab pos="830580" algn="l"/>
              </a:tabLst>
            </a:pPr>
            <a:r>
              <a:rPr sz="2200" dirty="0">
                <a:solidFill>
                  <a:schemeClr val="tx1"/>
                </a:solidFill>
                <a:latin typeface="Arial MT"/>
                <a:cs typeface="Arial MT"/>
              </a:rPr>
              <a:t>Program-1: Money Transfer</a:t>
            </a:r>
          </a:p>
          <a:p>
            <a:pPr marL="830580" lvl="1" indent="-315595" algn="l">
              <a:lnSpc>
                <a:spcPct val="100000"/>
              </a:lnSpc>
              <a:spcBef>
                <a:spcPts val="530"/>
              </a:spcBef>
              <a:buChar char="–"/>
              <a:tabLst>
                <a:tab pos="830580" algn="l"/>
              </a:tabLst>
            </a:pPr>
            <a:r>
              <a:rPr sz="2200" dirty="0">
                <a:solidFill>
                  <a:schemeClr val="tx1"/>
                </a:solidFill>
                <a:latin typeface="Arial MT"/>
                <a:cs typeface="Arial MT"/>
              </a:rPr>
              <a:t>Program-2: e-shopping</a:t>
            </a:r>
          </a:p>
          <a:p>
            <a:pPr marL="830580" lvl="1" indent="-315595" algn="l">
              <a:lnSpc>
                <a:spcPct val="100000"/>
              </a:lnSpc>
              <a:spcBef>
                <a:spcPts val="525"/>
              </a:spcBef>
              <a:buChar char="–"/>
              <a:tabLst>
                <a:tab pos="830580" algn="l"/>
              </a:tabLst>
            </a:pPr>
            <a:r>
              <a:rPr sz="2200" dirty="0">
                <a:solidFill>
                  <a:schemeClr val="tx1"/>
                </a:solidFill>
                <a:latin typeface="Arial MT"/>
                <a:cs typeface="Arial MT"/>
              </a:rPr>
              <a:t>Program-3: Parking Payment</a:t>
            </a:r>
          </a:p>
          <a:p>
            <a:pPr marL="830580" lvl="1" indent="-315595" algn="l">
              <a:lnSpc>
                <a:spcPct val="100000"/>
              </a:lnSpc>
              <a:spcBef>
                <a:spcPts val="530"/>
              </a:spcBef>
              <a:buChar char="–"/>
              <a:tabLst>
                <a:tab pos="830580" algn="l"/>
              </a:tabLst>
            </a:pPr>
            <a:r>
              <a:rPr sz="2200" dirty="0">
                <a:solidFill>
                  <a:schemeClr val="tx1"/>
                </a:solidFill>
                <a:latin typeface="Arial MT"/>
                <a:cs typeface="Arial MT"/>
              </a:rPr>
              <a:t>….etc.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9211" y="3384803"/>
            <a:ext cx="2276855" cy="3698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81597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u="none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u="none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Operating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 System?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90680" y="2015673"/>
            <a:ext cx="8877039" cy="32365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marR="5080" indent="-378460">
              <a:lnSpc>
                <a:spcPct val="100899"/>
              </a:lnSpc>
              <a:spcBef>
                <a:spcPts val="95"/>
              </a:spcBef>
              <a:buChar char="•"/>
              <a:tabLst>
                <a:tab pos="392430" algn="l"/>
              </a:tabLst>
            </a:pPr>
            <a:r>
              <a:rPr dirty="0"/>
              <a:t>An</a:t>
            </a:r>
            <a:r>
              <a:rPr spc="100" dirty="0"/>
              <a:t> </a:t>
            </a:r>
            <a:r>
              <a:rPr dirty="0"/>
              <a:t>Operating</a:t>
            </a:r>
            <a:r>
              <a:rPr spc="125" dirty="0"/>
              <a:t> </a:t>
            </a:r>
            <a:r>
              <a:rPr dirty="0"/>
              <a:t>system</a:t>
            </a:r>
            <a:r>
              <a:rPr spc="160" dirty="0"/>
              <a:t> </a:t>
            </a:r>
            <a:r>
              <a:rPr dirty="0"/>
              <a:t>consists</a:t>
            </a:r>
            <a:r>
              <a:rPr spc="14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dirty="0"/>
              <a:t>many</a:t>
            </a:r>
            <a:r>
              <a:rPr spc="120" dirty="0"/>
              <a:t> </a:t>
            </a:r>
            <a:r>
              <a:rPr dirty="0"/>
              <a:t>Applications</a:t>
            </a:r>
            <a:r>
              <a:rPr spc="114" dirty="0"/>
              <a:t> </a:t>
            </a:r>
            <a:r>
              <a:rPr dirty="0"/>
              <a:t>those</a:t>
            </a:r>
            <a:r>
              <a:rPr spc="125" dirty="0"/>
              <a:t> </a:t>
            </a:r>
            <a:r>
              <a:rPr spc="-25" dirty="0"/>
              <a:t>are </a:t>
            </a:r>
            <a:r>
              <a:rPr dirty="0"/>
              <a:t>made</a:t>
            </a:r>
            <a:r>
              <a:rPr spc="10" dirty="0"/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dirty="0"/>
              <a:t>various</a:t>
            </a:r>
            <a:r>
              <a:rPr spc="5" dirty="0"/>
              <a:t> </a:t>
            </a:r>
            <a:r>
              <a:rPr spc="-10" dirty="0"/>
              <a:t>duties.</a:t>
            </a:r>
            <a:endParaRPr lang="en-MY" spc="-10" dirty="0"/>
          </a:p>
          <a:p>
            <a:pPr marL="391795" marR="5080" indent="-378460">
              <a:lnSpc>
                <a:spcPct val="100899"/>
              </a:lnSpc>
              <a:spcBef>
                <a:spcPts val="95"/>
              </a:spcBef>
              <a:buChar char="•"/>
              <a:tabLst>
                <a:tab pos="392430" algn="l"/>
              </a:tabLst>
            </a:pPr>
            <a:endParaRPr spc="-10" dirty="0"/>
          </a:p>
          <a:p>
            <a:pPr marL="391795" marR="5715" indent="-378460">
              <a:lnSpc>
                <a:spcPct val="100899"/>
              </a:lnSpc>
              <a:spcBef>
                <a:spcPts val="585"/>
              </a:spcBef>
              <a:buChar char="•"/>
              <a:tabLst>
                <a:tab pos="392430" algn="l"/>
                <a:tab pos="1809114" algn="l"/>
                <a:tab pos="3194050" algn="l"/>
                <a:tab pos="4575810" algn="l"/>
                <a:tab pos="6163945" algn="l"/>
                <a:tab pos="7359650" algn="l"/>
                <a:tab pos="8604885" algn="l"/>
              </a:tabLst>
            </a:pPr>
            <a:r>
              <a:rPr spc="-10" dirty="0"/>
              <a:t>Example:</a:t>
            </a:r>
            <a:r>
              <a:rPr dirty="0"/>
              <a:t>	</a:t>
            </a:r>
            <a:r>
              <a:rPr spc="-10" dirty="0"/>
              <a:t>Microsoft</a:t>
            </a:r>
            <a:r>
              <a:rPr dirty="0"/>
              <a:t>	</a:t>
            </a:r>
            <a:r>
              <a:rPr spc="-10" dirty="0"/>
              <a:t>Windows</a:t>
            </a:r>
            <a:r>
              <a:rPr dirty="0"/>
              <a:t>	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Operating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system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pc="-10" dirty="0"/>
              <a:t>consists</a:t>
            </a:r>
            <a:r>
              <a:rPr dirty="0"/>
              <a:t>	</a:t>
            </a:r>
            <a:r>
              <a:rPr spc="-25" dirty="0"/>
              <a:t>of </a:t>
            </a:r>
            <a:r>
              <a:rPr dirty="0"/>
              <a:t>tens</a:t>
            </a:r>
            <a:r>
              <a:rPr spc="1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Applications:</a:t>
            </a:r>
          </a:p>
          <a:p>
            <a:pPr marL="830580" marR="6350" lvl="1" indent="-314325">
              <a:lnSpc>
                <a:spcPct val="100899"/>
              </a:lnSpc>
              <a:spcBef>
                <a:spcPts val="575"/>
              </a:spcBef>
              <a:buFont typeface="Arial MT"/>
              <a:buChar char="–"/>
              <a:tabLst>
                <a:tab pos="831215" algn="l"/>
                <a:tab pos="1760855" algn="l"/>
                <a:tab pos="3842385" algn="l"/>
                <a:tab pos="4328795" algn="l"/>
                <a:tab pos="5006340" algn="l"/>
                <a:tab pos="5664835" algn="l"/>
                <a:tab pos="7179309" algn="l"/>
                <a:tab pos="7921625" algn="l"/>
              </a:tabLst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Core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Applications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run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hardware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mange </a:t>
            </a:r>
            <a:r>
              <a:rPr sz="2400" dirty="0">
                <a:latin typeface="Arial MT"/>
                <a:cs typeface="Arial MT"/>
              </a:rPr>
              <a:t>resources,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as:</a:t>
            </a:r>
            <a:endParaRPr sz="2400" dirty="0">
              <a:latin typeface="Arial MT"/>
              <a:cs typeface="Arial MT"/>
            </a:endParaRPr>
          </a:p>
          <a:p>
            <a:pPr marL="1271905" lvl="2" indent="-252095">
              <a:lnSpc>
                <a:spcPct val="100000"/>
              </a:lnSpc>
              <a:spcBef>
                <a:spcPts val="600"/>
              </a:spcBef>
              <a:buChar char="•"/>
              <a:tabLst>
                <a:tab pos="1272540" algn="l"/>
              </a:tabLst>
            </a:pPr>
            <a:r>
              <a:rPr sz="2400" dirty="0">
                <a:latin typeface="Arial MT"/>
                <a:cs typeface="Arial MT"/>
              </a:rPr>
              <a:t>File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Explorer,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Windows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registry,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Kernal,…etc.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7266" y="5867400"/>
            <a:ext cx="6589395" cy="1207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 marR="301625" indent="-314325">
              <a:lnSpc>
                <a:spcPct val="100899"/>
              </a:lnSpc>
              <a:spcBef>
                <a:spcPts val="95"/>
              </a:spcBef>
              <a:buFont typeface="Arial MT"/>
              <a:buChar char="–"/>
              <a:tabLst>
                <a:tab pos="326390" algn="l"/>
                <a:tab pos="2336165" algn="l"/>
                <a:tab pos="4558665" algn="l"/>
                <a:tab pos="528764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Third-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Party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Applications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spc="-25" dirty="0">
                <a:latin typeface="Arial MT"/>
                <a:cs typeface="Arial MT"/>
              </a:rPr>
              <a:t>for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various </a:t>
            </a:r>
            <a:r>
              <a:rPr sz="2400" dirty="0">
                <a:latin typeface="Arial MT"/>
                <a:cs typeface="Arial MT"/>
              </a:rPr>
              <a:t>specialties,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as:</a:t>
            </a:r>
            <a:endParaRPr sz="2400" dirty="0">
              <a:latin typeface="Arial MT"/>
              <a:cs typeface="Arial MT"/>
            </a:endParaRPr>
          </a:p>
          <a:p>
            <a:pPr marL="767715" lvl="1" indent="-252095">
              <a:lnSpc>
                <a:spcPct val="100000"/>
              </a:lnSpc>
              <a:spcBef>
                <a:spcPts val="615"/>
              </a:spcBef>
              <a:buChar char="•"/>
              <a:tabLst>
                <a:tab pos="767715" algn="l"/>
              </a:tabLst>
            </a:pPr>
            <a:r>
              <a:rPr sz="2400" dirty="0">
                <a:latin typeface="Arial MT"/>
                <a:cs typeface="Arial MT"/>
              </a:rPr>
              <a:t>Photoshop,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Excel,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PDF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reader,..etc.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4682" y="5334966"/>
            <a:ext cx="1729739" cy="394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203960" algn="l"/>
              </a:tabLst>
            </a:pPr>
            <a:r>
              <a:rPr sz="2400" spc="-10" dirty="0">
                <a:latin typeface="Arial MT"/>
                <a:cs typeface="Arial MT"/>
              </a:rPr>
              <a:t>duties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1326" y="12032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144905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u="none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u="none" spc="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 instruction?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295400"/>
            <a:ext cx="9601200" cy="48980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8620" marR="270510" indent="-376555">
              <a:lnSpc>
                <a:spcPct val="101000"/>
              </a:lnSpc>
              <a:spcBef>
                <a:spcPts val="95"/>
              </a:spcBef>
              <a:buChar char="•"/>
              <a:tabLst>
                <a:tab pos="390525" algn="l"/>
              </a:tabLst>
            </a:pPr>
            <a:r>
              <a:rPr sz="3050" dirty="0">
                <a:latin typeface="Arial MT"/>
                <a:cs typeface="Arial MT"/>
              </a:rPr>
              <a:t>An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instruction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is</a:t>
            </a:r>
            <a:r>
              <a:rPr sz="3050" spc="3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single</a:t>
            </a:r>
            <a:r>
              <a:rPr sz="3050" spc="5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command</a:t>
            </a:r>
            <a:r>
              <a:rPr sz="3050" spc="5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given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to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the 	</a:t>
            </a:r>
            <a:r>
              <a:rPr sz="3050" dirty="0">
                <a:latin typeface="Arial MT"/>
                <a:cs typeface="Arial MT"/>
              </a:rPr>
              <a:t>computer</a:t>
            </a:r>
            <a:r>
              <a:rPr sz="3050" spc="2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beside</a:t>
            </a:r>
            <a:r>
              <a:rPr sz="3050" spc="4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others</a:t>
            </a:r>
            <a:r>
              <a:rPr sz="3050" spc="3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to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achieve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</a:t>
            </a:r>
            <a:r>
              <a:rPr sz="3050" spc="45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goal.</a:t>
            </a:r>
            <a:endParaRPr lang="en-MY" sz="3050" spc="-10" dirty="0">
              <a:latin typeface="Arial MT"/>
              <a:cs typeface="Arial MT"/>
            </a:endParaRPr>
          </a:p>
          <a:p>
            <a:pPr marL="388620" marR="270510" indent="-376555">
              <a:lnSpc>
                <a:spcPct val="101000"/>
              </a:lnSpc>
              <a:spcBef>
                <a:spcPts val="95"/>
              </a:spcBef>
              <a:buChar char="•"/>
              <a:tabLst>
                <a:tab pos="390525" algn="l"/>
              </a:tabLst>
            </a:pPr>
            <a:endParaRPr sz="3050" dirty="0">
              <a:latin typeface="Arial MT"/>
              <a:cs typeface="Arial MT"/>
            </a:endParaRPr>
          </a:p>
          <a:p>
            <a:pPr marL="388620" marR="5080" indent="-376555">
              <a:lnSpc>
                <a:spcPct val="101000"/>
              </a:lnSpc>
              <a:spcBef>
                <a:spcPts val="735"/>
              </a:spcBef>
              <a:buChar char="•"/>
              <a:tabLst>
                <a:tab pos="390525" algn="l"/>
              </a:tabLst>
            </a:pPr>
            <a:r>
              <a:rPr sz="3050" dirty="0">
                <a:latin typeface="Arial MT"/>
                <a:cs typeface="Arial MT"/>
              </a:rPr>
              <a:t>Example: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program</a:t>
            </a:r>
            <a:r>
              <a:rPr sz="3050" b="1" spc="10" dirty="0">
                <a:latin typeface="Arial"/>
                <a:cs typeface="Arial"/>
              </a:rPr>
              <a:t> </a:t>
            </a:r>
            <a:r>
              <a:rPr sz="3050" dirty="0">
                <a:latin typeface="Arial MT"/>
                <a:cs typeface="Arial MT"/>
              </a:rPr>
              <a:t>to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calculate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2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area</a:t>
            </a:r>
            <a:r>
              <a:rPr sz="3050" spc="5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of</a:t>
            </a:r>
            <a:r>
              <a:rPr sz="3050" spc="50" dirty="0">
                <a:latin typeface="Arial MT"/>
                <a:cs typeface="Arial MT"/>
              </a:rPr>
              <a:t> </a:t>
            </a:r>
            <a:r>
              <a:rPr sz="3050" spc="-50" dirty="0">
                <a:latin typeface="Arial MT"/>
                <a:cs typeface="Arial MT"/>
              </a:rPr>
              <a:t>a 	</a:t>
            </a:r>
            <a:r>
              <a:rPr sz="3050" dirty="0">
                <a:latin typeface="Arial MT"/>
                <a:cs typeface="Arial MT"/>
              </a:rPr>
              <a:t>rectangle</a:t>
            </a:r>
            <a:r>
              <a:rPr sz="3050" spc="3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with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given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side</a:t>
            </a:r>
            <a:r>
              <a:rPr sz="3050" spc="4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lengths</a:t>
            </a:r>
            <a:r>
              <a:rPr sz="3050" spc="3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by the</a:t>
            </a:r>
            <a:r>
              <a:rPr sz="3050" spc="1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user</a:t>
            </a:r>
            <a:r>
              <a:rPr sz="3050" spc="2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has 	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following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Instructions</a:t>
            </a:r>
            <a:r>
              <a:rPr sz="3050" spc="-10" dirty="0">
                <a:latin typeface="Arial MT"/>
                <a:cs typeface="Arial MT"/>
              </a:rPr>
              <a:t>:</a:t>
            </a:r>
            <a:endParaRPr sz="3050" dirty="0">
              <a:latin typeface="Arial MT"/>
              <a:cs typeface="Arial MT"/>
            </a:endParaRPr>
          </a:p>
          <a:p>
            <a:pPr marL="829944" lvl="1" indent="-314960">
              <a:lnSpc>
                <a:spcPct val="100000"/>
              </a:lnSpc>
              <a:spcBef>
                <a:spcPts val="640"/>
              </a:spcBef>
              <a:buChar char="–"/>
              <a:tabLst>
                <a:tab pos="829944" algn="l"/>
              </a:tabLst>
            </a:pPr>
            <a:r>
              <a:rPr sz="2650" spc="-25" dirty="0">
                <a:latin typeface="Arial MT"/>
                <a:cs typeface="Arial MT"/>
              </a:rPr>
              <a:t>Instruction-</a:t>
            </a:r>
            <a:r>
              <a:rPr sz="2650" dirty="0">
                <a:latin typeface="Arial MT"/>
                <a:cs typeface="Arial MT"/>
              </a:rPr>
              <a:t>1:</a:t>
            </a:r>
            <a:r>
              <a:rPr sz="2650" spc="-1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Getting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User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Input</a:t>
            </a:r>
            <a:r>
              <a:rPr sz="2650" spc="-4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–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Length.</a:t>
            </a:r>
            <a:endParaRPr sz="2650" dirty="0">
              <a:latin typeface="Arial MT"/>
              <a:cs typeface="Arial MT"/>
            </a:endParaRPr>
          </a:p>
          <a:p>
            <a:pPr marL="829944" lvl="1" indent="-314960">
              <a:lnSpc>
                <a:spcPct val="100000"/>
              </a:lnSpc>
              <a:spcBef>
                <a:spcPts val="625"/>
              </a:spcBef>
              <a:buChar char="–"/>
              <a:tabLst>
                <a:tab pos="829944" algn="l"/>
              </a:tabLst>
            </a:pPr>
            <a:r>
              <a:rPr sz="2650" spc="-25" dirty="0">
                <a:latin typeface="Arial MT"/>
                <a:cs typeface="Arial MT"/>
              </a:rPr>
              <a:t>Instruction-</a:t>
            </a:r>
            <a:r>
              <a:rPr sz="2650" dirty="0">
                <a:latin typeface="Arial MT"/>
                <a:cs typeface="Arial MT"/>
              </a:rPr>
              <a:t>2:</a:t>
            </a:r>
            <a:r>
              <a:rPr sz="2650" spc="-1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Getting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User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Input</a:t>
            </a:r>
            <a:r>
              <a:rPr sz="2650" spc="-4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–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Width.</a:t>
            </a:r>
            <a:endParaRPr sz="2650" dirty="0">
              <a:latin typeface="Arial MT"/>
              <a:cs typeface="Arial MT"/>
            </a:endParaRPr>
          </a:p>
          <a:p>
            <a:pPr marL="829944" lvl="1" indent="-314960">
              <a:lnSpc>
                <a:spcPct val="100000"/>
              </a:lnSpc>
              <a:spcBef>
                <a:spcPts val="620"/>
              </a:spcBef>
              <a:buChar char="–"/>
              <a:tabLst>
                <a:tab pos="829944" algn="l"/>
              </a:tabLst>
            </a:pPr>
            <a:r>
              <a:rPr sz="2650" spc="-25" dirty="0">
                <a:latin typeface="Arial MT"/>
                <a:cs typeface="Arial MT"/>
              </a:rPr>
              <a:t>Instruction-</a:t>
            </a:r>
            <a:r>
              <a:rPr sz="2650" dirty="0">
                <a:latin typeface="Arial MT"/>
                <a:cs typeface="Arial MT"/>
              </a:rPr>
              <a:t>3: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Calculate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the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rectangle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area.</a:t>
            </a:r>
            <a:endParaRPr sz="2650" dirty="0">
              <a:latin typeface="Arial MT"/>
              <a:cs typeface="Arial MT"/>
            </a:endParaRPr>
          </a:p>
          <a:p>
            <a:pPr marL="829944" lvl="1" indent="-314960">
              <a:lnSpc>
                <a:spcPct val="100000"/>
              </a:lnSpc>
              <a:spcBef>
                <a:spcPts val="625"/>
              </a:spcBef>
              <a:buChar char="–"/>
              <a:tabLst>
                <a:tab pos="829944" algn="l"/>
              </a:tabLst>
            </a:pPr>
            <a:r>
              <a:rPr sz="2650" spc="-25" dirty="0">
                <a:latin typeface="Arial MT"/>
                <a:cs typeface="Arial MT"/>
              </a:rPr>
              <a:t>Instruction-</a:t>
            </a:r>
            <a:r>
              <a:rPr sz="2650" dirty="0">
                <a:latin typeface="Arial MT"/>
                <a:cs typeface="Arial MT"/>
              </a:rPr>
              <a:t>4:</a:t>
            </a:r>
            <a:r>
              <a:rPr sz="2650" spc="-1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Print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the</a:t>
            </a:r>
            <a:r>
              <a:rPr sz="2650" spc="-3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results</a:t>
            </a:r>
            <a:r>
              <a:rPr sz="2650" spc="-4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on</a:t>
            </a:r>
            <a:r>
              <a:rPr sz="2650" spc="-30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screen.</a:t>
            </a:r>
            <a:endParaRPr sz="26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23888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522730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u="none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u="none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u="none" spc="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Process?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302197"/>
            <a:ext cx="9372600" cy="33592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8620" marR="5080" indent="-376555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90525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3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3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3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implementation</a:t>
            </a:r>
            <a:r>
              <a:rPr sz="2200" spc="3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3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3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real</a:t>
            </a:r>
            <a:r>
              <a:rPr sz="2200" spc="2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program.</a:t>
            </a:r>
            <a:r>
              <a:rPr sz="2200" spc="3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relation 	</a:t>
            </a: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3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</a:t>
            </a:r>
            <a:r>
              <a:rPr sz="2200" spc="3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3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3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3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like</a:t>
            </a:r>
            <a:r>
              <a:rPr sz="2200" spc="3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3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relation</a:t>
            </a:r>
            <a:r>
              <a:rPr sz="2200" spc="3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3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Class 	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Object.</a:t>
            </a:r>
            <a:endParaRPr sz="2200" dirty="0">
              <a:latin typeface="Arial MT"/>
              <a:cs typeface="Arial MT"/>
            </a:endParaRPr>
          </a:p>
          <a:p>
            <a:pPr marL="388620" marR="96520" indent="-376555">
              <a:lnSpc>
                <a:spcPct val="100000"/>
              </a:lnSpc>
              <a:spcBef>
                <a:spcPts val="530"/>
              </a:spcBef>
              <a:buChar char="•"/>
              <a:tabLst>
                <a:tab pos="390525" algn="l"/>
              </a:tabLst>
            </a:pPr>
            <a:r>
              <a:rPr sz="2200" dirty="0">
                <a:latin typeface="Arial MT"/>
                <a:cs typeface="Arial MT"/>
              </a:rPr>
              <a:t>Example: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program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calculate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rectangle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50" dirty="0">
                <a:latin typeface="Arial MT"/>
                <a:cs typeface="Arial MT"/>
              </a:rPr>
              <a:t> a 	</a:t>
            </a:r>
            <a:r>
              <a:rPr sz="2200" dirty="0">
                <a:latin typeface="Arial MT"/>
                <a:cs typeface="Arial MT"/>
              </a:rPr>
              <a:t>given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side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lengths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user,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called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Process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once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been 	</a:t>
            </a:r>
            <a:r>
              <a:rPr sz="2200" dirty="0">
                <a:latin typeface="Arial MT"/>
                <a:cs typeface="Arial MT"/>
              </a:rPr>
              <a:t>executed.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following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Tasks</a:t>
            </a:r>
            <a:r>
              <a:rPr sz="2200" spc="-10" dirty="0">
                <a:latin typeface="Arial MT"/>
                <a:cs typeface="Arial MT"/>
              </a:rPr>
              <a:t>:</a:t>
            </a:r>
            <a:endParaRPr lang="en-MY" sz="2200" spc="-10" dirty="0">
              <a:latin typeface="Arial MT"/>
              <a:cs typeface="Arial MT"/>
            </a:endParaRPr>
          </a:p>
          <a:p>
            <a:pPr marL="388620" marR="96520" indent="-376555">
              <a:lnSpc>
                <a:spcPct val="100000"/>
              </a:lnSpc>
              <a:spcBef>
                <a:spcPts val="530"/>
              </a:spcBef>
              <a:buChar char="•"/>
              <a:tabLst>
                <a:tab pos="390525" algn="l"/>
              </a:tabLst>
            </a:pPr>
            <a:endParaRPr sz="2200" dirty="0">
              <a:latin typeface="Arial MT"/>
              <a:cs typeface="Arial MT"/>
            </a:endParaRPr>
          </a:p>
          <a:p>
            <a:pPr marL="830580" lvl="1" indent="-314960">
              <a:lnSpc>
                <a:spcPct val="100000"/>
              </a:lnSpc>
              <a:spcBef>
                <a:spcPts val="615"/>
              </a:spcBef>
              <a:buChar char="–"/>
              <a:tabLst>
                <a:tab pos="830580" algn="l"/>
              </a:tabLst>
            </a:pPr>
            <a:r>
              <a:rPr sz="2650" spc="-25" dirty="0">
                <a:latin typeface="Arial MT"/>
                <a:cs typeface="Arial MT"/>
              </a:rPr>
              <a:t>Sub-Process-1:</a:t>
            </a:r>
            <a:endParaRPr sz="2650" dirty="0">
              <a:latin typeface="Arial MT"/>
              <a:cs typeface="Arial MT"/>
            </a:endParaRPr>
          </a:p>
          <a:p>
            <a:pPr marL="1269365" lvl="2" indent="-250825">
              <a:lnSpc>
                <a:spcPct val="100000"/>
              </a:lnSpc>
              <a:spcBef>
                <a:spcPts val="520"/>
              </a:spcBef>
              <a:buChar char="•"/>
              <a:tabLst>
                <a:tab pos="1269365" algn="l"/>
              </a:tabLst>
            </a:pPr>
            <a:r>
              <a:rPr sz="1950" dirty="0">
                <a:latin typeface="Arial MT"/>
                <a:cs typeface="Arial MT"/>
              </a:rPr>
              <a:t>Task-1: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Getting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User’s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Inputs:</a:t>
            </a:r>
            <a:endParaRPr sz="19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68" y="4671749"/>
            <a:ext cx="4956175" cy="2637901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00" indent="-252095">
              <a:lnSpc>
                <a:spcPct val="100000"/>
              </a:lnSpc>
              <a:spcBef>
                <a:spcPts val="509"/>
              </a:spcBef>
              <a:buChar char="–"/>
              <a:tabLst>
                <a:tab pos="1270000" algn="l"/>
              </a:tabLst>
            </a:pPr>
            <a:r>
              <a:rPr sz="1500" dirty="0">
                <a:latin typeface="Arial MT"/>
                <a:cs typeface="Arial MT"/>
              </a:rPr>
              <a:t>Instruction-1: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Getting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User</a:t>
            </a:r>
            <a:r>
              <a:rPr sz="1500" spc="9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Input</a:t>
            </a:r>
            <a:r>
              <a:rPr sz="1500" spc="9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–</a:t>
            </a:r>
            <a:r>
              <a:rPr sz="1500" spc="9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Length.</a:t>
            </a:r>
            <a:endParaRPr sz="1500" dirty="0">
              <a:latin typeface="Arial MT"/>
              <a:cs typeface="Arial MT"/>
            </a:endParaRPr>
          </a:p>
          <a:p>
            <a:pPr marL="1270000" indent="-252095">
              <a:lnSpc>
                <a:spcPct val="100000"/>
              </a:lnSpc>
              <a:spcBef>
                <a:spcPts val="420"/>
              </a:spcBef>
              <a:buChar char="–"/>
              <a:tabLst>
                <a:tab pos="1270000" algn="l"/>
              </a:tabLst>
            </a:pPr>
            <a:r>
              <a:rPr sz="1500" dirty="0">
                <a:latin typeface="Arial MT"/>
                <a:cs typeface="Arial MT"/>
              </a:rPr>
              <a:t>Instruction-2: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Getting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User</a:t>
            </a:r>
            <a:r>
              <a:rPr sz="1500" spc="9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Input</a:t>
            </a:r>
            <a:r>
              <a:rPr sz="1500" spc="9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–</a:t>
            </a:r>
            <a:r>
              <a:rPr sz="1500" spc="9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Width.</a:t>
            </a:r>
            <a:endParaRPr sz="1500" dirty="0">
              <a:latin typeface="Arial MT"/>
              <a:cs typeface="Arial MT"/>
            </a:endParaRPr>
          </a:p>
          <a:p>
            <a:pPr marL="766445" indent="-251460">
              <a:lnSpc>
                <a:spcPct val="100000"/>
              </a:lnSpc>
              <a:spcBef>
                <a:spcPts val="500"/>
              </a:spcBef>
              <a:buChar char="•"/>
              <a:tabLst>
                <a:tab pos="766445" algn="l"/>
              </a:tabLst>
            </a:pPr>
            <a:r>
              <a:rPr sz="1950" dirty="0">
                <a:latin typeface="Arial MT"/>
                <a:cs typeface="Arial MT"/>
              </a:rPr>
              <a:t>Task-2: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Calculation</a:t>
            </a:r>
            <a:endParaRPr sz="1950" dirty="0">
              <a:latin typeface="Arial MT"/>
              <a:cs typeface="Arial MT"/>
            </a:endParaRPr>
          </a:p>
          <a:p>
            <a:pPr marL="1017905">
              <a:lnSpc>
                <a:spcPct val="100000"/>
              </a:lnSpc>
              <a:spcBef>
                <a:spcPts val="425"/>
              </a:spcBef>
              <a:tabLst>
                <a:tab pos="1270000" algn="l"/>
              </a:tabLst>
            </a:pPr>
            <a:r>
              <a:rPr sz="1500" spc="-50" dirty="0">
                <a:latin typeface="Arial MT"/>
                <a:cs typeface="Arial MT"/>
              </a:rPr>
              <a:t>–</a:t>
            </a:r>
            <a:r>
              <a:rPr sz="1500" dirty="0">
                <a:latin typeface="Arial MT"/>
                <a:cs typeface="Arial MT"/>
              </a:rPr>
              <a:t>	Instruction-3:</a:t>
            </a:r>
            <a:r>
              <a:rPr sz="1500" spc="9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Calculate</a:t>
            </a:r>
            <a:r>
              <a:rPr sz="1500" spc="1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9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rectangle</a:t>
            </a:r>
            <a:r>
              <a:rPr sz="1500" spc="114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area.</a:t>
            </a:r>
            <a:endParaRPr lang="en-MY" sz="1500" spc="-10" dirty="0">
              <a:latin typeface="Arial MT"/>
              <a:cs typeface="Arial MT"/>
            </a:endParaRPr>
          </a:p>
          <a:p>
            <a:pPr marL="1017905">
              <a:lnSpc>
                <a:spcPct val="100000"/>
              </a:lnSpc>
              <a:spcBef>
                <a:spcPts val="425"/>
              </a:spcBef>
              <a:tabLst>
                <a:tab pos="1270000" algn="l"/>
              </a:tabLst>
            </a:pPr>
            <a:endParaRPr sz="1500" dirty="0">
              <a:latin typeface="Arial MT"/>
              <a:cs typeface="Arial MT"/>
            </a:endParaRPr>
          </a:p>
          <a:p>
            <a:pPr marL="327660" indent="-314960">
              <a:lnSpc>
                <a:spcPct val="100000"/>
              </a:lnSpc>
              <a:spcBef>
                <a:spcPts val="600"/>
              </a:spcBef>
              <a:buChar char="–"/>
              <a:tabLst>
                <a:tab pos="327660" algn="l"/>
              </a:tabLst>
            </a:pPr>
            <a:r>
              <a:rPr sz="2650" spc="-25" dirty="0">
                <a:latin typeface="Arial MT"/>
                <a:cs typeface="Arial MT"/>
              </a:rPr>
              <a:t>Sub-Process-2:</a:t>
            </a:r>
            <a:endParaRPr sz="2650" dirty="0">
              <a:latin typeface="Arial MT"/>
              <a:cs typeface="Arial MT"/>
            </a:endParaRPr>
          </a:p>
          <a:p>
            <a:pPr marL="766445" lvl="1" indent="-251460">
              <a:lnSpc>
                <a:spcPct val="100000"/>
              </a:lnSpc>
              <a:spcBef>
                <a:spcPts val="520"/>
              </a:spcBef>
              <a:buChar char="•"/>
              <a:tabLst>
                <a:tab pos="766445" algn="l"/>
              </a:tabLst>
            </a:pPr>
            <a:r>
              <a:rPr sz="1950" dirty="0">
                <a:latin typeface="Arial MT"/>
                <a:cs typeface="Arial MT"/>
              </a:rPr>
              <a:t>Task-3: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Delivering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Results</a:t>
            </a:r>
            <a:endParaRPr sz="1950" dirty="0">
              <a:latin typeface="Arial MT"/>
              <a:cs typeface="Arial MT"/>
            </a:endParaRPr>
          </a:p>
          <a:p>
            <a:pPr marL="1017905">
              <a:lnSpc>
                <a:spcPct val="100000"/>
              </a:lnSpc>
              <a:spcBef>
                <a:spcPts val="430"/>
              </a:spcBef>
              <a:tabLst>
                <a:tab pos="1270000" algn="l"/>
              </a:tabLst>
            </a:pPr>
            <a:r>
              <a:rPr sz="1500" spc="-50" dirty="0">
                <a:latin typeface="Arial MT"/>
                <a:cs typeface="Arial MT"/>
              </a:rPr>
              <a:t>–</a:t>
            </a:r>
            <a:r>
              <a:rPr sz="1500" dirty="0">
                <a:latin typeface="Arial MT"/>
                <a:cs typeface="Arial MT"/>
              </a:rPr>
              <a:t>	Instruction-4:</a:t>
            </a:r>
            <a:r>
              <a:rPr sz="1500" spc="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Print</a:t>
            </a:r>
            <a:r>
              <a:rPr sz="1500" spc="10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results</a:t>
            </a:r>
            <a:r>
              <a:rPr sz="1500" spc="7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8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screen.</a:t>
            </a:r>
            <a:endParaRPr sz="15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1716" y="4604003"/>
            <a:ext cx="2223516" cy="23606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71819" y="4647686"/>
            <a:ext cx="1762125" cy="17011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rial"/>
                <a:cs typeface="Arial"/>
              </a:rPr>
              <a:t>One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Process </a:t>
            </a:r>
            <a:r>
              <a:rPr sz="2200" b="1" dirty="0">
                <a:latin typeface="Arial"/>
                <a:cs typeface="Arial"/>
              </a:rPr>
              <a:t>might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handle </a:t>
            </a:r>
            <a:r>
              <a:rPr sz="2200" b="1" dirty="0">
                <a:latin typeface="Arial"/>
                <a:cs typeface="Arial"/>
              </a:rPr>
              <a:t>one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or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more </a:t>
            </a:r>
            <a:r>
              <a:rPr sz="2200" b="1" spc="-25" dirty="0">
                <a:latin typeface="Arial"/>
                <a:cs typeface="Arial"/>
              </a:rPr>
              <a:t>Tasks</a:t>
            </a:r>
            <a:r>
              <a:rPr sz="2200" b="1" spc="-114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to </a:t>
            </a:r>
            <a:r>
              <a:rPr sz="2200" b="1" spc="-10" dirty="0">
                <a:latin typeface="Arial"/>
                <a:cs typeface="Arial"/>
              </a:rPr>
              <a:t>implement.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0597" y="383497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2947670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So</a:t>
            </a:r>
            <a:r>
              <a:rPr u="none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20" dirty="0">
                <a:solidFill>
                  <a:srgbClr val="000000"/>
                </a:solidFill>
                <a:latin typeface="Arial MT"/>
                <a:cs typeface="Arial MT"/>
              </a:rPr>
              <a:t>far: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06692" y="2524225"/>
            <a:ext cx="180848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sz="3050" spc="-10" dirty="0">
                <a:latin typeface="Arial MT"/>
                <a:cs typeface="Arial MT"/>
              </a:rPr>
              <a:t>Instruction</a:t>
            </a:r>
            <a:endParaRPr sz="3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98775" y="1973580"/>
            <a:ext cx="5736590" cy="4996180"/>
            <a:chOff x="2398775" y="1973580"/>
            <a:chExt cx="5736590" cy="49961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8775" y="1973580"/>
              <a:ext cx="5736335" cy="49956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8229" y="2474213"/>
              <a:ext cx="3246882" cy="5714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108133" y="3155138"/>
            <a:ext cx="807085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sz="3050" spc="-85" dirty="0">
                <a:latin typeface="Arial MT"/>
                <a:cs typeface="Arial MT"/>
              </a:rPr>
              <a:t>Task</a:t>
            </a:r>
            <a:endParaRPr sz="30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88166" y="2474150"/>
            <a:ext cx="3247390" cy="1203325"/>
            <a:chOff x="4888166" y="2474150"/>
            <a:chExt cx="3247390" cy="1203325"/>
          </a:xfrm>
        </p:grpSpPr>
        <p:sp>
          <p:nvSpPr>
            <p:cNvPr id="9" name="object 9"/>
            <p:cNvSpPr/>
            <p:nvPr/>
          </p:nvSpPr>
          <p:spPr>
            <a:xfrm>
              <a:off x="4893564" y="2479547"/>
              <a:ext cx="3235960" cy="561340"/>
            </a:xfrm>
            <a:custGeom>
              <a:avLst/>
              <a:gdLst/>
              <a:ahLst/>
              <a:cxnLst/>
              <a:rect l="l" t="t" r="r" b="b"/>
              <a:pathLst>
                <a:path w="3235959" h="561339">
                  <a:moveTo>
                    <a:pt x="0" y="92963"/>
                  </a:moveTo>
                  <a:lnTo>
                    <a:pt x="7453" y="57221"/>
                  </a:lnTo>
                  <a:lnTo>
                    <a:pt x="27622" y="27622"/>
                  </a:lnTo>
                  <a:lnTo>
                    <a:pt x="57221" y="7453"/>
                  </a:lnTo>
                  <a:lnTo>
                    <a:pt x="92964" y="0"/>
                  </a:lnTo>
                  <a:lnTo>
                    <a:pt x="3142488" y="0"/>
                  </a:lnTo>
                  <a:lnTo>
                    <a:pt x="3178873" y="7453"/>
                  </a:lnTo>
                  <a:lnTo>
                    <a:pt x="3208400" y="27622"/>
                  </a:lnTo>
                  <a:lnTo>
                    <a:pt x="3228212" y="57221"/>
                  </a:lnTo>
                  <a:lnTo>
                    <a:pt x="3235451" y="92963"/>
                  </a:lnTo>
                  <a:lnTo>
                    <a:pt x="3235451" y="467868"/>
                  </a:lnTo>
                  <a:lnTo>
                    <a:pt x="3228212" y="504253"/>
                  </a:lnTo>
                  <a:lnTo>
                    <a:pt x="3208400" y="533780"/>
                  </a:lnTo>
                  <a:lnTo>
                    <a:pt x="3178873" y="553592"/>
                  </a:lnTo>
                  <a:lnTo>
                    <a:pt x="3142488" y="560831"/>
                  </a:lnTo>
                  <a:lnTo>
                    <a:pt x="92964" y="560831"/>
                  </a:lnTo>
                  <a:lnTo>
                    <a:pt x="57221" y="553592"/>
                  </a:lnTo>
                  <a:lnTo>
                    <a:pt x="27622" y="533780"/>
                  </a:lnTo>
                  <a:lnTo>
                    <a:pt x="7453" y="504253"/>
                  </a:lnTo>
                  <a:lnTo>
                    <a:pt x="0" y="467868"/>
                  </a:lnTo>
                  <a:lnTo>
                    <a:pt x="0" y="92963"/>
                  </a:lnTo>
                  <a:close/>
                </a:path>
              </a:pathLst>
            </a:custGeom>
            <a:ln w="10668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8992" y="3102864"/>
              <a:ext cx="3246119" cy="5745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88230" y="3102864"/>
              <a:ext cx="3246882" cy="57454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803290" y="3786051"/>
            <a:ext cx="1417955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sz="3050" spc="-10" dirty="0">
                <a:latin typeface="Arial MT"/>
                <a:cs typeface="Arial MT"/>
              </a:rPr>
              <a:t>Process</a:t>
            </a:r>
            <a:endParaRPr sz="3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88166" y="3105086"/>
            <a:ext cx="3247390" cy="1204595"/>
            <a:chOff x="4888166" y="3105086"/>
            <a:chExt cx="3247390" cy="1204595"/>
          </a:xfrm>
        </p:grpSpPr>
        <p:sp>
          <p:nvSpPr>
            <p:cNvPr id="14" name="object 14"/>
            <p:cNvSpPr/>
            <p:nvPr/>
          </p:nvSpPr>
          <p:spPr>
            <a:xfrm>
              <a:off x="4893564" y="3110484"/>
              <a:ext cx="3235960" cy="561340"/>
            </a:xfrm>
            <a:custGeom>
              <a:avLst/>
              <a:gdLst/>
              <a:ahLst/>
              <a:cxnLst/>
              <a:rect l="l" t="t" r="r" b="b"/>
              <a:pathLst>
                <a:path w="3235959" h="561339">
                  <a:moveTo>
                    <a:pt x="0" y="94487"/>
                  </a:moveTo>
                  <a:lnTo>
                    <a:pt x="7453" y="57864"/>
                  </a:lnTo>
                  <a:lnTo>
                    <a:pt x="27622" y="27812"/>
                  </a:lnTo>
                  <a:lnTo>
                    <a:pt x="57221" y="7477"/>
                  </a:lnTo>
                  <a:lnTo>
                    <a:pt x="92964" y="0"/>
                  </a:lnTo>
                  <a:lnTo>
                    <a:pt x="3142488" y="0"/>
                  </a:lnTo>
                  <a:lnTo>
                    <a:pt x="3178873" y="7477"/>
                  </a:lnTo>
                  <a:lnTo>
                    <a:pt x="3208400" y="27812"/>
                  </a:lnTo>
                  <a:lnTo>
                    <a:pt x="3228212" y="57864"/>
                  </a:lnTo>
                  <a:lnTo>
                    <a:pt x="3235451" y="94487"/>
                  </a:lnTo>
                  <a:lnTo>
                    <a:pt x="3235451" y="467868"/>
                  </a:lnTo>
                  <a:lnTo>
                    <a:pt x="3228212" y="504253"/>
                  </a:lnTo>
                  <a:lnTo>
                    <a:pt x="3208400" y="533780"/>
                  </a:lnTo>
                  <a:lnTo>
                    <a:pt x="3178873" y="553592"/>
                  </a:lnTo>
                  <a:lnTo>
                    <a:pt x="3142488" y="560831"/>
                  </a:lnTo>
                  <a:lnTo>
                    <a:pt x="92964" y="560831"/>
                  </a:lnTo>
                  <a:lnTo>
                    <a:pt x="57221" y="553592"/>
                  </a:lnTo>
                  <a:lnTo>
                    <a:pt x="27622" y="533780"/>
                  </a:lnTo>
                  <a:lnTo>
                    <a:pt x="7453" y="504253"/>
                  </a:lnTo>
                  <a:lnTo>
                    <a:pt x="0" y="467868"/>
                  </a:lnTo>
                  <a:lnTo>
                    <a:pt x="0" y="94487"/>
                  </a:lnTo>
                  <a:close/>
                </a:path>
              </a:pathLst>
            </a:custGeom>
            <a:ln w="10668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88992" y="3735324"/>
              <a:ext cx="3246119" cy="5730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8230" y="3735324"/>
              <a:ext cx="3246882" cy="57378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760642" y="4417155"/>
            <a:ext cx="1501775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sz="3050" spc="-10" dirty="0">
                <a:latin typeface="Arial MT"/>
                <a:cs typeface="Arial MT"/>
              </a:rPr>
              <a:t>Program</a:t>
            </a:r>
            <a:endParaRPr sz="3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888166" y="3736022"/>
            <a:ext cx="3247390" cy="1205230"/>
            <a:chOff x="4888166" y="3736022"/>
            <a:chExt cx="3247390" cy="1205230"/>
          </a:xfrm>
        </p:grpSpPr>
        <p:sp>
          <p:nvSpPr>
            <p:cNvPr id="19" name="object 19"/>
            <p:cNvSpPr/>
            <p:nvPr/>
          </p:nvSpPr>
          <p:spPr>
            <a:xfrm>
              <a:off x="4893564" y="3741419"/>
              <a:ext cx="3235960" cy="562610"/>
            </a:xfrm>
            <a:custGeom>
              <a:avLst/>
              <a:gdLst/>
              <a:ahLst/>
              <a:cxnLst/>
              <a:rect l="l" t="t" r="r" b="b"/>
              <a:pathLst>
                <a:path w="3235959" h="562610">
                  <a:moveTo>
                    <a:pt x="0" y="94487"/>
                  </a:moveTo>
                  <a:lnTo>
                    <a:pt x="7453" y="57864"/>
                  </a:lnTo>
                  <a:lnTo>
                    <a:pt x="27622" y="27812"/>
                  </a:lnTo>
                  <a:lnTo>
                    <a:pt x="57221" y="7477"/>
                  </a:lnTo>
                  <a:lnTo>
                    <a:pt x="92964" y="0"/>
                  </a:lnTo>
                  <a:lnTo>
                    <a:pt x="3142488" y="0"/>
                  </a:lnTo>
                  <a:lnTo>
                    <a:pt x="3178873" y="7477"/>
                  </a:lnTo>
                  <a:lnTo>
                    <a:pt x="3208400" y="27812"/>
                  </a:lnTo>
                  <a:lnTo>
                    <a:pt x="3228212" y="57864"/>
                  </a:lnTo>
                  <a:lnTo>
                    <a:pt x="3235451" y="94487"/>
                  </a:lnTo>
                  <a:lnTo>
                    <a:pt x="3235451" y="467868"/>
                  </a:lnTo>
                  <a:lnTo>
                    <a:pt x="3228212" y="504491"/>
                  </a:lnTo>
                  <a:lnTo>
                    <a:pt x="3208400" y="534542"/>
                  </a:lnTo>
                  <a:lnTo>
                    <a:pt x="3178873" y="554878"/>
                  </a:lnTo>
                  <a:lnTo>
                    <a:pt x="3142488" y="562355"/>
                  </a:lnTo>
                  <a:lnTo>
                    <a:pt x="92964" y="562355"/>
                  </a:lnTo>
                  <a:lnTo>
                    <a:pt x="57221" y="554878"/>
                  </a:lnTo>
                  <a:lnTo>
                    <a:pt x="27622" y="534542"/>
                  </a:lnTo>
                  <a:lnTo>
                    <a:pt x="7453" y="504491"/>
                  </a:lnTo>
                  <a:lnTo>
                    <a:pt x="0" y="467868"/>
                  </a:lnTo>
                  <a:lnTo>
                    <a:pt x="0" y="94487"/>
                  </a:lnTo>
                  <a:close/>
                </a:path>
              </a:pathLst>
            </a:custGeom>
            <a:ln w="10668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88992" y="4366259"/>
              <a:ext cx="3246119" cy="57454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88230" y="4366259"/>
              <a:ext cx="3246882" cy="57454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553526" y="5049598"/>
            <a:ext cx="1913889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sz="3050" spc="-10" dirty="0">
                <a:latin typeface="Arial MT"/>
                <a:cs typeface="Arial MT"/>
              </a:rPr>
              <a:t>Application</a:t>
            </a:r>
            <a:endParaRPr sz="30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88166" y="4368482"/>
            <a:ext cx="3247390" cy="1203325"/>
            <a:chOff x="4888166" y="4368482"/>
            <a:chExt cx="3247390" cy="1203325"/>
          </a:xfrm>
        </p:grpSpPr>
        <p:sp>
          <p:nvSpPr>
            <p:cNvPr id="24" name="object 24"/>
            <p:cNvSpPr/>
            <p:nvPr/>
          </p:nvSpPr>
          <p:spPr>
            <a:xfrm>
              <a:off x="4893564" y="4373880"/>
              <a:ext cx="3235960" cy="561340"/>
            </a:xfrm>
            <a:custGeom>
              <a:avLst/>
              <a:gdLst/>
              <a:ahLst/>
              <a:cxnLst/>
              <a:rect l="l" t="t" r="r" b="b"/>
              <a:pathLst>
                <a:path w="3235959" h="561339">
                  <a:moveTo>
                    <a:pt x="0" y="92963"/>
                  </a:moveTo>
                  <a:lnTo>
                    <a:pt x="7453" y="56578"/>
                  </a:lnTo>
                  <a:lnTo>
                    <a:pt x="27622" y="27050"/>
                  </a:lnTo>
                  <a:lnTo>
                    <a:pt x="57221" y="7238"/>
                  </a:lnTo>
                  <a:lnTo>
                    <a:pt x="92964" y="0"/>
                  </a:lnTo>
                  <a:lnTo>
                    <a:pt x="3142488" y="0"/>
                  </a:lnTo>
                  <a:lnTo>
                    <a:pt x="3178873" y="7238"/>
                  </a:lnTo>
                  <a:lnTo>
                    <a:pt x="3208400" y="27050"/>
                  </a:lnTo>
                  <a:lnTo>
                    <a:pt x="3228212" y="56578"/>
                  </a:lnTo>
                  <a:lnTo>
                    <a:pt x="3235451" y="92963"/>
                  </a:lnTo>
                  <a:lnTo>
                    <a:pt x="3235451" y="466344"/>
                  </a:lnTo>
                  <a:lnTo>
                    <a:pt x="3228212" y="502967"/>
                  </a:lnTo>
                  <a:lnTo>
                    <a:pt x="3208400" y="533018"/>
                  </a:lnTo>
                  <a:lnTo>
                    <a:pt x="3178873" y="553354"/>
                  </a:lnTo>
                  <a:lnTo>
                    <a:pt x="3142488" y="560831"/>
                  </a:lnTo>
                  <a:lnTo>
                    <a:pt x="92964" y="560831"/>
                  </a:lnTo>
                  <a:lnTo>
                    <a:pt x="57221" y="553354"/>
                  </a:lnTo>
                  <a:lnTo>
                    <a:pt x="27622" y="533018"/>
                  </a:lnTo>
                  <a:lnTo>
                    <a:pt x="7453" y="502967"/>
                  </a:lnTo>
                  <a:lnTo>
                    <a:pt x="0" y="466344"/>
                  </a:lnTo>
                  <a:lnTo>
                    <a:pt x="0" y="92963"/>
                  </a:lnTo>
                  <a:close/>
                </a:path>
              </a:pathLst>
            </a:custGeom>
            <a:ln w="10668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88992" y="4998720"/>
              <a:ext cx="3246119" cy="57302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88230" y="4998720"/>
              <a:ext cx="3246882" cy="57302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652590" y="5575327"/>
            <a:ext cx="1722120" cy="8432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07010" indent="-207645">
              <a:lnSpc>
                <a:spcPts val="3190"/>
              </a:lnSpc>
              <a:spcBef>
                <a:spcPts val="240"/>
              </a:spcBef>
            </a:pPr>
            <a:r>
              <a:rPr sz="3050" spc="-10" dirty="0">
                <a:latin typeface="Arial MT"/>
                <a:cs typeface="Arial MT"/>
              </a:rPr>
              <a:t>Operating System</a:t>
            </a:r>
            <a:endParaRPr sz="30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88166" y="4999418"/>
            <a:ext cx="3247390" cy="1397635"/>
            <a:chOff x="4888166" y="4999418"/>
            <a:chExt cx="3247390" cy="1397635"/>
          </a:xfrm>
        </p:grpSpPr>
        <p:sp>
          <p:nvSpPr>
            <p:cNvPr id="29" name="object 29"/>
            <p:cNvSpPr/>
            <p:nvPr/>
          </p:nvSpPr>
          <p:spPr>
            <a:xfrm>
              <a:off x="4893564" y="5004815"/>
              <a:ext cx="3235960" cy="561340"/>
            </a:xfrm>
            <a:custGeom>
              <a:avLst/>
              <a:gdLst/>
              <a:ahLst/>
              <a:cxnLst/>
              <a:rect l="l" t="t" r="r" b="b"/>
              <a:pathLst>
                <a:path w="3235959" h="561339">
                  <a:moveTo>
                    <a:pt x="0" y="92963"/>
                  </a:moveTo>
                  <a:lnTo>
                    <a:pt x="7453" y="56578"/>
                  </a:lnTo>
                  <a:lnTo>
                    <a:pt x="27622" y="27050"/>
                  </a:lnTo>
                  <a:lnTo>
                    <a:pt x="57221" y="7238"/>
                  </a:lnTo>
                  <a:lnTo>
                    <a:pt x="92964" y="0"/>
                  </a:lnTo>
                  <a:lnTo>
                    <a:pt x="3142488" y="0"/>
                  </a:lnTo>
                  <a:lnTo>
                    <a:pt x="3178873" y="7238"/>
                  </a:lnTo>
                  <a:lnTo>
                    <a:pt x="3208400" y="27050"/>
                  </a:lnTo>
                  <a:lnTo>
                    <a:pt x="3228212" y="56578"/>
                  </a:lnTo>
                  <a:lnTo>
                    <a:pt x="3235451" y="92963"/>
                  </a:lnTo>
                  <a:lnTo>
                    <a:pt x="3235451" y="467868"/>
                  </a:lnTo>
                  <a:lnTo>
                    <a:pt x="3228212" y="503610"/>
                  </a:lnTo>
                  <a:lnTo>
                    <a:pt x="3208400" y="533209"/>
                  </a:lnTo>
                  <a:lnTo>
                    <a:pt x="3178873" y="553378"/>
                  </a:lnTo>
                  <a:lnTo>
                    <a:pt x="3142488" y="560831"/>
                  </a:lnTo>
                  <a:lnTo>
                    <a:pt x="92964" y="560831"/>
                  </a:lnTo>
                  <a:lnTo>
                    <a:pt x="57221" y="553378"/>
                  </a:lnTo>
                  <a:lnTo>
                    <a:pt x="27622" y="533209"/>
                  </a:lnTo>
                  <a:lnTo>
                    <a:pt x="7453" y="503610"/>
                  </a:lnTo>
                  <a:lnTo>
                    <a:pt x="0" y="467868"/>
                  </a:lnTo>
                  <a:lnTo>
                    <a:pt x="0" y="92963"/>
                  </a:lnTo>
                  <a:close/>
                </a:path>
              </a:pathLst>
            </a:custGeom>
            <a:ln w="10668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88992" y="5631179"/>
              <a:ext cx="3246119" cy="76352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88230" y="5630418"/>
              <a:ext cx="3246882" cy="766572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4893564" y="5635752"/>
            <a:ext cx="3235960" cy="756285"/>
          </a:xfrm>
          <a:custGeom>
            <a:avLst/>
            <a:gdLst/>
            <a:ahLst/>
            <a:cxnLst/>
            <a:rect l="l" t="t" r="r" b="b"/>
            <a:pathLst>
              <a:path w="3235959" h="756285">
                <a:moveTo>
                  <a:pt x="0" y="126491"/>
                </a:moveTo>
                <a:lnTo>
                  <a:pt x="9905" y="77152"/>
                </a:lnTo>
                <a:lnTo>
                  <a:pt x="36956" y="36956"/>
                </a:lnTo>
                <a:lnTo>
                  <a:pt x="77152" y="9905"/>
                </a:lnTo>
                <a:lnTo>
                  <a:pt x="126491" y="0"/>
                </a:lnTo>
                <a:lnTo>
                  <a:pt x="3110483" y="0"/>
                </a:lnTo>
                <a:lnTo>
                  <a:pt x="3158942" y="9905"/>
                </a:lnTo>
                <a:lnTo>
                  <a:pt x="3198685" y="36956"/>
                </a:lnTo>
                <a:lnTo>
                  <a:pt x="3225569" y="77152"/>
                </a:lnTo>
                <a:lnTo>
                  <a:pt x="3235451" y="126491"/>
                </a:lnTo>
                <a:lnTo>
                  <a:pt x="3235451" y="630935"/>
                </a:lnTo>
                <a:lnTo>
                  <a:pt x="3225569" y="679394"/>
                </a:lnTo>
                <a:lnTo>
                  <a:pt x="3198685" y="719137"/>
                </a:lnTo>
                <a:lnTo>
                  <a:pt x="3158942" y="746021"/>
                </a:lnTo>
                <a:lnTo>
                  <a:pt x="3110483" y="755904"/>
                </a:lnTo>
                <a:lnTo>
                  <a:pt x="126491" y="755904"/>
                </a:lnTo>
                <a:lnTo>
                  <a:pt x="77152" y="746021"/>
                </a:lnTo>
                <a:lnTo>
                  <a:pt x="36956" y="719137"/>
                </a:lnTo>
                <a:lnTo>
                  <a:pt x="9905" y="679394"/>
                </a:lnTo>
                <a:lnTo>
                  <a:pt x="0" y="630935"/>
                </a:lnTo>
                <a:lnTo>
                  <a:pt x="0" y="126491"/>
                </a:lnTo>
                <a:close/>
              </a:path>
            </a:pathLst>
          </a:custGeom>
          <a:ln w="10668">
            <a:solidFill>
              <a:srgbClr val="BADF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540826" y="2313512"/>
            <a:ext cx="1939289" cy="4112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35700"/>
              </a:lnSpc>
              <a:spcBef>
                <a:spcPts val="95"/>
              </a:spcBef>
            </a:pPr>
            <a:r>
              <a:rPr sz="3050" spc="-10" dirty="0">
                <a:latin typeface="Arial MT"/>
                <a:cs typeface="Arial MT"/>
              </a:rPr>
              <a:t>Instruction </a:t>
            </a:r>
            <a:r>
              <a:rPr sz="3050" spc="-20" dirty="0">
                <a:latin typeface="Arial MT"/>
                <a:cs typeface="Arial MT"/>
              </a:rPr>
              <a:t>Task </a:t>
            </a:r>
            <a:r>
              <a:rPr sz="3050" spc="-10" dirty="0">
                <a:latin typeface="Arial MT"/>
                <a:cs typeface="Arial MT"/>
              </a:rPr>
              <a:t>Process Program</a:t>
            </a:r>
            <a:endParaRPr sz="30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20"/>
              </a:spcBef>
            </a:pPr>
            <a:r>
              <a:rPr sz="3050" spc="-10" dirty="0">
                <a:latin typeface="Arial MT"/>
                <a:cs typeface="Arial MT"/>
              </a:rPr>
              <a:t>Application</a:t>
            </a:r>
            <a:endParaRPr sz="3050">
              <a:latin typeface="Arial MT"/>
              <a:cs typeface="Arial MT"/>
            </a:endParaRPr>
          </a:p>
          <a:p>
            <a:pPr marL="111760" marR="97790" algn="ctr">
              <a:lnSpc>
                <a:spcPts val="3190"/>
              </a:lnSpc>
              <a:spcBef>
                <a:spcPts val="975"/>
              </a:spcBef>
            </a:pPr>
            <a:r>
              <a:rPr sz="3050" spc="-10" dirty="0">
                <a:latin typeface="Arial MT"/>
                <a:cs typeface="Arial MT"/>
              </a:rPr>
              <a:t>Operating System</a:t>
            </a:r>
            <a:endParaRPr sz="305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968751" y="3293998"/>
            <a:ext cx="2081530" cy="3018790"/>
            <a:chOff x="2968751" y="3293998"/>
            <a:chExt cx="2081530" cy="3018790"/>
          </a:xfrm>
        </p:grpSpPr>
        <p:sp>
          <p:nvSpPr>
            <p:cNvPr id="35" name="object 35"/>
            <p:cNvSpPr/>
            <p:nvPr/>
          </p:nvSpPr>
          <p:spPr>
            <a:xfrm>
              <a:off x="4513298" y="5361431"/>
              <a:ext cx="490220" cy="414655"/>
            </a:xfrm>
            <a:custGeom>
              <a:avLst/>
              <a:gdLst/>
              <a:ahLst/>
              <a:cxnLst/>
              <a:rect l="l" t="t" r="r" b="b"/>
              <a:pathLst>
                <a:path w="490220" h="414654">
                  <a:moveTo>
                    <a:pt x="12982" y="414527"/>
                  </a:moveTo>
                  <a:lnTo>
                    <a:pt x="1919" y="378873"/>
                  </a:lnTo>
                  <a:lnTo>
                    <a:pt x="0" y="343332"/>
                  </a:lnTo>
                  <a:lnTo>
                    <a:pt x="6886" y="308355"/>
                  </a:lnTo>
                  <a:lnTo>
                    <a:pt x="45720" y="241902"/>
                  </a:lnTo>
                  <a:lnTo>
                    <a:pt x="76990" y="211328"/>
                  </a:lnTo>
                  <a:lnTo>
                    <a:pt x="115711" y="183124"/>
                  </a:lnTo>
                  <a:lnTo>
                    <a:pt x="161544" y="157743"/>
                  </a:lnTo>
                  <a:lnTo>
                    <a:pt x="214150" y="135635"/>
                  </a:lnTo>
                  <a:lnTo>
                    <a:pt x="214150" y="0"/>
                  </a:lnTo>
                  <a:lnTo>
                    <a:pt x="489994" y="150875"/>
                  </a:lnTo>
                  <a:lnTo>
                    <a:pt x="214150" y="393192"/>
                  </a:lnTo>
                  <a:lnTo>
                    <a:pt x="214150" y="257555"/>
                  </a:lnTo>
                  <a:lnTo>
                    <a:pt x="157384" y="282366"/>
                  </a:lnTo>
                  <a:lnTo>
                    <a:pt x="108226" y="310835"/>
                  </a:lnTo>
                  <a:lnTo>
                    <a:pt x="67334" y="342595"/>
                  </a:lnTo>
                  <a:lnTo>
                    <a:pt x="35366" y="377281"/>
                  </a:lnTo>
                  <a:lnTo>
                    <a:pt x="12982" y="414527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14088" y="5715000"/>
              <a:ext cx="489584" cy="387350"/>
            </a:xfrm>
            <a:custGeom>
              <a:avLst/>
              <a:gdLst/>
              <a:ahLst/>
              <a:cxnLst/>
              <a:rect l="l" t="t" r="r" b="b"/>
              <a:pathLst>
                <a:path w="489585" h="387350">
                  <a:moveTo>
                    <a:pt x="489204" y="387095"/>
                  </a:moveTo>
                  <a:lnTo>
                    <a:pt x="427624" y="385027"/>
                  </a:lnTo>
                  <a:lnTo>
                    <a:pt x="368388" y="378988"/>
                  </a:lnTo>
                  <a:lnTo>
                    <a:pt x="311944" y="369228"/>
                  </a:lnTo>
                  <a:lnTo>
                    <a:pt x="258743" y="355997"/>
                  </a:lnTo>
                  <a:lnTo>
                    <a:pt x="209234" y="339544"/>
                  </a:lnTo>
                  <a:lnTo>
                    <a:pt x="163865" y="320120"/>
                  </a:lnTo>
                  <a:lnTo>
                    <a:pt x="123088" y="297974"/>
                  </a:lnTo>
                  <a:lnTo>
                    <a:pt x="87350" y="273355"/>
                  </a:lnTo>
                  <a:lnTo>
                    <a:pt x="57103" y="246514"/>
                  </a:lnTo>
                  <a:lnTo>
                    <a:pt x="14875" y="187164"/>
                  </a:lnTo>
                  <a:lnTo>
                    <a:pt x="0" y="121920"/>
                  </a:lnTo>
                  <a:lnTo>
                    <a:pt x="0" y="0"/>
                  </a:lnTo>
                  <a:lnTo>
                    <a:pt x="3793" y="33208"/>
                  </a:lnTo>
                  <a:lnTo>
                    <a:pt x="14875" y="65147"/>
                  </a:lnTo>
                  <a:lnTo>
                    <a:pt x="57103" y="124250"/>
                  </a:lnTo>
                  <a:lnTo>
                    <a:pt x="87350" y="150932"/>
                  </a:lnTo>
                  <a:lnTo>
                    <a:pt x="123088" y="175380"/>
                  </a:lnTo>
                  <a:lnTo>
                    <a:pt x="163865" y="197350"/>
                  </a:lnTo>
                  <a:lnTo>
                    <a:pt x="209234" y="216603"/>
                  </a:lnTo>
                  <a:lnTo>
                    <a:pt x="258743" y="232897"/>
                  </a:lnTo>
                  <a:lnTo>
                    <a:pt x="311944" y="245990"/>
                  </a:lnTo>
                  <a:lnTo>
                    <a:pt x="368388" y="255641"/>
                  </a:lnTo>
                  <a:lnTo>
                    <a:pt x="427624" y="261609"/>
                  </a:lnTo>
                  <a:lnTo>
                    <a:pt x="489204" y="263652"/>
                  </a:lnTo>
                  <a:lnTo>
                    <a:pt x="489204" y="387095"/>
                  </a:lnTo>
                  <a:close/>
                </a:path>
              </a:pathLst>
            </a:custGeom>
            <a:solidFill>
              <a:srgbClr val="75A7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14088" y="5361432"/>
              <a:ext cx="489584" cy="741045"/>
            </a:xfrm>
            <a:custGeom>
              <a:avLst/>
              <a:gdLst/>
              <a:ahLst/>
              <a:cxnLst/>
              <a:rect l="l" t="t" r="r" b="b"/>
              <a:pathLst>
                <a:path w="489585" h="741045">
                  <a:moveTo>
                    <a:pt x="0" y="353567"/>
                  </a:moveTo>
                  <a:lnTo>
                    <a:pt x="14875" y="418715"/>
                  </a:lnTo>
                  <a:lnTo>
                    <a:pt x="57103" y="477818"/>
                  </a:lnTo>
                  <a:lnTo>
                    <a:pt x="87350" y="504500"/>
                  </a:lnTo>
                  <a:lnTo>
                    <a:pt x="123088" y="528947"/>
                  </a:lnTo>
                  <a:lnTo>
                    <a:pt x="163865" y="550918"/>
                  </a:lnTo>
                  <a:lnTo>
                    <a:pt x="209234" y="570171"/>
                  </a:lnTo>
                  <a:lnTo>
                    <a:pt x="258743" y="586465"/>
                  </a:lnTo>
                  <a:lnTo>
                    <a:pt x="311944" y="599558"/>
                  </a:lnTo>
                  <a:lnTo>
                    <a:pt x="368388" y="609209"/>
                  </a:lnTo>
                  <a:lnTo>
                    <a:pt x="427624" y="615177"/>
                  </a:lnTo>
                  <a:lnTo>
                    <a:pt x="489204" y="617219"/>
                  </a:lnTo>
                  <a:lnTo>
                    <a:pt x="489204" y="740663"/>
                  </a:lnTo>
                  <a:lnTo>
                    <a:pt x="427624" y="738595"/>
                  </a:lnTo>
                  <a:lnTo>
                    <a:pt x="368388" y="732556"/>
                  </a:lnTo>
                  <a:lnTo>
                    <a:pt x="311944" y="722796"/>
                  </a:lnTo>
                  <a:lnTo>
                    <a:pt x="258743" y="709565"/>
                  </a:lnTo>
                  <a:lnTo>
                    <a:pt x="209234" y="693112"/>
                  </a:lnTo>
                  <a:lnTo>
                    <a:pt x="163865" y="673688"/>
                  </a:lnTo>
                  <a:lnTo>
                    <a:pt x="123088" y="651542"/>
                  </a:lnTo>
                  <a:lnTo>
                    <a:pt x="87350" y="626923"/>
                  </a:lnTo>
                  <a:lnTo>
                    <a:pt x="57103" y="600082"/>
                  </a:lnTo>
                  <a:lnTo>
                    <a:pt x="14875" y="540732"/>
                  </a:lnTo>
                  <a:lnTo>
                    <a:pt x="0" y="475487"/>
                  </a:lnTo>
                  <a:lnTo>
                    <a:pt x="0" y="353567"/>
                  </a:lnTo>
                  <a:lnTo>
                    <a:pt x="18838" y="280904"/>
                  </a:lnTo>
                  <a:lnTo>
                    <a:pt x="41747" y="246679"/>
                  </a:lnTo>
                  <a:lnTo>
                    <a:pt x="73080" y="214532"/>
                  </a:lnTo>
                  <a:lnTo>
                    <a:pt x="112411" y="184972"/>
                  </a:lnTo>
                  <a:lnTo>
                    <a:pt x="159313" y="158504"/>
                  </a:lnTo>
                  <a:lnTo>
                    <a:pt x="213359" y="135636"/>
                  </a:lnTo>
                  <a:lnTo>
                    <a:pt x="213359" y="0"/>
                  </a:lnTo>
                  <a:lnTo>
                    <a:pt x="489204" y="150875"/>
                  </a:lnTo>
                  <a:lnTo>
                    <a:pt x="213359" y="393191"/>
                  </a:lnTo>
                  <a:lnTo>
                    <a:pt x="213359" y="257555"/>
                  </a:lnTo>
                  <a:lnTo>
                    <a:pt x="156594" y="282366"/>
                  </a:lnTo>
                  <a:lnTo>
                    <a:pt x="107435" y="310835"/>
                  </a:lnTo>
                  <a:lnTo>
                    <a:pt x="66543" y="342595"/>
                  </a:lnTo>
                  <a:lnTo>
                    <a:pt x="34576" y="377281"/>
                  </a:lnTo>
                  <a:lnTo>
                    <a:pt x="12192" y="414527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32256" y="4614672"/>
              <a:ext cx="488315" cy="414655"/>
            </a:xfrm>
            <a:custGeom>
              <a:avLst/>
              <a:gdLst/>
              <a:ahLst/>
              <a:cxnLst/>
              <a:rect l="l" t="t" r="r" b="b"/>
              <a:pathLst>
                <a:path w="488314" h="414654">
                  <a:moveTo>
                    <a:pt x="12311" y="414527"/>
                  </a:moveTo>
                  <a:lnTo>
                    <a:pt x="449" y="374415"/>
                  </a:lnTo>
                  <a:lnTo>
                    <a:pt x="0" y="334517"/>
                  </a:lnTo>
                  <a:lnTo>
                    <a:pt x="10516" y="295477"/>
                  </a:lnTo>
                  <a:lnTo>
                    <a:pt x="31551" y="257936"/>
                  </a:lnTo>
                  <a:lnTo>
                    <a:pt x="62659" y="222539"/>
                  </a:lnTo>
                  <a:lnTo>
                    <a:pt x="103393" y="189928"/>
                  </a:lnTo>
                  <a:lnTo>
                    <a:pt x="153307" y="160746"/>
                  </a:lnTo>
                  <a:lnTo>
                    <a:pt x="211955" y="135635"/>
                  </a:lnTo>
                  <a:lnTo>
                    <a:pt x="211955" y="0"/>
                  </a:lnTo>
                  <a:lnTo>
                    <a:pt x="487799" y="150875"/>
                  </a:lnTo>
                  <a:lnTo>
                    <a:pt x="211955" y="393192"/>
                  </a:lnTo>
                  <a:lnTo>
                    <a:pt x="211955" y="257555"/>
                  </a:lnTo>
                  <a:lnTo>
                    <a:pt x="155201" y="282366"/>
                  </a:lnTo>
                  <a:lnTo>
                    <a:pt x="106128" y="310835"/>
                  </a:lnTo>
                  <a:lnTo>
                    <a:pt x="65468" y="342595"/>
                  </a:lnTo>
                  <a:lnTo>
                    <a:pt x="33951" y="377281"/>
                  </a:lnTo>
                  <a:lnTo>
                    <a:pt x="12311" y="41452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30851" y="4968239"/>
              <a:ext cx="489584" cy="387350"/>
            </a:xfrm>
            <a:custGeom>
              <a:avLst/>
              <a:gdLst/>
              <a:ahLst/>
              <a:cxnLst/>
              <a:rect l="l" t="t" r="r" b="b"/>
              <a:pathLst>
                <a:path w="489585" h="387350">
                  <a:moveTo>
                    <a:pt x="489204" y="387095"/>
                  </a:moveTo>
                  <a:lnTo>
                    <a:pt x="427924" y="385027"/>
                  </a:lnTo>
                  <a:lnTo>
                    <a:pt x="368891" y="378988"/>
                  </a:lnTo>
                  <a:lnTo>
                    <a:pt x="312569" y="369228"/>
                  </a:lnTo>
                  <a:lnTo>
                    <a:pt x="259417" y="355997"/>
                  </a:lnTo>
                  <a:lnTo>
                    <a:pt x="209899" y="339544"/>
                  </a:lnTo>
                  <a:lnTo>
                    <a:pt x="164477" y="320120"/>
                  </a:lnTo>
                  <a:lnTo>
                    <a:pt x="123612" y="297974"/>
                  </a:lnTo>
                  <a:lnTo>
                    <a:pt x="87767" y="273355"/>
                  </a:lnTo>
                  <a:lnTo>
                    <a:pt x="57402" y="246514"/>
                  </a:lnTo>
                  <a:lnTo>
                    <a:pt x="14966" y="187164"/>
                  </a:lnTo>
                  <a:lnTo>
                    <a:pt x="0" y="121920"/>
                  </a:lnTo>
                  <a:lnTo>
                    <a:pt x="0" y="0"/>
                  </a:lnTo>
                  <a:lnTo>
                    <a:pt x="3818" y="33208"/>
                  </a:lnTo>
                  <a:lnTo>
                    <a:pt x="14966" y="65147"/>
                  </a:lnTo>
                  <a:lnTo>
                    <a:pt x="57402" y="124250"/>
                  </a:lnTo>
                  <a:lnTo>
                    <a:pt x="87767" y="150932"/>
                  </a:lnTo>
                  <a:lnTo>
                    <a:pt x="123612" y="175380"/>
                  </a:lnTo>
                  <a:lnTo>
                    <a:pt x="164477" y="197350"/>
                  </a:lnTo>
                  <a:lnTo>
                    <a:pt x="209899" y="216603"/>
                  </a:lnTo>
                  <a:lnTo>
                    <a:pt x="259417" y="232897"/>
                  </a:lnTo>
                  <a:lnTo>
                    <a:pt x="312569" y="245990"/>
                  </a:lnTo>
                  <a:lnTo>
                    <a:pt x="368891" y="255641"/>
                  </a:lnTo>
                  <a:lnTo>
                    <a:pt x="427924" y="261609"/>
                  </a:lnTo>
                  <a:lnTo>
                    <a:pt x="489204" y="263652"/>
                  </a:lnTo>
                  <a:lnTo>
                    <a:pt x="489204" y="387095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30851" y="4614671"/>
              <a:ext cx="489584" cy="741045"/>
            </a:xfrm>
            <a:custGeom>
              <a:avLst/>
              <a:gdLst/>
              <a:ahLst/>
              <a:cxnLst/>
              <a:rect l="l" t="t" r="r" b="b"/>
              <a:pathLst>
                <a:path w="489585" h="741045">
                  <a:moveTo>
                    <a:pt x="0" y="353567"/>
                  </a:moveTo>
                  <a:lnTo>
                    <a:pt x="14966" y="418715"/>
                  </a:lnTo>
                  <a:lnTo>
                    <a:pt x="57402" y="477818"/>
                  </a:lnTo>
                  <a:lnTo>
                    <a:pt x="87767" y="504500"/>
                  </a:lnTo>
                  <a:lnTo>
                    <a:pt x="123612" y="528947"/>
                  </a:lnTo>
                  <a:lnTo>
                    <a:pt x="164477" y="550918"/>
                  </a:lnTo>
                  <a:lnTo>
                    <a:pt x="209899" y="570171"/>
                  </a:lnTo>
                  <a:lnTo>
                    <a:pt x="259417" y="586465"/>
                  </a:lnTo>
                  <a:lnTo>
                    <a:pt x="312569" y="599558"/>
                  </a:lnTo>
                  <a:lnTo>
                    <a:pt x="368891" y="609209"/>
                  </a:lnTo>
                  <a:lnTo>
                    <a:pt x="427924" y="615177"/>
                  </a:lnTo>
                  <a:lnTo>
                    <a:pt x="489204" y="617219"/>
                  </a:lnTo>
                  <a:lnTo>
                    <a:pt x="489204" y="740663"/>
                  </a:lnTo>
                  <a:lnTo>
                    <a:pt x="427924" y="738595"/>
                  </a:lnTo>
                  <a:lnTo>
                    <a:pt x="368891" y="732556"/>
                  </a:lnTo>
                  <a:lnTo>
                    <a:pt x="312569" y="722796"/>
                  </a:lnTo>
                  <a:lnTo>
                    <a:pt x="259417" y="709565"/>
                  </a:lnTo>
                  <a:lnTo>
                    <a:pt x="209899" y="693112"/>
                  </a:lnTo>
                  <a:lnTo>
                    <a:pt x="164477" y="673688"/>
                  </a:lnTo>
                  <a:lnTo>
                    <a:pt x="123612" y="651542"/>
                  </a:lnTo>
                  <a:lnTo>
                    <a:pt x="87767" y="626923"/>
                  </a:lnTo>
                  <a:lnTo>
                    <a:pt x="57402" y="600082"/>
                  </a:lnTo>
                  <a:lnTo>
                    <a:pt x="14966" y="540732"/>
                  </a:lnTo>
                  <a:lnTo>
                    <a:pt x="0" y="475487"/>
                  </a:lnTo>
                  <a:lnTo>
                    <a:pt x="0" y="353567"/>
                  </a:lnTo>
                  <a:lnTo>
                    <a:pt x="18838" y="280904"/>
                  </a:lnTo>
                  <a:lnTo>
                    <a:pt x="41747" y="246679"/>
                  </a:lnTo>
                  <a:lnTo>
                    <a:pt x="73080" y="214532"/>
                  </a:lnTo>
                  <a:lnTo>
                    <a:pt x="112411" y="184972"/>
                  </a:lnTo>
                  <a:lnTo>
                    <a:pt x="159313" y="158504"/>
                  </a:lnTo>
                  <a:lnTo>
                    <a:pt x="213359" y="135636"/>
                  </a:lnTo>
                  <a:lnTo>
                    <a:pt x="213359" y="0"/>
                  </a:lnTo>
                  <a:lnTo>
                    <a:pt x="489204" y="150875"/>
                  </a:lnTo>
                  <a:lnTo>
                    <a:pt x="213359" y="393191"/>
                  </a:lnTo>
                  <a:lnTo>
                    <a:pt x="213359" y="257555"/>
                  </a:lnTo>
                  <a:lnTo>
                    <a:pt x="156606" y="282366"/>
                  </a:lnTo>
                  <a:lnTo>
                    <a:pt x="107533" y="310835"/>
                  </a:lnTo>
                  <a:lnTo>
                    <a:pt x="66873" y="342595"/>
                  </a:lnTo>
                  <a:lnTo>
                    <a:pt x="35356" y="377281"/>
                  </a:lnTo>
                  <a:lnTo>
                    <a:pt x="13716" y="414527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48592" y="3956304"/>
              <a:ext cx="490220" cy="375285"/>
            </a:xfrm>
            <a:custGeom>
              <a:avLst/>
              <a:gdLst/>
              <a:ahLst/>
              <a:cxnLst/>
              <a:rect l="l" t="t" r="r" b="b"/>
              <a:pathLst>
                <a:path w="490220" h="375285">
                  <a:moveTo>
                    <a:pt x="15787" y="374903"/>
                  </a:moveTo>
                  <a:lnTo>
                    <a:pt x="1919" y="338211"/>
                  </a:lnTo>
                  <a:lnTo>
                    <a:pt x="0" y="301680"/>
                  </a:lnTo>
                  <a:lnTo>
                    <a:pt x="9545" y="265899"/>
                  </a:lnTo>
                  <a:lnTo>
                    <a:pt x="30075" y="231457"/>
                  </a:lnTo>
                  <a:lnTo>
                    <a:pt x="61105" y="198944"/>
                  </a:lnTo>
                  <a:lnTo>
                    <a:pt x="102155" y="168949"/>
                  </a:lnTo>
                  <a:lnTo>
                    <a:pt x="152742" y="142062"/>
                  </a:lnTo>
                  <a:lnTo>
                    <a:pt x="212383" y="118872"/>
                  </a:lnTo>
                  <a:lnTo>
                    <a:pt x="212383" y="0"/>
                  </a:lnTo>
                  <a:lnTo>
                    <a:pt x="489751" y="138684"/>
                  </a:lnTo>
                  <a:lnTo>
                    <a:pt x="212383" y="358140"/>
                  </a:lnTo>
                  <a:lnTo>
                    <a:pt x="212383" y="240792"/>
                  </a:lnTo>
                  <a:lnTo>
                    <a:pt x="157995" y="261762"/>
                  </a:lnTo>
                  <a:lnTo>
                    <a:pt x="110482" y="286024"/>
                  </a:lnTo>
                  <a:lnTo>
                    <a:pt x="70505" y="313212"/>
                  </a:lnTo>
                  <a:lnTo>
                    <a:pt x="38720" y="342960"/>
                  </a:lnTo>
                  <a:lnTo>
                    <a:pt x="15787" y="374903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47616" y="4270248"/>
              <a:ext cx="490855" cy="360045"/>
            </a:xfrm>
            <a:custGeom>
              <a:avLst/>
              <a:gdLst/>
              <a:ahLst/>
              <a:cxnLst/>
              <a:rect l="l" t="t" r="r" b="b"/>
              <a:pathLst>
                <a:path w="490854" h="360045">
                  <a:moveTo>
                    <a:pt x="490728" y="359663"/>
                  </a:moveTo>
                  <a:lnTo>
                    <a:pt x="429122" y="357807"/>
                  </a:lnTo>
                  <a:lnTo>
                    <a:pt x="369815" y="352388"/>
                  </a:lnTo>
                  <a:lnTo>
                    <a:pt x="313262" y="343631"/>
                  </a:lnTo>
                  <a:lnTo>
                    <a:pt x="259923" y="331761"/>
                  </a:lnTo>
                  <a:lnTo>
                    <a:pt x="210255" y="317003"/>
                  </a:lnTo>
                  <a:lnTo>
                    <a:pt x="164715" y="299580"/>
                  </a:lnTo>
                  <a:lnTo>
                    <a:pt x="123762" y="279719"/>
                  </a:lnTo>
                  <a:lnTo>
                    <a:pt x="87853" y="257644"/>
                  </a:lnTo>
                  <a:lnTo>
                    <a:pt x="57447" y="233579"/>
                  </a:lnTo>
                  <a:lnTo>
                    <a:pt x="14972" y="180379"/>
                  </a:lnTo>
                  <a:lnTo>
                    <a:pt x="0" y="121920"/>
                  </a:lnTo>
                  <a:lnTo>
                    <a:pt x="0" y="0"/>
                  </a:lnTo>
                  <a:lnTo>
                    <a:pt x="3819" y="29775"/>
                  </a:lnTo>
                  <a:lnTo>
                    <a:pt x="14972" y="58460"/>
                  </a:lnTo>
                  <a:lnTo>
                    <a:pt x="57447" y="111659"/>
                  </a:lnTo>
                  <a:lnTo>
                    <a:pt x="87853" y="135724"/>
                  </a:lnTo>
                  <a:lnTo>
                    <a:pt x="123762" y="157799"/>
                  </a:lnTo>
                  <a:lnTo>
                    <a:pt x="164715" y="177660"/>
                  </a:lnTo>
                  <a:lnTo>
                    <a:pt x="210255" y="195083"/>
                  </a:lnTo>
                  <a:lnTo>
                    <a:pt x="259923" y="209841"/>
                  </a:lnTo>
                  <a:lnTo>
                    <a:pt x="313262" y="221711"/>
                  </a:lnTo>
                  <a:lnTo>
                    <a:pt x="369815" y="230468"/>
                  </a:lnTo>
                  <a:lnTo>
                    <a:pt x="429122" y="235887"/>
                  </a:lnTo>
                  <a:lnTo>
                    <a:pt x="490728" y="237743"/>
                  </a:lnTo>
                  <a:lnTo>
                    <a:pt x="490728" y="359663"/>
                  </a:lnTo>
                  <a:close/>
                </a:path>
              </a:pathLst>
            </a:custGeom>
            <a:solidFill>
              <a:srgbClr val="0059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47616" y="3956304"/>
              <a:ext cx="490855" cy="673735"/>
            </a:xfrm>
            <a:custGeom>
              <a:avLst/>
              <a:gdLst/>
              <a:ahLst/>
              <a:cxnLst/>
              <a:rect l="l" t="t" r="r" b="b"/>
              <a:pathLst>
                <a:path w="490854" h="673735">
                  <a:moveTo>
                    <a:pt x="0" y="313943"/>
                  </a:moveTo>
                  <a:lnTo>
                    <a:pt x="14972" y="372403"/>
                  </a:lnTo>
                  <a:lnTo>
                    <a:pt x="57447" y="425603"/>
                  </a:lnTo>
                  <a:lnTo>
                    <a:pt x="87853" y="449668"/>
                  </a:lnTo>
                  <a:lnTo>
                    <a:pt x="123762" y="471743"/>
                  </a:lnTo>
                  <a:lnTo>
                    <a:pt x="164715" y="491604"/>
                  </a:lnTo>
                  <a:lnTo>
                    <a:pt x="210255" y="509027"/>
                  </a:lnTo>
                  <a:lnTo>
                    <a:pt x="259923" y="523785"/>
                  </a:lnTo>
                  <a:lnTo>
                    <a:pt x="313262" y="535655"/>
                  </a:lnTo>
                  <a:lnTo>
                    <a:pt x="369815" y="544412"/>
                  </a:lnTo>
                  <a:lnTo>
                    <a:pt x="429122" y="549831"/>
                  </a:lnTo>
                  <a:lnTo>
                    <a:pt x="490728" y="551687"/>
                  </a:lnTo>
                  <a:lnTo>
                    <a:pt x="490728" y="673607"/>
                  </a:lnTo>
                  <a:lnTo>
                    <a:pt x="429122" y="671751"/>
                  </a:lnTo>
                  <a:lnTo>
                    <a:pt x="369815" y="666332"/>
                  </a:lnTo>
                  <a:lnTo>
                    <a:pt x="313262" y="657575"/>
                  </a:lnTo>
                  <a:lnTo>
                    <a:pt x="259923" y="645705"/>
                  </a:lnTo>
                  <a:lnTo>
                    <a:pt x="210255" y="630947"/>
                  </a:lnTo>
                  <a:lnTo>
                    <a:pt x="164715" y="613524"/>
                  </a:lnTo>
                  <a:lnTo>
                    <a:pt x="123762" y="593663"/>
                  </a:lnTo>
                  <a:lnTo>
                    <a:pt x="87853" y="571588"/>
                  </a:lnTo>
                  <a:lnTo>
                    <a:pt x="57447" y="547523"/>
                  </a:lnTo>
                  <a:lnTo>
                    <a:pt x="14972" y="494323"/>
                  </a:lnTo>
                  <a:lnTo>
                    <a:pt x="0" y="435863"/>
                  </a:lnTo>
                  <a:lnTo>
                    <a:pt x="0" y="313943"/>
                  </a:lnTo>
                  <a:lnTo>
                    <a:pt x="6596" y="275575"/>
                  </a:lnTo>
                  <a:lnTo>
                    <a:pt x="25851" y="238647"/>
                  </a:lnTo>
                  <a:lnTo>
                    <a:pt x="56959" y="203834"/>
                  </a:lnTo>
                  <a:lnTo>
                    <a:pt x="99116" y="171816"/>
                  </a:lnTo>
                  <a:lnTo>
                    <a:pt x="151518" y="143270"/>
                  </a:lnTo>
                  <a:lnTo>
                    <a:pt x="213359" y="118871"/>
                  </a:lnTo>
                  <a:lnTo>
                    <a:pt x="213359" y="0"/>
                  </a:lnTo>
                  <a:lnTo>
                    <a:pt x="490728" y="138683"/>
                  </a:lnTo>
                  <a:lnTo>
                    <a:pt x="213359" y="358139"/>
                  </a:lnTo>
                  <a:lnTo>
                    <a:pt x="213359" y="240791"/>
                  </a:lnTo>
                  <a:lnTo>
                    <a:pt x="158971" y="261762"/>
                  </a:lnTo>
                  <a:lnTo>
                    <a:pt x="111459" y="286024"/>
                  </a:lnTo>
                  <a:lnTo>
                    <a:pt x="71481" y="313212"/>
                  </a:lnTo>
                  <a:lnTo>
                    <a:pt x="39697" y="342960"/>
                  </a:lnTo>
                  <a:lnTo>
                    <a:pt x="16764" y="374903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54688" y="3300983"/>
              <a:ext cx="488315" cy="375285"/>
            </a:xfrm>
            <a:custGeom>
              <a:avLst/>
              <a:gdLst/>
              <a:ahLst/>
              <a:cxnLst/>
              <a:rect l="l" t="t" r="r" b="b"/>
              <a:pathLst>
                <a:path w="488314" h="375285">
                  <a:moveTo>
                    <a:pt x="15787" y="374903"/>
                  </a:moveTo>
                  <a:lnTo>
                    <a:pt x="1919" y="338211"/>
                  </a:lnTo>
                  <a:lnTo>
                    <a:pt x="0" y="301680"/>
                  </a:lnTo>
                  <a:lnTo>
                    <a:pt x="9545" y="265899"/>
                  </a:lnTo>
                  <a:lnTo>
                    <a:pt x="30075" y="231457"/>
                  </a:lnTo>
                  <a:lnTo>
                    <a:pt x="61105" y="198944"/>
                  </a:lnTo>
                  <a:lnTo>
                    <a:pt x="102155" y="168949"/>
                  </a:lnTo>
                  <a:lnTo>
                    <a:pt x="152742" y="142062"/>
                  </a:lnTo>
                  <a:lnTo>
                    <a:pt x="212383" y="118872"/>
                  </a:lnTo>
                  <a:lnTo>
                    <a:pt x="212383" y="0"/>
                  </a:lnTo>
                  <a:lnTo>
                    <a:pt x="488227" y="138684"/>
                  </a:lnTo>
                  <a:lnTo>
                    <a:pt x="212383" y="358140"/>
                  </a:lnTo>
                  <a:lnTo>
                    <a:pt x="212383" y="240792"/>
                  </a:lnTo>
                  <a:lnTo>
                    <a:pt x="157995" y="261762"/>
                  </a:lnTo>
                  <a:lnTo>
                    <a:pt x="110482" y="286024"/>
                  </a:lnTo>
                  <a:lnTo>
                    <a:pt x="70505" y="313212"/>
                  </a:lnTo>
                  <a:lnTo>
                    <a:pt x="38720" y="342960"/>
                  </a:lnTo>
                  <a:lnTo>
                    <a:pt x="15787" y="37490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53711" y="3614927"/>
              <a:ext cx="489584" cy="360045"/>
            </a:xfrm>
            <a:custGeom>
              <a:avLst/>
              <a:gdLst/>
              <a:ahLst/>
              <a:cxnLst/>
              <a:rect l="l" t="t" r="r" b="b"/>
              <a:pathLst>
                <a:path w="489585" h="360045">
                  <a:moveTo>
                    <a:pt x="489204" y="359663"/>
                  </a:moveTo>
                  <a:lnTo>
                    <a:pt x="427924" y="357832"/>
                  </a:lnTo>
                  <a:lnTo>
                    <a:pt x="368891" y="352480"/>
                  </a:lnTo>
                  <a:lnTo>
                    <a:pt x="312569" y="343819"/>
                  </a:lnTo>
                  <a:lnTo>
                    <a:pt x="259417" y="332061"/>
                  </a:lnTo>
                  <a:lnTo>
                    <a:pt x="209899" y="317419"/>
                  </a:lnTo>
                  <a:lnTo>
                    <a:pt x="164477" y="300105"/>
                  </a:lnTo>
                  <a:lnTo>
                    <a:pt x="123612" y="280331"/>
                  </a:lnTo>
                  <a:lnTo>
                    <a:pt x="87767" y="258310"/>
                  </a:lnTo>
                  <a:lnTo>
                    <a:pt x="57402" y="234253"/>
                  </a:lnTo>
                  <a:lnTo>
                    <a:pt x="14966" y="180883"/>
                  </a:lnTo>
                  <a:lnTo>
                    <a:pt x="0" y="121920"/>
                  </a:lnTo>
                  <a:lnTo>
                    <a:pt x="0" y="0"/>
                  </a:lnTo>
                  <a:lnTo>
                    <a:pt x="3818" y="29775"/>
                  </a:lnTo>
                  <a:lnTo>
                    <a:pt x="14966" y="58460"/>
                  </a:lnTo>
                  <a:lnTo>
                    <a:pt x="57402" y="111659"/>
                  </a:lnTo>
                  <a:lnTo>
                    <a:pt x="87767" y="135724"/>
                  </a:lnTo>
                  <a:lnTo>
                    <a:pt x="123612" y="157799"/>
                  </a:lnTo>
                  <a:lnTo>
                    <a:pt x="164477" y="177660"/>
                  </a:lnTo>
                  <a:lnTo>
                    <a:pt x="209899" y="195083"/>
                  </a:lnTo>
                  <a:lnTo>
                    <a:pt x="259417" y="209841"/>
                  </a:lnTo>
                  <a:lnTo>
                    <a:pt x="312569" y="221711"/>
                  </a:lnTo>
                  <a:lnTo>
                    <a:pt x="368891" y="230468"/>
                  </a:lnTo>
                  <a:lnTo>
                    <a:pt x="427924" y="235887"/>
                  </a:lnTo>
                  <a:lnTo>
                    <a:pt x="489204" y="237743"/>
                  </a:lnTo>
                  <a:lnTo>
                    <a:pt x="489204" y="359663"/>
                  </a:lnTo>
                  <a:close/>
                </a:path>
              </a:pathLst>
            </a:custGeom>
            <a:solidFill>
              <a:srgbClr val="CDC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53711" y="3300983"/>
              <a:ext cx="489584" cy="673735"/>
            </a:xfrm>
            <a:custGeom>
              <a:avLst/>
              <a:gdLst/>
              <a:ahLst/>
              <a:cxnLst/>
              <a:rect l="l" t="t" r="r" b="b"/>
              <a:pathLst>
                <a:path w="489585" h="673735">
                  <a:moveTo>
                    <a:pt x="0" y="313943"/>
                  </a:moveTo>
                  <a:lnTo>
                    <a:pt x="14966" y="372403"/>
                  </a:lnTo>
                  <a:lnTo>
                    <a:pt x="57402" y="425603"/>
                  </a:lnTo>
                  <a:lnTo>
                    <a:pt x="87767" y="449668"/>
                  </a:lnTo>
                  <a:lnTo>
                    <a:pt x="123612" y="471743"/>
                  </a:lnTo>
                  <a:lnTo>
                    <a:pt x="164477" y="491604"/>
                  </a:lnTo>
                  <a:lnTo>
                    <a:pt x="209899" y="509027"/>
                  </a:lnTo>
                  <a:lnTo>
                    <a:pt x="259417" y="523785"/>
                  </a:lnTo>
                  <a:lnTo>
                    <a:pt x="312569" y="535655"/>
                  </a:lnTo>
                  <a:lnTo>
                    <a:pt x="368891" y="544412"/>
                  </a:lnTo>
                  <a:lnTo>
                    <a:pt x="427924" y="549831"/>
                  </a:lnTo>
                  <a:lnTo>
                    <a:pt x="489204" y="551687"/>
                  </a:lnTo>
                  <a:lnTo>
                    <a:pt x="489204" y="673607"/>
                  </a:lnTo>
                  <a:lnTo>
                    <a:pt x="427924" y="671776"/>
                  </a:lnTo>
                  <a:lnTo>
                    <a:pt x="368891" y="666424"/>
                  </a:lnTo>
                  <a:lnTo>
                    <a:pt x="312569" y="657763"/>
                  </a:lnTo>
                  <a:lnTo>
                    <a:pt x="259417" y="646005"/>
                  </a:lnTo>
                  <a:lnTo>
                    <a:pt x="209899" y="631363"/>
                  </a:lnTo>
                  <a:lnTo>
                    <a:pt x="164477" y="614049"/>
                  </a:lnTo>
                  <a:lnTo>
                    <a:pt x="123612" y="594275"/>
                  </a:lnTo>
                  <a:lnTo>
                    <a:pt x="87767" y="572254"/>
                  </a:lnTo>
                  <a:lnTo>
                    <a:pt x="57402" y="548197"/>
                  </a:lnTo>
                  <a:lnTo>
                    <a:pt x="14966" y="494827"/>
                  </a:lnTo>
                  <a:lnTo>
                    <a:pt x="0" y="435863"/>
                  </a:lnTo>
                  <a:lnTo>
                    <a:pt x="0" y="313943"/>
                  </a:lnTo>
                  <a:lnTo>
                    <a:pt x="6491" y="275575"/>
                  </a:lnTo>
                  <a:lnTo>
                    <a:pt x="25512" y="238647"/>
                  </a:lnTo>
                  <a:lnTo>
                    <a:pt x="56387" y="203834"/>
                  </a:lnTo>
                  <a:lnTo>
                    <a:pt x="98439" y="171816"/>
                  </a:lnTo>
                  <a:lnTo>
                    <a:pt x="150988" y="143270"/>
                  </a:lnTo>
                  <a:lnTo>
                    <a:pt x="213359" y="118871"/>
                  </a:lnTo>
                  <a:lnTo>
                    <a:pt x="213359" y="0"/>
                  </a:lnTo>
                  <a:lnTo>
                    <a:pt x="489204" y="138683"/>
                  </a:lnTo>
                  <a:lnTo>
                    <a:pt x="213359" y="358139"/>
                  </a:lnTo>
                  <a:lnTo>
                    <a:pt x="213359" y="240791"/>
                  </a:lnTo>
                  <a:lnTo>
                    <a:pt x="158971" y="261762"/>
                  </a:lnTo>
                  <a:lnTo>
                    <a:pt x="111459" y="286024"/>
                  </a:lnTo>
                  <a:lnTo>
                    <a:pt x="71481" y="313212"/>
                  </a:lnTo>
                  <a:lnTo>
                    <a:pt x="39697" y="342960"/>
                  </a:lnTo>
                  <a:lnTo>
                    <a:pt x="16764" y="374903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68751" y="5369051"/>
              <a:ext cx="1687067" cy="94335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68396" y="4594859"/>
              <a:ext cx="1275587" cy="92811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163317" y="4699449"/>
            <a:ext cx="1228090" cy="1410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marR="204470" algn="ctr">
              <a:lnSpc>
                <a:spcPct val="101600"/>
              </a:lnSpc>
              <a:spcBef>
                <a:spcPts val="90"/>
              </a:spcBef>
            </a:pPr>
            <a:r>
              <a:rPr sz="1950" b="1" dirty="0">
                <a:latin typeface="Arial"/>
                <a:cs typeface="Arial"/>
              </a:rPr>
              <a:t>One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spc="-25" dirty="0">
                <a:latin typeface="Arial"/>
                <a:cs typeface="Arial"/>
              </a:rPr>
              <a:t>or </a:t>
            </a:r>
            <a:r>
              <a:rPr sz="1950" b="1" spc="-20" dirty="0">
                <a:latin typeface="Arial"/>
                <a:cs typeface="Arial"/>
              </a:rPr>
              <a:t>more</a:t>
            </a:r>
            <a:endParaRPr sz="1950">
              <a:latin typeface="Arial"/>
              <a:cs typeface="Arial"/>
            </a:endParaRPr>
          </a:p>
          <a:p>
            <a:pPr marL="12700" marR="5080" algn="ctr">
              <a:lnSpc>
                <a:spcPct val="101499"/>
              </a:lnSpc>
              <a:spcBef>
                <a:spcPts val="1405"/>
              </a:spcBef>
            </a:pPr>
            <a:r>
              <a:rPr sz="1950" b="1" dirty="0">
                <a:latin typeface="Arial"/>
                <a:cs typeface="Arial"/>
              </a:rPr>
              <a:t>More</a:t>
            </a:r>
            <a:r>
              <a:rPr sz="1950" b="1" spc="50" dirty="0">
                <a:latin typeface="Arial"/>
                <a:cs typeface="Arial"/>
              </a:rPr>
              <a:t> </a:t>
            </a:r>
            <a:r>
              <a:rPr sz="1950" b="1" spc="-20" dirty="0">
                <a:latin typeface="Arial"/>
                <a:cs typeface="Arial"/>
              </a:rPr>
              <a:t>than </a:t>
            </a:r>
            <a:r>
              <a:rPr sz="1950" b="1" dirty="0">
                <a:latin typeface="Arial"/>
                <a:cs typeface="Arial"/>
              </a:rPr>
              <a:t>one</a:t>
            </a:r>
            <a:r>
              <a:rPr sz="1950" b="1" spc="20" dirty="0">
                <a:latin typeface="Arial"/>
                <a:cs typeface="Arial"/>
              </a:rPr>
              <a:t> </a:t>
            </a:r>
            <a:r>
              <a:rPr sz="1950" b="1" spc="-25" dirty="0">
                <a:latin typeface="Arial"/>
                <a:cs typeface="Arial"/>
              </a:rPr>
              <a:t>of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14827" y="4046220"/>
            <a:ext cx="1802891" cy="62483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3011365" y="4187376"/>
            <a:ext cx="141160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0"/>
              </a:lnSpc>
            </a:pPr>
            <a:r>
              <a:rPr sz="1950" b="1" dirty="0">
                <a:latin typeface="Arial"/>
                <a:cs typeface="Arial"/>
              </a:rPr>
              <a:t>Blueprint</a:t>
            </a:r>
            <a:r>
              <a:rPr sz="1950" b="1" spc="85" dirty="0">
                <a:latin typeface="Arial"/>
                <a:cs typeface="Arial"/>
              </a:rPr>
              <a:t> </a:t>
            </a:r>
            <a:r>
              <a:rPr sz="1950" b="1" spc="-25" dirty="0">
                <a:latin typeface="Arial"/>
                <a:cs typeface="Arial"/>
              </a:rPr>
              <a:t>of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468880" y="2567940"/>
            <a:ext cx="2673350" cy="2106295"/>
            <a:chOff x="2468880" y="2567940"/>
            <a:chExt cx="2673350" cy="2106295"/>
          </a:xfrm>
        </p:grpSpPr>
        <p:pic>
          <p:nvPicPr>
            <p:cNvPr id="53" name="object 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68880" y="2779775"/>
              <a:ext cx="2673096" cy="189433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510492" y="2580131"/>
              <a:ext cx="488315" cy="375285"/>
            </a:xfrm>
            <a:custGeom>
              <a:avLst/>
              <a:gdLst/>
              <a:ahLst/>
              <a:cxnLst/>
              <a:rect l="l" t="t" r="r" b="b"/>
              <a:pathLst>
                <a:path w="488314" h="375285">
                  <a:moveTo>
                    <a:pt x="15787" y="374903"/>
                  </a:moveTo>
                  <a:lnTo>
                    <a:pt x="1919" y="338146"/>
                  </a:lnTo>
                  <a:lnTo>
                    <a:pt x="0" y="301442"/>
                  </a:lnTo>
                  <a:lnTo>
                    <a:pt x="9545" y="265417"/>
                  </a:lnTo>
                  <a:lnTo>
                    <a:pt x="30075" y="230695"/>
                  </a:lnTo>
                  <a:lnTo>
                    <a:pt x="61105" y="197902"/>
                  </a:lnTo>
                  <a:lnTo>
                    <a:pt x="102155" y="167663"/>
                  </a:lnTo>
                  <a:lnTo>
                    <a:pt x="152742" y="140603"/>
                  </a:lnTo>
                  <a:lnTo>
                    <a:pt x="212383" y="117348"/>
                  </a:lnTo>
                  <a:lnTo>
                    <a:pt x="212383" y="0"/>
                  </a:lnTo>
                  <a:lnTo>
                    <a:pt x="488227" y="137160"/>
                  </a:lnTo>
                  <a:lnTo>
                    <a:pt x="212383" y="356616"/>
                  </a:lnTo>
                  <a:lnTo>
                    <a:pt x="212383" y="239268"/>
                  </a:lnTo>
                  <a:lnTo>
                    <a:pt x="157995" y="260396"/>
                  </a:lnTo>
                  <a:lnTo>
                    <a:pt x="110482" y="285036"/>
                  </a:lnTo>
                  <a:lnTo>
                    <a:pt x="70505" y="312676"/>
                  </a:lnTo>
                  <a:lnTo>
                    <a:pt x="38720" y="342802"/>
                  </a:lnTo>
                  <a:lnTo>
                    <a:pt x="15787" y="374903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09516" y="2894075"/>
              <a:ext cx="489584" cy="360045"/>
            </a:xfrm>
            <a:custGeom>
              <a:avLst/>
              <a:gdLst/>
              <a:ahLst/>
              <a:cxnLst/>
              <a:rect l="l" t="t" r="r" b="b"/>
              <a:pathLst>
                <a:path w="489585" h="360045">
                  <a:moveTo>
                    <a:pt x="489204" y="359663"/>
                  </a:moveTo>
                  <a:lnTo>
                    <a:pt x="427924" y="357807"/>
                  </a:lnTo>
                  <a:lnTo>
                    <a:pt x="368891" y="352388"/>
                  </a:lnTo>
                  <a:lnTo>
                    <a:pt x="312569" y="343631"/>
                  </a:lnTo>
                  <a:lnTo>
                    <a:pt x="259417" y="331761"/>
                  </a:lnTo>
                  <a:lnTo>
                    <a:pt x="209899" y="317003"/>
                  </a:lnTo>
                  <a:lnTo>
                    <a:pt x="164477" y="299580"/>
                  </a:lnTo>
                  <a:lnTo>
                    <a:pt x="123612" y="279719"/>
                  </a:lnTo>
                  <a:lnTo>
                    <a:pt x="87767" y="257644"/>
                  </a:lnTo>
                  <a:lnTo>
                    <a:pt x="57402" y="233579"/>
                  </a:lnTo>
                  <a:lnTo>
                    <a:pt x="14966" y="180379"/>
                  </a:lnTo>
                  <a:lnTo>
                    <a:pt x="0" y="121920"/>
                  </a:lnTo>
                  <a:lnTo>
                    <a:pt x="0" y="0"/>
                  </a:lnTo>
                  <a:lnTo>
                    <a:pt x="3818" y="29749"/>
                  </a:lnTo>
                  <a:lnTo>
                    <a:pt x="14966" y="58362"/>
                  </a:lnTo>
                  <a:lnTo>
                    <a:pt x="57402" y="111315"/>
                  </a:lnTo>
                  <a:lnTo>
                    <a:pt x="87767" y="135221"/>
                  </a:lnTo>
                  <a:lnTo>
                    <a:pt x="123612" y="157125"/>
                  </a:lnTo>
                  <a:lnTo>
                    <a:pt x="164477" y="176811"/>
                  </a:lnTo>
                  <a:lnTo>
                    <a:pt x="209899" y="194062"/>
                  </a:lnTo>
                  <a:lnTo>
                    <a:pt x="259417" y="208661"/>
                  </a:lnTo>
                  <a:lnTo>
                    <a:pt x="312569" y="220393"/>
                  </a:lnTo>
                  <a:lnTo>
                    <a:pt x="368891" y="229041"/>
                  </a:lnTo>
                  <a:lnTo>
                    <a:pt x="427924" y="234389"/>
                  </a:lnTo>
                  <a:lnTo>
                    <a:pt x="489204" y="236219"/>
                  </a:lnTo>
                  <a:lnTo>
                    <a:pt x="489204" y="359663"/>
                  </a:lnTo>
                  <a:close/>
                </a:path>
              </a:pathLst>
            </a:custGeom>
            <a:solidFill>
              <a:srgbClr val="5D5D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509516" y="2580131"/>
              <a:ext cx="489584" cy="673735"/>
            </a:xfrm>
            <a:custGeom>
              <a:avLst/>
              <a:gdLst/>
              <a:ahLst/>
              <a:cxnLst/>
              <a:rect l="l" t="t" r="r" b="b"/>
              <a:pathLst>
                <a:path w="489585" h="673735">
                  <a:moveTo>
                    <a:pt x="0" y="313943"/>
                  </a:moveTo>
                  <a:lnTo>
                    <a:pt x="14966" y="372306"/>
                  </a:lnTo>
                  <a:lnTo>
                    <a:pt x="57402" y="425259"/>
                  </a:lnTo>
                  <a:lnTo>
                    <a:pt x="87767" y="449165"/>
                  </a:lnTo>
                  <a:lnTo>
                    <a:pt x="123612" y="471069"/>
                  </a:lnTo>
                  <a:lnTo>
                    <a:pt x="164477" y="490755"/>
                  </a:lnTo>
                  <a:lnTo>
                    <a:pt x="209899" y="508005"/>
                  </a:lnTo>
                  <a:lnTo>
                    <a:pt x="259417" y="522605"/>
                  </a:lnTo>
                  <a:lnTo>
                    <a:pt x="312569" y="534337"/>
                  </a:lnTo>
                  <a:lnTo>
                    <a:pt x="368891" y="542985"/>
                  </a:lnTo>
                  <a:lnTo>
                    <a:pt x="427924" y="548333"/>
                  </a:lnTo>
                  <a:lnTo>
                    <a:pt x="489204" y="550163"/>
                  </a:lnTo>
                  <a:lnTo>
                    <a:pt x="489204" y="673607"/>
                  </a:lnTo>
                  <a:lnTo>
                    <a:pt x="427924" y="671751"/>
                  </a:lnTo>
                  <a:lnTo>
                    <a:pt x="368891" y="666332"/>
                  </a:lnTo>
                  <a:lnTo>
                    <a:pt x="312569" y="657575"/>
                  </a:lnTo>
                  <a:lnTo>
                    <a:pt x="259417" y="645705"/>
                  </a:lnTo>
                  <a:lnTo>
                    <a:pt x="209899" y="630947"/>
                  </a:lnTo>
                  <a:lnTo>
                    <a:pt x="164477" y="613524"/>
                  </a:lnTo>
                  <a:lnTo>
                    <a:pt x="123612" y="593663"/>
                  </a:lnTo>
                  <a:lnTo>
                    <a:pt x="87767" y="571588"/>
                  </a:lnTo>
                  <a:lnTo>
                    <a:pt x="57402" y="547523"/>
                  </a:lnTo>
                  <a:lnTo>
                    <a:pt x="14966" y="494323"/>
                  </a:lnTo>
                  <a:lnTo>
                    <a:pt x="0" y="435863"/>
                  </a:lnTo>
                  <a:lnTo>
                    <a:pt x="0" y="313943"/>
                  </a:lnTo>
                  <a:lnTo>
                    <a:pt x="6596" y="274933"/>
                  </a:lnTo>
                  <a:lnTo>
                    <a:pt x="25851" y="237574"/>
                  </a:lnTo>
                  <a:lnTo>
                    <a:pt x="56959" y="202501"/>
                  </a:lnTo>
                  <a:lnTo>
                    <a:pt x="99116" y="170349"/>
                  </a:lnTo>
                  <a:lnTo>
                    <a:pt x="151518" y="141753"/>
                  </a:lnTo>
                  <a:lnTo>
                    <a:pt x="213359" y="117348"/>
                  </a:lnTo>
                  <a:lnTo>
                    <a:pt x="213359" y="0"/>
                  </a:lnTo>
                  <a:lnTo>
                    <a:pt x="489204" y="137160"/>
                  </a:lnTo>
                  <a:lnTo>
                    <a:pt x="213359" y="356615"/>
                  </a:lnTo>
                  <a:lnTo>
                    <a:pt x="213359" y="239267"/>
                  </a:lnTo>
                  <a:lnTo>
                    <a:pt x="158971" y="260396"/>
                  </a:lnTo>
                  <a:lnTo>
                    <a:pt x="111459" y="285036"/>
                  </a:lnTo>
                  <a:lnTo>
                    <a:pt x="71481" y="312676"/>
                  </a:lnTo>
                  <a:lnTo>
                    <a:pt x="39697" y="342802"/>
                  </a:lnTo>
                  <a:lnTo>
                    <a:pt x="16764" y="374903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18459" y="2567940"/>
              <a:ext cx="1687067" cy="946403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3112976" y="2680167"/>
            <a:ext cx="1271905" cy="1351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1145" marR="48895" indent="-259079">
              <a:lnSpc>
                <a:spcPct val="101600"/>
              </a:lnSpc>
              <a:spcBef>
                <a:spcPts val="90"/>
              </a:spcBef>
            </a:pPr>
            <a:r>
              <a:rPr sz="1950" b="1" dirty="0">
                <a:latin typeface="Arial"/>
                <a:cs typeface="Arial"/>
              </a:rPr>
              <a:t>More</a:t>
            </a:r>
            <a:r>
              <a:rPr sz="1950" b="1" spc="50" dirty="0">
                <a:latin typeface="Arial"/>
                <a:cs typeface="Arial"/>
              </a:rPr>
              <a:t> </a:t>
            </a:r>
            <a:r>
              <a:rPr sz="1950" b="1" spc="-20" dirty="0">
                <a:latin typeface="Arial"/>
                <a:cs typeface="Arial"/>
              </a:rPr>
              <a:t>than </a:t>
            </a:r>
            <a:r>
              <a:rPr sz="1950" b="1" dirty="0">
                <a:latin typeface="Arial"/>
                <a:cs typeface="Arial"/>
              </a:rPr>
              <a:t>one</a:t>
            </a:r>
            <a:r>
              <a:rPr sz="1950" b="1" spc="20" dirty="0">
                <a:latin typeface="Arial"/>
                <a:cs typeface="Arial"/>
              </a:rPr>
              <a:t> </a:t>
            </a:r>
            <a:r>
              <a:rPr sz="1950" b="1" spc="-35" dirty="0">
                <a:latin typeface="Arial"/>
                <a:cs typeface="Arial"/>
              </a:rPr>
              <a:t>of</a:t>
            </a:r>
            <a:endParaRPr sz="1950">
              <a:latin typeface="Arial"/>
              <a:cs typeface="Arial"/>
            </a:endParaRPr>
          </a:p>
          <a:p>
            <a:pPr marL="315595" marR="5080" indent="-259079">
              <a:lnSpc>
                <a:spcPct val="101499"/>
              </a:lnSpc>
              <a:spcBef>
                <a:spcPts val="940"/>
              </a:spcBef>
            </a:pPr>
            <a:r>
              <a:rPr sz="1950" b="1" dirty="0">
                <a:latin typeface="Arial"/>
                <a:cs typeface="Arial"/>
              </a:rPr>
              <a:t>More</a:t>
            </a:r>
            <a:r>
              <a:rPr sz="1950" b="1" spc="50" dirty="0">
                <a:latin typeface="Arial"/>
                <a:cs typeface="Arial"/>
              </a:rPr>
              <a:t> </a:t>
            </a:r>
            <a:r>
              <a:rPr sz="1950" b="1" spc="-20" dirty="0">
                <a:latin typeface="Arial"/>
                <a:cs typeface="Arial"/>
              </a:rPr>
              <a:t>than </a:t>
            </a:r>
            <a:r>
              <a:rPr sz="1950" b="1" dirty="0">
                <a:latin typeface="Arial"/>
                <a:cs typeface="Arial"/>
              </a:rPr>
              <a:t>one</a:t>
            </a:r>
            <a:r>
              <a:rPr sz="1950" b="1" spc="20" dirty="0">
                <a:latin typeface="Arial"/>
                <a:cs typeface="Arial"/>
              </a:rPr>
              <a:t> </a:t>
            </a:r>
            <a:r>
              <a:rPr sz="1950" b="1" spc="-35" dirty="0">
                <a:latin typeface="Arial"/>
                <a:cs typeface="Arial"/>
              </a:rPr>
              <a:t>of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1326" y="435390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633855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u="none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u="none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u="none" spc="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Thread?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168" y="1947672"/>
            <a:ext cx="2651759" cy="26517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01600" y="2870744"/>
            <a:ext cx="1029969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32715" marR="5080" indent="-120650">
              <a:lnSpc>
                <a:spcPts val="3170"/>
              </a:lnSpc>
              <a:spcBef>
                <a:spcPts val="195"/>
              </a:spcBef>
            </a:pPr>
            <a:r>
              <a:rPr sz="2650" b="1" spc="-20" dirty="0">
                <a:latin typeface="Arial"/>
                <a:cs typeface="Arial"/>
              </a:rPr>
              <a:t>Single Core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2168" y="3090672"/>
            <a:ext cx="3199130" cy="4057015"/>
            <a:chOff x="582168" y="3090672"/>
            <a:chExt cx="3199130" cy="4057015"/>
          </a:xfrm>
        </p:grpSpPr>
        <p:sp>
          <p:nvSpPr>
            <p:cNvPr id="6" name="object 6"/>
            <p:cNvSpPr/>
            <p:nvPr/>
          </p:nvSpPr>
          <p:spPr>
            <a:xfrm>
              <a:off x="3075432" y="3090672"/>
              <a:ext cx="706120" cy="367665"/>
            </a:xfrm>
            <a:custGeom>
              <a:avLst/>
              <a:gdLst/>
              <a:ahLst/>
              <a:cxnLst/>
              <a:rect l="l" t="t" r="r" b="b"/>
              <a:pathLst>
                <a:path w="706120" h="367664">
                  <a:moveTo>
                    <a:pt x="486156" y="182880"/>
                  </a:moveTo>
                  <a:lnTo>
                    <a:pt x="339852" y="0"/>
                  </a:lnTo>
                  <a:lnTo>
                    <a:pt x="632460" y="146304"/>
                  </a:lnTo>
                  <a:lnTo>
                    <a:pt x="486156" y="146304"/>
                  </a:lnTo>
                  <a:lnTo>
                    <a:pt x="486156" y="182880"/>
                  </a:lnTo>
                  <a:close/>
                </a:path>
                <a:path w="706120" h="367664">
                  <a:moveTo>
                    <a:pt x="457137" y="219456"/>
                  </a:moveTo>
                  <a:lnTo>
                    <a:pt x="0" y="219456"/>
                  </a:lnTo>
                  <a:lnTo>
                    <a:pt x="0" y="146304"/>
                  </a:lnTo>
                  <a:lnTo>
                    <a:pt x="456895" y="146304"/>
                  </a:lnTo>
                  <a:lnTo>
                    <a:pt x="486156" y="182880"/>
                  </a:lnTo>
                  <a:lnTo>
                    <a:pt x="457137" y="219456"/>
                  </a:lnTo>
                  <a:close/>
                </a:path>
                <a:path w="706120" h="367664">
                  <a:moveTo>
                    <a:pt x="633064" y="219456"/>
                  </a:moveTo>
                  <a:lnTo>
                    <a:pt x="486156" y="219456"/>
                  </a:lnTo>
                  <a:lnTo>
                    <a:pt x="486156" y="146304"/>
                  </a:lnTo>
                  <a:lnTo>
                    <a:pt x="632460" y="146304"/>
                  </a:lnTo>
                  <a:lnTo>
                    <a:pt x="705612" y="182880"/>
                  </a:lnTo>
                  <a:lnTo>
                    <a:pt x="633064" y="219456"/>
                  </a:lnTo>
                  <a:close/>
                </a:path>
                <a:path w="706120" h="367664">
                  <a:moveTo>
                    <a:pt x="339852" y="367284"/>
                  </a:moveTo>
                  <a:lnTo>
                    <a:pt x="486156" y="182880"/>
                  </a:lnTo>
                  <a:lnTo>
                    <a:pt x="486156" y="219456"/>
                  </a:lnTo>
                  <a:lnTo>
                    <a:pt x="633064" y="219456"/>
                  </a:lnTo>
                  <a:lnTo>
                    <a:pt x="339852" y="367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2168" y="4495800"/>
              <a:ext cx="2651759" cy="265175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91477" y="5400572"/>
            <a:ext cx="788670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19685">
              <a:lnSpc>
                <a:spcPts val="3170"/>
              </a:lnSpc>
              <a:spcBef>
                <a:spcPts val="195"/>
              </a:spcBef>
            </a:pPr>
            <a:r>
              <a:rPr sz="2650" b="1" spc="-20" dirty="0">
                <a:latin typeface="Arial"/>
                <a:cs typeface="Arial"/>
              </a:rPr>
              <a:t>Dual </a:t>
            </a:r>
            <a:r>
              <a:rPr sz="2650" b="1" spc="-25" dirty="0">
                <a:latin typeface="Arial"/>
                <a:cs typeface="Arial"/>
              </a:rPr>
              <a:t>Core</a:t>
            </a:r>
            <a:endParaRPr sz="26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75432" y="5420867"/>
            <a:ext cx="706120" cy="846455"/>
          </a:xfrm>
          <a:custGeom>
            <a:avLst/>
            <a:gdLst/>
            <a:ahLst/>
            <a:cxnLst/>
            <a:rect l="l" t="t" r="r" b="b"/>
            <a:pathLst>
              <a:path w="706120" h="846454">
                <a:moveTo>
                  <a:pt x="705612" y="662952"/>
                </a:moveTo>
                <a:lnTo>
                  <a:pt x="633056" y="626376"/>
                </a:lnTo>
                <a:lnTo>
                  <a:pt x="339852" y="478548"/>
                </a:lnTo>
                <a:lnTo>
                  <a:pt x="457136" y="626376"/>
                </a:lnTo>
                <a:lnTo>
                  <a:pt x="0" y="626376"/>
                </a:lnTo>
                <a:lnTo>
                  <a:pt x="0" y="699528"/>
                </a:lnTo>
                <a:lnTo>
                  <a:pt x="456895" y="699528"/>
                </a:lnTo>
                <a:lnTo>
                  <a:pt x="339852" y="845832"/>
                </a:lnTo>
                <a:lnTo>
                  <a:pt x="632460" y="699528"/>
                </a:lnTo>
                <a:lnTo>
                  <a:pt x="705612" y="662952"/>
                </a:lnTo>
                <a:close/>
              </a:path>
              <a:path w="706120" h="846454">
                <a:moveTo>
                  <a:pt x="705612" y="182880"/>
                </a:moveTo>
                <a:lnTo>
                  <a:pt x="632460" y="146304"/>
                </a:lnTo>
                <a:lnTo>
                  <a:pt x="339852" y="0"/>
                </a:lnTo>
                <a:lnTo>
                  <a:pt x="456895" y="146304"/>
                </a:lnTo>
                <a:lnTo>
                  <a:pt x="0" y="146304"/>
                </a:lnTo>
                <a:lnTo>
                  <a:pt x="0" y="219456"/>
                </a:lnTo>
                <a:lnTo>
                  <a:pt x="456895" y="219456"/>
                </a:lnTo>
                <a:lnTo>
                  <a:pt x="339852" y="365760"/>
                </a:lnTo>
                <a:lnTo>
                  <a:pt x="632460" y="219456"/>
                </a:lnTo>
                <a:lnTo>
                  <a:pt x="705612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96888" y="2872199"/>
            <a:ext cx="5446395" cy="629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0"/>
              </a:spcBef>
            </a:pPr>
            <a:r>
              <a:rPr sz="1950" dirty="0">
                <a:latin typeface="Arial MT"/>
                <a:cs typeface="Arial MT"/>
              </a:rPr>
              <a:t>Can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Handle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“</a:t>
            </a:r>
            <a:r>
              <a:rPr sz="1950" i="1" dirty="0">
                <a:latin typeface="Arial"/>
                <a:cs typeface="Arial"/>
              </a:rPr>
              <a:t>Theoretically</a:t>
            </a:r>
            <a:r>
              <a:rPr sz="1950" dirty="0">
                <a:latin typeface="Arial MT"/>
                <a:cs typeface="Arial MT"/>
              </a:rPr>
              <a:t>”</a:t>
            </a:r>
            <a:r>
              <a:rPr sz="1950" spc="1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Single</a:t>
            </a:r>
            <a:r>
              <a:rPr sz="1950" b="1" u="sng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9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Thread</a:t>
            </a:r>
            <a:r>
              <a:rPr sz="1950" b="1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950" dirty="0">
                <a:latin typeface="Arial MT"/>
                <a:cs typeface="Arial MT"/>
              </a:rPr>
              <a:t>at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spc="-50" dirty="0">
                <a:latin typeface="Arial MT"/>
                <a:cs typeface="Arial MT"/>
              </a:rPr>
              <a:t>a </a:t>
            </a:r>
            <a:r>
              <a:rPr sz="1950" dirty="0">
                <a:latin typeface="Arial MT"/>
                <a:cs typeface="Arial MT"/>
              </a:rPr>
              <a:t>time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to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execute</a:t>
            </a:r>
            <a:r>
              <a:rPr sz="1950" spc="-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program.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96888" y="5475190"/>
            <a:ext cx="5106670" cy="629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0"/>
              </a:spcBef>
            </a:pPr>
            <a:r>
              <a:rPr sz="1950" dirty="0">
                <a:latin typeface="Arial MT"/>
                <a:cs typeface="Arial MT"/>
              </a:rPr>
              <a:t>Can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Handle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“</a:t>
            </a:r>
            <a:r>
              <a:rPr sz="1950" i="1" dirty="0">
                <a:latin typeface="Arial"/>
                <a:cs typeface="Arial"/>
              </a:rPr>
              <a:t>Theoretically</a:t>
            </a:r>
            <a:r>
              <a:rPr sz="1950" dirty="0">
                <a:latin typeface="Arial MT"/>
                <a:cs typeface="Arial MT"/>
              </a:rPr>
              <a:t>”</a:t>
            </a:r>
            <a:r>
              <a:rPr sz="1950" spc="10" dirty="0">
                <a:latin typeface="Arial MT"/>
                <a:cs typeface="Arial MT"/>
              </a:rPr>
              <a:t> </a:t>
            </a:r>
            <a:r>
              <a:rPr sz="19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Two</a:t>
            </a:r>
            <a:r>
              <a:rPr sz="1950" b="1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9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Threads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dirty="0">
                <a:latin typeface="Arial MT"/>
                <a:cs typeface="Arial MT"/>
              </a:rPr>
              <a:t>at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spc="-50" dirty="0">
                <a:latin typeface="Arial MT"/>
                <a:cs typeface="Arial MT"/>
              </a:rPr>
              <a:t>a </a:t>
            </a:r>
            <a:r>
              <a:rPr sz="1950" dirty="0">
                <a:latin typeface="Arial MT"/>
                <a:cs typeface="Arial MT"/>
              </a:rPr>
              <a:t>Time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</a:t>
            </a:r>
            <a:r>
              <a:rPr sz="1950" b="1" i="1" u="sng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95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Parallel</a:t>
            </a:r>
            <a:r>
              <a:rPr sz="1950" b="1" i="1" spc="20" dirty="0">
                <a:latin typeface="Arial"/>
                <a:cs typeface="Arial"/>
              </a:rPr>
              <a:t> </a:t>
            </a:r>
            <a:r>
              <a:rPr sz="1950" dirty="0">
                <a:latin typeface="Arial MT"/>
                <a:cs typeface="Arial MT"/>
              </a:rPr>
              <a:t>to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execute</a:t>
            </a:r>
            <a:r>
              <a:rPr sz="1950" spc="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program.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92714" y="4190454"/>
            <a:ext cx="318008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i="1" spc="-10" dirty="0">
                <a:solidFill>
                  <a:srgbClr val="FF0000"/>
                </a:solidFill>
                <a:latin typeface="Arial"/>
                <a:cs typeface="Arial"/>
              </a:rPr>
              <a:t>Theoretically??!!</a:t>
            </a:r>
            <a:endParaRPr sz="3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1326" y="425387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043940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u="none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u="none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u="none" spc="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Thread?</a:t>
            </a:r>
            <a:r>
              <a:rPr u="none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975" u="none" spc="-15" baseline="-20964" dirty="0">
                <a:solidFill>
                  <a:srgbClr val="000000"/>
                </a:solidFill>
                <a:latin typeface="Arial MT"/>
                <a:cs typeface="Arial MT"/>
              </a:rPr>
              <a:t>Cont…</a:t>
            </a:r>
            <a:endParaRPr sz="3975" baseline="-20964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39" y="1981200"/>
            <a:ext cx="3087624" cy="2656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4323" y="2770134"/>
            <a:ext cx="1120775" cy="109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297815" algn="ctr">
              <a:lnSpc>
                <a:spcPct val="100600"/>
              </a:lnSpc>
              <a:spcBef>
                <a:spcPts val="100"/>
              </a:spcBef>
            </a:pPr>
            <a:r>
              <a:rPr sz="1750" b="1" spc="-20" dirty="0">
                <a:latin typeface="Arial"/>
                <a:cs typeface="Arial"/>
              </a:rPr>
              <a:t>Dual Core</a:t>
            </a:r>
            <a:endParaRPr sz="1750">
              <a:latin typeface="Arial"/>
              <a:cs typeface="Arial"/>
            </a:endParaRPr>
          </a:p>
          <a:p>
            <a:pPr marL="12700" marR="5080" algn="ctr">
              <a:lnSpc>
                <a:spcPct val="100600"/>
              </a:lnSpc>
            </a:pPr>
            <a:r>
              <a:rPr sz="1750" b="1" spc="-10" dirty="0">
                <a:latin typeface="Arial"/>
                <a:cs typeface="Arial"/>
              </a:rPr>
              <a:t>Processor 1-</a:t>
            </a:r>
            <a:r>
              <a:rPr sz="1750" b="1" spc="-50" dirty="0">
                <a:latin typeface="Arial"/>
                <a:cs typeface="Arial"/>
              </a:rPr>
              <a:t>1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239" y="3860291"/>
            <a:ext cx="3087624" cy="26548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54323" y="4636952"/>
            <a:ext cx="1120775" cy="109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297815" algn="ctr">
              <a:lnSpc>
                <a:spcPct val="100600"/>
              </a:lnSpc>
              <a:spcBef>
                <a:spcPts val="100"/>
              </a:spcBef>
            </a:pPr>
            <a:r>
              <a:rPr sz="1750" b="1" spc="-20" dirty="0">
                <a:latin typeface="Arial"/>
                <a:cs typeface="Arial"/>
              </a:rPr>
              <a:t>Dual Core</a:t>
            </a:r>
            <a:endParaRPr sz="1750">
              <a:latin typeface="Arial"/>
              <a:cs typeface="Arial"/>
            </a:endParaRPr>
          </a:p>
          <a:p>
            <a:pPr marL="12700" marR="5080" algn="ctr">
              <a:lnSpc>
                <a:spcPct val="100600"/>
              </a:lnSpc>
            </a:pPr>
            <a:r>
              <a:rPr sz="1750" b="1" spc="-10" dirty="0">
                <a:latin typeface="Arial"/>
                <a:cs typeface="Arial"/>
              </a:rPr>
              <a:t>Processor 1-</a:t>
            </a:r>
            <a:r>
              <a:rPr sz="1750" b="1" spc="-50" dirty="0">
                <a:latin typeface="Arial"/>
                <a:cs typeface="Arial"/>
              </a:rPr>
              <a:t>2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83430" y="3169158"/>
            <a:ext cx="1760220" cy="2036445"/>
            <a:chOff x="4583430" y="3169158"/>
            <a:chExt cx="1760220" cy="2036445"/>
          </a:xfrm>
        </p:grpSpPr>
        <p:sp>
          <p:nvSpPr>
            <p:cNvPr id="8" name="object 8"/>
            <p:cNvSpPr/>
            <p:nvPr/>
          </p:nvSpPr>
          <p:spPr>
            <a:xfrm>
              <a:off x="4590288" y="3393948"/>
              <a:ext cx="1746885" cy="1804670"/>
            </a:xfrm>
            <a:custGeom>
              <a:avLst/>
              <a:gdLst/>
              <a:ahLst/>
              <a:cxnLst/>
              <a:rect l="l" t="t" r="r" b="b"/>
              <a:pathLst>
                <a:path w="1746885" h="1804670">
                  <a:moveTo>
                    <a:pt x="873252" y="1804416"/>
                  </a:moveTo>
                  <a:lnTo>
                    <a:pt x="801726" y="1803693"/>
                  </a:lnTo>
                  <a:lnTo>
                    <a:pt x="731776" y="1801564"/>
                  </a:lnTo>
                  <a:lnTo>
                    <a:pt x="663626" y="1798084"/>
                  </a:lnTo>
                  <a:lnTo>
                    <a:pt x="597505" y="1793309"/>
                  </a:lnTo>
                  <a:lnTo>
                    <a:pt x="533638" y="1787294"/>
                  </a:lnTo>
                  <a:lnTo>
                    <a:pt x="472251" y="1780097"/>
                  </a:lnTo>
                  <a:lnTo>
                    <a:pt x="413570" y="1771773"/>
                  </a:lnTo>
                  <a:lnTo>
                    <a:pt x="357823" y="1762377"/>
                  </a:lnTo>
                  <a:lnTo>
                    <a:pt x="305234" y="1751967"/>
                  </a:lnTo>
                  <a:lnTo>
                    <a:pt x="256031" y="1740598"/>
                  </a:lnTo>
                  <a:lnTo>
                    <a:pt x="210441" y="1728326"/>
                  </a:lnTo>
                  <a:lnTo>
                    <a:pt x="168688" y="1715207"/>
                  </a:lnTo>
                  <a:lnTo>
                    <a:pt x="131000" y="1701297"/>
                  </a:lnTo>
                  <a:lnTo>
                    <a:pt x="68722" y="1671327"/>
                  </a:lnTo>
                  <a:lnTo>
                    <a:pt x="25419" y="1638867"/>
                  </a:lnTo>
                  <a:lnTo>
                    <a:pt x="2899" y="1604362"/>
                  </a:lnTo>
                  <a:lnTo>
                    <a:pt x="0" y="1586483"/>
                  </a:lnTo>
                  <a:lnTo>
                    <a:pt x="0" y="0"/>
                  </a:lnTo>
                  <a:lnTo>
                    <a:pt x="2899" y="17878"/>
                  </a:lnTo>
                  <a:lnTo>
                    <a:pt x="11448" y="35358"/>
                  </a:lnTo>
                  <a:lnTo>
                    <a:pt x="44586" y="68896"/>
                  </a:lnTo>
                  <a:lnTo>
                    <a:pt x="97603" y="100167"/>
                  </a:lnTo>
                  <a:lnTo>
                    <a:pt x="168688" y="128723"/>
                  </a:lnTo>
                  <a:lnTo>
                    <a:pt x="210441" y="141842"/>
                  </a:lnTo>
                  <a:lnTo>
                    <a:pt x="256031" y="154114"/>
                  </a:lnTo>
                  <a:lnTo>
                    <a:pt x="305234" y="165483"/>
                  </a:lnTo>
                  <a:lnTo>
                    <a:pt x="357823" y="175893"/>
                  </a:lnTo>
                  <a:lnTo>
                    <a:pt x="413570" y="185289"/>
                  </a:lnTo>
                  <a:lnTo>
                    <a:pt x="472251" y="193613"/>
                  </a:lnTo>
                  <a:lnTo>
                    <a:pt x="533638" y="200810"/>
                  </a:lnTo>
                  <a:lnTo>
                    <a:pt x="597505" y="206825"/>
                  </a:lnTo>
                  <a:lnTo>
                    <a:pt x="663626" y="211600"/>
                  </a:lnTo>
                  <a:lnTo>
                    <a:pt x="731776" y="215080"/>
                  </a:lnTo>
                  <a:lnTo>
                    <a:pt x="801726" y="217209"/>
                  </a:lnTo>
                  <a:lnTo>
                    <a:pt x="873252" y="217931"/>
                  </a:lnTo>
                  <a:lnTo>
                    <a:pt x="944777" y="217209"/>
                  </a:lnTo>
                  <a:lnTo>
                    <a:pt x="1014727" y="215080"/>
                  </a:lnTo>
                  <a:lnTo>
                    <a:pt x="1082877" y="211600"/>
                  </a:lnTo>
                  <a:lnTo>
                    <a:pt x="1148998" y="206825"/>
                  </a:lnTo>
                  <a:lnTo>
                    <a:pt x="1212865" y="200810"/>
                  </a:lnTo>
                  <a:lnTo>
                    <a:pt x="1274252" y="193613"/>
                  </a:lnTo>
                  <a:lnTo>
                    <a:pt x="1332933" y="185289"/>
                  </a:lnTo>
                  <a:lnTo>
                    <a:pt x="1388681" y="175893"/>
                  </a:lnTo>
                  <a:lnTo>
                    <a:pt x="1441269" y="165483"/>
                  </a:lnTo>
                  <a:lnTo>
                    <a:pt x="1490472" y="154114"/>
                  </a:lnTo>
                  <a:lnTo>
                    <a:pt x="1536062" y="141842"/>
                  </a:lnTo>
                  <a:lnTo>
                    <a:pt x="1577815" y="128723"/>
                  </a:lnTo>
                  <a:lnTo>
                    <a:pt x="1615503" y="114813"/>
                  </a:lnTo>
                  <a:lnTo>
                    <a:pt x="1677781" y="84843"/>
                  </a:lnTo>
                  <a:lnTo>
                    <a:pt x="1721084" y="52383"/>
                  </a:lnTo>
                  <a:lnTo>
                    <a:pt x="1743604" y="17878"/>
                  </a:lnTo>
                  <a:lnTo>
                    <a:pt x="1746504" y="0"/>
                  </a:lnTo>
                  <a:lnTo>
                    <a:pt x="1746504" y="1586483"/>
                  </a:lnTo>
                  <a:lnTo>
                    <a:pt x="1721084" y="1638867"/>
                  </a:lnTo>
                  <a:lnTo>
                    <a:pt x="1677781" y="1671327"/>
                  </a:lnTo>
                  <a:lnTo>
                    <a:pt x="1615503" y="1701297"/>
                  </a:lnTo>
                  <a:lnTo>
                    <a:pt x="1577815" y="1715207"/>
                  </a:lnTo>
                  <a:lnTo>
                    <a:pt x="1536062" y="1728326"/>
                  </a:lnTo>
                  <a:lnTo>
                    <a:pt x="1490472" y="1740598"/>
                  </a:lnTo>
                  <a:lnTo>
                    <a:pt x="1441269" y="1751967"/>
                  </a:lnTo>
                  <a:lnTo>
                    <a:pt x="1388681" y="1762377"/>
                  </a:lnTo>
                  <a:lnTo>
                    <a:pt x="1332933" y="1771773"/>
                  </a:lnTo>
                  <a:lnTo>
                    <a:pt x="1274252" y="1780097"/>
                  </a:lnTo>
                  <a:lnTo>
                    <a:pt x="1212865" y="1787294"/>
                  </a:lnTo>
                  <a:lnTo>
                    <a:pt x="1148998" y="1793309"/>
                  </a:lnTo>
                  <a:lnTo>
                    <a:pt x="1082877" y="1798084"/>
                  </a:lnTo>
                  <a:lnTo>
                    <a:pt x="1014727" y="1801564"/>
                  </a:lnTo>
                  <a:lnTo>
                    <a:pt x="944777" y="1803693"/>
                  </a:lnTo>
                  <a:lnTo>
                    <a:pt x="873252" y="1804416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90288" y="3176016"/>
              <a:ext cx="1746885" cy="436245"/>
            </a:xfrm>
            <a:custGeom>
              <a:avLst/>
              <a:gdLst/>
              <a:ahLst/>
              <a:cxnLst/>
              <a:rect l="l" t="t" r="r" b="b"/>
              <a:pathLst>
                <a:path w="1746885" h="436245">
                  <a:moveTo>
                    <a:pt x="873252" y="435863"/>
                  </a:moveTo>
                  <a:lnTo>
                    <a:pt x="801726" y="435141"/>
                  </a:lnTo>
                  <a:lnTo>
                    <a:pt x="731776" y="433012"/>
                  </a:lnTo>
                  <a:lnTo>
                    <a:pt x="663626" y="429532"/>
                  </a:lnTo>
                  <a:lnTo>
                    <a:pt x="597505" y="424757"/>
                  </a:lnTo>
                  <a:lnTo>
                    <a:pt x="533638" y="418742"/>
                  </a:lnTo>
                  <a:lnTo>
                    <a:pt x="472251" y="411545"/>
                  </a:lnTo>
                  <a:lnTo>
                    <a:pt x="413570" y="403221"/>
                  </a:lnTo>
                  <a:lnTo>
                    <a:pt x="357823" y="393825"/>
                  </a:lnTo>
                  <a:lnTo>
                    <a:pt x="305234" y="383415"/>
                  </a:lnTo>
                  <a:lnTo>
                    <a:pt x="256031" y="372046"/>
                  </a:lnTo>
                  <a:lnTo>
                    <a:pt x="210441" y="359774"/>
                  </a:lnTo>
                  <a:lnTo>
                    <a:pt x="168688" y="346655"/>
                  </a:lnTo>
                  <a:lnTo>
                    <a:pt x="131000" y="332745"/>
                  </a:lnTo>
                  <a:lnTo>
                    <a:pt x="68722" y="302775"/>
                  </a:lnTo>
                  <a:lnTo>
                    <a:pt x="25419" y="270315"/>
                  </a:lnTo>
                  <a:lnTo>
                    <a:pt x="2899" y="235810"/>
                  </a:lnTo>
                  <a:lnTo>
                    <a:pt x="0" y="217931"/>
                  </a:lnTo>
                  <a:lnTo>
                    <a:pt x="2899" y="200053"/>
                  </a:lnTo>
                  <a:lnTo>
                    <a:pt x="25419" y="165548"/>
                  </a:lnTo>
                  <a:lnTo>
                    <a:pt x="68722" y="133088"/>
                  </a:lnTo>
                  <a:lnTo>
                    <a:pt x="131000" y="103118"/>
                  </a:lnTo>
                  <a:lnTo>
                    <a:pt x="168688" y="89208"/>
                  </a:lnTo>
                  <a:lnTo>
                    <a:pt x="210441" y="76089"/>
                  </a:lnTo>
                  <a:lnTo>
                    <a:pt x="256031" y="63817"/>
                  </a:lnTo>
                  <a:lnTo>
                    <a:pt x="305234" y="52448"/>
                  </a:lnTo>
                  <a:lnTo>
                    <a:pt x="357823" y="42038"/>
                  </a:lnTo>
                  <a:lnTo>
                    <a:pt x="413570" y="32642"/>
                  </a:lnTo>
                  <a:lnTo>
                    <a:pt x="472251" y="24318"/>
                  </a:lnTo>
                  <a:lnTo>
                    <a:pt x="533638" y="17121"/>
                  </a:lnTo>
                  <a:lnTo>
                    <a:pt x="597505" y="11106"/>
                  </a:lnTo>
                  <a:lnTo>
                    <a:pt x="663626" y="6331"/>
                  </a:lnTo>
                  <a:lnTo>
                    <a:pt x="731776" y="2851"/>
                  </a:lnTo>
                  <a:lnTo>
                    <a:pt x="801726" y="722"/>
                  </a:lnTo>
                  <a:lnTo>
                    <a:pt x="873252" y="0"/>
                  </a:lnTo>
                  <a:lnTo>
                    <a:pt x="944777" y="722"/>
                  </a:lnTo>
                  <a:lnTo>
                    <a:pt x="1014727" y="2851"/>
                  </a:lnTo>
                  <a:lnTo>
                    <a:pt x="1082877" y="6331"/>
                  </a:lnTo>
                  <a:lnTo>
                    <a:pt x="1148998" y="11106"/>
                  </a:lnTo>
                  <a:lnTo>
                    <a:pt x="1212865" y="17121"/>
                  </a:lnTo>
                  <a:lnTo>
                    <a:pt x="1274252" y="24318"/>
                  </a:lnTo>
                  <a:lnTo>
                    <a:pt x="1332933" y="32642"/>
                  </a:lnTo>
                  <a:lnTo>
                    <a:pt x="1388681" y="42038"/>
                  </a:lnTo>
                  <a:lnTo>
                    <a:pt x="1441269" y="52448"/>
                  </a:lnTo>
                  <a:lnTo>
                    <a:pt x="1490472" y="63817"/>
                  </a:lnTo>
                  <a:lnTo>
                    <a:pt x="1536062" y="76089"/>
                  </a:lnTo>
                  <a:lnTo>
                    <a:pt x="1577815" y="89208"/>
                  </a:lnTo>
                  <a:lnTo>
                    <a:pt x="1615503" y="103118"/>
                  </a:lnTo>
                  <a:lnTo>
                    <a:pt x="1677781" y="133088"/>
                  </a:lnTo>
                  <a:lnTo>
                    <a:pt x="1721084" y="165548"/>
                  </a:lnTo>
                  <a:lnTo>
                    <a:pt x="1743604" y="200053"/>
                  </a:lnTo>
                  <a:lnTo>
                    <a:pt x="1746504" y="217931"/>
                  </a:lnTo>
                  <a:lnTo>
                    <a:pt x="1743604" y="235810"/>
                  </a:lnTo>
                  <a:lnTo>
                    <a:pt x="1721084" y="270315"/>
                  </a:lnTo>
                  <a:lnTo>
                    <a:pt x="1677781" y="302775"/>
                  </a:lnTo>
                  <a:lnTo>
                    <a:pt x="1615503" y="332745"/>
                  </a:lnTo>
                  <a:lnTo>
                    <a:pt x="1577815" y="346655"/>
                  </a:lnTo>
                  <a:lnTo>
                    <a:pt x="1536062" y="359774"/>
                  </a:lnTo>
                  <a:lnTo>
                    <a:pt x="1490472" y="372046"/>
                  </a:lnTo>
                  <a:lnTo>
                    <a:pt x="1441269" y="383415"/>
                  </a:lnTo>
                  <a:lnTo>
                    <a:pt x="1388681" y="393825"/>
                  </a:lnTo>
                  <a:lnTo>
                    <a:pt x="1332933" y="403221"/>
                  </a:lnTo>
                  <a:lnTo>
                    <a:pt x="1274252" y="411545"/>
                  </a:lnTo>
                  <a:lnTo>
                    <a:pt x="1212865" y="418742"/>
                  </a:lnTo>
                  <a:lnTo>
                    <a:pt x="1148998" y="424757"/>
                  </a:lnTo>
                  <a:lnTo>
                    <a:pt x="1082877" y="429532"/>
                  </a:lnTo>
                  <a:lnTo>
                    <a:pt x="1014727" y="433012"/>
                  </a:lnTo>
                  <a:lnTo>
                    <a:pt x="944777" y="435141"/>
                  </a:lnTo>
                  <a:lnTo>
                    <a:pt x="873252" y="435863"/>
                  </a:lnTo>
                  <a:close/>
                </a:path>
              </a:pathLst>
            </a:custGeom>
            <a:solidFill>
              <a:srgbClr val="D6EB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90288" y="3176016"/>
              <a:ext cx="1746885" cy="2022475"/>
            </a:xfrm>
            <a:custGeom>
              <a:avLst/>
              <a:gdLst/>
              <a:ahLst/>
              <a:cxnLst/>
              <a:rect l="l" t="t" r="r" b="b"/>
              <a:pathLst>
                <a:path w="1746885" h="2022475">
                  <a:moveTo>
                    <a:pt x="1746504" y="217931"/>
                  </a:moveTo>
                  <a:lnTo>
                    <a:pt x="1721084" y="270315"/>
                  </a:lnTo>
                  <a:lnTo>
                    <a:pt x="1677781" y="302775"/>
                  </a:lnTo>
                  <a:lnTo>
                    <a:pt x="1615503" y="332745"/>
                  </a:lnTo>
                  <a:lnTo>
                    <a:pt x="1577815" y="346655"/>
                  </a:lnTo>
                  <a:lnTo>
                    <a:pt x="1536062" y="359774"/>
                  </a:lnTo>
                  <a:lnTo>
                    <a:pt x="1490472" y="372046"/>
                  </a:lnTo>
                  <a:lnTo>
                    <a:pt x="1441269" y="383415"/>
                  </a:lnTo>
                  <a:lnTo>
                    <a:pt x="1388681" y="393825"/>
                  </a:lnTo>
                  <a:lnTo>
                    <a:pt x="1332933" y="403221"/>
                  </a:lnTo>
                  <a:lnTo>
                    <a:pt x="1274252" y="411545"/>
                  </a:lnTo>
                  <a:lnTo>
                    <a:pt x="1212865" y="418742"/>
                  </a:lnTo>
                  <a:lnTo>
                    <a:pt x="1148998" y="424757"/>
                  </a:lnTo>
                  <a:lnTo>
                    <a:pt x="1082877" y="429532"/>
                  </a:lnTo>
                  <a:lnTo>
                    <a:pt x="1014727" y="433012"/>
                  </a:lnTo>
                  <a:lnTo>
                    <a:pt x="944777" y="435141"/>
                  </a:lnTo>
                  <a:lnTo>
                    <a:pt x="873252" y="435863"/>
                  </a:lnTo>
                  <a:lnTo>
                    <a:pt x="801726" y="435141"/>
                  </a:lnTo>
                  <a:lnTo>
                    <a:pt x="731776" y="433012"/>
                  </a:lnTo>
                  <a:lnTo>
                    <a:pt x="663626" y="429532"/>
                  </a:lnTo>
                  <a:lnTo>
                    <a:pt x="597505" y="424757"/>
                  </a:lnTo>
                  <a:lnTo>
                    <a:pt x="533638" y="418742"/>
                  </a:lnTo>
                  <a:lnTo>
                    <a:pt x="472251" y="411545"/>
                  </a:lnTo>
                  <a:lnTo>
                    <a:pt x="413570" y="403221"/>
                  </a:lnTo>
                  <a:lnTo>
                    <a:pt x="357822" y="393825"/>
                  </a:lnTo>
                  <a:lnTo>
                    <a:pt x="305234" y="383415"/>
                  </a:lnTo>
                  <a:lnTo>
                    <a:pt x="256031" y="372046"/>
                  </a:lnTo>
                  <a:lnTo>
                    <a:pt x="210441" y="359774"/>
                  </a:lnTo>
                  <a:lnTo>
                    <a:pt x="168688" y="346655"/>
                  </a:lnTo>
                  <a:lnTo>
                    <a:pt x="131000" y="332745"/>
                  </a:lnTo>
                  <a:lnTo>
                    <a:pt x="68722" y="302775"/>
                  </a:lnTo>
                  <a:lnTo>
                    <a:pt x="25419" y="270315"/>
                  </a:lnTo>
                  <a:lnTo>
                    <a:pt x="2899" y="235810"/>
                  </a:lnTo>
                  <a:lnTo>
                    <a:pt x="0" y="217931"/>
                  </a:lnTo>
                  <a:lnTo>
                    <a:pt x="2899" y="200053"/>
                  </a:lnTo>
                  <a:lnTo>
                    <a:pt x="25419" y="165548"/>
                  </a:lnTo>
                  <a:lnTo>
                    <a:pt x="68722" y="133088"/>
                  </a:lnTo>
                  <a:lnTo>
                    <a:pt x="131000" y="103118"/>
                  </a:lnTo>
                  <a:lnTo>
                    <a:pt x="168688" y="89208"/>
                  </a:lnTo>
                  <a:lnTo>
                    <a:pt x="210441" y="76089"/>
                  </a:lnTo>
                  <a:lnTo>
                    <a:pt x="256031" y="63817"/>
                  </a:lnTo>
                  <a:lnTo>
                    <a:pt x="305234" y="52448"/>
                  </a:lnTo>
                  <a:lnTo>
                    <a:pt x="357822" y="42038"/>
                  </a:lnTo>
                  <a:lnTo>
                    <a:pt x="413570" y="32642"/>
                  </a:lnTo>
                  <a:lnTo>
                    <a:pt x="472251" y="24318"/>
                  </a:lnTo>
                  <a:lnTo>
                    <a:pt x="533638" y="17121"/>
                  </a:lnTo>
                  <a:lnTo>
                    <a:pt x="597505" y="11106"/>
                  </a:lnTo>
                  <a:lnTo>
                    <a:pt x="663626" y="6331"/>
                  </a:lnTo>
                  <a:lnTo>
                    <a:pt x="731776" y="2851"/>
                  </a:lnTo>
                  <a:lnTo>
                    <a:pt x="801726" y="722"/>
                  </a:lnTo>
                  <a:lnTo>
                    <a:pt x="873252" y="0"/>
                  </a:lnTo>
                  <a:lnTo>
                    <a:pt x="944777" y="722"/>
                  </a:lnTo>
                  <a:lnTo>
                    <a:pt x="1014727" y="2851"/>
                  </a:lnTo>
                  <a:lnTo>
                    <a:pt x="1082877" y="6331"/>
                  </a:lnTo>
                  <a:lnTo>
                    <a:pt x="1148998" y="11106"/>
                  </a:lnTo>
                  <a:lnTo>
                    <a:pt x="1212865" y="17121"/>
                  </a:lnTo>
                  <a:lnTo>
                    <a:pt x="1274252" y="24318"/>
                  </a:lnTo>
                  <a:lnTo>
                    <a:pt x="1332933" y="32642"/>
                  </a:lnTo>
                  <a:lnTo>
                    <a:pt x="1388681" y="42038"/>
                  </a:lnTo>
                  <a:lnTo>
                    <a:pt x="1441269" y="52448"/>
                  </a:lnTo>
                  <a:lnTo>
                    <a:pt x="1490472" y="63817"/>
                  </a:lnTo>
                  <a:lnTo>
                    <a:pt x="1536062" y="76089"/>
                  </a:lnTo>
                  <a:lnTo>
                    <a:pt x="1577815" y="89208"/>
                  </a:lnTo>
                  <a:lnTo>
                    <a:pt x="1615503" y="103118"/>
                  </a:lnTo>
                  <a:lnTo>
                    <a:pt x="1677781" y="133088"/>
                  </a:lnTo>
                  <a:lnTo>
                    <a:pt x="1721084" y="165548"/>
                  </a:lnTo>
                  <a:lnTo>
                    <a:pt x="1743604" y="200053"/>
                  </a:lnTo>
                  <a:lnTo>
                    <a:pt x="1746504" y="217931"/>
                  </a:lnTo>
                  <a:lnTo>
                    <a:pt x="1746504" y="1804415"/>
                  </a:lnTo>
                  <a:lnTo>
                    <a:pt x="1721084" y="1856799"/>
                  </a:lnTo>
                  <a:lnTo>
                    <a:pt x="1677781" y="1889259"/>
                  </a:lnTo>
                  <a:lnTo>
                    <a:pt x="1615503" y="1919228"/>
                  </a:lnTo>
                  <a:lnTo>
                    <a:pt x="1577815" y="1933139"/>
                  </a:lnTo>
                  <a:lnTo>
                    <a:pt x="1536062" y="1946258"/>
                  </a:lnTo>
                  <a:lnTo>
                    <a:pt x="1490472" y="1958530"/>
                  </a:lnTo>
                  <a:lnTo>
                    <a:pt x="1441269" y="1969899"/>
                  </a:lnTo>
                  <a:lnTo>
                    <a:pt x="1388681" y="1980309"/>
                  </a:lnTo>
                  <a:lnTo>
                    <a:pt x="1332933" y="1989705"/>
                  </a:lnTo>
                  <a:lnTo>
                    <a:pt x="1274252" y="1998029"/>
                  </a:lnTo>
                  <a:lnTo>
                    <a:pt x="1212865" y="2005226"/>
                  </a:lnTo>
                  <a:lnTo>
                    <a:pt x="1148998" y="2011241"/>
                  </a:lnTo>
                  <a:lnTo>
                    <a:pt x="1082877" y="2016016"/>
                  </a:lnTo>
                  <a:lnTo>
                    <a:pt x="1014727" y="2019496"/>
                  </a:lnTo>
                  <a:lnTo>
                    <a:pt x="944777" y="2021625"/>
                  </a:lnTo>
                  <a:lnTo>
                    <a:pt x="873252" y="2022348"/>
                  </a:lnTo>
                  <a:lnTo>
                    <a:pt x="801726" y="2021625"/>
                  </a:lnTo>
                  <a:lnTo>
                    <a:pt x="731776" y="2019496"/>
                  </a:lnTo>
                  <a:lnTo>
                    <a:pt x="663626" y="2016016"/>
                  </a:lnTo>
                  <a:lnTo>
                    <a:pt x="597505" y="2011241"/>
                  </a:lnTo>
                  <a:lnTo>
                    <a:pt x="533638" y="2005226"/>
                  </a:lnTo>
                  <a:lnTo>
                    <a:pt x="472251" y="1998029"/>
                  </a:lnTo>
                  <a:lnTo>
                    <a:pt x="413570" y="1989705"/>
                  </a:lnTo>
                  <a:lnTo>
                    <a:pt x="357822" y="1980309"/>
                  </a:lnTo>
                  <a:lnTo>
                    <a:pt x="305234" y="1969899"/>
                  </a:lnTo>
                  <a:lnTo>
                    <a:pt x="256031" y="1958530"/>
                  </a:lnTo>
                  <a:lnTo>
                    <a:pt x="210441" y="1946258"/>
                  </a:lnTo>
                  <a:lnTo>
                    <a:pt x="168688" y="1933139"/>
                  </a:lnTo>
                  <a:lnTo>
                    <a:pt x="131000" y="1919228"/>
                  </a:lnTo>
                  <a:lnTo>
                    <a:pt x="68722" y="1889259"/>
                  </a:lnTo>
                  <a:lnTo>
                    <a:pt x="25419" y="1856799"/>
                  </a:lnTo>
                  <a:lnTo>
                    <a:pt x="2899" y="1822294"/>
                  </a:lnTo>
                  <a:lnTo>
                    <a:pt x="0" y="1804415"/>
                  </a:lnTo>
                  <a:lnTo>
                    <a:pt x="0" y="217931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77853" y="3943600"/>
            <a:ext cx="1174115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400">
              <a:lnSpc>
                <a:spcPct val="101499"/>
              </a:lnSpc>
              <a:spcBef>
                <a:spcPts val="95"/>
              </a:spcBef>
            </a:pPr>
            <a:r>
              <a:rPr sz="1950" b="1" dirty="0">
                <a:latin typeface="Arial"/>
                <a:cs typeface="Arial"/>
              </a:rPr>
              <a:t>A</a:t>
            </a:r>
            <a:r>
              <a:rPr sz="1950" b="1" spc="-65" dirty="0">
                <a:latin typeface="Arial"/>
                <a:cs typeface="Arial"/>
              </a:rPr>
              <a:t> </a:t>
            </a:r>
            <a:r>
              <a:rPr sz="1950" b="1" spc="-10" dirty="0">
                <a:latin typeface="Arial"/>
                <a:cs typeface="Arial"/>
              </a:rPr>
              <a:t>Shared Resource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79014" y="2116073"/>
            <a:ext cx="2847340" cy="4177029"/>
            <a:chOff x="2779014" y="2116073"/>
            <a:chExt cx="2847340" cy="4177029"/>
          </a:xfrm>
        </p:grpSpPr>
        <p:sp>
          <p:nvSpPr>
            <p:cNvPr id="13" name="object 13"/>
            <p:cNvSpPr/>
            <p:nvPr/>
          </p:nvSpPr>
          <p:spPr>
            <a:xfrm>
              <a:off x="4029456" y="2122932"/>
              <a:ext cx="1379220" cy="828040"/>
            </a:xfrm>
            <a:custGeom>
              <a:avLst/>
              <a:gdLst/>
              <a:ahLst/>
              <a:cxnLst/>
              <a:rect l="l" t="t" r="r" b="b"/>
              <a:pathLst>
                <a:path w="1379220" h="828039">
                  <a:moveTo>
                    <a:pt x="1255775" y="827531"/>
                  </a:moveTo>
                  <a:lnTo>
                    <a:pt x="821435" y="413003"/>
                  </a:lnTo>
                  <a:lnTo>
                    <a:pt x="996695" y="413003"/>
                  </a:lnTo>
                  <a:lnTo>
                    <a:pt x="968886" y="380175"/>
                  </a:lnTo>
                  <a:lnTo>
                    <a:pt x="939176" y="348498"/>
                  </a:lnTo>
                  <a:lnTo>
                    <a:pt x="907636" y="318002"/>
                  </a:lnTo>
                  <a:lnTo>
                    <a:pt x="874334" y="288715"/>
                  </a:lnTo>
                  <a:lnTo>
                    <a:pt x="839342" y="260665"/>
                  </a:lnTo>
                  <a:lnTo>
                    <a:pt x="802728" y="233883"/>
                  </a:lnTo>
                  <a:lnTo>
                    <a:pt x="764563" y="208395"/>
                  </a:lnTo>
                  <a:lnTo>
                    <a:pt x="724917" y="184230"/>
                  </a:lnTo>
                  <a:lnTo>
                    <a:pt x="683860" y="161418"/>
                  </a:lnTo>
                  <a:lnTo>
                    <a:pt x="641461" y="139986"/>
                  </a:lnTo>
                  <a:lnTo>
                    <a:pt x="597790" y="119963"/>
                  </a:lnTo>
                  <a:lnTo>
                    <a:pt x="552918" y="101378"/>
                  </a:lnTo>
                  <a:lnTo>
                    <a:pt x="506914" y="84260"/>
                  </a:lnTo>
                  <a:lnTo>
                    <a:pt x="459848" y="68636"/>
                  </a:lnTo>
                  <a:lnTo>
                    <a:pt x="411790" y="54535"/>
                  </a:lnTo>
                  <a:lnTo>
                    <a:pt x="362810" y="41987"/>
                  </a:lnTo>
                  <a:lnTo>
                    <a:pt x="312977" y="31019"/>
                  </a:lnTo>
                  <a:lnTo>
                    <a:pt x="262362" y="21660"/>
                  </a:lnTo>
                  <a:lnTo>
                    <a:pt x="211035" y="13938"/>
                  </a:lnTo>
                  <a:lnTo>
                    <a:pt x="159065" y="7883"/>
                  </a:lnTo>
                  <a:lnTo>
                    <a:pt x="106523" y="3522"/>
                  </a:lnTo>
                  <a:lnTo>
                    <a:pt x="53478" y="885"/>
                  </a:lnTo>
                  <a:lnTo>
                    <a:pt x="0" y="0"/>
                  </a:lnTo>
                  <a:lnTo>
                    <a:pt x="207263" y="0"/>
                  </a:lnTo>
                  <a:lnTo>
                    <a:pt x="260560" y="885"/>
                  </a:lnTo>
                  <a:lnTo>
                    <a:pt x="313455" y="3522"/>
                  </a:lnTo>
                  <a:lnTo>
                    <a:pt x="365878" y="7883"/>
                  </a:lnTo>
                  <a:lnTo>
                    <a:pt x="417757" y="13938"/>
                  </a:lnTo>
                  <a:lnTo>
                    <a:pt x="469018" y="21660"/>
                  </a:lnTo>
                  <a:lnTo>
                    <a:pt x="519590" y="31019"/>
                  </a:lnTo>
                  <a:lnTo>
                    <a:pt x="569400" y="41987"/>
                  </a:lnTo>
                  <a:lnTo>
                    <a:pt x="618377" y="54535"/>
                  </a:lnTo>
                  <a:lnTo>
                    <a:pt x="666449" y="68636"/>
                  </a:lnTo>
                  <a:lnTo>
                    <a:pt x="713543" y="84260"/>
                  </a:lnTo>
                  <a:lnTo>
                    <a:pt x="759587" y="101378"/>
                  </a:lnTo>
                  <a:lnTo>
                    <a:pt x="804509" y="119963"/>
                  </a:lnTo>
                  <a:lnTo>
                    <a:pt x="848236" y="139986"/>
                  </a:lnTo>
                  <a:lnTo>
                    <a:pt x="890698" y="161418"/>
                  </a:lnTo>
                  <a:lnTo>
                    <a:pt x="931820" y="184230"/>
                  </a:lnTo>
                  <a:lnTo>
                    <a:pt x="971533" y="208395"/>
                  </a:lnTo>
                  <a:lnTo>
                    <a:pt x="1009762" y="233883"/>
                  </a:lnTo>
                  <a:lnTo>
                    <a:pt x="1046436" y="260665"/>
                  </a:lnTo>
                  <a:lnTo>
                    <a:pt x="1081484" y="288715"/>
                  </a:lnTo>
                  <a:lnTo>
                    <a:pt x="1114832" y="318002"/>
                  </a:lnTo>
                  <a:lnTo>
                    <a:pt x="1146409" y="348498"/>
                  </a:lnTo>
                  <a:lnTo>
                    <a:pt x="1176142" y="380175"/>
                  </a:lnTo>
                  <a:lnTo>
                    <a:pt x="1203959" y="413003"/>
                  </a:lnTo>
                  <a:lnTo>
                    <a:pt x="1379219" y="413003"/>
                  </a:lnTo>
                  <a:lnTo>
                    <a:pt x="1255775" y="82753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77312" y="2122931"/>
              <a:ext cx="1256030" cy="828040"/>
            </a:xfrm>
            <a:custGeom>
              <a:avLst/>
              <a:gdLst/>
              <a:ahLst/>
              <a:cxnLst/>
              <a:rect l="l" t="t" r="r" b="b"/>
              <a:pathLst>
                <a:path w="1256029" h="828039">
                  <a:moveTo>
                    <a:pt x="207263" y="827531"/>
                  </a:moveTo>
                  <a:lnTo>
                    <a:pt x="0" y="827531"/>
                  </a:lnTo>
                  <a:lnTo>
                    <a:pt x="1330" y="787423"/>
                  </a:lnTo>
                  <a:lnTo>
                    <a:pt x="5282" y="747809"/>
                  </a:lnTo>
                  <a:lnTo>
                    <a:pt x="11793" y="708732"/>
                  </a:lnTo>
                  <a:lnTo>
                    <a:pt x="20804" y="670235"/>
                  </a:lnTo>
                  <a:lnTo>
                    <a:pt x="32253" y="632363"/>
                  </a:lnTo>
                  <a:lnTo>
                    <a:pt x="46081" y="595158"/>
                  </a:lnTo>
                  <a:lnTo>
                    <a:pt x="62225" y="558663"/>
                  </a:lnTo>
                  <a:lnTo>
                    <a:pt x="80626" y="522923"/>
                  </a:lnTo>
                  <a:lnTo>
                    <a:pt x="101223" y="487979"/>
                  </a:lnTo>
                  <a:lnTo>
                    <a:pt x="123954" y="453875"/>
                  </a:lnTo>
                  <a:lnTo>
                    <a:pt x="148760" y="420656"/>
                  </a:lnTo>
                  <a:lnTo>
                    <a:pt x="175580" y="388363"/>
                  </a:lnTo>
                  <a:lnTo>
                    <a:pt x="204352" y="357040"/>
                  </a:lnTo>
                  <a:lnTo>
                    <a:pt x="235017" y="326730"/>
                  </a:lnTo>
                  <a:lnTo>
                    <a:pt x="267513" y="297478"/>
                  </a:lnTo>
                  <a:lnTo>
                    <a:pt x="301779" y="269325"/>
                  </a:lnTo>
                  <a:lnTo>
                    <a:pt x="337756" y="242316"/>
                  </a:lnTo>
                  <a:lnTo>
                    <a:pt x="375382" y="216492"/>
                  </a:lnTo>
                  <a:lnTo>
                    <a:pt x="414596" y="191899"/>
                  </a:lnTo>
                  <a:lnTo>
                    <a:pt x="455338" y="168579"/>
                  </a:lnTo>
                  <a:lnTo>
                    <a:pt x="497548" y="146575"/>
                  </a:lnTo>
                  <a:lnTo>
                    <a:pt x="541163" y="125931"/>
                  </a:lnTo>
                  <a:lnTo>
                    <a:pt x="586124" y="106690"/>
                  </a:lnTo>
                  <a:lnTo>
                    <a:pt x="632370" y="88894"/>
                  </a:lnTo>
                  <a:lnTo>
                    <a:pt x="679841" y="72588"/>
                  </a:lnTo>
                  <a:lnTo>
                    <a:pt x="728475" y="57815"/>
                  </a:lnTo>
                  <a:lnTo>
                    <a:pt x="778211" y="44618"/>
                  </a:lnTo>
                  <a:lnTo>
                    <a:pt x="828990" y="33040"/>
                  </a:lnTo>
                  <a:lnTo>
                    <a:pt x="880750" y="23125"/>
                  </a:lnTo>
                  <a:lnTo>
                    <a:pt x="933430" y="14915"/>
                  </a:lnTo>
                  <a:lnTo>
                    <a:pt x="986970" y="8454"/>
                  </a:lnTo>
                  <a:lnTo>
                    <a:pt x="1041310" y="3786"/>
                  </a:lnTo>
                  <a:lnTo>
                    <a:pt x="1096388" y="953"/>
                  </a:lnTo>
                  <a:lnTo>
                    <a:pt x="1152143" y="0"/>
                  </a:lnTo>
                  <a:lnTo>
                    <a:pt x="1178194" y="47"/>
                  </a:lnTo>
                  <a:lnTo>
                    <a:pt x="1203959" y="381"/>
                  </a:lnTo>
                  <a:lnTo>
                    <a:pt x="1229725" y="1285"/>
                  </a:lnTo>
                  <a:lnTo>
                    <a:pt x="1255775" y="3048"/>
                  </a:lnTo>
                  <a:lnTo>
                    <a:pt x="1200475" y="7549"/>
                  </a:lnTo>
                  <a:lnTo>
                    <a:pt x="1146053" y="13881"/>
                  </a:lnTo>
                  <a:lnTo>
                    <a:pt x="1092567" y="21996"/>
                  </a:lnTo>
                  <a:lnTo>
                    <a:pt x="1040076" y="31849"/>
                  </a:lnTo>
                  <a:lnTo>
                    <a:pt x="988636" y="43394"/>
                  </a:lnTo>
                  <a:lnTo>
                    <a:pt x="938305" y="56585"/>
                  </a:lnTo>
                  <a:lnTo>
                    <a:pt x="889140" y="71378"/>
                  </a:lnTo>
                  <a:lnTo>
                    <a:pt x="841200" y="87725"/>
                  </a:lnTo>
                  <a:lnTo>
                    <a:pt x="794541" y="105581"/>
                  </a:lnTo>
                  <a:lnTo>
                    <a:pt x="749220" y="124901"/>
                  </a:lnTo>
                  <a:lnTo>
                    <a:pt x="705296" y="145638"/>
                  </a:lnTo>
                  <a:lnTo>
                    <a:pt x="662826" y="167747"/>
                  </a:lnTo>
                  <a:lnTo>
                    <a:pt x="621868" y="191182"/>
                  </a:lnTo>
                  <a:lnTo>
                    <a:pt x="582478" y="215897"/>
                  </a:lnTo>
                  <a:lnTo>
                    <a:pt x="544714" y="241847"/>
                  </a:lnTo>
                  <a:lnTo>
                    <a:pt x="508634" y="268985"/>
                  </a:lnTo>
                  <a:lnTo>
                    <a:pt x="474296" y="297267"/>
                  </a:lnTo>
                  <a:lnTo>
                    <a:pt x="441756" y="326646"/>
                  </a:lnTo>
                  <a:lnTo>
                    <a:pt x="411073" y="357076"/>
                  </a:lnTo>
                  <a:lnTo>
                    <a:pt x="382303" y="388512"/>
                  </a:lnTo>
                  <a:lnTo>
                    <a:pt x="355505" y="420908"/>
                  </a:lnTo>
                  <a:lnTo>
                    <a:pt x="330735" y="454218"/>
                  </a:lnTo>
                  <a:lnTo>
                    <a:pt x="308051" y="488397"/>
                  </a:lnTo>
                  <a:lnTo>
                    <a:pt x="287512" y="523398"/>
                  </a:lnTo>
                  <a:lnTo>
                    <a:pt x="269173" y="559176"/>
                  </a:lnTo>
                  <a:lnTo>
                    <a:pt x="253093" y="595686"/>
                  </a:lnTo>
                  <a:lnTo>
                    <a:pt x="239329" y="632880"/>
                  </a:lnTo>
                  <a:lnTo>
                    <a:pt x="227939" y="670714"/>
                  </a:lnTo>
                  <a:lnTo>
                    <a:pt x="218979" y="709142"/>
                  </a:lnTo>
                  <a:lnTo>
                    <a:pt x="212509" y="748118"/>
                  </a:lnTo>
                  <a:lnTo>
                    <a:pt x="208584" y="787597"/>
                  </a:lnTo>
                  <a:lnTo>
                    <a:pt x="207263" y="827531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77312" y="2122931"/>
              <a:ext cx="2531745" cy="828040"/>
            </a:xfrm>
            <a:custGeom>
              <a:avLst/>
              <a:gdLst/>
              <a:ahLst/>
              <a:cxnLst/>
              <a:rect l="l" t="t" r="r" b="b"/>
              <a:pathLst>
                <a:path w="2531745" h="828039">
                  <a:moveTo>
                    <a:pt x="1255775" y="3048"/>
                  </a:moveTo>
                  <a:lnTo>
                    <a:pt x="1200475" y="7549"/>
                  </a:lnTo>
                  <a:lnTo>
                    <a:pt x="1146053" y="13881"/>
                  </a:lnTo>
                  <a:lnTo>
                    <a:pt x="1092567" y="21996"/>
                  </a:lnTo>
                  <a:lnTo>
                    <a:pt x="1040076" y="31849"/>
                  </a:lnTo>
                  <a:lnTo>
                    <a:pt x="988636" y="43394"/>
                  </a:lnTo>
                  <a:lnTo>
                    <a:pt x="938305" y="56585"/>
                  </a:lnTo>
                  <a:lnTo>
                    <a:pt x="889140" y="71378"/>
                  </a:lnTo>
                  <a:lnTo>
                    <a:pt x="841200" y="87725"/>
                  </a:lnTo>
                  <a:lnTo>
                    <a:pt x="794541" y="105581"/>
                  </a:lnTo>
                  <a:lnTo>
                    <a:pt x="749220" y="124901"/>
                  </a:lnTo>
                  <a:lnTo>
                    <a:pt x="705296" y="145638"/>
                  </a:lnTo>
                  <a:lnTo>
                    <a:pt x="662826" y="167747"/>
                  </a:lnTo>
                  <a:lnTo>
                    <a:pt x="621868" y="191182"/>
                  </a:lnTo>
                  <a:lnTo>
                    <a:pt x="582478" y="215897"/>
                  </a:lnTo>
                  <a:lnTo>
                    <a:pt x="544714" y="241847"/>
                  </a:lnTo>
                  <a:lnTo>
                    <a:pt x="508634" y="268985"/>
                  </a:lnTo>
                  <a:lnTo>
                    <a:pt x="474296" y="297267"/>
                  </a:lnTo>
                  <a:lnTo>
                    <a:pt x="441756" y="326646"/>
                  </a:lnTo>
                  <a:lnTo>
                    <a:pt x="411073" y="357076"/>
                  </a:lnTo>
                  <a:lnTo>
                    <a:pt x="382303" y="388512"/>
                  </a:lnTo>
                  <a:lnTo>
                    <a:pt x="355505" y="420908"/>
                  </a:lnTo>
                  <a:lnTo>
                    <a:pt x="330735" y="454218"/>
                  </a:lnTo>
                  <a:lnTo>
                    <a:pt x="308051" y="488397"/>
                  </a:lnTo>
                  <a:lnTo>
                    <a:pt x="287512" y="523398"/>
                  </a:lnTo>
                  <a:lnTo>
                    <a:pt x="269173" y="559176"/>
                  </a:lnTo>
                  <a:lnTo>
                    <a:pt x="253093" y="595686"/>
                  </a:lnTo>
                  <a:lnTo>
                    <a:pt x="239329" y="632880"/>
                  </a:lnTo>
                  <a:lnTo>
                    <a:pt x="227939" y="670714"/>
                  </a:lnTo>
                  <a:lnTo>
                    <a:pt x="218979" y="709142"/>
                  </a:lnTo>
                  <a:lnTo>
                    <a:pt x="212509" y="748118"/>
                  </a:lnTo>
                  <a:lnTo>
                    <a:pt x="208584" y="787597"/>
                  </a:lnTo>
                  <a:lnTo>
                    <a:pt x="207263" y="827531"/>
                  </a:lnTo>
                  <a:lnTo>
                    <a:pt x="0" y="827531"/>
                  </a:lnTo>
                  <a:lnTo>
                    <a:pt x="1330" y="787423"/>
                  </a:lnTo>
                  <a:lnTo>
                    <a:pt x="5282" y="747809"/>
                  </a:lnTo>
                  <a:lnTo>
                    <a:pt x="11793" y="708732"/>
                  </a:lnTo>
                  <a:lnTo>
                    <a:pt x="20804" y="670235"/>
                  </a:lnTo>
                  <a:lnTo>
                    <a:pt x="32253" y="632363"/>
                  </a:lnTo>
                  <a:lnTo>
                    <a:pt x="46081" y="595158"/>
                  </a:lnTo>
                  <a:lnTo>
                    <a:pt x="62225" y="558663"/>
                  </a:lnTo>
                  <a:lnTo>
                    <a:pt x="80626" y="522923"/>
                  </a:lnTo>
                  <a:lnTo>
                    <a:pt x="101223" y="487979"/>
                  </a:lnTo>
                  <a:lnTo>
                    <a:pt x="123954" y="453875"/>
                  </a:lnTo>
                  <a:lnTo>
                    <a:pt x="148760" y="420656"/>
                  </a:lnTo>
                  <a:lnTo>
                    <a:pt x="175580" y="388363"/>
                  </a:lnTo>
                  <a:lnTo>
                    <a:pt x="204352" y="357040"/>
                  </a:lnTo>
                  <a:lnTo>
                    <a:pt x="235017" y="326730"/>
                  </a:lnTo>
                  <a:lnTo>
                    <a:pt x="267513" y="297478"/>
                  </a:lnTo>
                  <a:lnTo>
                    <a:pt x="301779" y="269325"/>
                  </a:lnTo>
                  <a:lnTo>
                    <a:pt x="337756" y="242316"/>
                  </a:lnTo>
                  <a:lnTo>
                    <a:pt x="375382" y="216492"/>
                  </a:lnTo>
                  <a:lnTo>
                    <a:pt x="414596" y="191899"/>
                  </a:lnTo>
                  <a:lnTo>
                    <a:pt x="455338" y="168579"/>
                  </a:lnTo>
                  <a:lnTo>
                    <a:pt x="497548" y="146575"/>
                  </a:lnTo>
                  <a:lnTo>
                    <a:pt x="541163" y="125931"/>
                  </a:lnTo>
                  <a:lnTo>
                    <a:pt x="586124" y="106690"/>
                  </a:lnTo>
                  <a:lnTo>
                    <a:pt x="632370" y="88894"/>
                  </a:lnTo>
                  <a:lnTo>
                    <a:pt x="679841" y="72588"/>
                  </a:lnTo>
                  <a:lnTo>
                    <a:pt x="728475" y="57815"/>
                  </a:lnTo>
                  <a:lnTo>
                    <a:pt x="778211" y="44618"/>
                  </a:lnTo>
                  <a:lnTo>
                    <a:pt x="828990" y="33040"/>
                  </a:lnTo>
                  <a:lnTo>
                    <a:pt x="880750" y="23125"/>
                  </a:lnTo>
                  <a:lnTo>
                    <a:pt x="933430" y="14915"/>
                  </a:lnTo>
                  <a:lnTo>
                    <a:pt x="986970" y="8454"/>
                  </a:lnTo>
                  <a:lnTo>
                    <a:pt x="1041310" y="3786"/>
                  </a:lnTo>
                  <a:lnTo>
                    <a:pt x="1096388" y="953"/>
                  </a:lnTo>
                  <a:lnTo>
                    <a:pt x="1152143" y="0"/>
                  </a:lnTo>
                  <a:lnTo>
                    <a:pt x="1359407" y="0"/>
                  </a:lnTo>
                  <a:lnTo>
                    <a:pt x="1412704" y="885"/>
                  </a:lnTo>
                  <a:lnTo>
                    <a:pt x="1465599" y="3522"/>
                  </a:lnTo>
                  <a:lnTo>
                    <a:pt x="1518022" y="7883"/>
                  </a:lnTo>
                  <a:lnTo>
                    <a:pt x="1569901" y="13938"/>
                  </a:lnTo>
                  <a:lnTo>
                    <a:pt x="1621162" y="21660"/>
                  </a:lnTo>
                  <a:lnTo>
                    <a:pt x="1671734" y="31019"/>
                  </a:lnTo>
                  <a:lnTo>
                    <a:pt x="1721544" y="41987"/>
                  </a:lnTo>
                  <a:lnTo>
                    <a:pt x="1770521" y="54535"/>
                  </a:lnTo>
                  <a:lnTo>
                    <a:pt x="1818593" y="68636"/>
                  </a:lnTo>
                  <a:lnTo>
                    <a:pt x="1865687" y="84260"/>
                  </a:lnTo>
                  <a:lnTo>
                    <a:pt x="1911731" y="101379"/>
                  </a:lnTo>
                  <a:lnTo>
                    <a:pt x="1956653" y="119963"/>
                  </a:lnTo>
                  <a:lnTo>
                    <a:pt x="2000380" y="139986"/>
                  </a:lnTo>
                  <a:lnTo>
                    <a:pt x="2042842" y="161418"/>
                  </a:lnTo>
                  <a:lnTo>
                    <a:pt x="2083964" y="184230"/>
                  </a:lnTo>
                  <a:lnTo>
                    <a:pt x="2123677" y="208395"/>
                  </a:lnTo>
                  <a:lnTo>
                    <a:pt x="2161906" y="233883"/>
                  </a:lnTo>
                  <a:lnTo>
                    <a:pt x="2198580" y="260666"/>
                  </a:lnTo>
                  <a:lnTo>
                    <a:pt x="2233628" y="288715"/>
                  </a:lnTo>
                  <a:lnTo>
                    <a:pt x="2266976" y="318002"/>
                  </a:lnTo>
                  <a:lnTo>
                    <a:pt x="2298553" y="348498"/>
                  </a:lnTo>
                  <a:lnTo>
                    <a:pt x="2328286" y="380175"/>
                  </a:lnTo>
                  <a:lnTo>
                    <a:pt x="2356103" y="413004"/>
                  </a:lnTo>
                  <a:lnTo>
                    <a:pt x="2531363" y="413004"/>
                  </a:lnTo>
                  <a:lnTo>
                    <a:pt x="2407919" y="827531"/>
                  </a:lnTo>
                  <a:lnTo>
                    <a:pt x="1973579" y="413004"/>
                  </a:lnTo>
                  <a:lnTo>
                    <a:pt x="2148839" y="413004"/>
                  </a:lnTo>
                  <a:lnTo>
                    <a:pt x="2121030" y="380175"/>
                  </a:lnTo>
                  <a:lnTo>
                    <a:pt x="2091320" y="348498"/>
                  </a:lnTo>
                  <a:lnTo>
                    <a:pt x="2059780" y="318002"/>
                  </a:lnTo>
                  <a:lnTo>
                    <a:pt x="2026478" y="288715"/>
                  </a:lnTo>
                  <a:lnTo>
                    <a:pt x="1991486" y="260666"/>
                  </a:lnTo>
                  <a:lnTo>
                    <a:pt x="1954872" y="233883"/>
                  </a:lnTo>
                  <a:lnTo>
                    <a:pt x="1916707" y="208395"/>
                  </a:lnTo>
                  <a:lnTo>
                    <a:pt x="1877061" y="184230"/>
                  </a:lnTo>
                  <a:lnTo>
                    <a:pt x="1836004" y="161418"/>
                  </a:lnTo>
                  <a:lnTo>
                    <a:pt x="1793605" y="139986"/>
                  </a:lnTo>
                  <a:lnTo>
                    <a:pt x="1749934" y="119963"/>
                  </a:lnTo>
                  <a:lnTo>
                    <a:pt x="1705062" y="101379"/>
                  </a:lnTo>
                  <a:lnTo>
                    <a:pt x="1659058" y="84260"/>
                  </a:lnTo>
                  <a:lnTo>
                    <a:pt x="1611992" y="68636"/>
                  </a:lnTo>
                  <a:lnTo>
                    <a:pt x="1563934" y="54535"/>
                  </a:lnTo>
                  <a:lnTo>
                    <a:pt x="1514954" y="41987"/>
                  </a:lnTo>
                  <a:lnTo>
                    <a:pt x="1465121" y="31019"/>
                  </a:lnTo>
                  <a:lnTo>
                    <a:pt x="1414506" y="21660"/>
                  </a:lnTo>
                  <a:lnTo>
                    <a:pt x="1363179" y="13938"/>
                  </a:lnTo>
                  <a:lnTo>
                    <a:pt x="1311209" y="7883"/>
                  </a:lnTo>
                  <a:lnTo>
                    <a:pt x="1258667" y="3522"/>
                  </a:lnTo>
                  <a:lnTo>
                    <a:pt x="1205622" y="885"/>
                  </a:lnTo>
                  <a:lnTo>
                    <a:pt x="1152143" y="0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40708" y="5332476"/>
              <a:ext cx="1478280" cy="948055"/>
            </a:xfrm>
            <a:custGeom>
              <a:avLst/>
              <a:gdLst/>
              <a:ahLst/>
              <a:cxnLst/>
              <a:rect l="l" t="t" r="r" b="b"/>
              <a:pathLst>
                <a:path w="1478279" h="948054">
                  <a:moveTo>
                    <a:pt x="0" y="947927"/>
                  </a:moveTo>
                  <a:lnTo>
                    <a:pt x="55672" y="942772"/>
                  </a:lnTo>
                  <a:lnTo>
                    <a:pt x="110809" y="936116"/>
                  </a:lnTo>
                  <a:lnTo>
                    <a:pt x="165350" y="927989"/>
                  </a:lnTo>
                  <a:lnTo>
                    <a:pt x="219234" y="918420"/>
                  </a:lnTo>
                  <a:lnTo>
                    <a:pt x="272398" y="907436"/>
                  </a:lnTo>
                  <a:lnTo>
                    <a:pt x="324782" y="895067"/>
                  </a:lnTo>
                  <a:lnTo>
                    <a:pt x="376324" y="881342"/>
                  </a:lnTo>
                  <a:lnTo>
                    <a:pt x="426964" y="866288"/>
                  </a:lnTo>
                  <a:lnTo>
                    <a:pt x="476638" y="849934"/>
                  </a:lnTo>
                  <a:lnTo>
                    <a:pt x="525287" y="832310"/>
                  </a:lnTo>
                  <a:lnTo>
                    <a:pt x="572848" y="813443"/>
                  </a:lnTo>
                  <a:lnTo>
                    <a:pt x="619261" y="793362"/>
                  </a:lnTo>
                  <a:lnTo>
                    <a:pt x="664463" y="772096"/>
                  </a:lnTo>
                  <a:lnTo>
                    <a:pt x="708394" y="749674"/>
                  </a:lnTo>
                  <a:lnTo>
                    <a:pt x="750993" y="726123"/>
                  </a:lnTo>
                  <a:lnTo>
                    <a:pt x="792196" y="701474"/>
                  </a:lnTo>
                  <a:lnTo>
                    <a:pt x="831945" y="675753"/>
                  </a:lnTo>
                  <a:lnTo>
                    <a:pt x="870176" y="648991"/>
                  </a:lnTo>
                  <a:lnTo>
                    <a:pt x="906828" y="621215"/>
                  </a:lnTo>
                  <a:lnTo>
                    <a:pt x="941841" y="592455"/>
                  </a:lnTo>
                  <a:lnTo>
                    <a:pt x="975153" y="562738"/>
                  </a:lnTo>
                  <a:lnTo>
                    <a:pt x="1006702" y="532093"/>
                  </a:lnTo>
                  <a:lnTo>
                    <a:pt x="1036427" y="500550"/>
                  </a:lnTo>
                  <a:lnTo>
                    <a:pt x="1064266" y="468136"/>
                  </a:lnTo>
                  <a:lnTo>
                    <a:pt x="1090159" y="434880"/>
                  </a:lnTo>
                  <a:lnTo>
                    <a:pt x="1114043" y="400812"/>
                  </a:lnTo>
                  <a:lnTo>
                    <a:pt x="960119" y="413004"/>
                  </a:lnTo>
                  <a:lnTo>
                    <a:pt x="1331975" y="0"/>
                  </a:lnTo>
                  <a:lnTo>
                    <a:pt x="1478279" y="373380"/>
                  </a:lnTo>
                  <a:lnTo>
                    <a:pt x="1324355" y="385572"/>
                  </a:lnTo>
                  <a:lnTo>
                    <a:pt x="1300471" y="419478"/>
                  </a:lnTo>
                  <a:lnTo>
                    <a:pt x="1274578" y="452596"/>
                  </a:lnTo>
                  <a:lnTo>
                    <a:pt x="1246739" y="484895"/>
                  </a:lnTo>
                  <a:lnTo>
                    <a:pt x="1217014" y="516344"/>
                  </a:lnTo>
                  <a:lnTo>
                    <a:pt x="1185465" y="546913"/>
                  </a:lnTo>
                  <a:lnTo>
                    <a:pt x="1152153" y="576572"/>
                  </a:lnTo>
                  <a:lnTo>
                    <a:pt x="1117140" y="605288"/>
                  </a:lnTo>
                  <a:lnTo>
                    <a:pt x="1080488" y="633032"/>
                  </a:lnTo>
                  <a:lnTo>
                    <a:pt x="1042257" y="659774"/>
                  </a:lnTo>
                  <a:lnTo>
                    <a:pt x="1002508" y="685481"/>
                  </a:lnTo>
                  <a:lnTo>
                    <a:pt x="961305" y="710124"/>
                  </a:lnTo>
                  <a:lnTo>
                    <a:pt x="918706" y="733672"/>
                  </a:lnTo>
                  <a:lnTo>
                    <a:pt x="874775" y="756094"/>
                  </a:lnTo>
                  <a:lnTo>
                    <a:pt x="829573" y="777360"/>
                  </a:lnTo>
                  <a:lnTo>
                    <a:pt x="783160" y="797438"/>
                  </a:lnTo>
                  <a:lnTo>
                    <a:pt x="735599" y="816298"/>
                  </a:lnTo>
                  <a:lnTo>
                    <a:pt x="686950" y="833910"/>
                  </a:lnTo>
                  <a:lnTo>
                    <a:pt x="637276" y="850242"/>
                  </a:lnTo>
                  <a:lnTo>
                    <a:pt x="586636" y="865265"/>
                  </a:lnTo>
                  <a:lnTo>
                    <a:pt x="535094" y="878947"/>
                  </a:lnTo>
                  <a:lnTo>
                    <a:pt x="482710" y="891257"/>
                  </a:lnTo>
                  <a:lnTo>
                    <a:pt x="429545" y="902165"/>
                  </a:lnTo>
                  <a:lnTo>
                    <a:pt x="375662" y="911641"/>
                  </a:lnTo>
                  <a:lnTo>
                    <a:pt x="321121" y="919653"/>
                  </a:lnTo>
                  <a:lnTo>
                    <a:pt x="265984" y="926171"/>
                  </a:lnTo>
                  <a:lnTo>
                    <a:pt x="210311" y="931164"/>
                  </a:lnTo>
                  <a:lnTo>
                    <a:pt x="0" y="947927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85872" y="5521451"/>
              <a:ext cx="1460500" cy="765175"/>
            </a:xfrm>
            <a:custGeom>
              <a:avLst/>
              <a:gdLst/>
              <a:ahLst/>
              <a:cxnLst/>
              <a:rect l="l" t="t" r="r" b="b"/>
              <a:pathLst>
                <a:path w="1460500" h="765175">
                  <a:moveTo>
                    <a:pt x="1184011" y="764770"/>
                  </a:moveTo>
                  <a:lnTo>
                    <a:pt x="1128238" y="763445"/>
                  </a:lnTo>
                  <a:lnTo>
                    <a:pt x="1073141" y="760539"/>
                  </a:lnTo>
                  <a:lnTo>
                    <a:pt x="1018776" y="756082"/>
                  </a:lnTo>
                  <a:lnTo>
                    <a:pt x="965199" y="750105"/>
                  </a:lnTo>
                  <a:lnTo>
                    <a:pt x="912466" y="742639"/>
                  </a:lnTo>
                  <a:lnTo>
                    <a:pt x="860631" y="733713"/>
                  </a:lnTo>
                  <a:lnTo>
                    <a:pt x="809751" y="723359"/>
                  </a:lnTo>
                  <a:lnTo>
                    <a:pt x="759882" y="711607"/>
                  </a:lnTo>
                  <a:lnTo>
                    <a:pt x="711078" y="698487"/>
                  </a:lnTo>
                  <a:lnTo>
                    <a:pt x="663395" y="684029"/>
                  </a:lnTo>
                  <a:lnTo>
                    <a:pt x="616890" y="668266"/>
                  </a:lnTo>
                  <a:lnTo>
                    <a:pt x="571617" y="651226"/>
                  </a:lnTo>
                  <a:lnTo>
                    <a:pt x="527632" y="632940"/>
                  </a:lnTo>
                  <a:lnTo>
                    <a:pt x="484991" y="613439"/>
                  </a:lnTo>
                  <a:lnTo>
                    <a:pt x="443750" y="592754"/>
                  </a:lnTo>
                  <a:lnTo>
                    <a:pt x="403964" y="570915"/>
                  </a:lnTo>
                  <a:lnTo>
                    <a:pt x="365688" y="547952"/>
                  </a:lnTo>
                  <a:lnTo>
                    <a:pt x="328978" y="523896"/>
                  </a:lnTo>
                  <a:lnTo>
                    <a:pt x="293890" y="498778"/>
                  </a:lnTo>
                  <a:lnTo>
                    <a:pt x="260480" y="472627"/>
                  </a:lnTo>
                  <a:lnTo>
                    <a:pt x="228803" y="445475"/>
                  </a:lnTo>
                  <a:lnTo>
                    <a:pt x="198914" y="417352"/>
                  </a:lnTo>
                  <a:lnTo>
                    <a:pt x="170869" y="388288"/>
                  </a:lnTo>
                  <a:lnTo>
                    <a:pt x="144725" y="358315"/>
                  </a:lnTo>
                  <a:lnTo>
                    <a:pt x="120535" y="327462"/>
                  </a:lnTo>
                  <a:lnTo>
                    <a:pt x="98357" y="295759"/>
                  </a:lnTo>
                  <a:lnTo>
                    <a:pt x="78245" y="263239"/>
                  </a:lnTo>
                  <a:lnTo>
                    <a:pt x="44444" y="195864"/>
                  </a:lnTo>
                  <a:lnTo>
                    <a:pt x="19577" y="125582"/>
                  </a:lnTo>
                  <a:lnTo>
                    <a:pt x="4088" y="52635"/>
                  </a:lnTo>
                  <a:lnTo>
                    <a:pt x="0" y="15239"/>
                  </a:lnTo>
                  <a:lnTo>
                    <a:pt x="210312" y="0"/>
                  </a:lnTo>
                  <a:lnTo>
                    <a:pt x="214585" y="38298"/>
                  </a:lnTo>
                  <a:lnTo>
                    <a:pt x="221450" y="75984"/>
                  </a:lnTo>
                  <a:lnTo>
                    <a:pt x="230848" y="113022"/>
                  </a:lnTo>
                  <a:lnTo>
                    <a:pt x="242721" y="149378"/>
                  </a:lnTo>
                  <a:lnTo>
                    <a:pt x="257010" y="185015"/>
                  </a:lnTo>
                  <a:lnTo>
                    <a:pt x="273657" y="219899"/>
                  </a:lnTo>
                  <a:lnTo>
                    <a:pt x="292603" y="253996"/>
                  </a:lnTo>
                  <a:lnTo>
                    <a:pt x="313791" y="287268"/>
                  </a:lnTo>
                  <a:lnTo>
                    <a:pt x="337161" y="319683"/>
                  </a:lnTo>
                  <a:lnTo>
                    <a:pt x="362656" y="351203"/>
                  </a:lnTo>
                  <a:lnTo>
                    <a:pt x="390216" y="381795"/>
                  </a:lnTo>
                  <a:lnTo>
                    <a:pt x="419784" y="411424"/>
                  </a:lnTo>
                  <a:lnTo>
                    <a:pt x="451301" y="440053"/>
                  </a:lnTo>
                  <a:lnTo>
                    <a:pt x="484709" y="467648"/>
                  </a:lnTo>
                  <a:lnTo>
                    <a:pt x="519949" y="494174"/>
                  </a:lnTo>
                  <a:lnTo>
                    <a:pt x="556963" y="519595"/>
                  </a:lnTo>
                  <a:lnTo>
                    <a:pt x="595693" y="543877"/>
                  </a:lnTo>
                  <a:lnTo>
                    <a:pt x="636080" y="566984"/>
                  </a:lnTo>
                  <a:lnTo>
                    <a:pt x="678065" y="588882"/>
                  </a:lnTo>
                  <a:lnTo>
                    <a:pt x="721591" y="609534"/>
                  </a:lnTo>
                  <a:lnTo>
                    <a:pt x="766599" y="628907"/>
                  </a:lnTo>
                  <a:lnTo>
                    <a:pt x="813031" y="646964"/>
                  </a:lnTo>
                  <a:lnTo>
                    <a:pt x="860827" y="663671"/>
                  </a:lnTo>
                  <a:lnTo>
                    <a:pt x="909931" y="678993"/>
                  </a:lnTo>
                  <a:lnTo>
                    <a:pt x="960283" y="692894"/>
                  </a:lnTo>
                  <a:lnTo>
                    <a:pt x="1011824" y="705340"/>
                  </a:lnTo>
                  <a:lnTo>
                    <a:pt x="1064498" y="716294"/>
                  </a:lnTo>
                  <a:lnTo>
                    <a:pt x="1118245" y="725723"/>
                  </a:lnTo>
                  <a:lnTo>
                    <a:pt x="1173006" y="733591"/>
                  </a:lnTo>
                  <a:lnTo>
                    <a:pt x="1228724" y="739862"/>
                  </a:lnTo>
                  <a:lnTo>
                    <a:pt x="1285340" y="744502"/>
                  </a:lnTo>
                  <a:lnTo>
                    <a:pt x="1342795" y="747476"/>
                  </a:lnTo>
                  <a:lnTo>
                    <a:pt x="1401032" y="748748"/>
                  </a:lnTo>
                  <a:lnTo>
                    <a:pt x="1459991" y="748283"/>
                  </a:lnTo>
                  <a:lnTo>
                    <a:pt x="1433702" y="751451"/>
                  </a:lnTo>
                  <a:lnTo>
                    <a:pt x="1407413" y="754189"/>
                  </a:lnTo>
                  <a:lnTo>
                    <a:pt x="1354835" y="758951"/>
                  </a:lnTo>
                  <a:lnTo>
                    <a:pt x="1297366" y="762553"/>
                  </a:lnTo>
                  <a:lnTo>
                    <a:pt x="1240406" y="764483"/>
                  </a:lnTo>
                  <a:lnTo>
                    <a:pt x="1184011" y="764770"/>
                  </a:lnTo>
                  <a:close/>
                </a:path>
              </a:pathLst>
            </a:custGeom>
            <a:solidFill>
              <a:srgbClr val="008C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85872" y="5332475"/>
              <a:ext cx="2833370" cy="953769"/>
            </a:xfrm>
            <a:custGeom>
              <a:avLst/>
              <a:gdLst/>
              <a:ahLst/>
              <a:cxnLst/>
              <a:rect l="l" t="t" r="r" b="b"/>
              <a:pathLst>
                <a:path w="2833370" h="953770">
                  <a:moveTo>
                    <a:pt x="1459991" y="937260"/>
                  </a:moveTo>
                  <a:lnTo>
                    <a:pt x="1401032" y="937724"/>
                  </a:lnTo>
                  <a:lnTo>
                    <a:pt x="1342795" y="936452"/>
                  </a:lnTo>
                  <a:lnTo>
                    <a:pt x="1285340" y="933478"/>
                  </a:lnTo>
                  <a:lnTo>
                    <a:pt x="1228724" y="928838"/>
                  </a:lnTo>
                  <a:lnTo>
                    <a:pt x="1173006" y="922567"/>
                  </a:lnTo>
                  <a:lnTo>
                    <a:pt x="1118245" y="914699"/>
                  </a:lnTo>
                  <a:lnTo>
                    <a:pt x="1064498" y="905270"/>
                  </a:lnTo>
                  <a:lnTo>
                    <a:pt x="1011824" y="894316"/>
                  </a:lnTo>
                  <a:lnTo>
                    <a:pt x="960283" y="881870"/>
                  </a:lnTo>
                  <a:lnTo>
                    <a:pt x="909931" y="867969"/>
                  </a:lnTo>
                  <a:lnTo>
                    <a:pt x="860827" y="852647"/>
                  </a:lnTo>
                  <a:lnTo>
                    <a:pt x="813031" y="835940"/>
                  </a:lnTo>
                  <a:lnTo>
                    <a:pt x="766599" y="817883"/>
                  </a:lnTo>
                  <a:lnTo>
                    <a:pt x="721591" y="798510"/>
                  </a:lnTo>
                  <a:lnTo>
                    <a:pt x="678065" y="777858"/>
                  </a:lnTo>
                  <a:lnTo>
                    <a:pt x="636080" y="755960"/>
                  </a:lnTo>
                  <a:lnTo>
                    <a:pt x="595693" y="732853"/>
                  </a:lnTo>
                  <a:lnTo>
                    <a:pt x="556963" y="708571"/>
                  </a:lnTo>
                  <a:lnTo>
                    <a:pt x="519949" y="683150"/>
                  </a:lnTo>
                  <a:lnTo>
                    <a:pt x="484709" y="656624"/>
                  </a:lnTo>
                  <a:lnTo>
                    <a:pt x="451301" y="629029"/>
                  </a:lnTo>
                  <a:lnTo>
                    <a:pt x="419784" y="600400"/>
                  </a:lnTo>
                  <a:lnTo>
                    <a:pt x="390216" y="570772"/>
                  </a:lnTo>
                  <a:lnTo>
                    <a:pt x="362656" y="540180"/>
                  </a:lnTo>
                  <a:lnTo>
                    <a:pt x="337161" y="508659"/>
                  </a:lnTo>
                  <a:lnTo>
                    <a:pt x="313791" y="476244"/>
                  </a:lnTo>
                  <a:lnTo>
                    <a:pt x="292603" y="442972"/>
                  </a:lnTo>
                  <a:lnTo>
                    <a:pt x="273657" y="408875"/>
                  </a:lnTo>
                  <a:lnTo>
                    <a:pt x="257010" y="373991"/>
                  </a:lnTo>
                  <a:lnTo>
                    <a:pt x="242721" y="338354"/>
                  </a:lnTo>
                  <a:lnTo>
                    <a:pt x="230848" y="301998"/>
                  </a:lnTo>
                  <a:lnTo>
                    <a:pt x="221450" y="264960"/>
                  </a:lnTo>
                  <a:lnTo>
                    <a:pt x="214585" y="227274"/>
                  </a:lnTo>
                  <a:lnTo>
                    <a:pt x="210312" y="188976"/>
                  </a:lnTo>
                  <a:lnTo>
                    <a:pt x="0" y="204216"/>
                  </a:lnTo>
                  <a:lnTo>
                    <a:pt x="10632" y="278402"/>
                  </a:lnTo>
                  <a:lnTo>
                    <a:pt x="30866" y="350047"/>
                  </a:lnTo>
                  <a:lnTo>
                    <a:pt x="60256" y="418906"/>
                  </a:lnTo>
                  <a:lnTo>
                    <a:pt x="98357" y="484736"/>
                  </a:lnTo>
                  <a:lnTo>
                    <a:pt x="120535" y="516438"/>
                  </a:lnTo>
                  <a:lnTo>
                    <a:pt x="144725" y="547291"/>
                  </a:lnTo>
                  <a:lnTo>
                    <a:pt x="170869" y="577264"/>
                  </a:lnTo>
                  <a:lnTo>
                    <a:pt x="198914" y="606328"/>
                  </a:lnTo>
                  <a:lnTo>
                    <a:pt x="228803" y="634451"/>
                  </a:lnTo>
                  <a:lnTo>
                    <a:pt x="260480" y="661603"/>
                  </a:lnTo>
                  <a:lnTo>
                    <a:pt x="293890" y="687754"/>
                  </a:lnTo>
                  <a:lnTo>
                    <a:pt x="328978" y="712872"/>
                  </a:lnTo>
                  <a:lnTo>
                    <a:pt x="365688" y="736928"/>
                  </a:lnTo>
                  <a:lnTo>
                    <a:pt x="403964" y="759891"/>
                  </a:lnTo>
                  <a:lnTo>
                    <a:pt x="443750" y="781730"/>
                  </a:lnTo>
                  <a:lnTo>
                    <a:pt x="484991" y="802416"/>
                  </a:lnTo>
                  <a:lnTo>
                    <a:pt x="527632" y="821916"/>
                  </a:lnTo>
                  <a:lnTo>
                    <a:pt x="571617" y="840202"/>
                  </a:lnTo>
                  <a:lnTo>
                    <a:pt x="616890" y="857242"/>
                  </a:lnTo>
                  <a:lnTo>
                    <a:pt x="663395" y="873005"/>
                  </a:lnTo>
                  <a:lnTo>
                    <a:pt x="711078" y="887463"/>
                  </a:lnTo>
                  <a:lnTo>
                    <a:pt x="759882" y="900583"/>
                  </a:lnTo>
                  <a:lnTo>
                    <a:pt x="809751" y="912335"/>
                  </a:lnTo>
                  <a:lnTo>
                    <a:pt x="860631" y="922689"/>
                  </a:lnTo>
                  <a:lnTo>
                    <a:pt x="912466" y="931615"/>
                  </a:lnTo>
                  <a:lnTo>
                    <a:pt x="965199" y="939082"/>
                  </a:lnTo>
                  <a:lnTo>
                    <a:pt x="1018776" y="945058"/>
                  </a:lnTo>
                  <a:lnTo>
                    <a:pt x="1073141" y="949515"/>
                  </a:lnTo>
                  <a:lnTo>
                    <a:pt x="1128238" y="952421"/>
                  </a:lnTo>
                  <a:lnTo>
                    <a:pt x="1184011" y="953746"/>
                  </a:lnTo>
                  <a:lnTo>
                    <a:pt x="1240406" y="953459"/>
                  </a:lnTo>
                  <a:lnTo>
                    <a:pt x="1297366" y="951529"/>
                  </a:lnTo>
                  <a:lnTo>
                    <a:pt x="1354835" y="947928"/>
                  </a:lnTo>
                  <a:lnTo>
                    <a:pt x="1565147" y="931164"/>
                  </a:lnTo>
                  <a:lnTo>
                    <a:pt x="1620820" y="926171"/>
                  </a:lnTo>
                  <a:lnTo>
                    <a:pt x="1675957" y="919653"/>
                  </a:lnTo>
                  <a:lnTo>
                    <a:pt x="1730498" y="911641"/>
                  </a:lnTo>
                  <a:lnTo>
                    <a:pt x="1784382" y="902165"/>
                  </a:lnTo>
                  <a:lnTo>
                    <a:pt x="1837546" y="891257"/>
                  </a:lnTo>
                  <a:lnTo>
                    <a:pt x="1889930" y="878947"/>
                  </a:lnTo>
                  <a:lnTo>
                    <a:pt x="1941472" y="865265"/>
                  </a:lnTo>
                  <a:lnTo>
                    <a:pt x="1992112" y="850242"/>
                  </a:lnTo>
                  <a:lnTo>
                    <a:pt x="2041786" y="833910"/>
                  </a:lnTo>
                  <a:lnTo>
                    <a:pt x="2090435" y="816298"/>
                  </a:lnTo>
                  <a:lnTo>
                    <a:pt x="2137996" y="797438"/>
                  </a:lnTo>
                  <a:lnTo>
                    <a:pt x="2184409" y="777360"/>
                  </a:lnTo>
                  <a:lnTo>
                    <a:pt x="2229611" y="756094"/>
                  </a:lnTo>
                  <a:lnTo>
                    <a:pt x="2273542" y="733672"/>
                  </a:lnTo>
                  <a:lnTo>
                    <a:pt x="2316141" y="710124"/>
                  </a:lnTo>
                  <a:lnTo>
                    <a:pt x="2357344" y="685481"/>
                  </a:lnTo>
                  <a:lnTo>
                    <a:pt x="2397093" y="659774"/>
                  </a:lnTo>
                  <a:lnTo>
                    <a:pt x="2435324" y="633033"/>
                  </a:lnTo>
                  <a:lnTo>
                    <a:pt x="2471976" y="605288"/>
                  </a:lnTo>
                  <a:lnTo>
                    <a:pt x="2506989" y="576572"/>
                  </a:lnTo>
                  <a:lnTo>
                    <a:pt x="2540301" y="546913"/>
                  </a:lnTo>
                  <a:lnTo>
                    <a:pt x="2571850" y="516344"/>
                  </a:lnTo>
                  <a:lnTo>
                    <a:pt x="2601575" y="484895"/>
                  </a:lnTo>
                  <a:lnTo>
                    <a:pt x="2629414" y="452596"/>
                  </a:lnTo>
                  <a:lnTo>
                    <a:pt x="2655307" y="419478"/>
                  </a:lnTo>
                  <a:lnTo>
                    <a:pt x="2679191" y="385572"/>
                  </a:lnTo>
                  <a:lnTo>
                    <a:pt x="2833116" y="373380"/>
                  </a:lnTo>
                  <a:lnTo>
                    <a:pt x="2686812" y="0"/>
                  </a:lnTo>
                  <a:lnTo>
                    <a:pt x="2314956" y="413004"/>
                  </a:lnTo>
                  <a:lnTo>
                    <a:pt x="2468879" y="400812"/>
                  </a:lnTo>
                  <a:lnTo>
                    <a:pt x="2444995" y="434880"/>
                  </a:lnTo>
                  <a:lnTo>
                    <a:pt x="2419102" y="468136"/>
                  </a:lnTo>
                  <a:lnTo>
                    <a:pt x="2391263" y="500550"/>
                  </a:lnTo>
                  <a:lnTo>
                    <a:pt x="2361538" y="532093"/>
                  </a:lnTo>
                  <a:lnTo>
                    <a:pt x="2329989" y="562738"/>
                  </a:lnTo>
                  <a:lnTo>
                    <a:pt x="2296677" y="592455"/>
                  </a:lnTo>
                  <a:lnTo>
                    <a:pt x="2261664" y="621215"/>
                  </a:lnTo>
                  <a:lnTo>
                    <a:pt x="2225012" y="648991"/>
                  </a:lnTo>
                  <a:lnTo>
                    <a:pt x="2186781" y="675753"/>
                  </a:lnTo>
                  <a:lnTo>
                    <a:pt x="2147032" y="701474"/>
                  </a:lnTo>
                  <a:lnTo>
                    <a:pt x="2105829" y="726123"/>
                  </a:lnTo>
                  <a:lnTo>
                    <a:pt x="2063231" y="749674"/>
                  </a:lnTo>
                  <a:lnTo>
                    <a:pt x="2019299" y="772096"/>
                  </a:lnTo>
                  <a:lnTo>
                    <a:pt x="1974097" y="793362"/>
                  </a:lnTo>
                  <a:lnTo>
                    <a:pt x="1927684" y="813443"/>
                  </a:lnTo>
                  <a:lnTo>
                    <a:pt x="1880123" y="832310"/>
                  </a:lnTo>
                  <a:lnTo>
                    <a:pt x="1831474" y="849934"/>
                  </a:lnTo>
                  <a:lnTo>
                    <a:pt x="1781800" y="866288"/>
                  </a:lnTo>
                  <a:lnTo>
                    <a:pt x="1731160" y="881342"/>
                  </a:lnTo>
                  <a:lnTo>
                    <a:pt x="1679618" y="895068"/>
                  </a:lnTo>
                  <a:lnTo>
                    <a:pt x="1627234" y="907437"/>
                  </a:lnTo>
                  <a:lnTo>
                    <a:pt x="1574070" y="918420"/>
                  </a:lnTo>
                  <a:lnTo>
                    <a:pt x="1520186" y="927990"/>
                  </a:lnTo>
                  <a:lnTo>
                    <a:pt x="1465645" y="936116"/>
                  </a:lnTo>
                  <a:lnTo>
                    <a:pt x="1410508" y="942772"/>
                  </a:lnTo>
                  <a:lnTo>
                    <a:pt x="1354835" y="947928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685302" y="3058091"/>
            <a:ext cx="2927985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35" dirty="0">
                <a:latin typeface="Arial MT"/>
                <a:cs typeface="Arial MT"/>
              </a:rPr>
              <a:t>ONLY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Thread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can </a:t>
            </a:r>
            <a:r>
              <a:rPr sz="2200" dirty="0">
                <a:latin typeface="Arial MT"/>
                <a:cs typeface="Arial MT"/>
              </a:rPr>
              <a:t>access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shared </a:t>
            </a:r>
            <a:r>
              <a:rPr sz="2200" dirty="0">
                <a:latin typeface="Arial MT"/>
                <a:cs typeface="Arial MT"/>
              </a:rPr>
              <a:t>resource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time.</a:t>
            </a:r>
            <a:endParaRPr sz="2200">
              <a:latin typeface="Arial MT"/>
              <a:cs typeface="Arial MT"/>
            </a:endParaRPr>
          </a:p>
          <a:p>
            <a:pPr marL="12700" marR="67945">
              <a:lnSpc>
                <a:spcPct val="100000"/>
              </a:lnSpc>
            </a:pP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So,</a:t>
            </a:r>
            <a:r>
              <a:rPr sz="22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CANNOT</a:t>
            </a:r>
            <a:r>
              <a:rPr sz="22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Arial"/>
                <a:cs typeface="Arial"/>
              </a:rPr>
              <a:t>perform Parallelism.</a:t>
            </a:r>
            <a:endParaRPr sz="2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85302" y="5069834"/>
            <a:ext cx="2687955" cy="2099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AF50"/>
                </a:solidFill>
                <a:latin typeface="Arial"/>
                <a:cs typeface="Arial"/>
              </a:rPr>
              <a:t>Solution:</a:t>
            </a:r>
            <a:endParaRPr sz="2200">
              <a:latin typeface="Arial"/>
              <a:cs typeface="Arial"/>
            </a:endParaRPr>
          </a:p>
          <a:p>
            <a:pPr marL="12700" marR="36830">
              <a:lnSpc>
                <a:spcPct val="100000"/>
              </a:lnSpc>
            </a:pPr>
            <a:r>
              <a:rPr sz="2200" b="1" dirty="0">
                <a:solidFill>
                  <a:srgbClr val="00AF50"/>
                </a:solidFill>
                <a:latin typeface="Arial"/>
                <a:cs typeface="Arial"/>
              </a:rPr>
              <a:t>We</a:t>
            </a:r>
            <a:r>
              <a:rPr sz="2200" b="1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AF50"/>
                </a:solidFill>
                <a:latin typeface="Arial"/>
                <a:cs typeface="Arial"/>
              </a:rPr>
              <a:t>need</a:t>
            </a:r>
            <a:r>
              <a:rPr sz="22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2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AF50"/>
                </a:solidFill>
                <a:latin typeface="Arial"/>
                <a:cs typeface="Arial"/>
              </a:rPr>
              <a:t>move</a:t>
            </a:r>
            <a:r>
              <a:rPr sz="2200" b="1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00AF50"/>
                </a:solidFill>
                <a:latin typeface="Arial"/>
                <a:cs typeface="Arial"/>
              </a:rPr>
              <a:t>to </a:t>
            </a:r>
            <a:r>
              <a:rPr sz="2200" b="1" dirty="0">
                <a:solidFill>
                  <a:srgbClr val="00AF50"/>
                </a:solidFill>
                <a:latin typeface="Arial"/>
                <a:cs typeface="Arial"/>
              </a:rPr>
              <a:t>what</a:t>
            </a:r>
            <a:r>
              <a:rPr sz="2200" b="1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2200" b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Arial"/>
                <a:cs typeface="Arial"/>
              </a:rPr>
              <a:t>called:</a:t>
            </a:r>
            <a:endParaRPr sz="2200">
              <a:latin typeface="Arial"/>
              <a:cs typeface="Arial"/>
            </a:endParaRPr>
          </a:p>
          <a:p>
            <a:pPr marL="541020" marR="5080" indent="-274320">
              <a:lnSpc>
                <a:spcPts val="4230"/>
              </a:lnSpc>
              <a:spcBef>
                <a:spcPts val="50"/>
              </a:spcBef>
            </a:pPr>
            <a:r>
              <a:rPr sz="3500" b="1" spc="-10" dirty="0">
                <a:solidFill>
                  <a:srgbClr val="00AF50"/>
                </a:solidFill>
                <a:latin typeface="Arial"/>
                <a:cs typeface="Arial"/>
              </a:rPr>
              <a:t>Concurrent Threads.</a:t>
            </a:r>
            <a:endParaRPr sz="3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18404" y="1808411"/>
            <a:ext cx="104838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latin typeface="Arial MT"/>
                <a:cs typeface="Arial MT"/>
              </a:rPr>
              <a:t>Thread-</a:t>
            </a:r>
            <a:r>
              <a:rPr sz="1950" spc="-50" dirty="0">
                <a:latin typeface="Arial MT"/>
                <a:cs typeface="Arial MT"/>
              </a:rPr>
              <a:t>1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3738" y="5831751"/>
            <a:ext cx="104838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latin typeface="Arial MT"/>
                <a:cs typeface="Arial MT"/>
              </a:rPr>
              <a:t>Thread-</a:t>
            </a:r>
            <a:r>
              <a:rPr sz="1950" spc="-50" dirty="0">
                <a:latin typeface="Arial MT"/>
                <a:cs typeface="Arial MT"/>
              </a:rPr>
              <a:t>2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1326" y="304800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112520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u="none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u="none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u="none" spc="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Thread?</a:t>
            </a:r>
            <a:r>
              <a:rPr sz="3975" u="none" spc="-15" baseline="-20964" dirty="0">
                <a:solidFill>
                  <a:srgbClr val="000000"/>
                </a:solidFill>
                <a:latin typeface="Arial MT"/>
                <a:cs typeface="Arial MT"/>
              </a:rPr>
              <a:t>Cont…</a:t>
            </a:r>
            <a:endParaRPr sz="3975" baseline="-20964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2395" y="2014292"/>
            <a:ext cx="8876665" cy="43517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985" marR="6350" indent="-375920" algn="just">
              <a:lnSpc>
                <a:spcPct val="101000"/>
              </a:lnSpc>
              <a:spcBef>
                <a:spcPts val="95"/>
              </a:spcBef>
              <a:buChar char="•"/>
              <a:tabLst>
                <a:tab pos="390525" algn="l"/>
              </a:tabLst>
            </a:pPr>
            <a:r>
              <a:rPr sz="3050" dirty="0">
                <a:latin typeface="Arial MT"/>
                <a:cs typeface="Arial MT"/>
              </a:rPr>
              <a:t>A</a:t>
            </a:r>
            <a:r>
              <a:rPr sz="3050" spc="18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Thread</a:t>
            </a:r>
            <a:r>
              <a:rPr sz="3050" spc="18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is</a:t>
            </a:r>
            <a:r>
              <a:rPr sz="3050" spc="17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</a:t>
            </a:r>
            <a:r>
              <a:rPr sz="3050" spc="150" dirty="0">
                <a:latin typeface="Arial MT"/>
                <a:cs typeface="Arial MT"/>
              </a:rPr>
              <a:t> 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unit</a:t>
            </a:r>
            <a:r>
              <a:rPr sz="3050" u="sng" spc="18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of</a:t>
            </a:r>
            <a:r>
              <a:rPr sz="3050" u="sng" spc="17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execution</a:t>
            </a:r>
            <a:r>
              <a:rPr sz="3050" spc="18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within</a:t>
            </a:r>
            <a:r>
              <a:rPr sz="3050" spc="15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a</a:t>
            </a:r>
            <a:r>
              <a:rPr sz="3050" spc="15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program 	</a:t>
            </a:r>
            <a:r>
              <a:rPr sz="3050" dirty="0">
                <a:latin typeface="Arial MT"/>
                <a:cs typeface="Arial MT"/>
              </a:rPr>
              <a:t>that</a:t>
            </a:r>
            <a:r>
              <a:rPr sz="3050" spc="114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operates</a:t>
            </a:r>
            <a:r>
              <a:rPr sz="3050" spc="13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independently,</a:t>
            </a:r>
            <a:r>
              <a:rPr sz="3050" spc="114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allowing</a:t>
            </a:r>
            <a:r>
              <a:rPr sz="3050" spc="120" dirty="0">
                <a:latin typeface="Arial MT"/>
                <a:cs typeface="Arial MT"/>
              </a:rPr>
              <a:t>  </a:t>
            </a:r>
            <a:r>
              <a:rPr sz="3050" spc="-10" dirty="0">
                <a:latin typeface="Arial MT"/>
                <a:cs typeface="Arial MT"/>
              </a:rPr>
              <a:t>multiple 	</a:t>
            </a:r>
            <a:r>
              <a:rPr sz="3050" dirty="0">
                <a:latin typeface="Arial MT"/>
                <a:cs typeface="Arial MT"/>
              </a:rPr>
              <a:t>tasks</a:t>
            </a:r>
            <a:r>
              <a:rPr sz="3050" spc="525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to</a:t>
            </a:r>
            <a:r>
              <a:rPr sz="3050" spc="525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be</a:t>
            </a:r>
            <a:r>
              <a:rPr sz="3050" spc="54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performed</a:t>
            </a:r>
            <a:r>
              <a:rPr sz="3050" spc="54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either</a:t>
            </a:r>
            <a:r>
              <a:rPr sz="3050" spc="53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Parallelly</a:t>
            </a:r>
            <a:r>
              <a:rPr sz="3050" spc="540" dirty="0">
                <a:latin typeface="Arial MT"/>
                <a:cs typeface="Arial MT"/>
              </a:rPr>
              <a:t>  </a:t>
            </a:r>
            <a:r>
              <a:rPr sz="3050" spc="-25" dirty="0">
                <a:latin typeface="Arial MT"/>
                <a:cs typeface="Arial MT"/>
              </a:rPr>
              <a:t>or 	</a:t>
            </a:r>
            <a:r>
              <a:rPr sz="3050" dirty="0">
                <a:latin typeface="Arial MT"/>
                <a:cs typeface="Arial MT"/>
              </a:rPr>
              <a:t>Concurrently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within</a:t>
            </a:r>
            <a:r>
              <a:rPr sz="3050" spc="6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6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same</a:t>
            </a:r>
            <a:r>
              <a:rPr sz="3050" spc="3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process.</a:t>
            </a:r>
            <a:endParaRPr lang="en-MY" sz="3050" spc="-10" dirty="0">
              <a:latin typeface="Arial MT"/>
              <a:cs typeface="Arial MT"/>
            </a:endParaRPr>
          </a:p>
          <a:p>
            <a:pPr marL="387985" marR="6350" indent="-375920" algn="just">
              <a:lnSpc>
                <a:spcPct val="101000"/>
              </a:lnSpc>
              <a:spcBef>
                <a:spcPts val="95"/>
              </a:spcBef>
              <a:buChar char="•"/>
              <a:tabLst>
                <a:tab pos="390525" algn="l"/>
              </a:tabLst>
            </a:pPr>
            <a:endParaRPr sz="3050" dirty="0">
              <a:latin typeface="Arial MT"/>
              <a:cs typeface="Arial MT"/>
            </a:endParaRPr>
          </a:p>
          <a:p>
            <a:pPr marL="387985" marR="5080" indent="-375920" algn="just">
              <a:lnSpc>
                <a:spcPct val="101000"/>
              </a:lnSpc>
              <a:spcBef>
                <a:spcPts val="730"/>
              </a:spcBef>
              <a:buChar char="•"/>
              <a:tabLst>
                <a:tab pos="390525" algn="l"/>
              </a:tabLst>
            </a:pPr>
            <a:r>
              <a:rPr sz="3050" dirty="0">
                <a:latin typeface="Arial MT"/>
                <a:cs typeface="Arial MT"/>
              </a:rPr>
              <a:t>Every</a:t>
            </a:r>
            <a:r>
              <a:rPr sz="3050" spc="-2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Program</a:t>
            </a:r>
            <a:r>
              <a:rPr sz="3050" spc="-45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must</a:t>
            </a:r>
            <a:r>
              <a:rPr sz="3050" spc="-3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have</a:t>
            </a:r>
            <a:r>
              <a:rPr sz="3050" spc="-25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a</a:t>
            </a:r>
            <a:r>
              <a:rPr sz="3050" spc="-15" dirty="0">
                <a:latin typeface="Arial MT"/>
                <a:cs typeface="Arial MT"/>
              </a:rPr>
              <a:t>  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main</a:t>
            </a:r>
            <a:r>
              <a:rPr sz="305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thread</a:t>
            </a:r>
            <a:r>
              <a:rPr sz="3050" spc="-30" dirty="0">
                <a:latin typeface="Arial MT"/>
                <a:cs typeface="Arial MT"/>
              </a:rPr>
              <a:t>  </a:t>
            </a:r>
            <a:r>
              <a:rPr sz="3050" spc="-20" dirty="0">
                <a:latin typeface="Arial MT"/>
                <a:cs typeface="Arial MT"/>
              </a:rPr>
              <a:t>that 	</a:t>
            </a:r>
            <a:r>
              <a:rPr sz="3050" dirty="0">
                <a:latin typeface="Arial MT"/>
                <a:cs typeface="Arial MT"/>
              </a:rPr>
              <a:t>handles</a:t>
            </a:r>
            <a:r>
              <a:rPr sz="3050" spc="285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28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program</a:t>
            </a:r>
            <a:r>
              <a:rPr sz="3050" spc="265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execution,</a:t>
            </a:r>
            <a:r>
              <a:rPr sz="3050" spc="254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then</a:t>
            </a:r>
            <a:r>
              <a:rPr sz="3050" spc="28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if</a:t>
            </a:r>
            <a:r>
              <a:rPr sz="3050" spc="275" dirty="0">
                <a:latin typeface="Arial MT"/>
                <a:cs typeface="Arial MT"/>
              </a:rPr>
              <a:t>  </a:t>
            </a:r>
            <a:r>
              <a:rPr sz="3050" spc="-20" dirty="0">
                <a:latin typeface="Arial MT"/>
                <a:cs typeface="Arial MT"/>
              </a:rPr>
              <a:t>that 	</a:t>
            </a:r>
            <a:r>
              <a:rPr sz="3050" dirty="0">
                <a:latin typeface="Arial MT"/>
                <a:cs typeface="Arial MT"/>
              </a:rPr>
              <a:t>program</a:t>
            </a:r>
            <a:r>
              <a:rPr sz="3050" spc="95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is</a:t>
            </a:r>
            <a:r>
              <a:rPr sz="3050" spc="11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multithreaded</a:t>
            </a:r>
            <a:r>
              <a:rPr sz="3050" spc="100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program,</a:t>
            </a:r>
            <a:r>
              <a:rPr sz="3050" spc="114" dirty="0">
                <a:latin typeface="Arial MT"/>
                <a:cs typeface="Arial MT"/>
              </a:rPr>
              <a:t>  </a:t>
            </a:r>
            <a:r>
              <a:rPr sz="3050" dirty="0">
                <a:latin typeface="Arial MT"/>
                <a:cs typeface="Arial MT"/>
              </a:rPr>
              <a:t>then</a:t>
            </a:r>
            <a:r>
              <a:rPr sz="3050" spc="100" dirty="0">
                <a:latin typeface="Arial MT"/>
                <a:cs typeface="Arial MT"/>
              </a:rPr>
              <a:t>  </a:t>
            </a:r>
            <a:r>
              <a:rPr sz="305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Sub-</a:t>
            </a:r>
            <a:r>
              <a:rPr sz="3050" spc="-20" dirty="0">
                <a:latin typeface="Arial MT"/>
                <a:cs typeface="Arial MT"/>
              </a:rPr>
              <a:t> 	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threads</a:t>
            </a:r>
            <a:r>
              <a:rPr sz="3050" spc="1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will</a:t>
            </a:r>
            <a:r>
              <a:rPr sz="3050" spc="3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be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created</a:t>
            </a:r>
            <a:r>
              <a:rPr sz="3050" u="sng" spc="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within</a:t>
            </a:r>
            <a:r>
              <a:rPr sz="3050" u="sng" spc="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the</a:t>
            </a:r>
            <a:r>
              <a:rPr sz="3050" u="sng" spc="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3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main</a:t>
            </a:r>
            <a:r>
              <a:rPr sz="3050" u="sng" spc="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305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thread.</a:t>
            </a:r>
            <a:endParaRPr sz="30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85" y="292677"/>
            <a:ext cx="8209887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Parallel</a:t>
            </a:r>
            <a:r>
              <a:rPr u="none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vs.</a:t>
            </a:r>
            <a:r>
              <a:rPr u="none" spc="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Concurrent</a:t>
            </a:r>
            <a:r>
              <a:rPr u="none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Threads?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18055" y="3533266"/>
            <a:ext cx="6950709" cy="501015"/>
            <a:chOff x="2218055" y="3533266"/>
            <a:chExt cx="6950709" cy="501015"/>
          </a:xfrm>
        </p:grpSpPr>
        <p:sp>
          <p:nvSpPr>
            <p:cNvPr id="4" name="object 4"/>
            <p:cNvSpPr/>
            <p:nvPr/>
          </p:nvSpPr>
          <p:spPr>
            <a:xfrm>
              <a:off x="2225040" y="3540251"/>
              <a:ext cx="6719570" cy="422275"/>
            </a:xfrm>
            <a:custGeom>
              <a:avLst/>
              <a:gdLst/>
              <a:ahLst/>
              <a:cxnLst/>
              <a:rect l="l" t="t" r="r" b="b"/>
              <a:pathLst>
                <a:path w="6719570" h="422275">
                  <a:moveTo>
                    <a:pt x="359663" y="0"/>
                  </a:moveTo>
                  <a:lnTo>
                    <a:pt x="359663" y="422148"/>
                  </a:lnTo>
                </a:path>
                <a:path w="6719570" h="422275">
                  <a:moveTo>
                    <a:pt x="713232" y="0"/>
                  </a:moveTo>
                  <a:lnTo>
                    <a:pt x="713232" y="422148"/>
                  </a:lnTo>
                </a:path>
                <a:path w="6719570" h="422275">
                  <a:moveTo>
                    <a:pt x="1065275" y="0"/>
                  </a:moveTo>
                  <a:lnTo>
                    <a:pt x="1065275" y="422148"/>
                  </a:lnTo>
                </a:path>
                <a:path w="6719570" h="422275">
                  <a:moveTo>
                    <a:pt x="1418843" y="0"/>
                  </a:moveTo>
                  <a:lnTo>
                    <a:pt x="1418843" y="422148"/>
                  </a:lnTo>
                </a:path>
                <a:path w="6719570" h="422275">
                  <a:moveTo>
                    <a:pt x="1770887" y="0"/>
                  </a:moveTo>
                  <a:lnTo>
                    <a:pt x="1770887" y="422148"/>
                  </a:lnTo>
                </a:path>
                <a:path w="6719570" h="422275">
                  <a:moveTo>
                    <a:pt x="2124456" y="0"/>
                  </a:moveTo>
                  <a:lnTo>
                    <a:pt x="2124456" y="422148"/>
                  </a:lnTo>
                </a:path>
                <a:path w="6719570" h="422275">
                  <a:moveTo>
                    <a:pt x="2478024" y="0"/>
                  </a:moveTo>
                  <a:lnTo>
                    <a:pt x="2478024" y="422148"/>
                  </a:lnTo>
                </a:path>
                <a:path w="6719570" h="422275">
                  <a:moveTo>
                    <a:pt x="2830067" y="0"/>
                  </a:moveTo>
                  <a:lnTo>
                    <a:pt x="2830067" y="422148"/>
                  </a:lnTo>
                </a:path>
                <a:path w="6719570" h="422275">
                  <a:moveTo>
                    <a:pt x="3183636" y="0"/>
                  </a:moveTo>
                  <a:lnTo>
                    <a:pt x="3183636" y="422148"/>
                  </a:lnTo>
                </a:path>
                <a:path w="6719570" h="422275">
                  <a:moveTo>
                    <a:pt x="3535679" y="0"/>
                  </a:moveTo>
                  <a:lnTo>
                    <a:pt x="3535679" y="422148"/>
                  </a:lnTo>
                </a:path>
                <a:path w="6719570" h="422275">
                  <a:moveTo>
                    <a:pt x="3889247" y="0"/>
                  </a:moveTo>
                  <a:lnTo>
                    <a:pt x="3889247" y="422148"/>
                  </a:lnTo>
                </a:path>
                <a:path w="6719570" h="422275">
                  <a:moveTo>
                    <a:pt x="4242815" y="0"/>
                  </a:moveTo>
                  <a:lnTo>
                    <a:pt x="4242815" y="422148"/>
                  </a:lnTo>
                </a:path>
                <a:path w="6719570" h="422275">
                  <a:moveTo>
                    <a:pt x="4594859" y="0"/>
                  </a:moveTo>
                  <a:lnTo>
                    <a:pt x="4594859" y="422148"/>
                  </a:lnTo>
                </a:path>
                <a:path w="6719570" h="422275">
                  <a:moveTo>
                    <a:pt x="4948427" y="0"/>
                  </a:moveTo>
                  <a:lnTo>
                    <a:pt x="4948427" y="422148"/>
                  </a:lnTo>
                </a:path>
                <a:path w="6719570" h="422275">
                  <a:moveTo>
                    <a:pt x="5300472" y="0"/>
                  </a:moveTo>
                  <a:lnTo>
                    <a:pt x="5300472" y="422148"/>
                  </a:lnTo>
                </a:path>
                <a:path w="6719570" h="422275">
                  <a:moveTo>
                    <a:pt x="5654040" y="0"/>
                  </a:moveTo>
                  <a:lnTo>
                    <a:pt x="5654040" y="422148"/>
                  </a:lnTo>
                </a:path>
                <a:path w="6719570" h="422275">
                  <a:moveTo>
                    <a:pt x="6006083" y="0"/>
                  </a:moveTo>
                  <a:lnTo>
                    <a:pt x="6006083" y="422148"/>
                  </a:lnTo>
                </a:path>
                <a:path w="6719570" h="422275">
                  <a:moveTo>
                    <a:pt x="6359652" y="0"/>
                  </a:moveTo>
                  <a:lnTo>
                    <a:pt x="6359652" y="422148"/>
                  </a:lnTo>
                </a:path>
                <a:path w="6719570" h="422275">
                  <a:moveTo>
                    <a:pt x="7619" y="0"/>
                  </a:moveTo>
                  <a:lnTo>
                    <a:pt x="7619" y="422148"/>
                  </a:lnTo>
                </a:path>
                <a:path w="6719570" h="422275">
                  <a:moveTo>
                    <a:pt x="6713220" y="0"/>
                  </a:moveTo>
                  <a:lnTo>
                    <a:pt x="6713220" y="422148"/>
                  </a:lnTo>
                </a:path>
                <a:path w="6719570" h="422275">
                  <a:moveTo>
                    <a:pt x="0" y="7620"/>
                  </a:moveTo>
                  <a:lnTo>
                    <a:pt x="6719315" y="7620"/>
                  </a:lnTo>
                </a:path>
                <a:path w="6719570" h="422275">
                  <a:moveTo>
                    <a:pt x="0" y="416051"/>
                  </a:moveTo>
                  <a:lnTo>
                    <a:pt x="6719315" y="416051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2660" y="3877056"/>
              <a:ext cx="6936105" cy="157480"/>
            </a:xfrm>
            <a:custGeom>
              <a:avLst/>
              <a:gdLst/>
              <a:ahLst/>
              <a:cxnLst/>
              <a:rect l="l" t="t" r="r" b="b"/>
              <a:pathLst>
                <a:path w="6936105" h="157479">
                  <a:moveTo>
                    <a:pt x="6778752" y="156972"/>
                  </a:moveTo>
                  <a:lnTo>
                    <a:pt x="6778752" y="0"/>
                  </a:lnTo>
                  <a:lnTo>
                    <a:pt x="6881387" y="51816"/>
                  </a:lnTo>
                  <a:lnTo>
                    <a:pt x="6804660" y="51816"/>
                  </a:lnTo>
                  <a:lnTo>
                    <a:pt x="6804660" y="105156"/>
                  </a:lnTo>
                  <a:lnTo>
                    <a:pt x="6883400" y="105156"/>
                  </a:lnTo>
                  <a:lnTo>
                    <a:pt x="6778752" y="156972"/>
                  </a:lnTo>
                  <a:close/>
                </a:path>
                <a:path w="6936105" h="157479">
                  <a:moveTo>
                    <a:pt x="6778752" y="105156"/>
                  </a:moveTo>
                  <a:lnTo>
                    <a:pt x="0" y="105156"/>
                  </a:lnTo>
                  <a:lnTo>
                    <a:pt x="0" y="51816"/>
                  </a:lnTo>
                  <a:lnTo>
                    <a:pt x="6778752" y="51816"/>
                  </a:lnTo>
                  <a:lnTo>
                    <a:pt x="6778752" y="105156"/>
                  </a:lnTo>
                  <a:close/>
                </a:path>
                <a:path w="6936105" h="157479">
                  <a:moveTo>
                    <a:pt x="6883400" y="105156"/>
                  </a:moveTo>
                  <a:lnTo>
                    <a:pt x="6804660" y="105156"/>
                  </a:lnTo>
                  <a:lnTo>
                    <a:pt x="6804660" y="51816"/>
                  </a:lnTo>
                  <a:lnTo>
                    <a:pt x="6881387" y="51816"/>
                  </a:lnTo>
                  <a:lnTo>
                    <a:pt x="6935723" y="79248"/>
                  </a:lnTo>
                  <a:lnTo>
                    <a:pt x="6883400" y="1051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228088" y="3054858"/>
            <a:ext cx="6719570" cy="429259"/>
            <a:chOff x="2228088" y="3054858"/>
            <a:chExt cx="6719570" cy="429259"/>
          </a:xfrm>
        </p:grpSpPr>
        <p:sp>
          <p:nvSpPr>
            <p:cNvPr id="7" name="object 7"/>
            <p:cNvSpPr/>
            <p:nvPr/>
          </p:nvSpPr>
          <p:spPr>
            <a:xfrm>
              <a:off x="2580893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>
                  <a:moveTo>
                    <a:pt x="0" y="0"/>
                  </a:moveTo>
                  <a:lnTo>
                    <a:pt x="1371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80893" y="306171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>
                  <a:moveTo>
                    <a:pt x="0" y="0"/>
                  </a:moveTo>
                  <a:lnTo>
                    <a:pt x="13715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4461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>
                  <a:moveTo>
                    <a:pt x="0" y="0"/>
                  </a:moveTo>
                  <a:lnTo>
                    <a:pt x="1371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4461" y="306171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>
                  <a:moveTo>
                    <a:pt x="0" y="0"/>
                  </a:moveTo>
                  <a:lnTo>
                    <a:pt x="13715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86506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86506" y="306171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40074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40074" y="306171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92117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92117" y="306171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45685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5685" y="306171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99253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9253" y="306171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51297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51297" y="3061715"/>
              <a:ext cx="367665" cy="0"/>
            </a:xfrm>
            <a:custGeom>
              <a:avLst/>
              <a:gdLst/>
              <a:ahLst/>
              <a:cxnLst/>
              <a:rect l="l" t="t" r="r" b="b"/>
              <a:pathLst>
                <a:path w="367664">
                  <a:moveTo>
                    <a:pt x="0" y="0"/>
                  </a:moveTo>
                  <a:lnTo>
                    <a:pt x="13716" y="0"/>
                  </a:lnTo>
                </a:path>
                <a:path w="367664">
                  <a:moveTo>
                    <a:pt x="353567" y="0"/>
                  </a:moveTo>
                  <a:lnTo>
                    <a:pt x="367283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04865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56909" y="306171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56909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10477" y="306171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10477" y="347700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28088" y="3055619"/>
              <a:ext cx="6719570" cy="422275"/>
            </a:xfrm>
            <a:custGeom>
              <a:avLst/>
              <a:gdLst/>
              <a:ahLst/>
              <a:cxnLst/>
              <a:rect l="l" t="t" r="r" b="b"/>
              <a:pathLst>
                <a:path w="6719570" h="422275">
                  <a:moveTo>
                    <a:pt x="4241292" y="0"/>
                  </a:moveTo>
                  <a:lnTo>
                    <a:pt x="4241292" y="422148"/>
                  </a:lnTo>
                </a:path>
                <a:path w="6719570" h="422275">
                  <a:moveTo>
                    <a:pt x="4594860" y="0"/>
                  </a:moveTo>
                  <a:lnTo>
                    <a:pt x="4594860" y="422148"/>
                  </a:lnTo>
                </a:path>
                <a:path w="6719570" h="422275">
                  <a:moveTo>
                    <a:pt x="5300472" y="0"/>
                  </a:moveTo>
                  <a:lnTo>
                    <a:pt x="5300472" y="422148"/>
                  </a:lnTo>
                </a:path>
                <a:path w="6719570" h="422275">
                  <a:moveTo>
                    <a:pt x="5654040" y="0"/>
                  </a:moveTo>
                  <a:lnTo>
                    <a:pt x="5654040" y="422148"/>
                  </a:lnTo>
                </a:path>
                <a:path w="6719570" h="422275">
                  <a:moveTo>
                    <a:pt x="6006083" y="0"/>
                  </a:moveTo>
                  <a:lnTo>
                    <a:pt x="6006083" y="422148"/>
                  </a:lnTo>
                </a:path>
                <a:path w="6719570" h="422275">
                  <a:moveTo>
                    <a:pt x="6359651" y="0"/>
                  </a:moveTo>
                  <a:lnTo>
                    <a:pt x="6359651" y="422148"/>
                  </a:lnTo>
                </a:path>
                <a:path w="6719570" h="422275">
                  <a:moveTo>
                    <a:pt x="7620" y="0"/>
                  </a:moveTo>
                  <a:lnTo>
                    <a:pt x="7620" y="422148"/>
                  </a:lnTo>
                </a:path>
                <a:path w="6719570" h="422275">
                  <a:moveTo>
                    <a:pt x="6711696" y="0"/>
                  </a:moveTo>
                  <a:lnTo>
                    <a:pt x="6711696" y="422148"/>
                  </a:lnTo>
                </a:path>
                <a:path w="6719570" h="422275">
                  <a:moveTo>
                    <a:pt x="0" y="6096"/>
                  </a:moveTo>
                  <a:lnTo>
                    <a:pt x="6719315" y="6096"/>
                  </a:lnTo>
                </a:path>
                <a:path w="6719570" h="422275">
                  <a:moveTo>
                    <a:pt x="0" y="414528"/>
                  </a:moveTo>
                  <a:lnTo>
                    <a:pt x="6719315" y="414528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43328" y="3067811"/>
              <a:ext cx="3883660" cy="408940"/>
            </a:xfrm>
            <a:custGeom>
              <a:avLst/>
              <a:gdLst/>
              <a:ahLst/>
              <a:cxnLst/>
              <a:rect l="l" t="t" r="r" b="b"/>
              <a:pathLst>
                <a:path w="3883660" h="408939">
                  <a:moveTo>
                    <a:pt x="3883152" y="0"/>
                  </a:moveTo>
                  <a:lnTo>
                    <a:pt x="3529584" y="0"/>
                  </a:lnTo>
                  <a:lnTo>
                    <a:pt x="0" y="0"/>
                  </a:lnTo>
                  <a:lnTo>
                    <a:pt x="0" y="408432"/>
                  </a:lnTo>
                  <a:lnTo>
                    <a:pt x="3529584" y="408432"/>
                  </a:lnTo>
                  <a:lnTo>
                    <a:pt x="3883152" y="408432"/>
                  </a:lnTo>
                  <a:lnTo>
                    <a:pt x="388315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37232" y="3061716"/>
              <a:ext cx="3895725" cy="422275"/>
            </a:xfrm>
            <a:custGeom>
              <a:avLst/>
              <a:gdLst/>
              <a:ahLst/>
              <a:cxnLst/>
              <a:rect l="l" t="t" r="r" b="b"/>
              <a:pathLst>
                <a:path w="3895725" h="422275">
                  <a:moveTo>
                    <a:pt x="359664" y="0"/>
                  </a:moveTo>
                  <a:lnTo>
                    <a:pt x="359664" y="422148"/>
                  </a:lnTo>
                </a:path>
                <a:path w="3895725" h="422275">
                  <a:moveTo>
                    <a:pt x="711708" y="0"/>
                  </a:moveTo>
                  <a:lnTo>
                    <a:pt x="711708" y="422148"/>
                  </a:lnTo>
                </a:path>
                <a:path w="3895725" h="422275">
                  <a:moveTo>
                    <a:pt x="1065275" y="0"/>
                  </a:moveTo>
                  <a:lnTo>
                    <a:pt x="1065275" y="422148"/>
                  </a:lnTo>
                </a:path>
                <a:path w="3895725" h="422275">
                  <a:moveTo>
                    <a:pt x="1417319" y="0"/>
                  </a:moveTo>
                  <a:lnTo>
                    <a:pt x="1417319" y="422148"/>
                  </a:lnTo>
                </a:path>
                <a:path w="3895725" h="422275">
                  <a:moveTo>
                    <a:pt x="1770887" y="0"/>
                  </a:moveTo>
                  <a:lnTo>
                    <a:pt x="1770887" y="422148"/>
                  </a:lnTo>
                </a:path>
                <a:path w="3895725" h="422275">
                  <a:moveTo>
                    <a:pt x="2124456" y="0"/>
                  </a:moveTo>
                  <a:lnTo>
                    <a:pt x="2124456" y="422148"/>
                  </a:lnTo>
                </a:path>
                <a:path w="3895725" h="422275">
                  <a:moveTo>
                    <a:pt x="2476499" y="0"/>
                  </a:moveTo>
                  <a:lnTo>
                    <a:pt x="2476499" y="422148"/>
                  </a:lnTo>
                </a:path>
                <a:path w="3895725" h="422275">
                  <a:moveTo>
                    <a:pt x="2830067" y="0"/>
                  </a:moveTo>
                  <a:lnTo>
                    <a:pt x="2830067" y="422148"/>
                  </a:lnTo>
                </a:path>
                <a:path w="3895725" h="422275">
                  <a:moveTo>
                    <a:pt x="3182112" y="0"/>
                  </a:moveTo>
                  <a:lnTo>
                    <a:pt x="3182112" y="422148"/>
                  </a:lnTo>
                </a:path>
                <a:path w="3895725" h="422275">
                  <a:moveTo>
                    <a:pt x="3535680" y="0"/>
                  </a:moveTo>
                  <a:lnTo>
                    <a:pt x="3535680" y="422148"/>
                  </a:lnTo>
                </a:path>
                <a:path w="3895725" h="422275">
                  <a:moveTo>
                    <a:pt x="6095" y="0"/>
                  </a:moveTo>
                  <a:lnTo>
                    <a:pt x="6095" y="422148"/>
                  </a:lnTo>
                </a:path>
                <a:path w="3895725" h="422275">
                  <a:moveTo>
                    <a:pt x="3889248" y="0"/>
                  </a:moveTo>
                  <a:lnTo>
                    <a:pt x="3889248" y="422148"/>
                  </a:lnTo>
                </a:path>
                <a:path w="3895725" h="422275">
                  <a:moveTo>
                    <a:pt x="0" y="6095"/>
                  </a:moveTo>
                  <a:lnTo>
                    <a:pt x="3895344" y="6095"/>
                  </a:lnTo>
                </a:path>
                <a:path w="3895725" h="422275">
                  <a:moveTo>
                    <a:pt x="0" y="414527"/>
                  </a:moveTo>
                  <a:lnTo>
                    <a:pt x="3895344" y="414527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29200" y="3188208"/>
              <a:ext cx="2010410" cy="157480"/>
            </a:xfrm>
            <a:custGeom>
              <a:avLst/>
              <a:gdLst/>
              <a:ahLst/>
              <a:cxnLst/>
              <a:rect l="l" t="t" r="r" b="b"/>
              <a:pathLst>
                <a:path w="2010409" h="157479">
                  <a:moveTo>
                    <a:pt x="1853184" y="156972"/>
                  </a:moveTo>
                  <a:lnTo>
                    <a:pt x="1853184" y="0"/>
                  </a:lnTo>
                  <a:lnTo>
                    <a:pt x="1957832" y="51816"/>
                  </a:lnTo>
                  <a:lnTo>
                    <a:pt x="1879092" y="51816"/>
                  </a:lnTo>
                  <a:lnTo>
                    <a:pt x="1879092" y="103632"/>
                  </a:lnTo>
                  <a:lnTo>
                    <a:pt x="1958838" y="103632"/>
                  </a:lnTo>
                  <a:lnTo>
                    <a:pt x="1853184" y="156972"/>
                  </a:lnTo>
                  <a:close/>
                </a:path>
                <a:path w="2010409" h="157479">
                  <a:moveTo>
                    <a:pt x="1853184" y="103632"/>
                  </a:moveTo>
                  <a:lnTo>
                    <a:pt x="0" y="103632"/>
                  </a:lnTo>
                  <a:lnTo>
                    <a:pt x="0" y="51816"/>
                  </a:lnTo>
                  <a:lnTo>
                    <a:pt x="1853184" y="51816"/>
                  </a:lnTo>
                  <a:lnTo>
                    <a:pt x="1853184" y="103632"/>
                  </a:lnTo>
                  <a:close/>
                </a:path>
                <a:path w="2010409" h="157479">
                  <a:moveTo>
                    <a:pt x="1958838" y="103632"/>
                  </a:moveTo>
                  <a:lnTo>
                    <a:pt x="1879092" y="103632"/>
                  </a:lnTo>
                  <a:lnTo>
                    <a:pt x="1879092" y="51816"/>
                  </a:lnTo>
                  <a:lnTo>
                    <a:pt x="1957832" y="51816"/>
                  </a:lnTo>
                  <a:lnTo>
                    <a:pt x="2010155" y="77724"/>
                  </a:lnTo>
                  <a:lnTo>
                    <a:pt x="1958838" y="103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04731" y="2904073"/>
            <a:ext cx="1054100" cy="937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715">
              <a:lnSpc>
                <a:spcPct val="153400"/>
              </a:lnSpc>
              <a:spcBef>
                <a:spcPts val="90"/>
              </a:spcBef>
            </a:pPr>
            <a:r>
              <a:rPr sz="1950" dirty="0">
                <a:latin typeface="Arial MT"/>
                <a:cs typeface="Arial MT"/>
              </a:rPr>
              <a:t>Thread-</a:t>
            </a:r>
            <a:r>
              <a:rPr sz="1950" spc="-50" dirty="0">
                <a:latin typeface="Arial MT"/>
                <a:cs typeface="Arial MT"/>
              </a:rPr>
              <a:t>1 </a:t>
            </a:r>
            <a:r>
              <a:rPr sz="1950" dirty="0">
                <a:latin typeface="Arial MT"/>
                <a:cs typeface="Arial MT"/>
              </a:rPr>
              <a:t>Thread-</a:t>
            </a:r>
            <a:r>
              <a:rPr sz="1950" spc="-50" dirty="0">
                <a:latin typeface="Arial MT"/>
                <a:cs typeface="Arial MT"/>
              </a:rPr>
              <a:t>2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18629" y="4019725"/>
            <a:ext cx="60833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20" dirty="0">
                <a:latin typeface="Arial"/>
                <a:cs typeface="Arial"/>
              </a:rPr>
              <a:t>Time</a:t>
            </a:r>
            <a:endParaRPr sz="1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0226" y="2005112"/>
            <a:ext cx="209359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Parallelism</a:t>
            </a:r>
            <a:endParaRPr sz="30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30374" y="3552444"/>
            <a:ext cx="4815205" cy="422909"/>
            <a:chOff x="2230374" y="3552444"/>
            <a:chExt cx="4815205" cy="422909"/>
          </a:xfrm>
        </p:grpSpPr>
        <p:sp>
          <p:nvSpPr>
            <p:cNvPr id="36" name="object 36"/>
            <p:cNvSpPr/>
            <p:nvPr/>
          </p:nvSpPr>
          <p:spPr>
            <a:xfrm>
              <a:off x="2237232" y="3560076"/>
              <a:ext cx="3883660" cy="408940"/>
            </a:xfrm>
            <a:custGeom>
              <a:avLst/>
              <a:gdLst/>
              <a:ahLst/>
              <a:cxnLst/>
              <a:rect l="l" t="t" r="r" b="b"/>
              <a:pathLst>
                <a:path w="3883660" h="408939">
                  <a:moveTo>
                    <a:pt x="3883139" y="0"/>
                  </a:moveTo>
                  <a:lnTo>
                    <a:pt x="3529584" y="0"/>
                  </a:lnTo>
                  <a:lnTo>
                    <a:pt x="0" y="0"/>
                  </a:lnTo>
                  <a:lnTo>
                    <a:pt x="0" y="408432"/>
                  </a:lnTo>
                  <a:lnTo>
                    <a:pt x="3529584" y="408432"/>
                  </a:lnTo>
                  <a:lnTo>
                    <a:pt x="3883139" y="408432"/>
                  </a:lnTo>
                  <a:lnTo>
                    <a:pt x="3883139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31136" y="3552444"/>
              <a:ext cx="3895725" cy="422275"/>
            </a:xfrm>
            <a:custGeom>
              <a:avLst/>
              <a:gdLst/>
              <a:ahLst/>
              <a:cxnLst/>
              <a:rect l="l" t="t" r="r" b="b"/>
              <a:pathLst>
                <a:path w="3895725" h="422275">
                  <a:moveTo>
                    <a:pt x="359663" y="0"/>
                  </a:moveTo>
                  <a:lnTo>
                    <a:pt x="359663" y="422148"/>
                  </a:lnTo>
                </a:path>
                <a:path w="3895725" h="422275">
                  <a:moveTo>
                    <a:pt x="713231" y="0"/>
                  </a:moveTo>
                  <a:lnTo>
                    <a:pt x="713231" y="422148"/>
                  </a:lnTo>
                </a:path>
                <a:path w="3895725" h="422275">
                  <a:moveTo>
                    <a:pt x="1065275" y="0"/>
                  </a:moveTo>
                  <a:lnTo>
                    <a:pt x="1065275" y="422148"/>
                  </a:lnTo>
                </a:path>
                <a:path w="3895725" h="422275">
                  <a:moveTo>
                    <a:pt x="1418844" y="0"/>
                  </a:moveTo>
                  <a:lnTo>
                    <a:pt x="1418844" y="422148"/>
                  </a:lnTo>
                </a:path>
                <a:path w="3895725" h="422275">
                  <a:moveTo>
                    <a:pt x="1770887" y="0"/>
                  </a:moveTo>
                  <a:lnTo>
                    <a:pt x="1770887" y="422148"/>
                  </a:lnTo>
                </a:path>
                <a:path w="3895725" h="422275">
                  <a:moveTo>
                    <a:pt x="2124455" y="0"/>
                  </a:moveTo>
                  <a:lnTo>
                    <a:pt x="2124455" y="422148"/>
                  </a:lnTo>
                </a:path>
                <a:path w="3895725" h="422275">
                  <a:moveTo>
                    <a:pt x="2476499" y="0"/>
                  </a:moveTo>
                  <a:lnTo>
                    <a:pt x="2476499" y="422148"/>
                  </a:lnTo>
                </a:path>
                <a:path w="3895725" h="422275">
                  <a:moveTo>
                    <a:pt x="2830067" y="0"/>
                  </a:moveTo>
                  <a:lnTo>
                    <a:pt x="2830067" y="422148"/>
                  </a:lnTo>
                </a:path>
                <a:path w="3895725" h="422275">
                  <a:moveTo>
                    <a:pt x="3183635" y="0"/>
                  </a:moveTo>
                  <a:lnTo>
                    <a:pt x="3183635" y="422148"/>
                  </a:lnTo>
                </a:path>
                <a:path w="3895725" h="422275">
                  <a:moveTo>
                    <a:pt x="3535679" y="0"/>
                  </a:moveTo>
                  <a:lnTo>
                    <a:pt x="3535679" y="422148"/>
                  </a:lnTo>
                </a:path>
                <a:path w="3895725" h="422275">
                  <a:moveTo>
                    <a:pt x="6096" y="0"/>
                  </a:moveTo>
                  <a:lnTo>
                    <a:pt x="6096" y="422148"/>
                  </a:lnTo>
                </a:path>
                <a:path w="3895725" h="422275">
                  <a:moveTo>
                    <a:pt x="3889247" y="0"/>
                  </a:moveTo>
                  <a:lnTo>
                    <a:pt x="3889247" y="422148"/>
                  </a:lnTo>
                </a:path>
                <a:path w="3895725" h="422275">
                  <a:moveTo>
                    <a:pt x="0" y="7620"/>
                  </a:moveTo>
                  <a:lnTo>
                    <a:pt x="3895344" y="7620"/>
                  </a:lnTo>
                </a:path>
                <a:path w="3895725" h="422275">
                  <a:moveTo>
                    <a:pt x="0" y="416052"/>
                  </a:moveTo>
                  <a:lnTo>
                    <a:pt x="3895344" y="416052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35296" y="3656076"/>
              <a:ext cx="2010410" cy="157480"/>
            </a:xfrm>
            <a:custGeom>
              <a:avLst/>
              <a:gdLst/>
              <a:ahLst/>
              <a:cxnLst/>
              <a:rect l="l" t="t" r="r" b="b"/>
              <a:pathLst>
                <a:path w="2010409" h="157479">
                  <a:moveTo>
                    <a:pt x="1853184" y="156972"/>
                  </a:moveTo>
                  <a:lnTo>
                    <a:pt x="1853184" y="0"/>
                  </a:lnTo>
                  <a:lnTo>
                    <a:pt x="1957832" y="51816"/>
                  </a:lnTo>
                  <a:lnTo>
                    <a:pt x="1879092" y="51816"/>
                  </a:lnTo>
                  <a:lnTo>
                    <a:pt x="1879092" y="105156"/>
                  </a:lnTo>
                  <a:lnTo>
                    <a:pt x="1955819" y="105156"/>
                  </a:lnTo>
                  <a:lnTo>
                    <a:pt x="1853184" y="156972"/>
                  </a:lnTo>
                  <a:close/>
                </a:path>
                <a:path w="2010409" h="157479">
                  <a:moveTo>
                    <a:pt x="1853184" y="105156"/>
                  </a:moveTo>
                  <a:lnTo>
                    <a:pt x="0" y="105156"/>
                  </a:lnTo>
                  <a:lnTo>
                    <a:pt x="0" y="51816"/>
                  </a:lnTo>
                  <a:lnTo>
                    <a:pt x="1853184" y="51816"/>
                  </a:lnTo>
                  <a:lnTo>
                    <a:pt x="1853184" y="105156"/>
                  </a:lnTo>
                  <a:close/>
                </a:path>
                <a:path w="2010409" h="157479">
                  <a:moveTo>
                    <a:pt x="1955819" y="105156"/>
                  </a:moveTo>
                  <a:lnTo>
                    <a:pt x="1879092" y="105156"/>
                  </a:lnTo>
                  <a:lnTo>
                    <a:pt x="1879092" y="51816"/>
                  </a:lnTo>
                  <a:lnTo>
                    <a:pt x="1957832" y="51816"/>
                  </a:lnTo>
                  <a:lnTo>
                    <a:pt x="2010155" y="77724"/>
                  </a:lnTo>
                  <a:lnTo>
                    <a:pt x="1955819" y="1051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5649467" y="2125979"/>
            <a:ext cx="1031875" cy="140335"/>
          </a:xfrm>
          <a:custGeom>
            <a:avLst/>
            <a:gdLst/>
            <a:ahLst/>
            <a:cxnLst/>
            <a:rect l="l" t="t" r="r" b="b"/>
            <a:pathLst>
              <a:path w="1031875" h="140335">
                <a:moveTo>
                  <a:pt x="0" y="0"/>
                </a:moveTo>
                <a:lnTo>
                  <a:pt x="1031748" y="0"/>
                </a:lnTo>
                <a:lnTo>
                  <a:pt x="1031748" y="140208"/>
                </a:lnTo>
                <a:lnTo>
                  <a:pt x="0" y="140208"/>
                </a:lnTo>
                <a:lnTo>
                  <a:pt x="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49467" y="2488692"/>
            <a:ext cx="1031875" cy="140335"/>
          </a:xfrm>
          <a:custGeom>
            <a:avLst/>
            <a:gdLst/>
            <a:ahLst/>
            <a:cxnLst/>
            <a:rect l="l" t="t" r="r" b="b"/>
            <a:pathLst>
              <a:path w="1031875" h="140335">
                <a:moveTo>
                  <a:pt x="0" y="0"/>
                </a:moveTo>
                <a:lnTo>
                  <a:pt x="1031748" y="0"/>
                </a:lnTo>
                <a:lnTo>
                  <a:pt x="1031748" y="140208"/>
                </a:lnTo>
                <a:lnTo>
                  <a:pt x="0" y="140208"/>
                </a:lnTo>
                <a:lnTo>
                  <a:pt x="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814748" y="1799398"/>
            <a:ext cx="1793875" cy="937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15">
              <a:lnSpc>
                <a:spcPct val="153300"/>
              </a:lnSpc>
              <a:spcBef>
                <a:spcPts val="95"/>
              </a:spcBef>
            </a:pPr>
            <a:r>
              <a:rPr sz="1950" b="1" dirty="0">
                <a:latin typeface="Arial"/>
                <a:cs typeface="Arial"/>
              </a:rPr>
              <a:t>Sub-Process-</a:t>
            </a:r>
            <a:r>
              <a:rPr sz="1950" b="1" spc="-50" dirty="0">
                <a:latin typeface="Arial"/>
                <a:cs typeface="Arial"/>
              </a:rPr>
              <a:t>1 </a:t>
            </a:r>
            <a:r>
              <a:rPr sz="1950" b="1" dirty="0">
                <a:latin typeface="Arial"/>
                <a:cs typeface="Arial"/>
              </a:rPr>
              <a:t>Sub-Process-</a:t>
            </a:r>
            <a:r>
              <a:rPr sz="1950" b="1" spc="-50" dirty="0">
                <a:latin typeface="Arial"/>
                <a:cs typeface="Arial"/>
              </a:rPr>
              <a:t>2</a:t>
            </a:r>
            <a:endParaRPr sz="1950" dirty="0">
              <a:latin typeface="Arial"/>
              <a:cs typeface="Arial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24738"/>
              </p:ext>
            </p:extLst>
          </p:nvPr>
        </p:nvGraphicFramePr>
        <p:xfrm>
          <a:off x="2130105" y="5945891"/>
          <a:ext cx="6699880" cy="408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05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11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178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178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408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119148"/>
              </p:ext>
            </p:extLst>
          </p:nvPr>
        </p:nvGraphicFramePr>
        <p:xfrm>
          <a:off x="2127056" y="6432047"/>
          <a:ext cx="6689713" cy="408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7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17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17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11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861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115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408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object 44"/>
          <p:cNvSpPr txBox="1"/>
          <p:nvPr/>
        </p:nvSpPr>
        <p:spPr>
          <a:xfrm>
            <a:off x="805986" y="5797654"/>
            <a:ext cx="105410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15">
              <a:lnSpc>
                <a:spcPct val="153800"/>
              </a:lnSpc>
              <a:spcBef>
                <a:spcPts val="95"/>
              </a:spcBef>
            </a:pPr>
            <a:r>
              <a:rPr sz="1950" dirty="0">
                <a:latin typeface="Arial MT"/>
                <a:cs typeface="Arial MT"/>
              </a:rPr>
              <a:t>Thread-</a:t>
            </a:r>
            <a:r>
              <a:rPr sz="1950" spc="-50" dirty="0">
                <a:latin typeface="Arial MT"/>
                <a:cs typeface="Arial MT"/>
              </a:rPr>
              <a:t>1 </a:t>
            </a:r>
            <a:r>
              <a:rPr sz="1950" dirty="0">
                <a:latin typeface="Arial MT"/>
                <a:cs typeface="Arial MT"/>
              </a:rPr>
              <a:t>Thread-</a:t>
            </a:r>
            <a:r>
              <a:rPr sz="1950" spc="-50" dirty="0">
                <a:latin typeface="Arial MT"/>
                <a:cs typeface="Arial MT"/>
              </a:rPr>
              <a:t>2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133915" y="6771898"/>
            <a:ext cx="6936105" cy="157480"/>
          </a:xfrm>
          <a:custGeom>
            <a:avLst/>
            <a:gdLst/>
            <a:ahLst/>
            <a:cxnLst/>
            <a:rect l="l" t="t" r="r" b="b"/>
            <a:pathLst>
              <a:path w="6936105" h="157479">
                <a:moveTo>
                  <a:pt x="6778752" y="156972"/>
                </a:moveTo>
                <a:lnTo>
                  <a:pt x="6778752" y="0"/>
                </a:lnTo>
                <a:lnTo>
                  <a:pt x="6884406" y="53340"/>
                </a:lnTo>
                <a:lnTo>
                  <a:pt x="6804660" y="53340"/>
                </a:lnTo>
                <a:lnTo>
                  <a:pt x="6804660" y="105156"/>
                </a:lnTo>
                <a:lnTo>
                  <a:pt x="6883400" y="105156"/>
                </a:lnTo>
                <a:lnTo>
                  <a:pt x="6778752" y="156972"/>
                </a:lnTo>
                <a:close/>
              </a:path>
              <a:path w="6936105" h="157479">
                <a:moveTo>
                  <a:pt x="6778752" y="105156"/>
                </a:moveTo>
                <a:lnTo>
                  <a:pt x="0" y="105156"/>
                </a:lnTo>
                <a:lnTo>
                  <a:pt x="0" y="53340"/>
                </a:lnTo>
                <a:lnTo>
                  <a:pt x="6778752" y="53340"/>
                </a:lnTo>
                <a:lnTo>
                  <a:pt x="6778752" y="105156"/>
                </a:lnTo>
                <a:close/>
              </a:path>
              <a:path w="6936105" h="157479">
                <a:moveTo>
                  <a:pt x="6883400" y="105156"/>
                </a:moveTo>
                <a:lnTo>
                  <a:pt x="6804660" y="105156"/>
                </a:lnTo>
                <a:lnTo>
                  <a:pt x="6804660" y="53340"/>
                </a:lnTo>
                <a:lnTo>
                  <a:pt x="6884406" y="53340"/>
                </a:lnTo>
                <a:lnTo>
                  <a:pt x="6935723" y="79248"/>
                </a:lnTo>
                <a:lnTo>
                  <a:pt x="6883400" y="105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019884" y="6914656"/>
            <a:ext cx="60833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20" dirty="0">
                <a:latin typeface="Arial"/>
                <a:cs typeface="Arial"/>
              </a:rPr>
              <a:t>Time</a:t>
            </a:r>
            <a:endParaRPr sz="1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1481" y="4899917"/>
            <a:ext cx="244094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Concurrency</a:t>
            </a:r>
            <a:endParaRPr sz="3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76516" y="3061716"/>
            <a:ext cx="352425" cy="408940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409"/>
              </a:spcBef>
            </a:pPr>
            <a:r>
              <a:rPr sz="1950" b="1" spc="-25" dirty="0">
                <a:latin typeface="Arial"/>
                <a:cs typeface="Arial"/>
              </a:rPr>
              <a:t>T1</a:t>
            </a:r>
            <a:endParaRPr sz="19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80326" y="3554993"/>
            <a:ext cx="33845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0"/>
              </a:spcBef>
            </a:pPr>
            <a:r>
              <a:rPr sz="1950" b="1" spc="-25" dirty="0">
                <a:latin typeface="Arial"/>
                <a:cs typeface="Arial"/>
              </a:rPr>
              <a:t>T2</a:t>
            </a:r>
            <a:endParaRPr sz="19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064055" y="6329938"/>
            <a:ext cx="2010410" cy="157480"/>
          </a:xfrm>
          <a:custGeom>
            <a:avLst/>
            <a:gdLst/>
            <a:ahLst/>
            <a:cxnLst/>
            <a:rect l="l" t="t" r="r" b="b"/>
            <a:pathLst>
              <a:path w="2010409" h="157479">
                <a:moveTo>
                  <a:pt x="1853184" y="156972"/>
                </a:moveTo>
                <a:lnTo>
                  <a:pt x="1853184" y="0"/>
                </a:lnTo>
                <a:lnTo>
                  <a:pt x="1957832" y="51816"/>
                </a:lnTo>
                <a:lnTo>
                  <a:pt x="1879092" y="51816"/>
                </a:lnTo>
                <a:lnTo>
                  <a:pt x="1879092" y="103632"/>
                </a:lnTo>
                <a:lnTo>
                  <a:pt x="1958838" y="103632"/>
                </a:lnTo>
                <a:lnTo>
                  <a:pt x="1853184" y="156972"/>
                </a:lnTo>
                <a:close/>
              </a:path>
              <a:path w="2010409" h="157479">
                <a:moveTo>
                  <a:pt x="1853184" y="103632"/>
                </a:moveTo>
                <a:lnTo>
                  <a:pt x="0" y="103632"/>
                </a:lnTo>
                <a:lnTo>
                  <a:pt x="0" y="51816"/>
                </a:lnTo>
                <a:lnTo>
                  <a:pt x="1853184" y="51816"/>
                </a:lnTo>
                <a:lnTo>
                  <a:pt x="1853184" y="103632"/>
                </a:lnTo>
                <a:close/>
              </a:path>
              <a:path w="2010409" h="157479">
                <a:moveTo>
                  <a:pt x="1958838" y="103632"/>
                </a:moveTo>
                <a:lnTo>
                  <a:pt x="1879092" y="103632"/>
                </a:lnTo>
                <a:lnTo>
                  <a:pt x="1879092" y="51816"/>
                </a:lnTo>
                <a:lnTo>
                  <a:pt x="1957832" y="51816"/>
                </a:lnTo>
                <a:lnTo>
                  <a:pt x="2010155" y="77724"/>
                </a:lnTo>
                <a:lnTo>
                  <a:pt x="1958838" y="1036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9078217" y="6212094"/>
            <a:ext cx="60833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20" dirty="0">
                <a:latin typeface="Arial"/>
                <a:cs typeface="Arial"/>
              </a:rPr>
              <a:t>Time</a:t>
            </a:r>
            <a:endParaRPr sz="19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88485" y="4010639"/>
            <a:ext cx="184150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solidFill>
                  <a:srgbClr val="FF0000"/>
                </a:solidFill>
                <a:latin typeface="Arial"/>
                <a:cs typeface="Arial"/>
              </a:rPr>
              <a:t>No</a:t>
            </a:r>
            <a:r>
              <a:rPr sz="195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0000"/>
                </a:solidFill>
                <a:latin typeface="Arial"/>
                <a:cs typeface="Arial"/>
              </a:rPr>
              <a:t>Interleaving</a:t>
            </a:r>
            <a:endParaRPr sz="19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716003" y="6878067"/>
            <a:ext cx="20478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1950" b="1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0000"/>
                </a:solidFill>
                <a:latin typeface="Arial"/>
                <a:cs typeface="Arial"/>
              </a:rPr>
              <a:t>Interleaving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1326" y="457200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2555875">
              <a:lnSpc>
                <a:spcPct val="100000"/>
              </a:lnSpc>
              <a:spcBef>
                <a:spcPts val="110"/>
              </a:spcBef>
            </a:pP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Schedular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2340" y="2012604"/>
            <a:ext cx="8691245" cy="391389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5080" indent="-378460">
              <a:lnSpc>
                <a:spcPct val="100600"/>
              </a:lnSpc>
              <a:spcBef>
                <a:spcPts val="90"/>
              </a:spcBef>
              <a:buChar char="•"/>
              <a:tabLst>
                <a:tab pos="390525" algn="l"/>
                <a:tab pos="391795" algn="l"/>
              </a:tabLst>
            </a:pPr>
            <a:r>
              <a:rPr sz="3500" dirty="0">
                <a:latin typeface="Arial MT"/>
                <a:cs typeface="Arial MT"/>
              </a:rPr>
              <a:t>	Concurrency</a:t>
            </a:r>
            <a:r>
              <a:rPr sz="3500" spc="-1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needs</a:t>
            </a:r>
            <a:r>
              <a:rPr sz="3500" spc="-5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a</a:t>
            </a:r>
            <a:r>
              <a:rPr sz="3500" spc="-6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scheduler</a:t>
            </a:r>
            <a:r>
              <a:rPr sz="3500" spc="-15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to</a:t>
            </a:r>
            <a:r>
              <a:rPr sz="3500" spc="-25" dirty="0">
                <a:latin typeface="Arial MT"/>
                <a:cs typeface="Arial MT"/>
              </a:rPr>
              <a:t> </a:t>
            </a:r>
            <a:r>
              <a:rPr sz="3500" spc="-10" dirty="0">
                <a:latin typeface="Arial MT"/>
                <a:cs typeface="Arial MT"/>
              </a:rPr>
              <a:t>ensure </a:t>
            </a:r>
            <a:r>
              <a:rPr sz="3500" dirty="0">
                <a:latin typeface="Arial MT"/>
                <a:cs typeface="Arial MT"/>
              </a:rPr>
              <a:t>efficient</a:t>
            </a:r>
            <a:r>
              <a:rPr sz="3500" spc="-4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distribution</a:t>
            </a:r>
            <a:r>
              <a:rPr sz="3500" spc="-15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of</a:t>
            </a:r>
            <a:r>
              <a:rPr sz="3500" spc="1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the</a:t>
            </a:r>
            <a:r>
              <a:rPr sz="3500" spc="-15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processer</a:t>
            </a:r>
            <a:r>
              <a:rPr sz="3500" spc="-40" dirty="0">
                <a:latin typeface="Arial MT"/>
                <a:cs typeface="Arial MT"/>
              </a:rPr>
              <a:t> </a:t>
            </a:r>
            <a:r>
              <a:rPr sz="3500" spc="-20" dirty="0">
                <a:latin typeface="Arial MT"/>
                <a:cs typeface="Arial MT"/>
              </a:rPr>
              <a:t>time </a:t>
            </a:r>
            <a:r>
              <a:rPr sz="3500" dirty="0">
                <a:latin typeface="Arial MT"/>
                <a:cs typeface="Arial MT"/>
              </a:rPr>
              <a:t>among</a:t>
            </a:r>
            <a:r>
              <a:rPr sz="3500" spc="-3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our</a:t>
            </a:r>
            <a:r>
              <a:rPr sz="3500" spc="-15" dirty="0">
                <a:latin typeface="Arial MT"/>
                <a:cs typeface="Arial MT"/>
              </a:rPr>
              <a:t> </a:t>
            </a:r>
            <a:r>
              <a:rPr sz="3500" spc="-10" dirty="0">
                <a:latin typeface="Arial MT"/>
                <a:cs typeface="Arial MT"/>
              </a:rPr>
              <a:t>threads.</a:t>
            </a:r>
            <a:endParaRPr lang="en-MY" sz="3500" spc="-10" dirty="0">
              <a:latin typeface="Arial MT"/>
              <a:cs typeface="Arial MT"/>
            </a:endParaRPr>
          </a:p>
          <a:p>
            <a:pPr marL="390525" marR="5080" indent="-378460">
              <a:lnSpc>
                <a:spcPct val="100600"/>
              </a:lnSpc>
              <a:spcBef>
                <a:spcPts val="90"/>
              </a:spcBef>
              <a:buChar char="•"/>
              <a:tabLst>
                <a:tab pos="390525" algn="l"/>
                <a:tab pos="391795" algn="l"/>
              </a:tabLst>
            </a:pPr>
            <a:endParaRPr sz="3500" dirty="0">
              <a:latin typeface="Arial MT"/>
              <a:cs typeface="Arial MT"/>
            </a:endParaRPr>
          </a:p>
          <a:p>
            <a:pPr marL="390525" marR="33020" indent="-378460">
              <a:lnSpc>
                <a:spcPct val="100600"/>
              </a:lnSpc>
              <a:spcBef>
                <a:spcPts val="850"/>
              </a:spcBef>
              <a:buChar char="•"/>
              <a:tabLst>
                <a:tab pos="390525" algn="l"/>
                <a:tab pos="391795" algn="l"/>
              </a:tabLst>
            </a:pPr>
            <a:r>
              <a:rPr sz="3500" dirty="0">
                <a:latin typeface="Arial MT"/>
                <a:cs typeface="Arial MT"/>
              </a:rPr>
              <a:t>	The schedular</a:t>
            </a:r>
            <a:r>
              <a:rPr sz="3500" spc="-45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arrange</a:t>
            </a:r>
            <a:r>
              <a:rPr sz="3500" spc="-55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the</a:t>
            </a:r>
            <a:r>
              <a:rPr sz="3500" spc="-2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timing</a:t>
            </a:r>
            <a:r>
              <a:rPr sz="3500" spc="15" dirty="0">
                <a:latin typeface="Arial MT"/>
                <a:cs typeface="Arial MT"/>
              </a:rPr>
              <a:t> </a:t>
            </a:r>
            <a:r>
              <a:rPr sz="3500" spc="-10" dirty="0">
                <a:latin typeface="Arial MT"/>
                <a:cs typeface="Arial MT"/>
              </a:rPr>
              <a:t>activity </a:t>
            </a:r>
            <a:r>
              <a:rPr sz="3500" dirty="0">
                <a:latin typeface="Arial MT"/>
                <a:cs typeface="Arial MT"/>
              </a:rPr>
              <a:t>for</a:t>
            </a:r>
            <a:r>
              <a:rPr sz="3500" spc="-1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the</a:t>
            </a:r>
            <a:r>
              <a:rPr sz="3500" spc="-15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processor</a:t>
            </a:r>
            <a:r>
              <a:rPr sz="3500" spc="-45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by</a:t>
            </a:r>
            <a:r>
              <a:rPr sz="3500" spc="5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assigning</a:t>
            </a:r>
            <a:r>
              <a:rPr sz="3500" spc="-2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priorities</a:t>
            </a:r>
            <a:r>
              <a:rPr sz="3500" spc="5" dirty="0">
                <a:latin typeface="Arial MT"/>
                <a:cs typeface="Arial MT"/>
              </a:rPr>
              <a:t> </a:t>
            </a:r>
            <a:r>
              <a:rPr sz="3500" spc="-25" dirty="0">
                <a:latin typeface="Arial MT"/>
                <a:cs typeface="Arial MT"/>
              </a:rPr>
              <a:t>to </a:t>
            </a:r>
            <a:r>
              <a:rPr sz="3500" dirty="0">
                <a:latin typeface="Arial MT"/>
                <a:cs typeface="Arial MT"/>
              </a:rPr>
              <a:t>the threads it</a:t>
            </a:r>
            <a:r>
              <a:rPr sz="3500" spc="-30" dirty="0">
                <a:latin typeface="Arial MT"/>
                <a:cs typeface="Arial MT"/>
              </a:rPr>
              <a:t> </a:t>
            </a:r>
            <a:r>
              <a:rPr sz="3500" dirty="0">
                <a:latin typeface="Arial MT"/>
                <a:cs typeface="Arial MT"/>
              </a:rPr>
              <a:t>is</a:t>
            </a:r>
            <a:r>
              <a:rPr sz="3500" spc="-35" dirty="0">
                <a:latin typeface="Arial MT"/>
                <a:cs typeface="Arial MT"/>
              </a:rPr>
              <a:t> </a:t>
            </a:r>
            <a:r>
              <a:rPr sz="3500" spc="-10" dirty="0">
                <a:latin typeface="Arial MT"/>
                <a:cs typeface="Arial MT"/>
              </a:rPr>
              <a:t>executing.</a:t>
            </a:r>
            <a:endParaRPr sz="35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253" y="381000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969135">
              <a:lnSpc>
                <a:spcPct val="100000"/>
              </a:lnSpc>
              <a:spcBef>
                <a:spcPts val="110"/>
              </a:spcBef>
            </a:pP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2395" y="1918943"/>
            <a:ext cx="8673465" cy="203962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5920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</a:tabLst>
            </a:pPr>
            <a:r>
              <a:rPr sz="3050" dirty="0">
                <a:latin typeface="Arial MT"/>
                <a:cs typeface="Arial MT"/>
              </a:rPr>
              <a:t>Create</a:t>
            </a:r>
            <a:r>
              <a:rPr sz="3050" spc="6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Threads</a:t>
            </a:r>
            <a:endParaRPr sz="3050">
              <a:latin typeface="Arial MT"/>
              <a:cs typeface="Arial MT"/>
            </a:endParaRPr>
          </a:p>
          <a:p>
            <a:pPr marL="514984">
              <a:lnSpc>
                <a:spcPct val="100000"/>
              </a:lnSpc>
              <a:spcBef>
                <a:spcPts val="640"/>
              </a:spcBef>
            </a:pPr>
            <a:r>
              <a:rPr sz="2650" dirty="0">
                <a:latin typeface="Arial MT"/>
                <a:cs typeface="Arial MT"/>
              </a:rPr>
              <a:t>–</a:t>
            </a:r>
            <a:r>
              <a:rPr sz="2650" spc="170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Ex_1_MultiThreading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(Using</a:t>
            </a:r>
            <a:r>
              <a:rPr sz="2650" spc="-7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‘extends</a:t>
            </a:r>
            <a:r>
              <a:rPr sz="2650" spc="-7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Threads’)</a:t>
            </a:r>
            <a:endParaRPr sz="2650">
              <a:latin typeface="Arial MT"/>
              <a:cs typeface="Arial MT"/>
            </a:endParaRPr>
          </a:p>
          <a:p>
            <a:pPr marL="829944" lvl="1" indent="-314960">
              <a:lnSpc>
                <a:spcPct val="100000"/>
              </a:lnSpc>
              <a:spcBef>
                <a:spcPts val="620"/>
              </a:spcBef>
              <a:buChar char="–"/>
              <a:tabLst>
                <a:tab pos="829944" algn="l"/>
              </a:tabLst>
            </a:pPr>
            <a:r>
              <a:rPr sz="2650" spc="-10" dirty="0">
                <a:latin typeface="Arial MT"/>
                <a:cs typeface="Arial MT"/>
              </a:rPr>
              <a:t>Ex_2_MultiThreading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(Using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‘extends</a:t>
            </a:r>
            <a:r>
              <a:rPr sz="2650" spc="-10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Threads’)</a:t>
            </a:r>
            <a:endParaRPr sz="2650">
              <a:latin typeface="Arial MT"/>
              <a:cs typeface="Arial MT"/>
            </a:endParaRPr>
          </a:p>
          <a:p>
            <a:pPr marL="829944" lvl="1" indent="-314960">
              <a:lnSpc>
                <a:spcPct val="100000"/>
              </a:lnSpc>
              <a:spcBef>
                <a:spcPts val="615"/>
              </a:spcBef>
              <a:buChar char="–"/>
              <a:tabLst>
                <a:tab pos="829944" algn="l"/>
              </a:tabLst>
            </a:pPr>
            <a:r>
              <a:rPr sz="2650" spc="-10" dirty="0">
                <a:latin typeface="Arial MT"/>
                <a:cs typeface="Arial MT"/>
              </a:rPr>
              <a:t>Ex_3_MultiThreading</a:t>
            </a:r>
            <a:r>
              <a:rPr sz="2650" spc="-7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(Using</a:t>
            </a:r>
            <a:r>
              <a:rPr sz="2650" spc="-114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‘implements</a:t>
            </a:r>
            <a:r>
              <a:rPr sz="2650" spc="-10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Runnable’)</a:t>
            </a:r>
            <a:endParaRPr sz="2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412" y="2218944"/>
            <a:ext cx="99060" cy="990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363" y="2127504"/>
            <a:ext cx="892397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412" y="3587496"/>
            <a:ext cx="99060" cy="990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4504" y="3496056"/>
            <a:ext cx="1665541" cy="3060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9412" y="4954523"/>
            <a:ext cx="99060" cy="990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2030" y="4863084"/>
            <a:ext cx="1718024" cy="2392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9412" y="6323076"/>
            <a:ext cx="99060" cy="990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02220" y="6231635"/>
            <a:ext cx="5453443" cy="30607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95296" y="2498792"/>
            <a:ext cx="8286750" cy="45319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26390" marR="216535" indent="-314325">
              <a:lnSpc>
                <a:spcPts val="3170"/>
              </a:lnSpc>
              <a:spcBef>
                <a:spcPts val="204"/>
              </a:spcBef>
              <a:buChar char="–"/>
              <a:tabLst>
                <a:tab pos="326390" algn="l"/>
              </a:tabLst>
            </a:pPr>
            <a:r>
              <a:rPr sz="2650" dirty="0">
                <a:latin typeface="Arial MT"/>
                <a:cs typeface="Arial MT"/>
              </a:rPr>
              <a:t>If</a:t>
            </a:r>
            <a:r>
              <a:rPr sz="2650" spc="-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task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spends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time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on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one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processor,</a:t>
            </a:r>
            <a:r>
              <a:rPr sz="2650" spc="-3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shouldn’t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spc="-25" dirty="0">
                <a:latin typeface="Arial MT"/>
                <a:cs typeface="Arial MT"/>
              </a:rPr>
              <a:t>it </a:t>
            </a:r>
            <a:r>
              <a:rPr sz="2650" dirty="0">
                <a:latin typeface="Arial MT"/>
                <a:cs typeface="Arial MT"/>
              </a:rPr>
              <a:t>take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time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t/n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on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n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processors?</a:t>
            </a:r>
            <a:endParaRPr sz="2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buFont typeface="Arial MT"/>
              <a:buChar char="–"/>
            </a:pPr>
            <a:endParaRPr sz="2650">
              <a:latin typeface="Arial MT"/>
              <a:cs typeface="Arial MT"/>
            </a:endParaRPr>
          </a:p>
          <a:p>
            <a:pPr marL="326390" marR="589280" indent="-314325">
              <a:lnSpc>
                <a:spcPts val="3170"/>
              </a:lnSpc>
              <a:buChar char="–"/>
              <a:tabLst>
                <a:tab pos="326390" algn="l"/>
              </a:tabLst>
            </a:pPr>
            <a:r>
              <a:rPr sz="2650" dirty="0">
                <a:latin typeface="Arial MT"/>
                <a:cs typeface="Arial MT"/>
              </a:rPr>
              <a:t>If</a:t>
            </a:r>
            <a:r>
              <a:rPr sz="2650" spc="-9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one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processer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is</a:t>
            </a:r>
            <a:r>
              <a:rPr sz="2650" spc="-7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busy,</a:t>
            </a:r>
            <a:r>
              <a:rPr sz="2650" spc="-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another</a:t>
            </a:r>
            <a:r>
              <a:rPr sz="2650" spc="-5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may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be</a:t>
            </a:r>
            <a:r>
              <a:rPr sz="2650" spc="-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ready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spc="-25" dirty="0">
                <a:latin typeface="Arial MT"/>
                <a:cs typeface="Arial MT"/>
              </a:rPr>
              <a:t>to </a:t>
            </a:r>
            <a:r>
              <a:rPr sz="2650" spc="-20" dirty="0">
                <a:latin typeface="Arial MT"/>
                <a:cs typeface="Arial MT"/>
              </a:rPr>
              <a:t>help</a:t>
            </a:r>
            <a:endParaRPr sz="2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85"/>
              </a:spcBef>
              <a:buFont typeface="Arial MT"/>
              <a:buChar char="–"/>
            </a:pPr>
            <a:endParaRPr sz="2650">
              <a:latin typeface="Arial MT"/>
              <a:cs typeface="Arial MT"/>
            </a:endParaRPr>
          </a:p>
          <a:p>
            <a:pPr marL="326390" marR="455295" indent="-314325">
              <a:lnSpc>
                <a:spcPts val="3170"/>
              </a:lnSpc>
              <a:spcBef>
                <a:spcPts val="5"/>
              </a:spcBef>
              <a:buChar char="–"/>
              <a:tabLst>
                <a:tab pos="326390" algn="l"/>
              </a:tabLst>
            </a:pPr>
            <a:r>
              <a:rPr sz="2650" dirty="0">
                <a:latin typeface="Arial MT"/>
                <a:cs typeface="Arial MT"/>
              </a:rPr>
              <a:t>Processors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in</a:t>
            </a:r>
            <a:r>
              <a:rPr sz="2650" spc="-13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different</a:t>
            </a:r>
            <a:r>
              <a:rPr sz="2650" spc="-114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locations</a:t>
            </a:r>
            <a:r>
              <a:rPr sz="2650" spc="-7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can</a:t>
            </a:r>
            <a:r>
              <a:rPr sz="2650" spc="-11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collaborate</a:t>
            </a:r>
            <a:r>
              <a:rPr sz="2650" spc="-90" dirty="0">
                <a:latin typeface="Arial MT"/>
                <a:cs typeface="Arial MT"/>
              </a:rPr>
              <a:t> </a:t>
            </a:r>
            <a:r>
              <a:rPr sz="2650" spc="-25" dirty="0">
                <a:latin typeface="Arial MT"/>
                <a:cs typeface="Arial MT"/>
              </a:rPr>
              <a:t>to </a:t>
            </a:r>
            <a:r>
              <a:rPr sz="2650" dirty="0">
                <a:latin typeface="Arial MT"/>
                <a:cs typeface="Arial MT"/>
              </a:rPr>
              <a:t>solve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problem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or</a:t>
            </a:r>
            <a:r>
              <a:rPr sz="2650" spc="-7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work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together</a:t>
            </a:r>
            <a:endParaRPr sz="2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–"/>
            </a:pPr>
            <a:endParaRPr sz="2650">
              <a:latin typeface="Arial MT"/>
              <a:cs typeface="Arial MT"/>
            </a:endParaRPr>
          </a:p>
          <a:p>
            <a:pPr marL="327660" indent="-314960">
              <a:lnSpc>
                <a:spcPct val="100000"/>
              </a:lnSpc>
              <a:buChar char="–"/>
              <a:tabLst>
                <a:tab pos="327660" algn="l"/>
              </a:tabLst>
            </a:pPr>
            <a:r>
              <a:rPr sz="2650" dirty="0">
                <a:latin typeface="Arial MT"/>
                <a:cs typeface="Arial MT"/>
              </a:rPr>
              <a:t>Vision,</a:t>
            </a:r>
            <a:r>
              <a:rPr sz="2650" spc="-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cognition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appear</a:t>
            </a:r>
            <a:r>
              <a:rPr sz="2650" spc="-7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to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be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highly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parallel</a:t>
            </a:r>
            <a:r>
              <a:rPr sz="2650" spc="-70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activities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4529F3-B6BF-944A-FB1C-C327CFAF4429}"/>
              </a:ext>
            </a:extLst>
          </p:cNvPr>
          <p:cNvSpPr txBox="1"/>
          <p:nvPr/>
        </p:nvSpPr>
        <p:spPr>
          <a:xfrm>
            <a:off x="462060" y="375079"/>
            <a:ext cx="9134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b="1" u="none" dirty="0">
                <a:solidFill>
                  <a:srgbClr val="000000"/>
                </a:solidFill>
                <a:latin typeface="Arial MT"/>
                <a:cs typeface="Arial MT"/>
              </a:rPr>
              <a:t>Why we</a:t>
            </a:r>
            <a:r>
              <a:rPr lang="en-MY" sz="4000" b="1" u="none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lang="en-MY" sz="4000" b="1" u="none" dirty="0">
                <a:solidFill>
                  <a:srgbClr val="000000"/>
                </a:solidFill>
                <a:latin typeface="Arial MT"/>
                <a:cs typeface="Arial MT"/>
              </a:rPr>
              <a:t>Need</a:t>
            </a:r>
            <a:r>
              <a:rPr lang="en-MY" sz="4000" b="1" u="none" spc="-10" dirty="0">
                <a:solidFill>
                  <a:srgbClr val="000000"/>
                </a:solidFill>
                <a:latin typeface="Arial MT"/>
                <a:cs typeface="Arial MT"/>
              </a:rPr>
              <a:t> Concurrent Programming?</a:t>
            </a:r>
            <a:endParaRPr lang="en-US" sz="40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3187" y="245745"/>
            <a:ext cx="7695748" cy="1232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7415" marR="5080" indent="-1312545">
              <a:lnSpc>
                <a:spcPct val="100299"/>
              </a:lnSpc>
              <a:spcBef>
                <a:spcPts val="95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Downsides</a:t>
            </a:r>
            <a:r>
              <a:rPr u="none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of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Concurrent 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2376" y="2015681"/>
            <a:ext cx="8877300" cy="16351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algn="just">
              <a:lnSpc>
                <a:spcPts val="3170"/>
              </a:lnSpc>
              <a:spcBef>
                <a:spcPts val="190"/>
              </a:spcBef>
            </a:pPr>
            <a:r>
              <a:rPr sz="2650" dirty="0">
                <a:latin typeface="Arial MT"/>
                <a:cs typeface="Arial MT"/>
              </a:rPr>
              <a:t>Concurrent</a:t>
            </a:r>
            <a:r>
              <a:rPr sz="2650" spc="1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Programming</a:t>
            </a:r>
            <a:r>
              <a:rPr sz="2650" spc="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offers</a:t>
            </a:r>
            <a:r>
              <a:rPr sz="2650" spc="114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benefits</a:t>
            </a:r>
            <a:r>
              <a:rPr sz="2650" spc="11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such</a:t>
            </a:r>
            <a:r>
              <a:rPr sz="2650" spc="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as</a:t>
            </a:r>
            <a:r>
              <a:rPr sz="2650" spc="114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improved </a:t>
            </a:r>
            <a:r>
              <a:rPr sz="2650" dirty="0">
                <a:latin typeface="Arial MT"/>
                <a:cs typeface="Arial MT"/>
              </a:rPr>
              <a:t>performance</a:t>
            </a:r>
            <a:r>
              <a:rPr sz="2650" spc="2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and</a:t>
            </a:r>
            <a:r>
              <a:rPr sz="2650" spc="2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responsiveness,</a:t>
            </a:r>
            <a:r>
              <a:rPr sz="2650" spc="2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however,</a:t>
            </a:r>
            <a:r>
              <a:rPr sz="2650" spc="27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it</a:t>
            </a:r>
            <a:r>
              <a:rPr sz="2650" spc="2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also</a:t>
            </a:r>
            <a:r>
              <a:rPr sz="2650" spc="280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comes </a:t>
            </a:r>
            <a:r>
              <a:rPr sz="2650" dirty="0">
                <a:latin typeface="Arial MT"/>
                <a:cs typeface="Arial MT"/>
              </a:rPr>
              <a:t>with</a:t>
            </a:r>
            <a:r>
              <a:rPr sz="2650" spc="5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</a:t>
            </a:r>
            <a:r>
              <a:rPr sz="2650" spc="56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set</a:t>
            </a:r>
            <a:r>
              <a:rPr sz="2650" spc="5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of</a:t>
            </a:r>
            <a:r>
              <a:rPr sz="2650" spc="55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downsides</a:t>
            </a:r>
            <a:r>
              <a:rPr sz="2650" spc="5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and</a:t>
            </a:r>
            <a:r>
              <a:rPr sz="2650" spc="5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challenges</a:t>
            </a:r>
            <a:r>
              <a:rPr sz="2650" spc="55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that</a:t>
            </a:r>
            <a:r>
              <a:rPr sz="2650" spc="580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developers </a:t>
            </a:r>
            <a:r>
              <a:rPr sz="2650" dirty="0">
                <a:latin typeface="Arial MT"/>
                <a:cs typeface="Arial MT"/>
              </a:rPr>
              <a:t>need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to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carefully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consider</a:t>
            </a:r>
            <a:r>
              <a:rPr sz="2650" spc="-7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and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address,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such</a:t>
            </a:r>
            <a:r>
              <a:rPr sz="2650" spc="-80" dirty="0">
                <a:latin typeface="Arial MT"/>
                <a:cs typeface="Arial MT"/>
              </a:rPr>
              <a:t> </a:t>
            </a:r>
            <a:r>
              <a:rPr sz="2650" spc="-25" dirty="0">
                <a:latin typeface="Arial MT"/>
                <a:cs typeface="Arial MT"/>
              </a:rPr>
              <a:t>as: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3187" y="3957827"/>
            <a:ext cx="139065" cy="21590"/>
          </a:xfrm>
          <a:custGeom>
            <a:avLst/>
            <a:gdLst/>
            <a:ahLst/>
            <a:cxnLst/>
            <a:rect l="l" t="t" r="r" b="b"/>
            <a:pathLst>
              <a:path w="139065" h="21589">
                <a:moveTo>
                  <a:pt x="138683" y="21336"/>
                </a:moveTo>
                <a:lnTo>
                  <a:pt x="0" y="21336"/>
                </a:lnTo>
                <a:lnTo>
                  <a:pt x="0" y="0"/>
                </a:lnTo>
                <a:lnTo>
                  <a:pt x="138683" y="0"/>
                </a:lnTo>
                <a:lnTo>
                  <a:pt x="138683" y="21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1704" y="3817620"/>
            <a:ext cx="1586909" cy="3063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3187" y="4440935"/>
            <a:ext cx="139065" cy="21590"/>
          </a:xfrm>
          <a:custGeom>
            <a:avLst/>
            <a:gdLst/>
            <a:ahLst/>
            <a:cxnLst/>
            <a:rect l="l" t="t" r="r" b="b"/>
            <a:pathLst>
              <a:path w="139065" h="21589">
                <a:moveTo>
                  <a:pt x="138683" y="21336"/>
                </a:moveTo>
                <a:lnTo>
                  <a:pt x="0" y="21336"/>
                </a:lnTo>
                <a:lnTo>
                  <a:pt x="0" y="0"/>
                </a:lnTo>
                <a:lnTo>
                  <a:pt x="138683" y="0"/>
                </a:lnTo>
                <a:lnTo>
                  <a:pt x="138683" y="21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1704" y="4308348"/>
            <a:ext cx="1789601" cy="2987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11080" y="4311396"/>
            <a:ext cx="663511" cy="29554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123187" y="4922520"/>
            <a:ext cx="139065" cy="21590"/>
          </a:xfrm>
          <a:custGeom>
            <a:avLst/>
            <a:gdLst/>
            <a:ahLst/>
            <a:cxnLst/>
            <a:rect l="l" t="t" r="r" b="b"/>
            <a:pathLst>
              <a:path w="139065" h="21589">
                <a:moveTo>
                  <a:pt x="138683" y="21335"/>
                </a:moveTo>
                <a:lnTo>
                  <a:pt x="0" y="21335"/>
                </a:lnTo>
                <a:lnTo>
                  <a:pt x="0" y="0"/>
                </a:lnTo>
                <a:lnTo>
                  <a:pt x="138683" y="0"/>
                </a:lnTo>
                <a:lnTo>
                  <a:pt x="138683" y="21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0180" y="4782311"/>
            <a:ext cx="2276665" cy="3063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0" y="4782311"/>
            <a:ext cx="1344072" cy="23926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123187" y="5405628"/>
            <a:ext cx="139065" cy="21590"/>
          </a:xfrm>
          <a:custGeom>
            <a:avLst/>
            <a:gdLst/>
            <a:ahLst/>
            <a:cxnLst/>
            <a:rect l="l" t="t" r="r" b="b"/>
            <a:pathLst>
              <a:path w="139065" h="21589">
                <a:moveTo>
                  <a:pt x="138683" y="21335"/>
                </a:moveTo>
                <a:lnTo>
                  <a:pt x="0" y="21335"/>
                </a:lnTo>
                <a:lnTo>
                  <a:pt x="0" y="0"/>
                </a:lnTo>
                <a:lnTo>
                  <a:pt x="138683" y="0"/>
                </a:lnTo>
                <a:lnTo>
                  <a:pt x="138683" y="21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0941" y="5265420"/>
            <a:ext cx="1422654" cy="23926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123187" y="5888735"/>
            <a:ext cx="139065" cy="21590"/>
          </a:xfrm>
          <a:custGeom>
            <a:avLst/>
            <a:gdLst/>
            <a:ahLst/>
            <a:cxnLst/>
            <a:rect l="l" t="t" r="r" b="b"/>
            <a:pathLst>
              <a:path w="139065" h="21589">
                <a:moveTo>
                  <a:pt x="138683" y="21335"/>
                </a:moveTo>
                <a:lnTo>
                  <a:pt x="0" y="21335"/>
                </a:lnTo>
                <a:lnTo>
                  <a:pt x="0" y="0"/>
                </a:lnTo>
                <a:lnTo>
                  <a:pt x="138683" y="0"/>
                </a:lnTo>
                <a:lnTo>
                  <a:pt x="138683" y="21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1132" y="5759196"/>
            <a:ext cx="1285303" cy="2286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8828" y="5759196"/>
            <a:ext cx="1821751" cy="295545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123187" y="6371844"/>
            <a:ext cx="139065" cy="21590"/>
          </a:xfrm>
          <a:custGeom>
            <a:avLst/>
            <a:gdLst/>
            <a:ahLst/>
            <a:cxnLst/>
            <a:rect l="l" t="t" r="r" b="b"/>
            <a:pathLst>
              <a:path w="139065" h="21589">
                <a:moveTo>
                  <a:pt x="138683" y="21335"/>
                </a:moveTo>
                <a:lnTo>
                  <a:pt x="0" y="21335"/>
                </a:lnTo>
                <a:lnTo>
                  <a:pt x="0" y="0"/>
                </a:lnTo>
                <a:lnTo>
                  <a:pt x="138683" y="0"/>
                </a:lnTo>
                <a:lnTo>
                  <a:pt x="138683" y="21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2559" y="6242303"/>
            <a:ext cx="1045464" cy="295546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2552700" y="6231635"/>
            <a:ext cx="515620" cy="239395"/>
          </a:xfrm>
          <a:custGeom>
            <a:avLst/>
            <a:gdLst/>
            <a:ahLst/>
            <a:cxnLst/>
            <a:rect l="l" t="t" r="r" b="b"/>
            <a:pathLst>
              <a:path w="515619" h="239395">
                <a:moveTo>
                  <a:pt x="35718" y="120396"/>
                </a:moveTo>
                <a:lnTo>
                  <a:pt x="7619" y="120396"/>
                </a:lnTo>
                <a:lnTo>
                  <a:pt x="7619" y="95059"/>
                </a:lnTo>
                <a:lnTo>
                  <a:pt x="42576" y="79248"/>
                </a:lnTo>
                <a:lnTo>
                  <a:pt x="71961" y="73151"/>
                </a:lnTo>
                <a:lnTo>
                  <a:pt x="78295" y="73151"/>
                </a:lnTo>
                <a:lnTo>
                  <a:pt x="119443" y="88582"/>
                </a:lnTo>
                <a:lnTo>
                  <a:pt x="122212" y="94583"/>
                </a:lnTo>
                <a:lnTo>
                  <a:pt x="56864" y="94583"/>
                </a:lnTo>
                <a:lnTo>
                  <a:pt x="51149" y="96488"/>
                </a:lnTo>
                <a:lnTo>
                  <a:pt x="46767" y="100107"/>
                </a:lnTo>
                <a:lnTo>
                  <a:pt x="42386" y="103918"/>
                </a:lnTo>
                <a:lnTo>
                  <a:pt x="38671" y="110680"/>
                </a:lnTo>
                <a:lnTo>
                  <a:pt x="35718" y="120396"/>
                </a:lnTo>
                <a:close/>
              </a:path>
              <a:path w="515619" h="239395">
                <a:moveTo>
                  <a:pt x="43815" y="239267"/>
                </a:moveTo>
                <a:lnTo>
                  <a:pt x="35242" y="239267"/>
                </a:lnTo>
                <a:lnTo>
                  <a:pt x="27527" y="237648"/>
                </a:lnTo>
                <a:lnTo>
                  <a:pt x="14192" y="230790"/>
                </a:lnTo>
                <a:lnTo>
                  <a:pt x="9048" y="225933"/>
                </a:lnTo>
                <a:lnTo>
                  <a:pt x="5429" y="219646"/>
                </a:lnTo>
                <a:lnTo>
                  <a:pt x="2422" y="214503"/>
                </a:lnTo>
                <a:lnTo>
                  <a:pt x="1762" y="213264"/>
                </a:lnTo>
                <a:lnTo>
                  <a:pt x="0" y="206216"/>
                </a:lnTo>
                <a:lnTo>
                  <a:pt x="36" y="197643"/>
                </a:lnTo>
                <a:lnTo>
                  <a:pt x="24288" y="159067"/>
                </a:lnTo>
                <a:lnTo>
                  <a:pt x="72053" y="145231"/>
                </a:lnTo>
                <a:lnTo>
                  <a:pt x="92964" y="143446"/>
                </a:lnTo>
                <a:lnTo>
                  <a:pt x="92964" y="125444"/>
                </a:lnTo>
                <a:lnTo>
                  <a:pt x="71151" y="94583"/>
                </a:lnTo>
                <a:lnTo>
                  <a:pt x="122212" y="94583"/>
                </a:lnTo>
                <a:lnTo>
                  <a:pt x="128041" y="148435"/>
                </a:lnTo>
                <a:lnTo>
                  <a:pt x="128061" y="163067"/>
                </a:lnTo>
                <a:lnTo>
                  <a:pt x="92964" y="163067"/>
                </a:lnTo>
                <a:lnTo>
                  <a:pt x="79605" y="163533"/>
                </a:lnTo>
                <a:lnTo>
                  <a:pt x="38754" y="180284"/>
                </a:lnTo>
                <a:lnTo>
                  <a:pt x="35051" y="193834"/>
                </a:lnTo>
                <a:lnTo>
                  <a:pt x="35051" y="199834"/>
                </a:lnTo>
                <a:lnTo>
                  <a:pt x="36099" y="204311"/>
                </a:lnTo>
                <a:lnTo>
                  <a:pt x="38195" y="207264"/>
                </a:lnTo>
                <a:lnTo>
                  <a:pt x="40290" y="210312"/>
                </a:lnTo>
                <a:lnTo>
                  <a:pt x="42862" y="212407"/>
                </a:lnTo>
                <a:lnTo>
                  <a:pt x="45519" y="213264"/>
                </a:lnTo>
                <a:lnTo>
                  <a:pt x="48767" y="214503"/>
                </a:lnTo>
                <a:lnTo>
                  <a:pt x="52482" y="214979"/>
                </a:lnTo>
                <a:lnTo>
                  <a:pt x="95562" y="214979"/>
                </a:lnTo>
                <a:lnTo>
                  <a:pt x="95546" y="215472"/>
                </a:lnTo>
                <a:lnTo>
                  <a:pt x="58715" y="237648"/>
                </a:lnTo>
                <a:lnTo>
                  <a:pt x="51332" y="238873"/>
                </a:lnTo>
                <a:lnTo>
                  <a:pt x="43815" y="239267"/>
                </a:lnTo>
                <a:close/>
              </a:path>
              <a:path w="515619" h="239395">
                <a:moveTo>
                  <a:pt x="95562" y="214979"/>
                </a:moveTo>
                <a:lnTo>
                  <a:pt x="63817" y="214979"/>
                </a:lnTo>
                <a:lnTo>
                  <a:pt x="70272" y="213264"/>
                </a:lnTo>
                <a:lnTo>
                  <a:pt x="70076" y="213264"/>
                </a:lnTo>
                <a:lnTo>
                  <a:pt x="80962" y="206883"/>
                </a:lnTo>
                <a:lnTo>
                  <a:pt x="85343" y="202787"/>
                </a:lnTo>
                <a:lnTo>
                  <a:pt x="88391" y="197643"/>
                </a:lnTo>
                <a:lnTo>
                  <a:pt x="91440" y="192690"/>
                </a:lnTo>
                <a:lnTo>
                  <a:pt x="92964" y="187737"/>
                </a:lnTo>
                <a:lnTo>
                  <a:pt x="92964" y="163067"/>
                </a:lnTo>
                <a:lnTo>
                  <a:pt x="128061" y="163067"/>
                </a:lnTo>
                <a:lnTo>
                  <a:pt x="128144" y="202787"/>
                </a:lnTo>
                <a:lnTo>
                  <a:pt x="128206" y="204882"/>
                </a:lnTo>
                <a:lnTo>
                  <a:pt x="128335" y="206216"/>
                </a:lnTo>
                <a:lnTo>
                  <a:pt x="128436" y="207264"/>
                </a:lnTo>
                <a:lnTo>
                  <a:pt x="128492" y="207835"/>
                </a:lnTo>
                <a:lnTo>
                  <a:pt x="128934" y="210312"/>
                </a:lnTo>
                <a:lnTo>
                  <a:pt x="129362" y="212407"/>
                </a:lnTo>
                <a:lnTo>
                  <a:pt x="129461" y="212884"/>
                </a:lnTo>
                <a:lnTo>
                  <a:pt x="95631" y="212884"/>
                </a:lnTo>
                <a:lnTo>
                  <a:pt x="95562" y="214979"/>
                </a:lnTo>
                <a:close/>
              </a:path>
              <a:path w="515619" h="239395">
                <a:moveTo>
                  <a:pt x="95546" y="215472"/>
                </a:moveTo>
                <a:lnTo>
                  <a:pt x="95631" y="212884"/>
                </a:lnTo>
                <a:lnTo>
                  <a:pt x="98106" y="212884"/>
                </a:lnTo>
                <a:lnTo>
                  <a:pt x="95546" y="215472"/>
                </a:lnTo>
                <a:close/>
              </a:path>
              <a:path w="515619" h="239395">
                <a:moveTo>
                  <a:pt x="146494" y="236219"/>
                </a:moveTo>
                <a:lnTo>
                  <a:pt x="94868" y="236219"/>
                </a:lnTo>
                <a:lnTo>
                  <a:pt x="94977" y="232886"/>
                </a:lnTo>
                <a:lnTo>
                  <a:pt x="95095" y="229280"/>
                </a:lnTo>
                <a:lnTo>
                  <a:pt x="95204" y="225933"/>
                </a:lnTo>
                <a:lnTo>
                  <a:pt x="95243" y="224754"/>
                </a:lnTo>
                <a:lnTo>
                  <a:pt x="95332" y="222027"/>
                </a:lnTo>
                <a:lnTo>
                  <a:pt x="95420" y="219317"/>
                </a:lnTo>
                <a:lnTo>
                  <a:pt x="95546" y="215472"/>
                </a:lnTo>
                <a:lnTo>
                  <a:pt x="98106" y="212884"/>
                </a:lnTo>
                <a:lnTo>
                  <a:pt x="129461" y="212884"/>
                </a:lnTo>
                <a:lnTo>
                  <a:pt x="129540" y="213264"/>
                </a:lnTo>
                <a:lnTo>
                  <a:pt x="130111" y="214979"/>
                </a:lnTo>
                <a:lnTo>
                  <a:pt x="134503" y="219646"/>
                </a:lnTo>
                <a:lnTo>
                  <a:pt x="136302" y="220694"/>
                </a:lnTo>
                <a:lnTo>
                  <a:pt x="140208" y="222027"/>
                </a:lnTo>
                <a:lnTo>
                  <a:pt x="146494" y="223646"/>
                </a:lnTo>
                <a:lnTo>
                  <a:pt x="146494" y="236219"/>
                </a:lnTo>
                <a:close/>
              </a:path>
              <a:path w="515619" h="239395">
                <a:moveTo>
                  <a:pt x="238867" y="102108"/>
                </a:moveTo>
                <a:lnTo>
                  <a:pt x="216312" y="102108"/>
                </a:lnTo>
                <a:lnTo>
                  <a:pt x="216342" y="101631"/>
                </a:lnTo>
                <a:lnTo>
                  <a:pt x="246792" y="76295"/>
                </a:lnTo>
                <a:lnTo>
                  <a:pt x="257651" y="73247"/>
                </a:lnTo>
                <a:lnTo>
                  <a:pt x="269843" y="73247"/>
                </a:lnTo>
                <a:lnTo>
                  <a:pt x="306228" y="98393"/>
                </a:lnTo>
                <a:lnTo>
                  <a:pt x="306492" y="99155"/>
                </a:lnTo>
                <a:lnTo>
                  <a:pt x="247078" y="99155"/>
                </a:lnTo>
                <a:lnTo>
                  <a:pt x="243840" y="99917"/>
                </a:lnTo>
                <a:lnTo>
                  <a:pt x="240696" y="101250"/>
                </a:lnTo>
                <a:lnTo>
                  <a:pt x="238867" y="102108"/>
                </a:lnTo>
                <a:close/>
              </a:path>
              <a:path w="515619" h="239395">
                <a:moveTo>
                  <a:pt x="235934" y="236219"/>
                </a:moveTo>
                <a:lnTo>
                  <a:pt x="165449" y="236219"/>
                </a:lnTo>
                <a:lnTo>
                  <a:pt x="165449" y="223361"/>
                </a:lnTo>
                <a:lnTo>
                  <a:pt x="170973" y="221742"/>
                </a:lnTo>
                <a:lnTo>
                  <a:pt x="174402" y="220503"/>
                </a:lnTo>
                <a:lnTo>
                  <a:pt x="176010" y="219551"/>
                </a:lnTo>
                <a:lnTo>
                  <a:pt x="177260" y="218884"/>
                </a:lnTo>
                <a:lnTo>
                  <a:pt x="178498" y="217836"/>
                </a:lnTo>
                <a:lnTo>
                  <a:pt x="179450" y="216408"/>
                </a:lnTo>
                <a:lnTo>
                  <a:pt x="180498" y="215074"/>
                </a:lnTo>
                <a:lnTo>
                  <a:pt x="181356" y="212693"/>
                </a:lnTo>
                <a:lnTo>
                  <a:pt x="181927" y="209359"/>
                </a:lnTo>
                <a:lnTo>
                  <a:pt x="182599" y="206025"/>
                </a:lnTo>
                <a:lnTo>
                  <a:pt x="182523" y="105061"/>
                </a:lnTo>
                <a:lnTo>
                  <a:pt x="182403" y="102584"/>
                </a:lnTo>
                <a:lnTo>
                  <a:pt x="181924" y="100393"/>
                </a:lnTo>
                <a:lnTo>
                  <a:pt x="181820" y="99917"/>
                </a:lnTo>
                <a:lnTo>
                  <a:pt x="181736" y="99536"/>
                </a:lnTo>
                <a:lnTo>
                  <a:pt x="163258" y="89439"/>
                </a:lnTo>
                <a:lnTo>
                  <a:pt x="163258" y="76295"/>
                </a:lnTo>
                <a:lnTo>
                  <a:pt x="165573" y="76295"/>
                </a:lnTo>
                <a:lnTo>
                  <a:pt x="204882" y="74676"/>
                </a:lnTo>
                <a:lnTo>
                  <a:pt x="218027" y="74676"/>
                </a:lnTo>
                <a:lnTo>
                  <a:pt x="216575" y="97896"/>
                </a:lnTo>
                <a:lnTo>
                  <a:pt x="213074" y="101631"/>
                </a:lnTo>
                <a:lnTo>
                  <a:pt x="216312" y="102108"/>
                </a:lnTo>
                <a:lnTo>
                  <a:pt x="238867" y="102108"/>
                </a:lnTo>
                <a:lnTo>
                  <a:pt x="237852" y="102584"/>
                </a:lnTo>
                <a:lnTo>
                  <a:pt x="236308" y="103632"/>
                </a:lnTo>
                <a:lnTo>
                  <a:pt x="217932" y="128206"/>
                </a:lnTo>
                <a:lnTo>
                  <a:pt x="217932" y="202501"/>
                </a:lnTo>
                <a:lnTo>
                  <a:pt x="222980" y="218884"/>
                </a:lnTo>
                <a:lnTo>
                  <a:pt x="224790" y="220313"/>
                </a:lnTo>
                <a:lnTo>
                  <a:pt x="228808" y="221742"/>
                </a:lnTo>
                <a:lnTo>
                  <a:pt x="235934" y="223552"/>
                </a:lnTo>
                <a:lnTo>
                  <a:pt x="235934" y="236219"/>
                </a:lnTo>
                <a:close/>
              </a:path>
              <a:path w="515619" h="239395">
                <a:moveTo>
                  <a:pt x="216312" y="102108"/>
                </a:moveTo>
                <a:lnTo>
                  <a:pt x="213074" y="101631"/>
                </a:lnTo>
                <a:lnTo>
                  <a:pt x="216575" y="97896"/>
                </a:lnTo>
                <a:lnTo>
                  <a:pt x="216449" y="99917"/>
                </a:lnTo>
                <a:lnTo>
                  <a:pt x="216342" y="101631"/>
                </a:lnTo>
                <a:lnTo>
                  <a:pt x="216312" y="102108"/>
                </a:lnTo>
                <a:close/>
              </a:path>
              <a:path w="515619" h="239395">
                <a:moveTo>
                  <a:pt x="328993" y="236219"/>
                </a:moveTo>
                <a:lnTo>
                  <a:pt x="258317" y="236219"/>
                </a:lnTo>
                <a:lnTo>
                  <a:pt x="258317" y="223361"/>
                </a:lnTo>
                <a:lnTo>
                  <a:pt x="263842" y="221742"/>
                </a:lnTo>
                <a:lnTo>
                  <a:pt x="267271" y="220503"/>
                </a:lnTo>
                <a:lnTo>
                  <a:pt x="268890" y="219551"/>
                </a:lnTo>
                <a:lnTo>
                  <a:pt x="270224" y="218884"/>
                </a:lnTo>
                <a:lnTo>
                  <a:pt x="271462" y="217836"/>
                </a:lnTo>
                <a:lnTo>
                  <a:pt x="272415" y="216408"/>
                </a:lnTo>
                <a:lnTo>
                  <a:pt x="273462" y="215074"/>
                </a:lnTo>
                <a:lnTo>
                  <a:pt x="274336" y="212693"/>
                </a:lnTo>
                <a:lnTo>
                  <a:pt x="274910" y="209359"/>
                </a:lnTo>
                <a:lnTo>
                  <a:pt x="275568" y="206025"/>
                </a:lnTo>
                <a:lnTo>
                  <a:pt x="275760" y="202501"/>
                </a:lnTo>
                <a:lnTo>
                  <a:pt x="275843" y="144303"/>
                </a:lnTo>
                <a:lnTo>
                  <a:pt x="275653" y="137636"/>
                </a:lnTo>
                <a:lnTo>
                  <a:pt x="275177" y="131540"/>
                </a:lnTo>
                <a:lnTo>
                  <a:pt x="274796" y="125539"/>
                </a:lnTo>
                <a:lnTo>
                  <a:pt x="274129" y="120681"/>
                </a:lnTo>
                <a:lnTo>
                  <a:pt x="272224" y="113347"/>
                </a:lnTo>
                <a:lnTo>
                  <a:pt x="271113" y="110490"/>
                </a:lnTo>
                <a:lnTo>
                  <a:pt x="269843" y="108585"/>
                </a:lnTo>
                <a:lnTo>
                  <a:pt x="268605" y="106680"/>
                </a:lnTo>
                <a:lnTo>
                  <a:pt x="256793" y="99536"/>
                </a:lnTo>
                <a:lnTo>
                  <a:pt x="256488" y="99536"/>
                </a:lnTo>
                <a:lnTo>
                  <a:pt x="254126" y="99155"/>
                </a:lnTo>
                <a:lnTo>
                  <a:pt x="306492" y="99155"/>
                </a:lnTo>
                <a:lnTo>
                  <a:pt x="308038" y="103632"/>
                </a:lnTo>
                <a:lnTo>
                  <a:pt x="310324" y="115824"/>
                </a:lnTo>
                <a:lnTo>
                  <a:pt x="310896" y="123253"/>
                </a:lnTo>
                <a:lnTo>
                  <a:pt x="310960" y="202501"/>
                </a:lnTo>
                <a:lnTo>
                  <a:pt x="311086" y="206025"/>
                </a:lnTo>
                <a:lnTo>
                  <a:pt x="311848" y="212217"/>
                </a:lnTo>
                <a:lnTo>
                  <a:pt x="312515" y="214503"/>
                </a:lnTo>
                <a:lnTo>
                  <a:pt x="313372" y="215931"/>
                </a:lnTo>
                <a:lnTo>
                  <a:pt x="314229" y="217455"/>
                </a:lnTo>
                <a:lnTo>
                  <a:pt x="315372" y="218694"/>
                </a:lnTo>
                <a:lnTo>
                  <a:pt x="316896" y="219551"/>
                </a:lnTo>
                <a:lnTo>
                  <a:pt x="318420" y="220503"/>
                </a:lnTo>
                <a:lnTo>
                  <a:pt x="321971" y="221742"/>
                </a:lnTo>
                <a:lnTo>
                  <a:pt x="321798" y="221742"/>
                </a:lnTo>
                <a:lnTo>
                  <a:pt x="328635" y="223552"/>
                </a:lnTo>
                <a:lnTo>
                  <a:pt x="328993" y="223552"/>
                </a:lnTo>
                <a:lnTo>
                  <a:pt x="328993" y="236219"/>
                </a:lnTo>
                <a:close/>
              </a:path>
              <a:path w="515619" h="239395">
                <a:moveTo>
                  <a:pt x="495300" y="80010"/>
                </a:moveTo>
                <a:lnTo>
                  <a:pt x="460248" y="80010"/>
                </a:lnTo>
                <a:lnTo>
                  <a:pt x="460248" y="40481"/>
                </a:lnTo>
                <a:lnTo>
                  <a:pt x="459867" y="32670"/>
                </a:lnTo>
                <a:lnTo>
                  <a:pt x="439483" y="14858"/>
                </a:lnTo>
                <a:lnTo>
                  <a:pt x="439483" y="1714"/>
                </a:lnTo>
                <a:lnTo>
                  <a:pt x="483659" y="0"/>
                </a:lnTo>
                <a:lnTo>
                  <a:pt x="495300" y="0"/>
                </a:lnTo>
                <a:lnTo>
                  <a:pt x="495300" y="80010"/>
                </a:lnTo>
                <a:close/>
              </a:path>
              <a:path w="515619" h="239395">
                <a:moveTo>
                  <a:pt x="417766" y="239267"/>
                </a:moveTo>
                <a:lnTo>
                  <a:pt x="410527" y="239267"/>
                </a:lnTo>
                <a:lnTo>
                  <a:pt x="397259" y="237961"/>
                </a:lnTo>
                <a:lnTo>
                  <a:pt x="360562" y="206573"/>
                </a:lnTo>
                <a:lnTo>
                  <a:pt x="352043" y="157924"/>
                </a:lnTo>
                <a:lnTo>
                  <a:pt x="352651" y="144849"/>
                </a:lnTo>
                <a:lnTo>
                  <a:pt x="367117" y="102489"/>
                </a:lnTo>
                <a:lnTo>
                  <a:pt x="396996" y="78630"/>
                </a:lnTo>
                <a:lnTo>
                  <a:pt x="425767" y="73151"/>
                </a:lnTo>
                <a:lnTo>
                  <a:pt x="431957" y="73151"/>
                </a:lnTo>
                <a:lnTo>
                  <a:pt x="460248" y="80010"/>
                </a:lnTo>
                <a:lnTo>
                  <a:pt x="495300" y="80010"/>
                </a:lnTo>
                <a:lnTo>
                  <a:pt x="495300" y="91440"/>
                </a:lnTo>
                <a:lnTo>
                  <a:pt x="428053" y="91440"/>
                </a:lnTo>
                <a:lnTo>
                  <a:pt x="419607" y="92458"/>
                </a:lnTo>
                <a:lnTo>
                  <a:pt x="392644" y="126087"/>
                </a:lnTo>
                <a:lnTo>
                  <a:pt x="390143" y="152876"/>
                </a:lnTo>
                <a:lnTo>
                  <a:pt x="390660" y="167306"/>
                </a:lnTo>
                <a:lnTo>
                  <a:pt x="402808" y="204978"/>
                </a:lnTo>
                <a:lnTo>
                  <a:pt x="421576" y="213360"/>
                </a:lnTo>
                <a:lnTo>
                  <a:pt x="461774" y="213360"/>
                </a:lnTo>
                <a:lnTo>
                  <a:pt x="461729" y="214003"/>
                </a:lnTo>
                <a:lnTo>
                  <a:pt x="458899" y="217360"/>
                </a:lnTo>
                <a:lnTo>
                  <a:pt x="453390" y="222599"/>
                </a:lnTo>
                <a:lnTo>
                  <a:pt x="448056" y="226409"/>
                </a:lnTo>
                <a:lnTo>
                  <a:pt x="442722" y="230314"/>
                </a:lnTo>
                <a:lnTo>
                  <a:pt x="437007" y="233457"/>
                </a:lnTo>
                <a:lnTo>
                  <a:pt x="430720" y="235743"/>
                </a:lnTo>
                <a:lnTo>
                  <a:pt x="424433" y="238125"/>
                </a:lnTo>
                <a:lnTo>
                  <a:pt x="417766" y="239267"/>
                </a:lnTo>
                <a:close/>
              </a:path>
              <a:path w="515619" h="239395">
                <a:moveTo>
                  <a:pt x="461774" y="213360"/>
                </a:moveTo>
                <a:lnTo>
                  <a:pt x="427053" y="213360"/>
                </a:lnTo>
                <a:lnTo>
                  <a:pt x="429767" y="213074"/>
                </a:lnTo>
                <a:lnTo>
                  <a:pt x="432625" y="212312"/>
                </a:lnTo>
                <a:lnTo>
                  <a:pt x="435483" y="211645"/>
                </a:lnTo>
                <a:lnTo>
                  <a:pt x="438340" y="210502"/>
                </a:lnTo>
                <a:lnTo>
                  <a:pt x="441102" y="208787"/>
                </a:lnTo>
                <a:lnTo>
                  <a:pt x="443960" y="207264"/>
                </a:lnTo>
                <a:lnTo>
                  <a:pt x="446817" y="204978"/>
                </a:lnTo>
                <a:lnTo>
                  <a:pt x="449770" y="201930"/>
                </a:lnTo>
                <a:lnTo>
                  <a:pt x="452723" y="199072"/>
                </a:lnTo>
                <a:lnTo>
                  <a:pt x="460248" y="129158"/>
                </a:lnTo>
                <a:lnTo>
                  <a:pt x="459962" y="122586"/>
                </a:lnTo>
                <a:lnTo>
                  <a:pt x="458438" y="112680"/>
                </a:lnTo>
                <a:lnTo>
                  <a:pt x="457295" y="108680"/>
                </a:lnTo>
                <a:lnTo>
                  <a:pt x="455675" y="105537"/>
                </a:lnTo>
                <a:lnTo>
                  <a:pt x="454151" y="102489"/>
                </a:lnTo>
                <a:lnTo>
                  <a:pt x="432152" y="91440"/>
                </a:lnTo>
                <a:lnTo>
                  <a:pt x="495300" y="91440"/>
                </a:lnTo>
                <a:lnTo>
                  <a:pt x="495399" y="201930"/>
                </a:lnTo>
                <a:lnTo>
                  <a:pt x="495507" y="204978"/>
                </a:lnTo>
                <a:lnTo>
                  <a:pt x="495843" y="208787"/>
                </a:lnTo>
                <a:lnTo>
                  <a:pt x="495926" y="209728"/>
                </a:lnTo>
                <a:lnTo>
                  <a:pt x="496011" y="210692"/>
                </a:lnTo>
                <a:lnTo>
                  <a:pt x="461962" y="210692"/>
                </a:lnTo>
                <a:lnTo>
                  <a:pt x="461836" y="212486"/>
                </a:lnTo>
                <a:lnTo>
                  <a:pt x="461774" y="213360"/>
                </a:lnTo>
                <a:close/>
              </a:path>
              <a:path w="515619" h="239395">
                <a:moveTo>
                  <a:pt x="461729" y="214003"/>
                </a:moveTo>
                <a:lnTo>
                  <a:pt x="461836" y="212486"/>
                </a:lnTo>
                <a:lnTo>
                  <a:pt x="461962" y="210692"/>
                </a:lnTo>
                <a:lnTo>
                  <a:pt x="464519" y="210692"/>
                </a:lnTo>
                <a:lnTo>
                  <a:pt x="461729" y="214003"/>
                </a:lnTo>
                <a:close/>
              </a:path>
              <a:path w="515619" h="239395">
                <a:moveTo>
                  <a:pt x="472725" y="237744"/>
                </a:moveTo>
                <a:lnTo>
                  <a:pt x="460057" y="237744"/>
                </a:lnTo>
                <a:lnTo>
                  <a:pt x="461620" y="215550"/>
                </a:lnTo>
                <a:lnTo>
                  <a:pt x="461729" y="214003"/>
                </a:lnTo>
                <a:lnTo>
                  <a:pt x="464519" y="210692"/>
                </a:lnTo>
                <a:lnTo>
                  <a:pt x="496011" y="210692"/>
                </a:lnTo>
                <a:lnTo>
                  <a:pt x="496061" y="211264"/>
                </a:lnTo>
                <a:lnTo>
                  <a:pt x="496464" y="213074"/>
                </a:lnTo>
                <a:lnTo>
                  <a:pt x="501396" y="219646"/>
                </a:lnTo>
                <a:lnTo>
                  <a:pt x="503110" y="220694"/>
                </a:lnTo>
                <a:lnTo>
                  <a:pt x="507682" y="221932"/>
                </a:lnTo>
                <a:lnTo>
                  <a:pt x="515016" y="223361"/>
                </a:lnTo>
                <a:lnTo>
                  <a:pt x="515016" y="236029"/>
                </a:lnTo>
                <a:lnTo>
                  <a:pt x="472725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61538" y="6231635"/>
            <a:ext cx="1492758" cy="306214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123187" y="6854952"/>
            <a:ext cx="139065" cy="21590"/>
          </a:xfrm>
          <a:custGeom>
            <a:avLst/>
            <a:gdLst/>
            <a:ahLst/>
            <a:cxnLst/>
            <a:rect l="l" t="t" r="r" b="b"/>
            <a:pathLst>
              <a:path w="139065" h="21590">
                <a:moveTo>
                  <a:pt x="138683" y="21335"/>
                </a:moveTo>
                <a:lnTo>
                  <a:pt x="0" y="21335"/>
                </a:lnTo>
                <a:lnTo>
                  <a:pt x="0" y="0"/>
                </a:lnTo>
                <a:lnTo>
                  <a:pt x="138683" y="0"/>
                </a:lnTo>
                <a:lnTo>
                  <a:pt x="138683" y="21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41132" y="6714744"/>
            <a:ext cx="1491468" cy="3063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1326" y="381000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971039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Summary</a:t>
            </a:r>
            <a:r>
              <a:rPr u="none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Point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2376" y="2015681"/>
            <a:ext cx="8789670" cy="413067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90525" marR="5080" indent="-378460">
              <a:lnSpc>
                <a:spcPts val="3170"/>
              </a:lnSpc>
              <a:spcBef>
                <a:spcPts val="204"/>
              </a:spcBef>
              <a:buFont typeface="Arial MT"/>
              <a:buChar char="•"/>
              <a:tabLst>
                <a:tab pos="390525" algn="l"/>
              </a:tabLst>
            </a:pPr>
            <a:r>
              <a:rPr sz="2650" b="1" dirty="0">
                <a:latin typeface="Arial"/>
                <a:cs typeface="Arial"/>
              </a:rPr>
              <a:t>Concurrency</a:t>
            </a:r>
            <a:r>
              <a:rPr sz="2650" dirty="0">
                <a:latin typeface="Arial MT"/>
                <a:cs typeface="Arial MT"/>
              </a:rPr>
              <a:t>: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At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least</a:t>
            </a:r>
            <a:r>
              <a:rPr sz="2650" spc="-7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two</a:t>
            </a:r>
            <a:r>
              <a:rPr sz="2650" spc="-10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tasks</a:t>
            </a:r>
            <a:r>
              <a:rPr sz="2650" spc="-10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are</a:t>
            </a:r>
            <a:r>
              <a:rPr sz="2650" spc="-7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making</a:t>
            </a:r>
            <a:r>
              <a:rPr sz="2650" spc="-7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progress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spc="-25" dirty="0">
                <a:latin typeface="Arial MT"/>
                <a:cs typeface="Arial MT"/>
              </a:rPr>
              <a:t>at </a:t>
            </a:r>
            <a:r>
              <a:rPr sz="2650" dirty="0">
                <a:latin typeface="Arial MT"/>
                <a:cs typeface="Arial MT"/>
              </a:rPr>
              <a:t>the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same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time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frame.</a:t>
            </a:r>
            <a:endParaRPr sz="2650">
              <a:latin typeface="Arial MT"/>
              <a:cs typeface="Arial MT"/>
            </a:endParaRPr>
          </a:p>
          <a:p>
            <a:pPr marL="830580" lvl="1" indent="-315595">
              <a:lnSpc>
                <a:spcPct val="100000"/>
              </a:lnSpc>
              <a:spcBef>
                <a:spcPts val="425"/>
              </a:spcBef>
              <a:buChar char="–"/>
              <a:tabLst>
                <a:tab pos="830580" algn="l"/>
              </a:tabLst>
            </a:pP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necessarily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same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time</a:t>
            </a:r>
            <a:endParaRPr sz="2200">
              <a:latin typeface="Arial MT"/>
              <a:cs typeface="Arial MT"/>
            </a:endParaRPr>
          </a:p>
          <a:p>
            <a:pPr marL="830580" lvl="1" indent="-315595">
              <a:lnSpc>
                <a:spcPct val="100000"/>
              </a:lnSpc>
              <a:spcBef>
                <a:spcPts val="530"/>
              </a:spcBef>
              <a:buChar char="–"/>
              <a:tabLst>
                <a:tab pos="830580" algn="l"/>
              </a:tabLst>
            </a:pPr>
            <a:r>
              <a:rPr sz="2200" dirty="0">
                <a:latin typeface="Arial MT"/>
                <a:cs typeface="Arial MT"/>
              </a:rPr>
              <a:t>Include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techniques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like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time-slicing</a:t>
            </a:r>
            <a:endParaRPr sz="2200">
              <a:latin typeface="Arial MT"/>
              <a:cs typeface="Arial MT"/>
            </a:endParaRPr>
          </a:p>
          <a:p>
            <a:pPr marL="830580" lvl="1" indent="-315595">
              <a:lnSpc>
                <a:spcPct val="100000"/>
              </a:lnSpc>
              <a:spcBef>
                <a:spcPts val="525"/>
              </a:spcBef>
              <a:buChar char="–"/>
              <a:tabLst>
                <a:tab pos="830580" algn="l"/>
              </a:tabLst>
            </a:pP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implemented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single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processing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unit</a:t>
            </a:r>
            <a:endParaRPr sz="2200">
              <a:latin typeface="Arial MT"/>
              <a:cs typeface="Arial MT"/>
            </a:endParaRPr>
          </a:p>
          <a:p>
            <a:pPr marL="830580" lvl="1" indent="-315595">
              <a:lnSpc>
                <a:spcPct val="100000"/>
              </a:lnSpc>
              <a:spcBef>
                <a:spcPts val="530"/>
              </a:spcBef>
              <a:buChar char="–"/>
              <a:tabLst>
                <a:tab pos="830580" algn="l"/>
              </a:tabLst>
            </a:pPr>
            <a:r>
              <a:rPr sz="2200" dirty="0">
                <a:latin typeface="Arial MT"/>
                <a:cs typeface="Arial MT"/>
              </a:rPr>
              <a:t>Concept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general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than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parallelism</a:t>
            </a:r>
            <a:endParaRPr sz="2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70"/>
              </a:spcBef>
              <a:buFont typeface="Arial MT"/>
              <a:buChar char="–"/>
            </a:pPr>
            <a:endParaRPr sz="2200">
              <a:latin typeface="Arial MT"/>
              <a:cs typeface="Arial MT"/>
            </a:endParaRPr>
          </a:p>
          <a:p>
            <a:pPr marL="390525" marR="490855" indent="-378460">
              <a:lnSpc>
                <a:spcPts val="3170"/>
              </a:lnSpc>
              <a:buFont typeface="Arial MT"/>
              <a:buChar char="•"/>
              <a:tabLst>
                <a:tab pos="390525" algn="l"/>
              </a:tabLst>
            </a:pPr>
            <a:r>
              <a:rPr sz="2650" b="1" spc="-10" dirty="0">
                <a:latin typeface="Arial"/>
                <a:cs typeface="Arial"/>
              </a:rPr>
              <a:t>Parallelism</a:t>
            </a:r>
            <a:r>
              <a:rPr sz="2650" spc="-10" dirty="0">
                <a:latin typeface="Arial MT"/>
                <a:cs typeface="Arial MT"/>
              </a:rPr>
              <a:t>:</a:t>
            </a:r>
            <a:r>
              <a:rPr sz="2650" spc="-9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At</a:t>
            </a:r>
            <a:r>
              <a:rPr sz="2650" spc="-8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least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two</a:t>
            </a:r>
            <a:r>
              <a:rPr sz="2650" spc="-5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tasks</a:t>
            </a:r>
            <a:r>
              <a:rPr sz="2650" spc="-7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execute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literally</a:t>
            </a:r>
            <a:r>
              <a:rPr sz="2650" spc="-4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at</a:t>
            </a:r>
            <a:r>
              <a:rPr sz="2650" spc="-60" dirty="0">
                <a:latin typeface="Arial MT"/>
                <a:cs typeface="Arial MT"/>
              </a:rPr>
              <a:t> </a:t>
            </a:r>
            <a:r>
              <a:rPr sz="2650" spc="-25" dirty="0">
                <a:latin typeface="Arial MT"/>
                <a:cs typeface="Arial MT"/>
              </a:rPr>
              <a:t>the </a:t>
            </a:r>
            <a:r>
              <a:rPr sz="2650" dirty="0">
                <a:latin typeface="Arial MT"/>
                <a:cs typeface="Arial MT"/>
              </a:rPr>
              <a:t>same</a:t>
            </a:r>
            <a:r>
              <a:rPr sz="2650" spc="-85" dirty="0">
                <a:latin typeface="Arial MT"/>
                <a:cs typeface="Arial MT"/>
              </a:rPr>
              <a:t> </a:t>
            </a:r>
            <a:r>
              <a:rPr sz="2650" spc="-20" dirty="0">
                <a:latin typeface="Arial MT"/>
                <a:cs typeface="Arial MT"/>
              </a:rPr>
              <a:t>time.</a:t>
            </a:r>
            <a:endParaRPr sz="2650">
              <a:latin typeface="Arial MT"/>
              <a:cs typeface="Arial MT"/>
            </a:endParaRPr>
          </a:p>
          <a:p>
            <a:pPr marL="830580" lvl="1" indent="-315595">
              <a:lnSpc>
                <a:spcPct val="100000"/>
              </a:lnSpc>
              <a:spcBef>
                <a:spcPts val="430"/>
              </a:spcBef>
              <a:buChar char="–"/>
              <a:tabLst>
                <a:tab pos="830580" algn="l"/>
              </a:tabLst>
            </a:pPr>
            <a:r>
              <a:rPr sz="2200" dirty="0">
                <a:latin typeface="Arial MT"/>
                <a:cs typeface="Arial MT"/>
              </a:rPr>
              <a:t>Requires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hardware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multiple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processing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units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7854" y="1853819"/>
            <a:ext cx="9020810" cy="5366385"/>
            <a:chOff x="617854" y="1853819"/>
            <a:chExt cx="9020810" cy="5366385"/>
          </a:xfrm>
        </p:grpSpPr>
        <p:sp>
          <p:nvSpPr>
            <p:cNvPr id="3" name="object 3"/>
            <p:cNvSpPr/>
            <p:nvPr/>
          </p:nvSpPr>
          <p:spPr>
            <a:xfrm>
              <a:off x="624839" y="1860804"/>
              <a:ext cx="9006840" cy="5352415"/>
            </a:xfrm>
            <a:custGeom>
              <a:avLst/>
              <a:gdLst/>
              <a:ahLst/>
              <a:cxnLst/>
              <a:rect l="l" t="t" r="r" b="b"/>
              <a:pathLst>
                <a:path w="9006840" h="5352415">
                  <a:moveTo>
                    <a:pt x="8113776" y="5352288"/>
                  </a:moveTo>
                  <a:lnTo>
                    <a:pt x="893064" y="5352288"/>
                  </a:lnTo>
                  <a:lnTo>
                    <a:pt x="845584" y="5351051"/>
                  </a:lnTo>
                  <a:lnTo>
                    <a:pt x="798756" y="5347384"/>
                  </a:lnTo>
                  <a:lnTo>
                    <a:pt x="752640" y="5341347"/>
                  </a:lnTo>
                  <a:lnTo>
                    <a:pt x="707299" y="5333002"/>
                  </a:lnTo>
                  <a:lnTo>
                    <a:pt x="662793" y="5322411"/>
                  </a:lnTo>
                  <a:lnTo>
                    <a:pt x="619184" y="5309635"/>
                  </a:lnTo>
                  <a:lnTo>
                    <a:pt x="576533" y="5294737"/>
                  </a:lnTo>
                  <a:lnTo>
                    <a:pt x="534902" y="5277778"/>
                  </a:lnTo>
                  <a:lnTo>
                    <a:pt x="494352" y="5258819"/>
                  </a:lnTo>
                  <a:lnTo>
                    <a:pt x="454944" y="5237922"/>
                  </a:lnTo>
                  <a:lnTo>
                    <a:pt x="416740" y="5215150"/>
                  </a:lnTo>
                  <a:lnTo>
                    <a:pt x="379801" y="5190563"/>
                  </a:lnTo>
                  <a:lnTo>
                    <a:pt x="344189" y="5164223"/>
                  </a:lnTo>
                  <a:lnTo>
                    <a:pt x="309965" y="5136193"/>
                  </a:lnTo>
                  <a:lnTo>
                    <a:pt x="277190" y="5106533"/>
                  </a:lnTo>
                  <a:lnTo>
                    <a:pt x="245926" y="5075306"/>
                  </a:lnTo>
                  <a:lnTo>
                    <a:pt x="216234" y="5042573"/>
                  </a:lnTo>
                  <a:lnTo>
                    <a:pt x="188176" y="5008396"/>
                  </a:lnTo>
                  <a:lnTo>
                    <a:pt x="161812" y="4972837"/>
                  </a:lnTo>
                  <a:lnTo>
                    <a:pt x="137205" y="4935956"/>
                  </a:lnTo>
                  <a:lnTo>
                    <a:pt x="114416" y="4897817"/>
                  </a:lnTo>
                  <a:lnTo>
                    <a:pt x="93505" y="4858480"/>
                  </a:lnTo>
                  <a:lnTo>
                    <a:pt x="74536" y="4818008"/>
                  </a:lnTo>
                  <a:lnTo>
                    <a:pt x="57568" y="4776461"/>
                  </a:lnTo>
                  <a:lnTo>
                    <a:pt x="42663" y="4733903"/>
                  </a:lnTo>
                  <a:lnTo>
                    <a:pt x="29883" y="4690393"/>
                  </a:lnTo>
                  <a:lnTo>
                    <a:pt x="19288" y="4645995"/>
                  </a:lnTo>
                  <a:lnTo>
                    <a:pt x="10942" y="4600770"/>
                  </a:lnTo>
                  <a:lnTo>
                    <a:pt x="4904" y="4554779"/>
                  </a:lnTo>
                  <a:lnTo>
                    <a:pt x="1236" y="4508084"/>
                  </a:lnTo>
                  <a:lnTo>
                    <a:pt x="0" y="4460747"/>
                  </a:lnTo>
                  <a:lnTo>
                    <a:pt x="0" y="891539"/>
                  </a:lnTo>
                  <a:lnTo>
                    <a:pt x="1236" y="844203"/>
                  </a:lnTo>
                  <a:lnTo>
                    <a:pt x="4904" y="797508"/>
                  </a:lnTo>
                  <a:lnTo>
                    <a:pt x="10942" y="751517"/>
                  </a:lnTo>
                  <a:lnTo>
                    <a:pt x="19288" y="706292"/>
                  </a:lnTo>
                  <a:lnTo>
                    <a:pt x="29883" y="661894"/>
                  </a:lnTo>
                  <a:lnTo>
                    <a:pt x="42663" y="618384"/>
                  </a:lnTo>
                  <a:lnTo>
                    <a:pt x="57568" y="575826"/>
                  </a:lnTo>
                  <a:lnTo>
                    <a:pt x="74536" y="534279"/>
                  </a:lnTo>
                  <a:lnTo>
                    <a:pt x="93505" y="493807"/>
                  </a:lnTo>
                  <a:lnTo>
                    <a:pt x="114416" y="454470"/>
                  </a:lnTo>
                  <a:lnTo>
                    <a:pt x="137205" y="416331"/>
                  </a:lnTo>
                  <a:lnTo>
                    <a:pt x="161812" y="379450"/>
                  </a:lnTo>
                  <a:lnTo>
                    <a:pt x="188176" y="343891"/>
                  </a:lnTo>
                  <a:lnTo>
                    <a:pt x="216234" y="309714"/>
                  </a:lnTo>
                  <a:lnTo>
                    <a:pt x="245926" y="276981"/>
                  </a:lnTo>
                  <a:lnTo>
                    <a:pt x="277190" y="245754"/>
                  </a:lnTo>
                  <a:lnTo>
                    <a:pt x="309965" y="216094"/>
                  </a:lnTo>
                  <a:lnTo>
                    <a:pt x="344189" y="188064"/>
                  </a:lnTo>
                  <a:lnTo>
                    <a:pt x="379801" y="161724"/>
                  </a:lnTo>
                  <a:lnTo>
                    <a:pt x="416740" y="137137"/>
                  </a:lnTo>
                  <a:lnTo>
                    <a:pt x="454944" y="114365"/>
                  </a:lnTo>
                  <a:lnTo>
                    <a:pt x="494352" y="93468"/>
                  </a:lnTo>
                  <a:lnTo>
                    <a:pt x="534902" y="74509"/>
                  </a:lnTo>
                  <a:lnTo>
                    <a:pt x="576533" y="57550"/>
                  </a:lnTo>
                  <a:lnTo>
                    <a:pt x="619184" y="42652"/>
                  </a:lnTo>
                  <a:lnTo>
                    <a:pt x="662793" y="29876"/>
                  </a:lnTo>
                  <a:lnTo>
                    <a:pt x="707299" y="19285"/>
                  </a:lnTo>
                  <a:lnTo>
                    <a:pt x="752640" y="10940"/>
                  </a:lnTo>
                  <a:lnTo>
                    <a:pt x="798756" y="4903"/>
                  </a:lnTo>
                  <a:lnTo>
                    <a:pt x="845584" y="1236"/>
                  </a:lnTo>
                  <a:lnTo>
                    <a:pt x="893064" y="0"/>
                  </a:lnTo>
                  <a:lnTo>
                    <a:pt x="8113776" y="0"/>
                  </a:lnTo>
                  <a:lnTo>
                    <a:pt x="8161255" y="1236"/>
                  </a:lnTo>
                  <a:lnTo>
                    <a:pt x="8208084" y="4903"/>
                  </a:lnTo>
                  <a:lnTo>
                    <a:pt x="8254199" y="10940"/>
                  </a:lnTo>
                  <a:lnTo>
                    <a:pt x="8299540" y="19285"/>
                  </a:lnTo>
                  <a:lnTo>
                    <a:pt x="8344046" y="29876"/>
                  </a:lnTo>
                  <a:lnTo>
                    <a:pt x="8387655" y="42652"/>
                  </a:lnTo>
                  <a:lnTo>
                    <a:pt x="8430306" y="57550"/>
                  </a:lnTo>
                  <a:lnTo>
                    <a:pt x="8471937" y="74509"/>
                  </a:lnTo>
                  <a:lnTo>
                    <a:pt x="8512487" y="93468"/>
                  </a:lnTo>
                  <a:lnTo>
                    <a:pt x="8551895" y="114365"/>
                  </a:lnTo>
                  <a:lnTo>
                    <a:pt x="8590099" y="137137"/>
                  </a:lnTo>
                  <a:lnTo>
                    <a:pt x="8627038" y="161724"/>
                  </a:lnTo>
                  <a:lnTo>
                    <a:pt x="8662650" y="188064"/>
                  </a:lnTo>
                  <a:lnTo>
                    <a:pt x="8696874" y="216094"/>
                  </a:lnTo>
                  <a:lnTo>
                    <a:pt x="8729649" y="245754"/>
                  </a:lnTo>
                  <a:lnTo>
                    <a:pt x="8760913" y="276981"/>
                  </a:lnTo>
                  <a:lnTo>
                    <a:pt x="8790605" y="309714"/>
                  </a:lnTo>
                  <a:lnTo>
                    <a:pt x="8818663" y="343891"/>
                  </a:lnTo>
                  <a:lnTo>
                    <a:pt x="8845026" y="379450"/>
                  </a:lnTo>
                  <a:lnTo>
                    <a:pt x="8869633" y="416331"/>
                  </a:lnTo>
                  <a:lnTo>
                    <a:pt x="8892423" y="454470"/>
                  </a:lnTo>
                  <a:lnTo>
                    <a:pt x="8913333" y="493807"/>
                  </a:lnTo>
                  <a:lnTo>
                    <a:pt x="8932303" y="534279"/>
                  </a:lnTo>
                  <a:lnTo>
                    <a:pt x="8949271" y="575826"/>
                  </a:lnTo>
                  <a:lnTo>
                    <a:pt x="8964176" y="618384"/>
                  </a:lnTo>
                  <a:lnTo>
                    <a:pt x="8976956" y="661894"/>
                  </a:lnTo>
                  <a:lnTo>
                    <a:pt x="8987550" y="706292"/>
                  </a:lnTo>
                  <a:lnTo>
                    <a:pt x="8995897" y="751517"/>
                  </a:lnTo>
                  <a:lnTo>
                    <a:pt x="9001935" y="797508"/>
                  </a:lnTo>
                  <a:lnTo>
                    <a:pt x="9005603" y="844203"/>
                  </a:lnTo>
                  <a:lnTo>
                    <a:pt x="9006839" y="891539"/>
                  </a:lnTo>
                  <a:lnTo>
                    <a:pt x="9006839" y="4460747"/>
                  </a:lnTo>
                  <a:lnTo>
                    <a:pt x="9005603" y="4508084"/>
                  </a:lnTo>
                  <a:lnTo>
                    <a:pt x="9001935" y="4554779"/>
                  </a:lnTo>
                  <a:lnTo>
                    <a:pt x="8995897" y="4600770"/>
                  </a:lnTo>
                  <a:lnTo>
                    <a:pt x="8987550" y="4645995"/>
                  </a:lnTo>
                  <a:lnTo>
                    <a:pt x="8976956" y="4690393"/>
                  </a:lnTo>
                  <a:lnTo>
                    <a:pt x="8964176" y="4733903"/>
                  </a:lnTo>
                  <a:lnTo>
                    <a:pt x="8949271" y="4776461"/>
                  </a:lnTo>
                  <a:lnTo>
                    <a:pt x="8932303" y="4818008"/>
                  </a:lnTo>
                  <a:lnTo>
                    <a:pt x="8913333" y="4858480"/>
                  </a:lnTo>
                  <a:lnTo>
                    <a:pt x="8892423" y="4897817"/>
                  </a:lnTo>
                  <a:lnTo>
                    <a:pt x="8869633" y="4935956"/>
                  </a:lnTo>
                  <a:lnTo>
                    <a:pt x="8845026" y="4972837"/>
                  </a:lnTo>
                  <a:lnTo>
                    <a:pt x="8818663" y="5008396"/>
                  </a:lnTo>
                  <a:lnTo>
                    <a:pt x="8790605" y="5042573"/>
                  </a:lnTo>
                  <a:lnTo>
                    <a:pt x="8760913" y="5075306"/>
                  </a:lnTo>
                  <a:lnTo>
                    <a:pt x="8729649" y="5106533"/>
                  </a:lnTo>
                  <a:lnTo>
                    <a:pt x="8696874" y="5136193"/>
                  </a:lnTo>
                  <a:lnTo>
                    <a:pt x="8662650" y="5164223"/>
                  </a:lnTo>
                  <a:lnTo>
                    <a:pt x="8627038" y="5190563"/>
                  </a:lnTo>
                  <a:lnTo>
                    <a:pt x="8590099" y="5215150"/>
                  </a:lnTo>
                  <a:lnTo>
                    <a:pt x="8551895" y="5237922"/>
                  </a:lnTo>
                  <a:lnTo>
                    <a:pt x="8512487" y="5258819"/>
                  </a:lnTo>
                  <a:lnTo>
                    <a:pt x="8471937" y="5277778"/>
                  </a:lnTo>
                  <a:lnTo>
                    <a:pt x="8430306" y="5294737"/>
                  </a:lnTo>
                  <a:lnTo>
                    <a:pt x="8387655" y="5309635"/>
                  </a:lnTo>
                  <a:lnTo>
                    <a:pt x="8344046" y="5322411"/>
                  </a:lnTo>
                  <a:lnTo>
                    <a:pt x="8299540" y="5333002"/>
                  </a:lnTo>
                  <a:lnTo>
                    <a:pt x="8254199" y="5341347"/>
                  </a:lnTo>
                  <a:lnTo>
                    <a:pt x="8208084" y="5347384"/>
                  </a:lnTo>
                  <a:lnTo>
                    <a:pt x="8161255" y="5351051"/>
                  </a:lnTo>
                  <a:lnTo>
                    <a:pt x="8113776" y="5352288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4839" y="1860804"/>
              <a:ext cx="9006840" cy="5352415"/>
            </a:xfrm>
            <a:custGeom>
              <a:avLst/>
              <a:gdLst/>
              <a:ahLst/>
              <a:cxnLst/>
              <a:rect l="l" t="t" r="r" b="b"/>
              <a:pathLst>
                <a:path w="9006840" h="5352415">
                  <a:moveTo>
                    <a:pt x="0" y="891539"/>
                  </a:moveTo>
                  <a:lnTo>
                    <a:pt x="1236" y="844203"/>
                  </a:lnTo>
                  <a:lnTo>
                    <a:pt x="4904" y="797508"/>
                  </a:lnTo>
                  <a:lnTo>
                    <a:pt x="10942" y="751517"/>
                  </a:lnTo>
                  <a:lnTo>
                    <a:pt x="19288" y="706292"/>
                  </a:lnTo>
                  <a:lnTo>
                    <a:pt x="29883" y="661894"/>
                  </a:lnTo>
                  <a:lnTo>
                    <a:pt x="42663" y="618384"/>
                  </a:lnTo>
                  <a:lnTo>
                    <a:pt x="57568" y="575826"/>
                  </a:lnTo>
                  <a:lnTo>
                    <a:pt x="74536" y="534279"/>
                  </a:lnTo>
                  <a:lnTo>
                    <a:pt x="93505" y="493807"/>
                  </a:lnTo>
                  <a:lnTo>
                    <a:pt x="114416" y="454470"/>
                  </a:lnTo>
                  <a:lnTo>
                    <a:pt x="137205" y="416331"/>
                  </a:lnTo>
                  <a:lnTo>
                    <a:pt x="161812" y="379450"/>
                  </a:lnTo>
                  <a:lnTo>
                    <a:pt x="188176" y="343891"/>
                  </a:lnTo>
                  <a:lnTo>
                    <a:pt x="216234" y="309714"/>
                  </a:lnTo>
                  <a:lnTo>
                    <a:pt x="245926" y="276981"/>
                  </a:lnTo>
                  <a:lnTo>
                    <a:pt x="277190" y="245754"/>
                  </a:lnTo>
                  <a:lnTo>
                    <a:pt x="309965" y="216094"/>
                  </a:lnTo>
                  <a:lnTo>
                    <a:pt x="344189" y="188064"/>
                  </a:lnTo>
                  <a:lnTo>
                    <a:pt x="379801" y="161724"/>
                  </a:lnTo>
                  <a:lnTo>
                    <a:pt x="416740" y="137137"/>
                  </a:lnTo>
                  <a:lnTo>
                    <a:pt x="454944" y="114365"/>
                  </a:lnTo>
                  <a:lnTo>
                    <a:pt x="494352" y="93468"/>
                  </a:lnTo>
                  <a:lnTo>
                    <a:pt x="534902" y="74509"/>
                  </a:lnTo>
                  <a:lnTo>
                    <a:pt x="576533" y="57550"/>
                  </a:lnTo>
                  <a:lnTo>
                    <a:pt x="619184" y="42652"/>
                  </a:lnTo>
                  <a:lnTo>
                    <a:pt x="662793" y="29876"/>
                  </a:lnTo>
                  <a:lnTo>
                    <a:pt x="707299" y="19285"/>
                  </a:lnTo>
                  <a:lnTo>
                    <a:pt x="752640" y="10940"/>
                  </a:lnTo>
                  <a:lnTo>
                    <a:pt x="798756" y="4903"/>
                  </a:lnTo>
                  <a:lnTo>
                    <a:pt x="845584" y="1236"/>
                  </a:lnTo>
                  <a:lnTo>
                    <a:pt x="893064" y="0"/>
                  </a:lnTo>
                  <a:lnTo>
                    <a:pt x="8113776" y="0"/>
                  </a:lnTo>
                  <a:lnTo>
                    <a:pt x="8161255" y="1236"/>
                  </a:lnTo>
                  <a:lnTo>
                    <a:pt x="8208084" y="4903"/>
                  </a:lnTo>
                  <a:lnTo>
                    <a:pt x="8254199" y="10940"/>
                  </a:lnTo>
                  <a:lnTo>
                    <a:pt x="8299540" y="19285"/>
                  </a:lnTo>
                  <a:lnTo>
                    <a:pt x="8344046" y="29876"/>
                  </a:lnTo>
                  <a:lnTo>
                    <a:pt x="8387655" y="42652"/>
                  </a:lnTo>
                  <a:lnTo>
                    <a:pt x="8430306" y="57550"/>
                  </a:lnTo>
                  <a:lnTo>
                    <a:pt x="8471937" y="74509"/>
                  </a:lnTo>
                  <a:lnTo>
                    <a:pt x="8512487" y="93468"/>
                  </a:lnTo>
                  <a:lnTo>
                    <a:pt x="8551895" y="114365"/>
                  </a:lnTo>
                  <a:lnTo>
                    <a:pt x="8590099" y="137137"/>
                  </a:lnTo>
                  <a:lnTo>
                    <a:pt x="8627038" y="161724"/>
                  </a:lnTo>
                  <a:lnTo>
                    <a:pt x="8662650" y="188064"/>
                  </a:lnTo>
                  <a:lnTo>
                    <a:pt x="8696874" y="216094"/>
                  </a:lnTo>
                  <a:lnTo>
                    <a:pt x="8729649" y="245754"/>
                  </a:lnTo>
                  <a:lnTo>
                    <a:pt x="8760913" y="276981"/>
                  </a:lnTo>
                  <a:lnTo>
                    <a:pt x="8790605" y="309714"/>
                  </a:lnTo>
                  <a:lnTo>
                    <a:pt x="8818663" y="343891"/>
                  </a:lnTo>
                  <a:lnTo>
                    <a:pt x="8845026" y="379450"/>
                  </a:lnTo>
                  <a:lnTo>
                    <a:pt x="8869633" y="416331"/>
                  </a:lnTo>
                  <a:lnTo>
                    <a:pt x="8892423" y="454470"/>
                  </a:lnTo>
                  <a:lnTo>
                    <a:pt x="8913333" y="493807"/>
                  </a:lnTo>
                  <a:lnTo>
                    <a:pt x="8932303" y="534279"/>
                  </a:lnTo>
                  <a:lnTo>
                    <a:pt x="8949271" y="575826"/>
                  </a:lnTo>
                  <a:lnTo>
                    <a:pt x="8964176" y="618384"/>
                  </a:lnTo>
                  <a:lnTo>
                    <a:pt x="8976956" y="661894"/>
                  </a:lnTo>
                  <a:lnTo>
                    <a:pt x="8987550" y="706292"/>
                  </a:lnTo>
                  <a:lnTo>
                    <a:pt x="8995897" y="751517"/>
                  </a:lnTo>
                  <a:lnTo>
                    <a:pt x="9001935" y="797508"/>
                  </a:lnTo>
                  <a:lnTo>
                    <a:pt x="9005603" y="844203"/>
                  </a:lnTo>
                  <a:lnTo>
                    <a:pt x="9006839" y="891539"/>
                  </a:lnTo>
                  <a:lnTo>
                    <a:pt x="9006839" y="4460747"/>
                  </a:lnTo>
                  <a:lnTo>
                    <a:pt x="9005603" y="4508084"/>
                  </a:lnTo>
                  <a:lnTo>
                    <a:pt x="9001935" y="4554779"/>
                  </a:lnTo>
                  <a:lnTo>
                    <a:pt x="8995897" y="4600770"/>
                  </a:lnTo>
                  <a:lnTo>
                    <a:pt x="8987550" y="4645995"/>
                  </a:lnTo>
                  <a:lnTo>
                    <a:pt x="8976956" y="4690393"/>
                  </a:lnTo>
                  <a:lnTo>
                    <a:pt x="8964176" y="4733903"/>
                  </a:lnTo>
                  <a:lnTo>
                    <a:pt x="8949271" y="4776461"/>
                  </a:lnTo>
                  <a:lnTo>
                    <a:pt x="8932303" y="4818008"/>
                  </a:lnTo>
                  <a:lnTo>
                    <a:pt x="8913333" y="4858480"/>
                  </a:lnTo>
                  <a:lnTo>
                    <a:pt x="8892423" y="4897817"/>
                  </a:lnTo>
                  <a:lnTo>
                    <a:pt x="8869633" y="4935956"/>
                  </a:lnTo>
                  <a:lnTo>
                    <a:pt x="8845026" y="4972837"/>
                  </a:lnTo>
                  <a:lnTo>
                    <a:pt x="8818663" y="5008396"/>
                  </a:lnTo>
                  <a:lnTo>
                    <a:pt x="8790605" y="5042573"/>
                  </a:lnTo>
                  <a:lnTo>
                    <a:pt x="8760913" y="5075306"/>
                  </a:lnTo>
                  <a:lnTo>
                    <a:pt x="8729649" y="5106533"/>
                  </a:lnTo>
                  <a:lnTo>
                    <a:pt x="8696874" y="5136193"/>
                  </a:lnTo>
                  <a:lnTo>
                    <a:pt x="8662650" y="5164223"/>
                  </a:lnTo>
                  <a:lnTo>
                    <a:pt x="8627038" y="5190563"/>
                  </a:lnTo>
                  <a:lnTo>
                    <a:pt x="8590099" y="5215150"/>
                  </a:lnTo>
                  <a:lnTo>
                    <a:pt x="8551895" y="5237922"/>
                  </a:lnTo>
                  <a:lnTo>
                    <a:pt x="8512487" y="5258819"/>
                  </a:lnTo>
                  <a:lnTo>
                    <a:pt x="8471937" y="5277778"/>
                  </a:lnTo>
                  <a:lnTo>
                    <a:pt x="8430306" y="5294737"/>
                  </a:lnTo>
                  <a:lnTo>
                    <a:pt x="8387655" y="5309635"/>
                  </a:lnTo>
                  <a:lnTo>
                    <a:pt x="8344046" y="5322411"/>
                  </a:lnTo>
                  <a:lnTo>
                    <a:pt x="8299540" y="5333002"/>
                  </a:lnTo>
                  <a:lnTo>
                    <a:pt x="8254199" y="5341347"/>
                  </a:lnTo>
                  <a:lnTo>
                    <a:pt x="8208084" y="5347384"/>
                  </a:lnTo>
                  <a:lnTo>
                    <a:pt x="8161255" y="5351051"/>
                  </a:lnTo>
                  <a:lnTo>
                    <a:pt x="8113776" y="5352288"/>
                  </a:lnTo>
                  <a:lnTo>
                    <a:pt x="893064" y="5352288"/>
                  </a:lnTo>
                  <a:lnTo>
                    <a:pt x="845584" y="5351051"/>
                  </a:lnTo>
                  <a:lnTo>
                    <a:pt x="798756" y="5347384"/>
                  </a:lnTo>
                  <a:lnTo>
                    <a:pt x="752640" y="5341347"/>
                  </a:lnTo>
                  <a:lnTo>
                    <a:pt x="707299" y="5333002"/>
                  </a:lnTo>
                  <a:lnTo>
                    <a:pt x="662793" y="5322411"/>
                  </a:lnTo>
                  <a:lnTo>
                    <a:pt x="619184" y="5309635"/>
                  </a:lnTo>
                  <a:lnTo>
                    <a:pt x="576533" y="5294737"/>
                  </a:lnTo>
                  <a:lnTo>
                    <a:pt x="534902" y="5277778"/>
                  </a:lnTo>
                  <a:lnTo>
                    <a:pt x="494352" y="5258819"/>
                  </a:lnTo>
                  <a:lnTo>
                    <a:pt x="454944" y="5237922"/>
                  </a:lnTo>
                  <a:lnTo>
                    <a:pt x="416740" y="5215150"/>
                  </a:lnTo>
                  <a:lnTo>
                    <a:pt x="379801" y="5190563"/>
                  </a:lnTo>
                  <a:lnTo>
                    <a:pt x="344189" y="5164223"/>
                  </a:lnTo>
                  <a:lnTo>
                    <a:pt x="309965" y="5136193"/>
                  </a:lnTo>
                  <a:lnTo>
                    <a:pt x="277190" y="5106533"/>
                  </a:lnTo>
                  <a:lnTo>
                    <a:pt x="245926" y="5075306"/>
                  </a:lnTo>
                  <a:lnTo>
                    <a:pt x="216234" y="5042573"/>
                  </a:lnTo>
                  <a:lnTo>
                    <a:pt x="188176" y="5008396"/>
                  </a:lnTo>
                  <a:lnTo>
                    <a:pt x="161812" y="4972837"/>
                  </a:lnTo>
                  <a:lnTo>
                    <a:pt x="137205" y="4935956"/>
                  </a:lnTo>
                  <a:lnTo>
                    <a:pt x="114416" y="4897817"/>
                  </a:lnTo>
                  <a:lnTo>
                    <a:pt x="93505" y="4858480"/>
                  </a:lnTo>
                  <a:lnTo>
                    <a:pt x="74536" y="4818008"/>
                  </a:lnTo>
                  <a:lnTo>
                    <a:pt x="57568" y="4776461"/>
                  </a:lnTo>
                  <a:lnTo>
                    <a:pt x="42663" y="4733903"/>
                  </a:lnTo>
                  <a:lnTo>
                    <a:pt x="29883" y="4690393"/>
                  </a:lnTo>
                  <a:lnTo>
                    <a:pt x="19288" y="4645995"/>
                  </a:lnTo>
                  <a:lnTo>
                    <a:pt x="10942" y="4600770"/>
                  </a:lnTo>
                  <a:lnTo>
                    <a:pt x="4904" y="4554779"/>
                  </a:lnTo>
                  <a:lnTo>
                    <a:pt x="1236" y="4508084"/>
                  </a:lnTo>
                  <a:lnTo>
                    <a:pt x="0" y="4460747"/>
                  </a:lnTo>
                  <a:lnTo>
                    <a:pt x="0" y="891539"/>
                  </a:lnTo>
                  <a:close/>
                </a:path>
              </a:pathLst>
            </a:custGeom>
            <a:ln w="13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7383" y="2752344"/>
              <a:ext cx="8187055" cy="4185285"/>
            </a:xfrm>
            <a:custGeom>
              <a:avLst/>
              <a:gdLst/>
              <a:ahLst/>
              <a:cxnLst/>
              <a:rect l="l" t="t" r="r" b="b"/>
              <a:pathLst>
                <a:path w="8187055" h="4185284">
                  <a:moveTo>
                    <a:pt x="7490460" y="4184903"/>
                  </a:moveTo>
                  <a:lnTo>
                    <a:pt x="697991" y="4184903"/>
                  </a:lnTo>
                  <a:lnTo>
                    <a:pt x="650193" y="4183294"/>
                  </a:lnTo>
                  <a:lnTo>
                    <a:pt x="603261" y="4178534"/>
                  </a:lnTo>
                  <a:lnTo>
                    <a:pt x="557298" y="4170729"/>
                  </a:lnTo>
                  <a:lnTo>
                    <a:pt x="512409" y="4159983"/>
                  </a:lnTo>
                  <a:lnTo>
                    <a:pt x="468698" y="4146401"/>
                  </a:lnTo>
                  <a:lnTo>
                    <a:pt x="426267" y="4130087"/>
                  </a:lnTo>
                  <a:lnTo>
                    <a:pt x="385222" y="4111146"/>
                  </a:lnTo>
                  <a:lnTo>
                    <a:pt x="345665" y="4089682"/>
                  </a:lnTo>
                  <a:lnTo>
                    <a:pt x="307702" y="4065799"/>
                  </a:lnTo>
                  <a:lnTo>
                    <a:pt x="271435" y="4039603"/>
                  </a:lnTo>
                  <a:lnTo>
                    <a:pt x="236968" y="4011198"/>
                  </a:lnTo>
                  <a:lnTo>
                    <a:pt x="204406" y="3980687"/>
                  </a:lnTo>
                  <a:lnTo>
                    <a:pt x="173852" y="3948177"/>
                  </a:lnTo>
                  <a:lnTo>
                    <a:pt x="145410" y="3913771"/>
                  </a:lnTo>
                  <a:lnTo>
                    <a:pt x="119184" y="3877573"/>
                  </a:lnTo>
                  <a:lnTo>
                    <a:pt x="95278" y="3839689"/>
                  </a:lnTo>
                  <a:lnTo>
                    <a:pt x="73795" y="3800223"/>
                  </a:lnTo>
                  <a:lnTo>
                    <a:pt x="54840" y="3759279"/>
                  </a:lnTo>
                  <a:lnTo>
                    <a:pt x="38516" y="3716962"/>
                  </a:lnTo>
                  <a:lnTo>
                    <a:pt x="24927" y="3673376"/>
                  </a:lnTo>
                  <a:lnTo>
                    <a:pt x="14177" y="3628626"/>
                  </a:lnTo>
                  <a:lnTo>
                    <a:pt x="6370" y="3582816"/>
                  </a:lnTo>
                  <a:lnTo>
                    <a:pt x="1609" y="3536051"/>
                  </a:lnTo>
                  <a:lnTo>
                    <a:pt x="0" y="3488435"/>
                  </a:lnTo>
                  <a:lnTo>
                    <a:pt x="0" y="697991"/>
                  </a:lnTo>
                  <a:lnTo>
                    <a:pt x="1609" y="650193"/>
                  </a:lnTo>
                  <a:lnTo>
                    <a:pt x="6370" y="603261"/>
                  </a:lnTo>
                  <a:lnTo>
                    <a:pt x="14177" y="557298"/>
                  </a:lnTo>
                  <a:lnTo>
                    <a:pt x="24927" y="512409"/>
                  </a:lnTo>
                  <a:lnTo>
                    <a:pt x="38516" y="468698"/>
                  </a:lnTo>
                  <a:lnTo>
                    <a:pt x="54840" y="426267"/>
                  </a:lnTo>
                  <a:lnTo>
                    <a:pt x="73795" y="385222"/>
                  </a:lnTo>
                  <a:lnTo>
                    <a:pt x="95278" y="345665"/>
                  </a:lnTo>
                  <a:lnTo>
                    <a:pt x="119184" y="307702"/>
                  </a:lnTo>
                  <a:lnTo>
                    <a:pt x="145410" y="271435"/>
                  </a:lnTo>
                  <a:lnTo>
                    <a:pt x="173852" y="236968"/>
                  </a:lnTo>
                  <a:lnTo>
                    <a:pt x="204406" y="204406"/>
                  </a:lnTo>
                  <a:lnTo>
                    <a:pt x="236968" y="173852"/>
                  </a:lnTo>
                  <a:lnTo>
                    <a:pt x="271435" y="145410"/>
                  </a:lnTo>
                  <a:lnTo>
                    <a:pt x="307702" y="119184"/>
                  </a:lnTo>
                  <a:lnTo>
                    <a:pt x="345665" y="95278"/>
                  </a:lnTo>
                  <a:lnTo>
                    <a:pt x="385222" y="73795"/>
                  </a:lnTo>
                  <a:lnTo>
                    <a:pt x="426267" y="54840"/>
                  </a:lnTo>
                  <a:lnTo>
                    <a:pt x="468698" y="38516"/>
                  </a:lnTo>
                  <a:lnTo>
                    <a:pt x="512409" y="24927"/>
                  </a:lnTo>
                  <a:lnTo>
                    <a:pt x="557298" y="14177"/>
                  </a:lnTo>
                  <a:lnTo>
                    <a:pt x="603261" y="6370"/>
                  </a:lnTo>
                  <a:lnTo>
                    <a:pt x="650193" y="1609"/>
                  </a:lnTo>
                  <a:lnTo>
                    <a:pt x="697991" y="0"/>
                  </a:lnTo>
                  <a:lnTo>
                    <a:pt x="7490460" y="0"/>
                  </a:lnTo>
                  <a:lnTo>
                    <a:pt x="7538075" y="1609"/>
                  </a:lnTo>
                  <a:lnTo>
                    <a:pt x="7584840" y="6370"/>
                  </a:lnTo>
                  <a:lnTo>
                    <a:pt x="7630650" y="14177"/>
                  </a:lnTo>
                  <a:lnTo>
                    <a:pt x="7675400" y="24927"/>
                  </a:lnTo>
                  <a:lnTo>
                    <a:pt x="7718986" y="38516"/>
                  </a:lnTo>
                  <a:lnTo>
                    <a:pt x="7761303" y="54840"/>
                  </a:lnTo>
                  <a:lnTo>
                    <a:pt x="7802247" y="73795"/>
                  </a:lnTo>
                  <a:lnTo>
                    <a:pt x="7841713" y="95278"/>
                  </a:lnTo>
                  <a:lnTo>
                    <a:pt x="7879597" y="119184"/>
                  </a:lnTo>
                  <a:lnTo>
                    <a:pt x="7915795" y="145410"/>
                  </a:lnTo>
                  <a:lnTo>
                    <a:pt x="7950201" y="173852"/>
                  </a:lnTo>
                  <a:lnTo>
                    <a:pt x="7982712" y="204406"/>
                  </a:lnTo>
                  <a:lnTo>
                    <a:pt x="8013222" y="236968"/>
                  </a:lnTo>
                  <a:lnTo>
                    <a:pt x="8041627" y="271435"/>
                  </a:lnTo>
                  <a:lnTo>
                    <a:pt x="8067823" y="307702"/>
                  </a:lnTo>
                  <a:lnTo>
                    <a:pt x="8091706" y="345665"/>
                  </a:lnTo>
                  <a:lnTo>
                    <a:pt x="8113170" y="385222"/>
                  </a:lnTo>
                  <a:lnTo>
                    <a:pt x="8132111" y="426267"/>
                  </a:lnTo>
                  <a:lnTo>
                    <a:pt x="8148425" y="468698"/>
                  </a:lnTo>
                  <a:lnTo>
                    <a:pt x="8162007" y="512409"/>
                  </a:lnTo>
                  <a:lnTo>
                    <a:pt x="8172753" y="557298"/>
                  </a:lnTo>
                  <a:lnTo>
                    <a:pt x="8180558" y="603261"/>
                  </a:lnTo>
                  <a:lnTo>
                    <a:pt x="8185318" y="650193"/>
                  </a:lnTo>
                  <a:lnTo>
                    <a:pt x="8186928" y="697991"/>
                  </a:lnTo>
                  <a:lnTo>
                    <a:pt x="8186928" y="3488435"/>
                  </a:lnTo>
                  <a:lnTo>
                    <a:pt x="8185318" y="3536051"/>
                  </a:lnTo>
                  <a:lnTo>
                    <a:pt x="8180558" y="3582816"/>
                  </a:lnTo>
                  <a:lnTo>
                    <a:pt x="8172753" y="3628626"/>
                  </a:lnTo>
                  <a:lnTo>
                    <a:pt x="8162007" y="3673376"/>
                  </a:lnTo>
                  <a:lnTo>
                    <a:pt x="8148425" y="3716962"/>
                  </a:lnTo>
                  <a:lnTo>
                    <a:pt x="8132111" y="3759279"/>
                  </a:lnTo>
                  <a:lnTo>
                    <a:pt x="8113170" y="3800223"/>
                  </a:lnTo>
                  <a:lnTo>
                    <a:pt x="8091706" y="3839689"/>
                  </a:lnTo>
                  <a:lnTo>
                    <a:pt x="8067823" y="3877573"/>
                  </a:lnTo>
                  <a:lnTo>
                    <a:pt x="8041627" y="3913771"/>
                  </a:lnTo>
                  <a:lnTo>
                    <a:pt x="8013222" y="3948177"/>
                  </a:lnTo>
                  <a:lnTo>
                    <a:pt x="7982712" y="3980687"/>
                  </a:lnTo>
                  <a:lnTo>
                    <a:pt x="7950201" y="4011198"/>
                  </a:lnTo>
                  <a:lnTo>
                    <a:pt x="7915795" y="4039603"/>
                  </a:lnTo>
                  <a:lnTo>
                    <a:pt x="7879597" y="4065799"/>
                  </a:lnTo>
                  <a:lnTo>
                    <a:pt x="7841713" y="4089682"/>
                  </a:lnTo>
                  <a:lnTo>
                    <a:pt x="7802247" y="4111146"/>
                  </a:lnTo>
                  <a:lnTo>
                    <a:pt x="7761303" y="4130087"/>
                  </a:lnTo>
                  <a:lnTo>
                    <a:pt x="7718986" y="4146401"/>
                  </a:lnTo>
                  <a:lnTo>
                    <a:pt x="7675400" y="4159983"/>
                  </a:lnTo>
                  <a:lnTo>
                    <a:pt x="7630650" y="4170729"/>
                  </a:lnTo>
                  <a:lnTo>
                    <a:pt x="7584840" y="4178534"/>
                  </a:lnTo>
                  <a:lnTo>
                    <a:pt x="7538075" y="4183294"/>
                  </a:lnTo>
                  <a:lnTo>
                    <a:pt x="7490460" y="4184903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67383" y="2752344"/>
              <a:ext cx="8187055" cy="4185285"/>
            </a:xfrm>
            <a:custGeom>
              <a:avLst/>
              <a:gdLst/>
              <a:ahLst/>
              <a:cxnLst/>
              <a:rect l="l" t="t" r="r" b="b"/>
              <a:pathLst>
                <a:path w="8187055" h="4185284">
                  <a:moveTo>
                    <a:pt x="0" y="697991"/>
                  </a:moveTo>
                  <a:lnTo>
                    <a:pt x="1609" y="650193"/>
                  </a:lnTo>
                  <a:lnTo>
                    <a:pt x="6370" y="603261"/>
                  </a:lnTo>
                  <a:lnTo>
                    <a:pt x="14177" y="557298"/>
                  </a:lnTo>
                  <a:lnTo>
                    <a:pt x="24927" y="512409"/>
                  </a:lnTo>
                  <a:lnTo>
                    <a:pt x="38516" y="468698"/>
                  </a:lnTo>
                  <a:lnTo>
                    <a:pt x="54840" y="426267"/>
                  </a:lnTo>
                  <a:lnTo>
                    <a:pt x="73795" y="385222"/>
                  </a:lnTo>
                  <a:lnTo>
                    <a:pt x="95278" y="345665"/>
                  </a:lnTo>
                  <a:lnTo>
                    <a:pt x="119184" y="307702"/>
                  </a:lnTo>
                  <a:lnTo>
                    <a:pt x="145410" y="271435"/>
                  </a:lnTo>
                  <a:lnTo>
                    <a:pt x="173852" y="236968"/>
                  </a:lnTo>
                  <a:lnTo>
                    <a:pt x="204406" y="204406"/>
                  </a:lnTo>
                  <a:lnTo>
                    <a:pt x="236968" y="173852"/>
                  </a:lnTo>
                  <a:lnTo>
                    <a:pt x="271435" y="145410"/>
                  </a:lnTo>
                  <a:lnTo>
                    <a:pt x="307702" y="119184"/>
                  </a:lnTo>
                  <a:lnTo>
                    <a:pt x="345665" y="95278"/>
                  </a:lnTo>
                  <a:lnTo>
                    <a:pt x="385222" y="73795"/>
                  </a:lnTo>
                  <a:lnTo>
                    <a:pt x="426267" y="54840"/>
                  </a:lnTo>
                  <a:lnTo>
                    <a:pt x="468698" y="38516"/>
                  </a:lnTo>
                  <a:lnTo>
                    <a:pt x="512409" y="24927"/>
                  </a:lnTo>
                  <a:lnTo>
                    <a:pt x="557298" y="14177"/>
                  </a:lnTo>
                  <a:lnTo>
                    <a:pt x="603261" y="6370"/>
                  </a:lnTo>
                  <a:lnTo>
                    <a:pt x="650193" y="1609"/>
                  </a:lnTo>
                  <a:lnTo>
                    <a:pt x="697991" y="0"/>
                  </a:lnTo>
                  <a:lnTo>
                    <a:pt x="7490460" y="0"/>
                  </a:lnTo>
                  <a:lnTo>
                    <a:pt x="7538075" y="1609"/>
                  </a:lnTo>
                  <a:lnTo>
                    <a:pt x="7584840" y="6370"/>
                  </a:lnTo>
                  <a:lnTo>
                    <a:pt x="7630650" y="14177"/>
                  </a:lnTo>
                  <a:lnTo>
                    <a:pt x="7675400" y="24927"/>
                  </a:lnTo>
                  <a:lnTo>
                    <a:pt x="7718986" y="38516"/>
                  </a:lnTo>
                  <a:lnTo>
                    <a:pt x="7761303" y="54840"/>
                  </a:lnTo>
                  <a:lnTo>
                    <a:pt x="7802247" y="73795"/>
                  </a:lnTo>
                  <a:lnTo>
                    <a:pt x="7841713" y="95278"/>
                  </a:lnTo>
                  <a:lnTo>
                    <a:pt x="7879597" y="119184"/>
                  </a:lnTo>
                  <a:lnTo>
                    <a:pt x="7915795" y="145410"/>
                  </a:lnTo>
                  <a:lnTo>
                    <a:pt x="7950201" y="173852"/>
                  </a:lnTo>
                  <a:lnTo>
                    <a:pt x="7982712" y="204406"/>
                  </a:lnTo>
                  <a:lnTo>
                    <a:pt x="8013222" y="236968"/>
                  </a:lnTo>
                  <a:lnTo>
                    <a:pt x="8041627" y="271435"/>
                  </a:lnTo>
                  <a:lnTo>
                    <a:pt x="8067823" y="307702"/>
                  </a:lnTo>
                  <a:lnTo>
                    <a:pt x="8091706" y="345665"/>
                  </a:lnTo>
                  <a:lnTo>
                    <a:pt x="8113170" y="385222"/>
                  </a:lnTo>
                  <a:lnTo>
                    <a:pt x="8132111" y="426267"/>
                  </a:lnTo>
                  <a:lnTo>
                    <a:pt x="8148425" y="468698"/>
                  </a:lnTo>
                  <a:lnTo>
                    <a:pt x="8162007" y="512409"/>
                  </a:lnTo>
                  <a:lnTo>
                    <a:pt x="8172753" y="557298"/>
                  </a:lnTo>
                  <a:lnTo>
                    <a:pt x="8180558" y="603261"/>
                  </a:lnTo>
                  <a:lnTo>
                    <a:pt x="8185318" y="650193"/>
                  </a:lnTo>
                  <a:lnTo>
                    <a:pt x="8186928" y="697991"/>
                  </a:lnTo>
                  <a:lnTo>
                    <a:pt x="8186928" y="3488435"/>
                  </a:lnTo>
                  <a:lnTo>
                    <a:pt x="8185318" y="3536051"/>
                  </a:lnTo>
                  <a:lnTo>
                    <a:pt x="8180558" y="3582816"/>
                  </a:lnTo>
                  <a:lnTo>
                    <a:pt x="8172753" y="3628626"/>
                  </a:lnTo>
                  <a:lnTo>
                    <a:pt x="8162007" y="3673376"/>
                  </a:lnTo>
                  <a:lnTo>
                    <a:pt x="8148425" y="3716962"/>
                  </a:lnTo>
                  <a:lnTo>
                    <a:pt x="8132111" y="3759279"/>
                  </a:lnTo>
                  <a:lnTo>
                    <a:pt x="8113170" y="3800223"/>
                  </a:lnTo>
                  <a:lnTo>
                    <a:pt x="8091706" y="3839689"/>
                  </a:lnTo>
                  <a:lnTo>
                    <a:pt x="8067823" y="3877573"/>
                  </a:lnTo>
                  <a:lnTo>
                    <a:pt x="8041627" y="3913771"/>
                  </a:lnTo>
                  <a:lnTo>
                    <a:pt x="8013222" y="3948177"/>
                  </a:lnTo>
                  <a:lnTo>
                    <a:pt x="7982712" y="3980687"/>
                  </a:lnTo>
                  <a:lnTo>
                    <a:pt x="7950201" y="4011198"/>
                  </a:lnTo>
                  <a:lnTo>
                    <a:pt x="7915795" y="4039603"/>
                  </a:lnTo>
                  <a:lnTo>
                    <a:pt x="7879597" y="4065799"/>
                  </a:lnTo>
                  <a:lnTo>
                    <a:pt x="7841713" y="4089682"/>
                  </a:lnTo>
                  <a:lnTo>
                    <a:pt x="7802247" y="4111146"/>
                  </a:lnTo>
                  <a:lnTo>
                    <a:pt x="7761303" y="4130087"/>
                  </a:lnTo>
                  <a:lnTo>
                    <a:pt x="7718986" y="4146401"/>
                  </a:lnTo>
                  <a:lnTo>
                    <a:pt x="7675400" y="4159983"/>
                  </a:lnTo>
                  <a:lnTo>
                    <a:pt x="7630650" y="4170729"/>
                  </a:lnTo>
                  <a:lnTo>
                    <a:pt x="7584840" y="4178534"/>
                  </a:lnTo>
                  <a:lnTo>
                    <a:pt x="7538075" y="4183294"/>
                  </a:lnTo>
                  <a:lnTo>
                    <a:pt x="7490460" y="4184903"/>
                  </a:lnTo>
                  <a:lnTo>
                    <a:pt x="697991" y="4184903"/>
                  </a:lnTo>
                  <a:lnTo>
                    <a:pt x="650193" y="4183294"/>
                  </a:lnTo>
                  <a:lnTo>
                    <a:pt x="603261" y="4178534"/>
                  </a:lnTo>
                  <a:lnTo>
                    <a:pt x="557298" y="4170729"/>
                  </a:lnTo>
                  <a:lnTo>
                    <a:pt x="512409" y="4159983"/>
                  </a:lnTo>
                  <a:lnTo>
                    <a:pt x="468698" y="4146401"/>
                  </a:lnTo>
                  <a:lnTo>
                    <a:pt x="426267" y="4130087"/>
                  </a:lnTo>
                  <a:lnTo>
                    <a:pt x="385222" y="4111146"/>
                  </a:lnTo>
                  <a:lnTo>
                    <a:pt x="345665" y="4089682"/>
                  </a:lnTo>
                  <a:lnTo>
                    <a:pt x="307702" y="4065799"/>
                  </a:lnTo>
                  <a:lnTo>
                    <a:pt x="271435" y="4039603"/>
                  </a:lnTo>
                  <a:lnTo>
                    <a:pt x="236968" y="4011198"/>
                  </a:lnTo>
                  <a:lnTo>
                    <a:pt x="204406" y="3980687"/>
                  </a:lnTo>
                  <a:lnTo>
                    <a:pt x="173852" y="3948177"/>
                  </a:lnTo>
                  <a:lnTo>
                    <a:pt x="145410" y="3913771"/>
                  </a:lnTo>
                  <a:lnTo>
                    <a:pt x="119184" y="3877573"/>
                  </a:lnTo>
                  <a:lnTo>
                    <a:pt x="95278" y="3839689"/>
                  </a:lnTo>
                  <a:lnTo>
                    <a:pt x="73795" y="3800223"/>
                  </a:lnTo>
                  <a:lnTo>
                    <a:pt x="54840" y="3759279"/>
                  </a:lnTo>
                  <a:lnTo>
                    <a:pt x="38516" y="3716962"/>
                  </a:lnTo>
                  <a:lnTo>
                    <a:pt x="24927" y="3673376"/>
                  </a:lnTo>
                  <a:lnTo>
                    <a:pt x="14177" y="3628626"/>
                  </a:lnTo>
                  <a:lnTo>
                    <a:pt x="6370" y="3582816"/>
                  </a:lnTo>
                  <a:lnTo>
                    <a:pt x="1609" y="3536051"/>
                  </a:lnTo>
                  <a:lnTo>
                    <a:pt x="0" y="3488435"/>
                  </a:lnTo>
                  <a:lnTo>
                    <a:pt x="0" y="697991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37336" y="2133048"/>
            <a:ext cx="2075180" cy="12007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0" dirty="0">
                <a:latin typeface="Arial"/>
                <a:cs typeface="Arial"/>
              </a:rPr>
              <a:t>Concurrency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950" b="1" dirty="0">
                <a:latin typeface="Arial"/>
                <a:cs typeface="Arial"/>
              </a:rPr>
              <a:t>Multi-</a:t>
            </a:r>
            <a:r>
              <a:rPr sz="1950" b="1" spc="-10" dirty="0">
                <a:latin typeface="Arial"/>
                <a:cs typeface="Arial"/>
              </a:rPr>
              <a:t>Tasking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80385" y="282731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1802764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Conclusion</a:t>
            </a:r>
            <a:r>
              <a:rPr u="none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Point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5490083" y="3665854"/>
            <a:ext cx="3255645" cy="2760345"/>
            <a:chOff x="5490083" y="3665854"/>
            <a:chExt cx="3255645" cy="2760345"/>
          </a:xfrm>
        </p:grpSpPr>
        <p:sp>
          <p:nvSpPr>
            <p:cNvPr id="10" name="object 10"/>
            <p:cNvSpPr/>
            <p:nvPr/>
          </p:nvSpPr>
          <p:spPr>
            <a:xfrm>
              <a:off x="5497068" y="3672839"/>
              <a:ext cx="3241675" cy="2746375"/>
            </a:xfrm>
            <a:custGeom>
              <a:avLst/>
              <a:gdLst/>
              <a:ahLst/>
              <a:cxnLst/>
              <a:rect l="l" t="t" r="r" b="b"/>
              <a:pathLst>
                <a:path w="3241675" h="2746375">
                  <a:moveTo>
                    <a:pt x="2782824" y="2746248"/>
                  </a:moveTo>
                  <a:lnTo>
                    <a:pt x="457200" y="2746248"/>
                  </a:lnTo>
                  <a:lnTo>
                    <a:pt x="410374" y="2743892"/>
                  </a:lnTo>
                  <a:lnTo>
                    <a:pt x="364920" y="2736979"/>
                  </a:lnTo>
                  <a:lnTo>
                    <a:pt x="321064" y="2725734"/>
                  </a:lnTo>
                  <a:lnTo>
                    <a:pt x="279034" y="2710386"/>
                  </a:lnTo>
                  <a:lnTo>
                    <a:pt x="239058" y="2691163"/>
                  </a:lnTo>
                  <a:lnTo>
                    <a:pt x="201364" y="2668291"/>
                  </a:lnTo>
                  <a:lnTo>
                    <a:pt x="166179" y="2642000"/>
                  </a:lnTo>
                  <a:lnTo>
                    <a:pt x="133731" y="2612517"/>
                  </a:lnTo>
                  <a:lnTo>
                    <a:pt x="104247" y="2580068"/>
                  </a:lnTo>
                  <a:lnTo>
                    <a:pt x="77956" y="2544883"/>
                  </a:lnTo>
                  <a:lnTo>
                    <a:pt x="55085" y="2507189"/>
                  </a:lnTo>
                  <a:lnTo>
                    <a:pt x="35861" y="2467213"/>
                  </a:lnTo>
                  <a:lnTo>
                    <a:pt x="20513" y="2425183"/>
                  </a:lnTo>
                  <a:lnTo>
                    <a:pt x="9269" y="2381327"/>
                  </a:lnTo>
                  <a:lnTo>
                    <a:pt x="2355" y="2335873"/>
                  </a:lnTo>
                  <a:lnTo>
                    <a:pt x="0" y="2289048"/>
                  </a:lnTo>
                  <a:lnTo>
                    <a:pt x="0" y="457200"/>
                  </a:lnTo>
                  <a:lnTo>
                    <a:pt x="2355" y="410374"/>
                  </a:lnTo>
                  <a:lnTo>
                    <a:pt x="9269" y="364920"/>
                  </a:lnTo>
                  <a:lnTo>
                    <a:pt x="20513" y="321064"/>
                  </a:lnTo>
                  <a:lnTo>
                    <a:pt x="35861" y="279034"/>
                  </a:lnTo>
                  <a:lnTo>
                    <a:pt x="55085" y="239058"/>
                  </a:lnTo>
                  <a:lnTo>
                    <a:pt x="77956" y="201364"/>
                  </a:lnTo>
                  <a:lnTo>
                    <a:pt x="104247" y="166179"/>
                  </a:lnTo>
                  <a:lnTo>
                    <a:pt x="133731" y="133731"/>
                  </a:lnTo>
                  <a:lnTo>
                    <a:pt x="166179" y="104247"/>
                  </a:lnTo>
                  <a:lnTo>
                    <a:pt x="201364" y="77956"/>
                  </a:lnTo>
                  <a:lnTo>
                    <a:pt x="239058" y="55085"/>
                  </a:lnTo>
                  <a:lnTo>
                    <a:pt x="279034" y="35861"/>
                  </a:lnTo>
                  <a:lnTo>
                    <a:pt x="321064" y="20513"/>
                  </a:lnTo>
                  <a:lnTo>
                    <a:pt x="364920" y="9269"/>
                  </a:lnTo>
                  <a:lnTo>
                    <a:pt x="410374" y="2355"/>
                  </a:lnTo>
                  <a:lnTo>
                    <a:pt x="457200" y="0"/>
                  </a:lnTo>
                  <a:lnTo>
                    <a:pt x="2782824" y="0"/>
                  </a:lnTo>
                  <a:lnTo>
                    <a:pt x="2829666" y="2355"/>
                  </a:lnTo>
                  <a:lnTo>
                    <a:pt x="2875168" y="9269"/>
                  </a:lnTo>
                  <a:lnTo>
                    <a:pt x="2919099" y="20513"/>
                  </a:lnTo>
                  <a:lnTo>
                    <a:pt x="2961227" y="35861"/>
                  </a:lnTo>
                  <a:lnTo>
                    <a:pt x="3001318" y="55085"/>
                  </a:lnTo>
                  <a:lnTo>
                    <a:pt x="3039141" y="77956"/>
                  </a:lnTo>
                  <a:lnTo>
                    <a:pt x="3074464" y="104247"/>
                  </a:lnTo>
                  <a:lnTo>
                    <a:pt x="3107055" y="133731"/>
                  </a:lnTo>
                  <a:lnTo>
                    <a:pt x="3136680" y="166179"/>
                  </a:lnTo>
                  <a:lnTo>
                    <a:pt x="3163109" y="201364"/>
                  </a:lnTo>
                  <a:lnTo>
                    <a:pt x="3186109" y="239058"/>
                  </a:lnTo>
                  <a:lnTo>
                    <a:pt x="3205448" y="279034"/>
                  </a:lnTo>
                  <a:lnTo>
                    <a:pt x="3220893" y="321064"/>
                  </a:lnTo>
                  <a:lnTo>
                    <a:pt x="3232213" y="364920"/>
                  </a:lnTo>
                  <a:lnTo>
                    <a:pt x="3239175" y="410374"/>
                  </a:lnTo>
                  <a:lnTo>
                    <a:pt x="3241548" y="457200"/>
                  </a:lnTo>
                  <a:lnTo>
                    <a:pt x="3241548" y="2289048"/>
                  </a:lnTo>
                  <a:lnTo>
                    <a:pt x="3239175" y="2335873"/>
                  </a:lnTo>
                  <a:lnTo>
                    <a:pt x="3232213" y="2381327"/>
                  </a:lnTo>
                  <a:lnTo>
                    <a:pt x="3220893" y="2425183"/>
                  </a:lnTo>
                  <a:lnTo>
                    <a:pt x="3205448" y="2467213"/>
                  </a:lnTo>
                  <a:lnTo>
                    <a:pt x="3186109" y="2507189"/>
                  </a:lnTo>
                  <a:lnTo>
                    <a:pt x="3163109" y="2544883"/>
                  </a:lnTo>
                  <a:lnTo>
                    <a:pt x="3136680" y="2580068"/>
                  </a:lnTo>
                  <a:lnTo>
                    <a:pt x="3107055" y="2612517"/>
                  </a:lnTo>
                  <a:lnTo>
                    <a:pt x="3074464" y="2642000"/>
                  </a:lnTo>
                  <a:lnTo>
                    <a:pt x="3039141" y="2668291"/>
                  </a:lnTo>
                  <a:lnTo>
                    <a:pt x="3001318" y="2691163"/>
                  </a:lnTo>
                  <a:lnTo>
                    <a:pt x="2961227" y="2710386"/>
                  </a:lnTo>
                  <a:lnTo>
                    <a:pt x="2919099" y="2725734"/>
                  </a:lnTo>
                  <a:lnTo>
                    <a:pt x="2875168" y="2736979"/>
                  </a:lnTo>
                  <a:lnTo>
                    <a:pt x="2829666" y="2743892"/>
                  </a:lnTo>
                  <a:lnTo>
                    <a:pt x="2782824" y="2746248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97068" y="3672839"/>
              <a:ext cx="3241675" cy="2746375"/>
            </a:xfrm>
            <a:custGeom>
              <a:avLst/>
              <a:gdLst/>
              <a:ahLst/>
              <a:cxnLst/>
              <a:rect l="l" t="t" r="r" b="b"/>
              <a:pathLst>
                <a:path w="3241675" h="2746375">
                  <a:moveTo>
                    <a:pt x="0" y="457200"/>
                  </a:moveTo>
                  <a:lnTo>
                    <a:pt x="2355" y="410374"/>
                  </a:lnTo>
                  <a:lnTo>
                    <a:pt x="9269" y="364920"/>
                  </a:lnTo>
                  <a:lnTo>
                    <a:pt x="20513" y="321064"/>
                  </a:lnTo>
                  <a:lnTo>
                    <a:pt x="35861" y="279034"/>
                  </a:lnTo>
                  <a:lnTo>
                    <a:pt x="55085" y="239058"/>
                  </a:lnTo>
                  <a:lnTo>
                    <a:pt x="77956" y="201364"/>
                  </a:lnTo>
                  <a:lnTo>
                    <a:pt x="104247" y="166179"/>
                  </a:lnTo>
                  <a:lnTo>
                    <a:pt x="133731" y="133731"/>
                  </a:lnTo>
                  <a:lnTo>
                    <a:pt x="166179" y="104247"/>
                  </a:lnTo>
                  <a:lnTo>
                    <a:pt x="201364" y="77956"/>
                  </a:lnTo>
                  <a:lnTo>
                    <a:pt x="239058" y="55085"/>
                  </a:lnTo>
                  <a:lnTo>
                    <a:pt x="279034" y="35861"/>
                  </a:lnTo>
                  <a:lnTo>
                    <a:pt x="321064" y="20513"/>
                  </a:lnTo>
                  <a:lnTo>
                    <a:pt x="364920" y="9269"/>
                  </a:lnTo>
                  <a:lnTo>
                    <a:pt x="410374" y="2355"/>
                  </a:lnTo>
                  <a:lnTo>
                    <a:pt x="457200" y="0"/>
                  </a:lnTo>
                  <a:lnTo>
                    <a:pt x="2782824" y="0"/>
                  </a:lnTo>
                  <a:lnTo>
                    <a:pt x="2829666" y="2355"/>
                  </a:lnTo>
                  <a:lnTo>
                    <a:pt x="2875168" y="9269"/>
                  </a:lnTo>
                  <a:lnTo>
                    <a:pt x="2919099" y="20513"/>
                  </a:lnTo>
                  <a:lnTo>
                    <a:pt x="2961227" y="35861"/>
                  </a:lnTo>
                  <a:lnTo>
                    <a:pt x="3001318" y="55085"/>
                  </a:lnTo>
                  <a:lnTo>
                    <a:pt x="3039141" y="77956"/>
                  </a:lnTo>
                  <a:lnTo>
                    <a:pt x="3074464" y="104247"/>
                  </a:lnTo>
                  <a:lnTo>
                    <a:pt x="3107055" y="133731"/>
                  </a:lnTo>
                  <a:lnTo>
                    <a:pt x="3136680" y="166179"/>
                  </a:lnTo>
                  <a:lnTo>
                    <a:pt x="3163109" y="201364"/>
                  </a:lnTo>
                  <a:lnTo>
                    <a:pt x="3186109" y="239058"/>
                  </a:lnTo>
                  <a:lnTo>
                    <a:pt x="3205448" y="279034"/>
                  </a:lnTo>
                  <a:lnTo>
                    <a:pt x="3220893" y="321064"/>
                  </a:lnTo>
                  <a:lnTo>
                    <a:pt x="3232213" y="364920"/>
                  </a:lnTo>
                  <a:lnTo>
                    <a:pt x="3239175" y="410374"/>
                  </a:lnTo>
                  <a:lnTo>
                    <a:pt x="3241548" y="457200"/>
                  </a:lnTo>
                  <a:lnTo>
                    <a:pt x="3241548" y="2289048"/>
                  </a:lnTo>
                  <a:lnTo>
                    <a:pt x="3239175" y="2335873"/>
                  </a:lnTo>
                  <a:lnTo>
                    <a:pt x="3232213" y="2381327"/>
                  </a:lnTo>
                  <a:lnTo>
                    <a:pt x="3220893" y="2425183"/>
                  </a:lnTo>
                  <a:lnTo>
                    <a:pt x="3205448" y="2467213"/>
                  </a:lnTo>
                  <a:lnTo>
                    <a:pt x="3186109" y="2507189"/>
                  </a:lnTo>
                  <a:lnTo>
                    <a:pt x="3163109" y="2544883"/>
                  </a:lnTo>
                  <a:lnTo>
                    <a:pt x="3136680" y="2580068"/>
                  </a:lnTo>
                  <a:lnTo>
                    <a:pt x="3107055" y="2612517"/>
                  </a:lnTo>
                  <a:lnTo>
                    <a:pt x="3074464" y="2642000"/>
                  </a:lnTo>
                  <a:lnTo>
                    <a:pt x="3039141" y="2668291"/>
                  </a:lnTo>
                  <a:lnTo>
                    <a:pt x="3001318" y="2691163"/>
                  </a:lnTo>
                  <a:lnTo>
                    <a:pt x="2961227" y="2710386"/>
                  </a:lnTo>
                  <a:lnTo>
                    <a:pt x="2919099" y="2725734"/>
                  </a:lnTo>
                  <a:lnTo>
                    <a:pt x="2875168" y="2736979"/>
                  </a:lnTo>
                  <a:lnTo>
                    <a:pt x="2829666" y="2743892"/>
                  </a:lnTo>
                  <a:lnTo>
                    <a:pt x="2782824" y="2746248"/>
                  </a:lnTo>
                  <a:lnTo>
                    <a:pt x="457200" y="2746248"/>
                  </a:lnTo>
                  <a:lnTo>
                    <a:pt x="410374" y="2743892"/>
                  </a:lnTo>
                  <a:lnTo>
                    <a:pt x="364920" y="2736979"/>
                  </a:lnTo>
                  <a:lnTo>
                    <a:pt x="321064" y="2725734"/>
                  </a:lnTo>
                  <a:lnTo>
                    <a:pt x="279034" y="2710386"/>
                  </a:lnTo>
                  <a:lnTo>
                    <a:pt x="239058" y="2691163"/>
                  </a:lnTo>
                  <a:lnTo>
                    <a:pt x="201364" y="2668291"/>
                  </a:lnTo>
                  <a:lnTo>
                    <a:pt x="166179" y="2642000"/>
                  </a:lnTo>
                  <a:lnTo>
                    <a:pt x="133731" y="2612517"/>
                  </a:lnTo>
                  <a:lnTo>
                    <a:pt x="104247" y="2580068"/>
                  </a:lnTo>
                  <a:lnTo>
                    <a:pt x="77956" y="2544883"/>
                  </a:lnTo>
                  <a:lnTo>
                    <a:pt x="55085" y="2507189"/>
                  </a:lnTo>
                  <a:lnTo>
                    <a:pt x="35861" y="2467213"/>
                  </a:lnTo>
                  <a:lnTo>
                    <a:pt x="20513" y="2425183"/>
                  </a:lnTo>
                  <a:lnTo>
                    <a:pt x="9269" y="2381327"/>
                  </a:lnTo>
                  <a:lnTo>
                    <a:pt x="2355" y="2335873"/>
                  </a:lnTo>
                  <a:lnTo>
                    <a:pt x="0" y="2289048"/>
                  </a:lnTo>
                  <a:lnTo>
                    <a:pt x="0" y="457200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08354" y="3878034"/>
            <a:ext cx="2317750" cy="629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0"/>
              </a:spcBef>
            </a:pPr>
            <a:r>
              <a:rPr sz="1950" b="1" dirty="0">
                <a:latin typeface="Arial"/>
                <a:cs typeface="Arial"/>
              </a:rPr>
              <a:t>Other</a:t>
            </a:r>
            <a:r>
              <a:rPr sz="1950" b="1" spc="50" dirty="0">
                <a:latin typeface="Arial"/>
                <a:cs typeface="Arial"/>
              </a:rPr>
              <a:t> </a:t>
            </a:r>
            <a:r>
              <a:rPr sz="1950" b="1" spc="-10" dirty="0">
                <a:latin typeface="Arial"/>
                <a:cs typeface="Arial"/>
              </a:rPr>
              <a:t>Concurrency Concepts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31442" y="3665982"/>
            <a:ext cx="3255645" cy="2760345"/>
            <a:chOff x="1631442" y="3665982"/>
            <a:chExt cx="3255645" cy="2760345"/>
          </a:xfrm>
        </p:grpSpPr>
        <p:sp>
          <p:nvSpPr>
            <p:cNvPr id="14" name="object 14"/>
            <p:cNvSpPr/>
            <p:nvPr/>
          </p:nvSpPr>
          <p:spPr>
            <a:xfrm>
              <a:off x="1638300" y="3672840"/>
              <a:ext cx="3241675" cy="2746375"/>
            </a:xfrm>
            <a:custGeom>
              <a:avLst/>
              <a:gdLst/>
              <a:ahLst/>
              <a:cxnLst/>
              <a:rect l="l" t="t" r="r" b="b"/>
              <a:pathLst>
                <a:path w="3241675" h="2746375">
                  <a:moveTo>
                    <a:pt x="2782824" y="2746248"/>
                  </a:moveTo>
                  <a:lnTo>
                    <a:pt x="457200" y="2746248"/>
                  </a:lnTo>
                  <a:lnTo>
                    <a:pt x="410374" y="2743892"/>
                  </a:lnTo>
                  <a:lnTo>
                    <a:pt x="364920" y="2736979"/>
                  </a:lnTo>
                  <a:lnTo>
                    <a:pt x="321064" y="2725734"/>
                  </a:lnTo>
                  <a:lnTo>
                    <a:pt x="279034" y="2710386"/>
                  </a:lnTo>
                  <a:lnTo>
                    <a:pt x="239058" y="2691163"/>
                  </a:lnTo>
                  <a:lnTo>
                    <a:pt x="201364" y="2668291"/>
                  </a:lnTo>
                  <a:lnTo>
                    <a:pt x="166179" y="2642000"/>
                  </a:lnTo>
                  <a:lnTo>
                    <a:pt x="133731" y="2612517"/>
                  </a:lnTo>
                  <a:lnTo>
                    <a:pt x="104247" y="2580068"/>
                  </a:lnTo>
                  <a:lnTo>
                    <a:pt x="77956" y="2544883"/>
                  </a:lnTo>
                  <a:lnTo>
                    <a:pt x="55085" y="2507189"/>
                  </a:lnTo>
                  <a:lnTo>
                    <a:pt x="35861" y="2467213"/>
                  </a:lnTo>
                  <a:lnTo>
                    <a:pt x="20513" y="2425183"/>
                  </a:lnTo>
                  <a:lnTo>
                    <a:pt x="9269" y="2381327"/>
                  </a:lnTo>
                  <a:lnTo>
                    <a:pt x="2355" y="2335873"/>
                  </a:lnTo>
                  <a:lnTo>
                    <a:pt x="0" y="2289048"/>
                  </a:lnTo>
                  <a:lnTo>
                    <a:pt x="0" y="457200"/>
                  </a:lnTo>
                  <a:lnTo>
                    <a:pt x="2355" y="410374"/>
                  </a:lnTo>
                  <a:lnTo>
                    <a:pt x="9269" y="364920"/>
                  </a:lnTo>
                  <a:lnTo>
                    <a:pt x="20513" y="321064"/>
                  </a:lnTo>
                  <a:lnTo>
                    <a:pt x="35861" y="279034"/>
                  </a:lnTo>
                  <a:lnTo>
                    <a:pt x="55085" y="239058"/>
                  </a:lnTo>
                  <a:lnTo>
                    <a:pt x="77956" y="201364"/>
                  </a:lnTo>
                  <a:lnTo>
                    <a:pt x="104247" y="166179"/>
                  </a:lnTo>
                  <a:lnTo>
                    <a:pt x="133731" y="133731"/>
                  </a:lnTo>
                  <a:lnTo>
                    <a:pt x="166179" y="104247"/>
                  </a:lnTo>
                  <a:lnTo>
                    <a:pt x="201364" y="77956"/>
                  </a:lnTo>
                  <a:lnTo>
                    <a:pt x="239058" y="55085"/>
                  </a:lnTo>
                  <a:lnTo>
                    <a:pt x="279034" y="35861"/>
                  </a:lnTo>
                  <a:lnTo>
                    <a:pt x="321064" y="20513"/>
                  </a:lnTo>
                  <a:lnTo>
                    <a:pt x="364920" y="9269"/>
                  </a:lnTo>
                  <a:lnTo>
                    <a:pt x="410374" y="2355"/>
                  </a:lnTo>
                  <a:lnTo>
                    <a:pt x="457200" y="0"/>
                  </a:lnTo>
                  <a:lnTo>
                    <a:pt x="2782824" y="0"/>
                  </a:lnTo>
                  <a:lnTo>
                    <a:pt x="2829666" y="2355"/>
                  </a:lnTo>
                  <a:lnTo>
                    <a:pt x="2875168" y="9269"/>
                  </a:lnTo>
                  <a:lnTo>
                    <a:pt x="2919099" y="20513"/>
                  </a:lnTo>
                  <a:lnTo>
                    <a:pt x="2961227" y="35861"/>
                  </a:lnTo>
                  <a:lnTo>
                    <a:pt x="3001318" y="55085"/>
                  </a:lnTo>
                  <a:lnTo>
                    <a:pt x="3039141" y="77956"/>
                  </a:lnTo>
                  <a:lnTo>
                    <a:pt x="3074464" y="104247"/>
                  </a:lnTo>
                  <a:lnTo>
                    <a:pt x="3107055" y="133731"/>
                  </a:lnTo>
                  <a:lnTo>
                    <a:pt x="3136680" y="166179"/>
                  </a:lnTo>
                  <a:lnTo>
                    <a:pt x="3163109" y="201364"/>
                  </a:lnTo>
                  <a:lnTo>
                    <a:pt x="3186109" y="239058"/>
                  </a:lnTo>
                  <a:lnTo>
                    <a:pt x="3205448" y="279034"/>
                  </a:lnTo>
                  <a:lnTo>
                    <a:pt x="3220893" y="321064"/>
                  </a:lnTo>
                  <a:lnTo>
                    <a:pt x="3232213" y="364920"/>
                  </a:lnTo>
                  <a:lnTo>
                    <a:pt x="3239175" y="410374"/>
                  </a:lnTo>
                  <a:lnTo>
                    <a:pt x="3241548" y="457200"/>
                  </a:lnTo>
                  <a:lnTo>
                    <a:pt x="3241548" y="2289048"/>
                  </a:lnTo>
                  <a:lnTo>
                    <a:pt x="3239175" y="2335873"/>
                  </a:lnTo>
                  <a:lnTo>
                    <a:pt x="3232213" y="2381327"/>
                  </a:lnTo>
                  <a:lnTo>
                    <a:pt x="3220893" y="2425183"/>
                  </a:lnTo>
                  <a:lnTo>
                    <a:pt x="3205448" y="2467213"/>
                  </a:lnTo>
                  <a:lnTo>
                    <a:pt x="3186109" y="2507189"/>
                  </a:lnTo>
                  <a:lnTo>
                    <a:pt x="3163109" y="2544883"/>
                  </a:lnTo>
                  <a:lnTo>
                    <a:pt x="3136680" y="2580068"/>
                  </a:lnTo>
                  <a:lnTo>
                    <a:pt x="3107055" y="2612517"/>
                  </a:lnTo>
                  <a:lnTo>
                    <a:pt x="3074464" y="2642000"/>
                  </a:lnTo>
                  <a:lnTo>
                    <a:pt x="3039141" y="2668291"/>
                  </a:lnTo>
                  <a:lnTo>
                    <a:pt x="3001318" y="2691163"/>
                  </a:lnTo>
                  <a:lnTo>
                    <a:pt x="2961227" y="2710386"/>
                  </a:lnTo>
                  <a:lnTo>
                    <a:pt x="2919099" y="2725734"/>
                  </a:lnTo>
                  <a:lnTo>
                    <a:pt x="2875168" y="2736979"/>
                  </a:lnTo>
                  <a:lnTo>
                    <a:pt x="2829666" y="2743892"/>
                  </a:lnTo>
                  <a:lnTo>
                    <a:pt x="2782824" y="2746248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38300" y="3672840"/>
              <a:ext cx="3241675" cy="2746375"/>
            </a:xfrm>
            <a:custGeom>
              <a:avLst/>
              <a:gdLst/>
              <a:ahLst/>
              <a:cxnLst/>
              <a:rect l="l" t="t" r="r" b="b"/>
              <a:pathLst>
                <a:path w="3241675" h="2746375">
                  <a:moveTo>
                    <a:pt x="0" y="457200"/>
                  </a:moveTo>
                  <a:lnTo>
                    <a:pt x="2355" y="410374"/>
                  </a:lnTo>
                  <a:lnTo>
                    <a:pt x="9269" y="364920"/>
                  </a:lnTo>
                  <a:lnTo>
                    <a:pt x="20513" y="321064"/>
                  </a:lnTo>
                  <a:lnTo>
                    <a:pt x="35861" y="279034"/>
                  </a:lnTo>
                  <a:lnTo>
                    <a:pt x="55085" y="239058"/>
                  </a:lnTo>
                  <a:lnTo>
                    <a:pt x="77956" y="201364"/>
                  </a:lnTo>
                  <a:lnTo>
                    <a:pt x="104247" y="166179"/>
                  </a:lnTo>
                  <a:lnTo>
                    <a:pt x="133731" y="133731"/>
                  </a:lnTo>
                  <a:lnTo>
                    <a:pt x="166179" y="104247"/>
                  </a:lnTo>
                  <a:lnTo>
                    <a:pt x="201364" y="77956"/>
                  </a:lnTo>
                  <a:lnTo>
                    <a:pt x="239058" y="55085"/>
                  </a:lnTo>
                  <a:lnTo>
                    <a:pt x="279034" y="35861"/>
                  </a:lnTo>
                  <a:lnTo>
                    <a:pt x="321064" y="20513"/>
                  </a:lnTo>
                  <a:lnTo>
                    <a:pt x="364920" y="9269"/>
                  </a:lnTo>
                  <a:lnTo>
                    <a:pt x="410374" y="2355"/>
                  </a:lnTo>
                  <a:lnTo>
                    <a:pt x="457200" y="0"/>
                  </a:lnTo>
                  <a:lnTo>
                    <a:pt x="2782824" y="0"/>
                  </a:lnTo>
                  <a:lnTo>
                    <a:pt x="2829666" y="2355"/>
                  </a:lnTo>
                  <a:lnTo>
                    <a:pt x="2875168" y="9269"/>
                  </a:lnTo>
                  <a:lnTo>
                    <a:pt x="2919099" y="20513"/>
                  </a:lnTo>
                  <a:lnTo>
                    <a:pt x="2961227" y="35861"/>
                  </a:lnTo>
                  <a:lnTo>
                    <a:pt x="3001318" y="55085"/>
                  </a:lnTo>
                  <a:lnTo>
                    <a:pt x="3039141" y="77956"/>
                  </a:lnTo>
                  <a:lnTo>
                    <a:pt x="3074464" y="104247"/>
                  </a:lnTo>
                  <a:lnTo>
                    <a:pt x="3107055" y="133731"/>
                  </a:lnTo>
                  <a:lnTo>
                    <a:pt x="3136680" y="166179"/>
                  </a:lnTo>
                  <a:lnTo>
                    <a:pt x="3163109" y="201364"/>
                  </a:lnTo>
                  <a:lnTo>
                    <a:pt x="3186109" y="239058"/>
                  </a:lnTo>
                  <a:lnTo>
                    <a:pt x="3205448" y="279034"/>
                  </a:lnTo>
                  <a:lnTo>
                    <a:pt x="3220893" y="321064"/>
                  </a:lnTo>
                  <a:lnTo>
                    <a:pt x="3232213" y="364920"/>
                  </a:lnTo>
                  <a:lnTo>
                    <a:pt x="3239175" y="410374"/>
                  </a:lnTo>
                  <a:lnTo>
                    <a:pt x="3241548" y="457200"/>
                  </a:lnTo>
                  <a:lnTo>
                    <a:pt x="3241548" y="2289048"/>
                  </a:lnTo>
                  <a:lnTo>
                    <a:pt x="3239175" y="2335873"/>
                  </a:lnTo>
                  <a:lnTo>
                    <a:pt x="3232213" y="2381327"/>
                  </a:lnTo>
                  <a:lnTo>
                    <a:pt x="3220893" y="2425183"/>
                  </a:lnTo>
                  <a:lnTo>
                    <a:pt x="3205448" y="2467213"/>
                  </a:lnTo>
                  <a:lnTo>
                    <a:pt x="3186109" y="2507189"/>
                  </a:lnTo>
                  <a:lnTo>
                    <a:pt x="3163109" y="2544883"/>
                  </a:lnTo>
                  <a:lnTo>
                    <a:pt x="3136680" y="2580068"/>
                  </a:lnTo>
                  <a:lnTo>
                    <a:pt x="3107055" y="2612517"/>
                  </a:lnTo>
                  <a:lnTo>
                    <a:pt x="3074464" y="2642000"/>
                  </a:lnTo>
                  <a:lnTo>
                    <a:pt x="3039141" y="2668291"/>
                  </a:lnTo>
                  <a:lnTo>
                    <a:pt x="3001318" y="2691163"/>
                  </a:lnTo>
                  <a:lnTo>
                    <a:pt x="2961227" y="2710386"/>
                  </a:lnTo>
                  <a:lnTo>
                    <a:pt x="2919099" y="2725734"/>
                  </a:lnTo>
                  <a:lnTo>
                    <a:pt x="2875168" y="2736979"/>
                  </a:lnTo>
                  <a:lnTo>
                    <a:pt x="2829666" y="2743892"/>
                  </a:lnTo>
                  <a:lnTo>
                    <a:pt x="2782824" y="2746248"/>
                  </a:lnTo>
                  <a:lnTo>
                    <a:pt x="457200" y="2746248"/>
                  </a:lnTo>
                  <a:lnTo>
                    <a:pt x="410374" y="2743892"/>
                  </a:lnTo>
                  <a:lnTo>
                    <a:pt x="364920" y="2736979"/>
                  </a:lnTo>
                  <a:lnTo>
                    <a:pt x="321064" y="2725734"/>
                  </a:lnTo>
                  <a:lnTo>
                    <a:pt x="279034" y="2710386"/>
                  </a:lnTo>
                  <a:lnTo>
                    <a:pt x="239058" y="2691163"/>
                  </a:lnTo>
                  <a:lnTo>
                    <a:pt x="201364" y="2668291"/>
                  </a:lnTo>
                  <a:lnTo>
                    <a:pt x="166179" y="2642000"/>
                  </a:lnTo>
                  <a:lnTo>
                    <a:pt x="133731" y="2612517"/>
                  </a:lnTo>
                  <a:lnTo>
                    <a:pt x="104247" y="2580068"/>
                  </a:lnTo>
                  <a:lnTo>
                    <a:pt x="77956" y="2544883"/>
                  </a:lnTo>
                  <a:lnTo>
                    <a:pt x="55085" y="2507189"/>
                  </a:lnTo>
                  <a:lnTo>
                    <a:pt x="35861" y="2467213"/>
                  </a:lnTo>
                  <a:lnTo>
                    <a:pt x="20513" y="2425183"/>
                  </a:lnTo>
                  <a:lnTo>
                    <a:pt x="9269" y="2381327"/>
                  </a:lnTo>
                  <a:lnTo>
                    <a:pt x="2355" y="2335873"/>
                  </a:lnTo>
                  <a:lnTo>
                    <a:pt x="0" y="2289048"/>
                  </a:lnTo>
                  <a:lnTo>
                    <a:pt x="0" y="457200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33403" y="3873491"/>
            <a:ext cx="135572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0" dirty="0">
                <a:latin typeface="Arial"/>
                <a:cs typeface="Arial"/>
              </a:rPr>
              <a:t>Parallelism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1914144"/>
            <a:ext cx="9164320" cy="4768850"/>
            <a:chOff x="454151" y="1914144"/>
            <a:chExt cx="9164320" cy="4768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151" y="1914144"/>
              <a:ext cx="9163812" cy="47685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6875" y="2442972"/>
              <a:ext cx="5614416" cy="3860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7255" y="3797807"/>
              <a:ext cx="880871" cy="6736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88183" y="281363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544195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Basic</a:t>
            </a:r>
            <a:r>
              <a:rPr u="none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Operation</a:t>
            </a:r>
            <a:r>
              <a:rPr u="none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u="none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Threads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38957" y="3835368"/>
            <a:ext cx="536575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270" algn="ctr">
              <a:lnSpc>
                <a:spcPct val="1008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Main </a:t>
            </a:r>
            <a:r>
              <a:rPr sz="1200" b="1" spc="-10" dirty="0">
                <a:latin typeface="Arial"/>
                <a:cs typeface="Arial"/>
              </a:rPr>
              <a:t>Thread </a:t>
            </a:r>
            <a:r>
              <a:rPr sz="1200" b="1" spc="-20" dirty="0">
                <a:latin typeface="Arial"/>
                <a:cs typeface="Arial"/>
              </a:rPr>
              <a:t>(T0)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3108" y="3602735"/>
            <a:ext cx="6944995" cy="2070100"/>
            <a:chOff x="483108" y="3602735"/>
            <a:chExt cx="6944995" cy="207010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4575" y="4753356"/>
              <a:ext cx="4343400" cy="9189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59708" y="4821935"/>
              <a:ext cx="3027045" cy="805180"/>
            </a:xfrm>
            <a:custGeom>
              <a:avLst/>
              <a:gdLst/>
              <a:ahLst/>
              <a:cxnLst/>
              <a:rect l="l" t="t" r="r" b="b"/>
              <a:pathLst>
                <a:path w="3027045" h="805179">
                  <a:moveTo>
                    <a:pt x="3026663" y="804671"/>
                  </a:moveTo>
                  <a:lnTo>
                    <a:pt x="0" y="804671"/>
                  </a:lnTo>
                  <a:lnTo>
                    <a:pt x="0" y="0"/>
                  </a:lnTo>
                  <a:lnTo>
                    <a:pt x="3026663" y="0"/>
                  </a:lnTo>
                  <a:lnTo>
                    <a:pt x="3026663" y="80467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108" y="3602735"/>
              <a:ext cx="1371599" cy="137464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78824" y="4106655"/>
            <a:ext cx="55689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25" dirty="0">
                <a:latin typeface="Arial"/>
                <a:cs typeface="Arial"/>
              </a:rPr>
              <a:t>CPU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8723" y="4960620"/>
            <a:ext cx="2153411" cy="48310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434365" y="5037860"/>
            <a:ext cx="1577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10" dirty="0">
                <a:latin typeface="Arial"/>
                <a:cs typeface="Arial"/>
              </a:rPr>
              <a:t>Sub-</a:t>
            </a:r>
            <a:r>
              <a:rPr sz="1750" b="1" dirty="0">
                <a:latin typeface="Arial"/>
                <a:cs typeface="Arial"/>
              </a:rPr>
              <a:t>Process </a:t>
            </a:r>
            <a:r>
              <a:rPr sz="1750" b="1" spc="-50" dirty="0">
                <a:latin typeface="Arial"/>
                <a:cs typeface="Arial"/>
              </a:rPr>
              <a:t>2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4472" y="4712208"/>
            <a:ext cx="1167383" cy="49072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155643" y="4752816"/>
            <a:ext cx="88011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Arial"/>
                <a:cs typeface="Arial"/>
              </a:rPr>
              <a:t>Sub-</a:t>
            </a:r>
            <a:r>
              <a:rPr sz="1200" b="1" spc="-10" dirty="0">
                <a:latin typeface="Arial"/>
                <a:cs typeface="Arial"/>
              </a:rPr>
              <a:t>Thread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2143" y="4937187"/>
            <a:ext cx="30797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20" dirty="0">
                <a:latin typeface="Arial"/>
                <a:cs typeface="Arial"/>
              </a:rPr>
              <a:t>(T2)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72383" y="3552444"/>
            <a:ext cx="3446145" cy="922019"/>
            <a:chOff x="3072383" y="3552444"/>
            <a:chExt cx="3446145" cy="922019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72383" y="3552444"/>
              <a:ext cx="3445764" cy="92202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610356" y="3624072"/>
              <a:ext cx="2395855" cy="807720"/>
            </a:xfrm>
            <a:custGeom>
              <a:avLst/>
              <a:gdLst/>
              <a:ahLst/>
              <a:cxnLst/>
              <a:rect l="l" t="t" r="r" b="b"/>
              <a:pathLst>
                <a:path w="2395854" h="807720">
                  <a:moveTo>
                    <a:pt x="2395727" y="807719"/>
                  </a:moveTo>
                  <a:lnTo>
                    <a:pt x="0" y="807719"/>
                  </a:lnTo>
                  <a:lnTo>
                    <a:pt x="0" y="0"/>
                  </a:lnTo>
                  <a:lnTo>
                    <a:pt x="2395727" y="0"/>
                  </a:lnTo>
                  <a:lnTo>
                    <a:pt x="2395727" y="807719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2440" y="3822191"/>
              <a:ext cx="2040636" cy="47853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479980" y="3894863"/>
            <a:ext cx="1577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10" dirty="0">
                <a:latin typeface="Arial"/>
                <a:cs typeface="Arial"/>
              </a:rPr>
              <a:t>Sub-</a:t>
            </a:r>
            <a:r>
              <a:rPr sz="1750" b="1" dirty="0">
                <a:latin typeface="Arial"/>
                <a:cs typeface="Arial"/>
              </a:rPr>
              <a:t>Process </a:t>
            </a:r>
            <a:r>
              <a:rPr sz="1750" b="1" spc="-50" dirty="0">
                <a:latin typeface="Arial"/>
                <a:cs typeface="Arial"/>
              </a:rPr>
              <a:t>1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56560" y="3573779"/>
            <a:ext cx="1283208" cy="67208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158724" y="3611323"/>
            <a:ext cx="88011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Arial"/>
                <a:cs typeface="Arial"/>
              </a:rPr>
              <a:t>Sub-</a:t>
            </a:r>
            <a:r>
              <a:rPr sz="1200" b="1" spc="-10" dirty="0">
                <a:latin typeface="Arial"/>
                <a:cs typeface="Arial"/>
              </a:rPr>
              <a:t>Thread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45225" y="3795760"/>
            <a:ext cx="30797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20" dirty="0">
                <a:latin typeface="Arial"/>
                <a:cs typeface="Arial"/>
              </a:rPr>
              <a:t>(T1)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248400" y="4849368"/>
            <a:ext cx="1037843" cy="55626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519104" y="4888476"/>
            <a:ext cx="34290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20" dirty="0">
                <a:latin typeface="Arial"/>
                <a:cs typeface="Arial"/>
              </a:rPr>
              <a:t>Join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68067" y="3947160"/>
            <a:ext cx="7239000" cy="1458595"/>
            <a:chOff x="2068067" y="3947160"/>
            <a:chExt cx="7239000" cy="1458595"/>
          </a:xfrm>
        </p:grpSpPr>
        <p:sp>
          <p:nvSpPr>
            <p:cNvPr id="29" name="object 29"/>
            <p:cNvSpPr/>
            <p:nvPr/>
          </p:nvSpPr>
          <p:spPr>
            <a:xfrm>
              <a:off x="2068055" y="3947172"/>
              <a:ext cx="6513830" cy="1371600"/>
            </a:xfrm>
            <a:custGeom>
              <a:avLst/>
              <a:gdLst/>
              <a:ahLst/>
              <a:cxnLst/>
              <a:rect l="l" t="t" r="r" b="b"/>
              <a:pathLst>
                <a:path w="6513830" h="1371600">
                  <a:moveTo>
                    <a:pt x="2228088" y="114300"/>
                  </a:moveTo>
                  <a:lnTo>
                    <a:pt x="2182685" y="91440"/>
                  </a:lnTo>
                  <a:lnTo>
                    <a:pt x="2001024" y="0"/>
                  </a:lnTo>
                  <a:lnTo>
                    <a:pt x="2072957" y="91440"/>
                  </a:lnTo>
                  <a:lnTo>
                    <a:pt x="912876" y="91440"/>
                  </a:lnTo>
                  <a:lnTo>
                    <a:pt x="904163" y="93294"/>
                  </a:lnTo>
                  <a:lnTo>
                    <a:pt x="896874" y="98298"/>
                  </a:lnTo>
                  <a:lnTo>
                    <a:pt x="891882" y="105575"/>
                  </a:lnTo>
                  <a:lnTo>
                    <a:pt x="890016" y="114300"/>
                  </a:lnTo>
                  <a:lnTo>
                    <a:pt x="890016" y="481571"/>
                  </a:lnTo>
                  <a:lnTo>
                    <a:pt x="0" y="481571"/>
                  </a:lnTo>
                  <a:lnTo>
                    <a:pt x="0" y="527291"/>
                  </a:lnTo>
                  <a:lnTo>
                    <a:pt x="888492" y="527304"/>
                  </a:lnTo>
                  <a:lnTo>
                    <a:pt x="888492" y="1255763"/>
                  </a:lnTo>
                  <a:lnTo>
                    <a:pt x="890358" y="1264488"/>
                  </a:lnTo>
                  <a:lnTo>
                    <a:pt x="895350" y="1271765"/>
                  </a:lnTo>
                  <a:lnTo>
                    <a:pt x="902639" y="1276769"/>
                  </a:lnTo>
                  <a:lnTo>
                    <a:pt x="911352" y="1278623"/>
                  </a:lnTo>
                  <a:lnTo>
                    <a:pt x="2060765" y="1278623"/>
                  </a:lnTo>
                  <a:lnTo>
                    <a:pt x="1988832" y="1370063"/>
                  </a:lnTo>
                  <a:lnTo>
                    <a:pt x="2170480" y="1278623"/>
                  </a:lnTo>
                  <a:lnTo>
                    <a:pt x="2215908" y="1255763"/>
                  </a:lnTo>
                  <a:lnTo>
                    <a:pt x="2169871" y="1232903"/>
                  </a:lnTo>
                  <a:lnTo>
                    <a:pt x="1988832" y="1142987"/>
                  </a:lnTo>
                  <a:lnTo>
                    <a:pt x="2060511" y="1232903"/>
                  </a:lnTo>
                  <a:lnTo>
                    <a:pt x="934212" y="1232903"/>
                  </a:lnTo>
                  <a:lnTo>
                    <a:pt x="934212" y="527291"/>
                  </a:lnTo>
                  <a:lnTo>
                    <a:pt x="934212" y="511606"/>
                  </a:lnTo>
                  <a:lnTo>
                    <a:pt x="935736" y="504444"/>
                  </a:lnTo>
                  <a:lnTo>
                    <a:pt x="935736" y="481584"/>
                  </a:lnTo>
                  <a:lnTo>
                    <a:pt x="935736" y="137160"/>
                  </a:lnTo>
                  <a:lnTo>
                    <a:pt x="2072703" y="137160"/>
                  </a:lnTo>
                  <a:lnTo>
                    <a:pt x="2001024" y="227076"/>
                  </a:lnTo>
                  <a:lnTo>
                    <a:pt x="2182063" y="137160"/>
                  </a:lnTo>
                  <a:lnTo>
                    <a:pt x="2228088" y="114300"/>
                  </a:lnTo>
                  <a:close/>
                </a:path>
                <a:path w="6513830" h="1371600">
                  <a:moveTo>
                    <a:pt x="4751844" y="1255776"/>
                  </a:moveTo>
                  <a:lnTo>
                    <a:pt x="4705807" y="1232916"/>
                  </a:lnTo>
                  <a:lnTo>
                    <a:pt x="4524768" y="1143000"/>
                  </a:lnTo>
                  <a:lnTo>
                    <a:pt x="4596447" y="1232916"/>
                  </a:lnTo>
                  <a:lnTo>
                    <a:pt x="4489716" y="1232916"/>
                  </a:lnTo>
                  <a:lnTo>
                    <a:pt x="4227588" y="1232916"/>
                  </a:lnTo>
                  <a:lnTo>
                    <a:pt x="4227588" y="1278636"/>
                  </a:lnTo>
                  <a:lnTo>
                    <a:pt x="4489716" y="1278636"/>
                  </a:lnTo>
                  <a:lnTo>
                    <a:pt x="4596701" y="1278636"/>
                  </a:lnTo>
                  <a:lnTo>
                    <a:pt x="4524768" y="1370076"/>
                  </a:lnTo>
                  <a:lnTo>
                    <a:pt x="4706429" y="1278636"/>
                  </a:lnTo>
                  <a:lnTo>
                    <a:pt x="4751844" y="1255776"/>
                  </a:lnTo>
                  <a:close/>
                </a:path>
                <a:path w="6513830" h="1371600">
                  <a:moveTo>
                    <a:pt x="5102364" y="844296"/>
                  </a:moveTo>
                  <a:lnTo>
                    <a:pt x="5010924" y="916228"/>
                  </a:lnTo>
                  <a:lnTo>
                    <a:pt x="5010924" y="137160"/>
                  </a:lnTo>
                  <a:lnTo>
                    <a:pt x="5010924" y="114300"/>
                  </a:lnTo>
                  <a:lnTo>
                    <a:pt x="5009058" y="105575"/>
                  </a:lnTo>
                  <a:lnTo>
                    <a:pt x="5004066" y="98298"/>
                  </a:lnTo>
                  <a:lnTo>
                    <a:pt x="4996777" y="93294"/>
                  </a:lnTo>
                  <a:lnTo>
                    <a:pt x="4988064" y="91427"/>
                  </a:lnTo>
                  <a:lnTo>
                    <a:pt x="4241304" y="91427"/>
                  </a:lnTo>
                  <a:lnTo>
                    <a:pt x="4241304" y="137160"/>
                  </a:lnTo>
                  <a:lnTo>
                    <a:pt x="4965204" y="137160"/>
                  </a:lnTo>
                  <a:lnTo>
                    <a:pt x="4965204" y="915974"/>
                  </a:lnTo>
                  <a:lnTo>
                    <a:pt x="4875288" y="844296"/>
                  </a:lnTo>
                  <a:lnTo>
                    <a:pt x="4988064" y="1071372"/>
                  </a:lnTo>
                  <a:lnTo>
                    <a:pt x="5057102" y="934212"/>
                  </a:lnTo>
                  <a:lnTo>
                    <a:pt x="5102364" y="844296"/>
                  </a:lnTo>
                  <a:close/>
                </a:path>
                <a:path w="6513830" h="1371600">
                  <a:moveTo>
                    <a:pt x="6513576" y="1257300"/>
                  </a:moveTo>
                  <a:lnTo>
                    <a:pt x="6467551" y="1234427"/>
                  </a:lnTo>
                  <a:lnTo>
                    <a:pt x="6286500" y="1144511"/>
                  </a:lnTo>
                  <a:lnTo>
                    <a:pt x="6358179" y="1234427"/>
                  </a:lnTo>
                  <a:lnTo>
                    <a:pt x="5859780" y="1234427"/>
                  </a:lnTo>
                  <a:lnTo>
                    <a:pt x="5205984" y="1234427"/>
                  </a:lnTo>
                  <a:lnTo>
                    <a:pt x="5205984" y="1280160"/>
                  </a:lnTo>
                  <a:lnTo>
                    <a:pt x="5859780" y="1280160"/>
                  </a:lnTo>
                  <a:lnTo>
                    <a:pt x="6358433" y="1280160"/>
                  </a:lnTo>
                  <a:lnTo>
                    <a:pt x="6286500" y="1371600"/>
                  </a:lnTo>
                  <a:lnTo>
                    <a:pt x="6468161" y="1280160"/>
                  </a:lnTo>
                  <a:lnTo>
                    <a:pt x="6513576" y="1257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43315" y="4579620"/>
              <a:ext cx="1063751" cy="82600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8363227" y="4617211"/>
            <a:ext cx="827405" cy="4946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3345" marR="5080" indent="-81280">
              <a:lnSpc>
                <a:spcPct val="102699"/>
              </a:lnSpc>
              <a:spcBef>
                <a:spcPts val="85"/>
              </a:spcBef>
            </a:pPr>
            <a:r>
              <a:rPr sz="1500" b="1" spc="-10" dirty="0">
                <a:latin typeface="Arial"/>
                <a:cs typeface="Arial"/>
              </a:rPr>
              <a:t>Program Output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45563" y="2467356"/>
            <a:ext cx="3438525" cy="2108200"/>
            <a:chOff x="1845563" y="2467356"/>
            <a:chExt cx="3438525" cy="2108200"/>
          </a:xfrm>
        </p:grpSpPr>
        <p:sp>
          <p:nvSpPr>
            <p:cNvPr id="33" name="object 33"/>
            <p:cNvSpPr/>
            <p:nvPr/>
          </p:nvSpPr>
          <p:spPr>
            <a:xfrm>
              <a:off x="1845563" y="4347972"/>
              <a:ext cx="1015365" cy="227329"/>
            </a:xfrm>
            <a:custGeom>
              <a:avLst/>
              <a:gdLst/>
              <a:ahLst/>
              <a:cxnLst/>
              <a:rect l="l" t="t" r="r" b="b"/>
              <a:pathLst>
                <a:path w="1015364" h="227329">
                  <a:moveTo>
                    <a:pt x="879348" y="112776"/>
                  </a:moveTo>
                  <a:lnTo>
                    <a:pt x="787908" y="0"/>
                  </a:lnTo>
                  <a:lnTo>
                    <a:pt x="968955" y="89916"/>
                  </a:lnTo>
                  <a:lnTo>
                    <a:pt x="879348" y="89916"/>
                  </a:lnTo>
                  <a:lnTo>
                    <a:pt x="879348" y="112776"/>
                  </a:lnTo>
                  <a:close/>
                </a:path>
                <a:path w="1015364" h="227329">
                  <a:moveTo>
                    <a:pt x="497041" y="132588"/>
                  </a:moveTo>
                  <a:lnTo>
                    <a:pt x="0" y="132588"/>
                  </a:lnTo>
                  <a:lnTo>
                    <a:pt x="0" y="88392"/>
                  </a:lnTo>
                  <a:lnTo>
                    <a:pt x="507492" y="88392"/>
                  </a:lnTo>
                  <a:lnTo>
                    <a:pt x="515575" y="89916"/>
                  </a:lnTo>
                  <a:lnTo>
                    <a:pt x="507492" y="89916"/>
                  </a:lnTo>
                  <a:lnTo>
                    <a:pt x="528828" y="111252"/>
                  </a:lnTo>
                  <a:lnTo>
                    <a:pt x="484632" y="111252"/>
                  </a:lnTo>
                  <a:lnTo>
                    <a:pt x="484632" y="112776"/>
                  </a:lnTo>
                  <a:lnTo>
                    <a:pt x="486489" y="121491"/>
                  </a:lnTo>
                  <a:lnTo>
                    <a:pt x="491490" y="128778"/>
                  </a:lnTo>
                  <a:lnTo>
                    <a:pt x="497041" y="132588"/>
                  </a:lnTo>
                  <a:close/>
                </a:path>
                <a:path w="1015364" h="227329">
                  <a:moveTo>
                    <a:pt x="530352" y="112776"/>
                  </a:moveTo>
                  <a:lnTo>
                    <a:pt x="507492" y="89916"/>
                  </a:lnTo>
                  <a:lnTo>
                    <a:pt x="516020" y="89916"/>
                  </a:lnTo>
                  <a:lnTo>
                    <a:pt x="523494" y="94678"/>
                  </a:lnTo>
                  <a:lnTo>
                    <a:pt x="528494" y="101893"/>
                  </a:lnTo>
                  <a:lnTo>
                    <a:pt x="530352" y="111252"/>
                  </a:lnTo>
                  <a:lnTo>
                    <a:pt x="530352" y="112776"/>
                  </a:lnTo>
                  <a:close/>
                </a:path>
                <a:path w="1015364" h="227329">
                  <a:moveTo>
                    <a:pt x="879348" y="112776"/>
                  </a:moveTo>
                  <a:lnTo>
                    <a:pt x="530352" y="112776"/>
                  </a:lnTo>
                  <a:lnTo>
                    <a:pt x="530352" y="111252"/>
                  </a:lnTo>
                  <a:lnTo>
                    <a:pt x="528494" y="101893"/>
                  </a:lnTo>
                  <a:lnTo>
                    <a:pt x="523494" y="94678"/>
                  </a:lnTo>
                  <a:lnTo>
                    <a:pt x="516020" y="89916"/>
                  </a:lnTo>
                  <a:lnTo>
                    <a:pt x="860812" y="89916"/>
                  </a:lnTo>
                  <a:lnTo>
                    <a:pt x="879348" y="112776"/>
                  </a:lnTo>
                  <a:close/>
                </a:path>
                <a:path w="1015364" h="227329">
                  <a:moveTo>
                    <a:pt x="969568" y="135636"/>
                  </a:moveTo>
                  <a:lnTo>
                    <a:pt x="879348" y="135636"/>
                  </a:lnTo>
                  <a:lnTo>
                    <a:pt x="879348" y="89916"/>
                  </a:lnTo>
                  <a:lnTo>
                    <a:pt x="968955" y="89916"/>
                  </a:lnTo>
                  <a:lnTo>
                    <a:pt x="1014984" y="112776"/>
                  </a:lnTo>
                  <a:lnTo>
                    <a:pt x="969568" y="135636"/>
                  </a:lnTo>
                  <a:close/>
                </a:path>
                <a:path w="1015364" h="227329">
                  <a:moveTo>
                    <a:pt x="861060" y="135636"/>
                  </a:moveTo>
                  <a:lnTo>
                    <a:pt x="507492" y="135636"/>
                  </a:lnTo>
                  <a:lnTo>
                    <a:pt x="498776" y="133778"/>
                  </a:lnTo>
                  <a:lnTo>
                    <a:pt x="491490" y="128778"/>
                  </a:lnTo>
                  <a:lnTo>
                    <a:pt x="486489" y="121491"/>
                  </a:lnTo>
                  <a:lnTo>
                    <a:pt x="484632" y="112776"/>
                  </a:lnTo>
                  <a:lnTo>
                    <a:pt x="484632" y="111252"/>
                  </a:lnTo>
                  <a:lnTo>
                    <a:pt x="507492" y="132588"/>
                  </a:lnTo>
                  <a:lnTo>
                    <a:pt x="863498" y="132588"/>
                  </a:lnTo>
                  <a:lnTo>
                    <a:pt x="861060" y="135636"/>
                  </a:lnTo>
                  <a:close/>
                </a:path>
                <a:path w="1015364" h="227329">
                  <a:moveTo>
                    <a:pt x="863498" y="132588"/>
                  </a:moveTo>
                  <a:lnTo>
                    <a:pt x="507492" y="132588"/>
                  </a:lnTo>
                  <a:lnTo>
                    <a:pt x="484632" y="111252"/>
                  </a:lnTo>
                  <a:lnTo>
                    <a:pt x="528828" y="111252"/>
                  </a:lnTo>
                  <a:lnTo>
                    <a:pt x="530352" y="112776"/>
                  </a:lnTo>
                  <a:lnTo>
                    <a:pt x="879348" y="112776"/>
                  </a:lnTo>
                  <a:lnTo>
                    <a:pt x="863498" y="132588"/>
                  </a:lnTo>
                  <a:close/>
                </a:path>
                <a:path w="1015364" h="227329">
                  <a:moveTo>
                    <a:pt x="787908" y="227076"/>
                  </a:moveTo>
                  <a:lnTo>
                    <a:pt x="879348" y="112776"/>
                  </a:lnTo>
                  <a:lnTo>
                    <a:pt x="879348" y="135636"/>
                  </a:lnTo>
                  <a:lnTo>
                    <a:pt x="969568" y="135636"/>
                  </a:lnTo>
                  <a:lnTo>
                    <a:pt x="787908" y="2270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23388" y="2467356"/>
              <a:ext cx="2560319" cy="377951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015972" y="1998969"/>
            <a:ext cx="3841115" cy="13163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latin typeface="Arial"/>
                <a:cs typeface="Arial"/>
              </a:rPr>
              <a:t>A</a:t>
            </a:r>
            <a:r>
              <a:rPr sz="1950" b="1" spc="-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Computer</a:t>
            </a:r>
            <a:r>
              <a:rPr sz="1950" b="1" spc="45" dirty="0">
                <a:latin typeface="Arial"/>
                <a:cs typeface="Arial"/>
              </a:rPr>
              <a:t> </a:t>
            </a:r>
            <a:r>
              <a:rPr sz="1950" b="1" spc="-10" dirty="0">
                <a:latin typeface="Arial"/>
                <a:cs typeface="Arial"/>
              </a:rPr>
              <a:t>Device</a:t>
            </a:r>
            <a:endParaRPr sz="1950">
              <a:latin typeface="Arial"/>
              <a:cs typeface="Arial"/>
            </a:endParaRPr>
          </a:p>
          <a:p>
            <a:pPr marL="2037714" marR="5080" indent="-222885">
              <a:lnSpc>
                <a:spcPct val="163600"/>
              </a:lnSpc>
              <a:spcBef>
                <a:spcPts val="130"/>
              </a:spcBef>
            </a:pPr>
            <a:r>
              <a:rPr sz="1950" b="1" dirty="0">
                <a:latin typeface="Arial"/>
                <a:cs typeface="Arial"/>
              </a:rPr>
              <a:t>Main</a:t>
            </a:r>
            <a:r>
              <a:rPr sz="1950" b="1" spc="5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Thread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spc="-20" dirty="0">
                <a:latin typeface="Arial"/>
                <a:cs typeface="Arial"/>
              </a:rPr>
              <a:t>(T0) </a:t>
            </a:r>
            <a:r>
              <a:rPr sz="1950" b="1" spc="-10" dirty="0">
                <a:latin typeface="Arial"/>
                <a:cs typeface="Arial"/>
              </a:rPr>
              <a:t>Program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58228" y="6865619"/>
            <a:ext cx="2734056" cy="423671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253696" y="6926971"/>
            <a:ext cx="236918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1950" b="1" dirty="0">
                <a:solidFill>
                  <a:srgbClr val="FF0000"/>
                </a:solidFill>
                <a:latin typeface="Arial"/>
                <a:cs typeface="Arial"/>
              </a:rPr>
              <a:t>Next</a:t>
            </a:r>
            <a:r>
              <a:rPr sz="195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0000"/>
                </a:solidFill>
                <a:latin typeface="Arial"/>
                <a:cs typeface="Arial"/>
              </a:rPr>
              <a:t>week</a:t>
            </a:r>
            <a:r>
              <a:rPr sz="195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0000"/>
                </a:solidFill>
                <a:latin typeface="Arial"/>
                <a:cs typeface="Arial"/>
              </a:rPr>
              <a:t>Teaser…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1914144"/>
            <a:ext cx="9164320" cy="4768850"/>
            <a:chOff x="454151" y="1914144"/>
            <a:chExt cx="9164320" cy="4768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151" y="1914144"/>
              <a:ext cx="9163812" cy="47685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6875" y="2442972"/>
              <a:ext cx="5614416" cy="3860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7255" y="3797807"/>
              <a:ext cx="880871" cy="6736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88183" y="355907"/>
            <a:ext cx="7695748" cy="926713"/>
          </a:xfrm>
          <a:prstGeom prst="rect">
            <a:avLst/>
          </a:prstGeom>
        </p:spPr>
        <p:txBody>
          <a:bodyPr vert="horz" wrap="square" lIns="0" tIns="315771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110"/>
              </a:spcBef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u="none" spc="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Major</a:t>
            </a:r>
            <a:r>
              <a:rPr u="none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dirty="0">
                <a:solidFill>
                  <a:srgbClr val="000000"/>
                </a:solidFill>
                <a:latin typeface="Arial MT"/>
                <a:cs typeface="Arial MT"/>
              </a:rPr>
              <a:t>Concern:</a:t>
            </a:r>
            <a:r>
              <a:rPr u="none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Arial MT"/>
                <a:cs typeface="Arial MT"/>
              </a:rPr>
              <a:t>DeadLock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38957" y="3835368"/>
            <a:ext cx="536575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270" algn="ctr">
              <a:lnSpc>
                <a:spcPct val="1008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Main </a:t>
            </a:r>
            <a:r>
              <a:rPr sz="1200" b="1" spc="-10" dirty="0">
                <a:latin typeface="Arial"/>
                <a:cs typeface="Arial"/>
              </a:rPr>
              <a:t>Thread </a:t>
            </a:r>
            <a:r>
              <a:rPr sz="1200" b="1" spc="-20" dirty="0">
                <a:latin typeface="Arial"/>
                <a:cs typeface="Arial"/>
              </a:rPr>
              <a:t>(T0)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3108" y="3602735"/>
            <a:ext cx="6944995" cy="2070100"/>
            <a:chOff x="483108" y="3602735"/>
            <a:chExt cx="6944995" cy="207010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4575" y="4753356"/>
              <a:ext cx="4343400" cy="9189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59708" y="4821935"/>
              <a:ext cx="3027045" cy="805180"/>
            </a:xfrm>
            <a:custGeom>
              <a:avLst/>
              <a:gdLst/>
              <a:ahLst/>
              <a:cxnLst/>
              <a:rect l="l" t="t" r="r" b="b"/>
              <a:pathLst>
                <a:path w="3027045" h="805179">
                  <a:moveTo>
                    <a:pt x="3026663" y="804671"/>
                  </a:moveTo>
                  <a:lnTo>
                    <a:pt x="0" y="804671"/>
                  </a:lnTo>
                  <a:lnTo>
                    <a:pt x="0" y="0"/>
                  </a:lnTo>
                  <a:lnTo>
                    <a:pt x="3026663" y="0"/>
                  </a:lnTo>
                  <a:lnTo>
                    <a:pt x="3026663" y="80467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108" y="3602735"/>
              <a:ext cx="1371599" cy="137464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78824" y="4106655"/>
            <a:ext cx="55689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25" dirty="0">
                <a:latin typeface="Arial"/>
                <a:cs typeface="Arial"/>
              </a:rPr>
              <a:t>CPU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8723" y="4960620"/>
            <a:ext cx="2040636" cy="69494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481512" y="5037860"/>
            <a:ext cx="1577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10" dirty="0">
                <a:latin typeface="Arial"/>
                <a:cs typeface="Arial"/>
              </a:rPr>
              <a:t>Sub-</a:t>
            </a:r>
            <a:r>
              <a:rPr sz="1750" b="1" dirty="0">
                <a:latin typeface="Arial"/>
                <a:cs typeface="Arial"/>
              </a:rPr>
              <a:t>Process </a:t>
            </a:r>
            <a:r>
              <a:rPr sz="1750" b="1" spc="-50" dirty="0">
                <a:latin typeface="Arial"/>
                <a:cs typeface="Arial"/>
              </a:rPr>
              <a:t>2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4472" y="4712208"/>
            <a:ext cx="1167383" cy="49072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155643" y="4752816"/>
            <a:ext cx="88011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Arial"/>
                <a:cs typeface="Arial"/>
              </a:rPr>
              <a:t>Sub-</a:t>
            </a:r>
            <a:r>
              <a:rPr sz="1200" b="1" spc="-10" dirty="0">
                <a:latin typeface="Arial"/>
                <a:cs typeface="Arial"/>
              </a:rPr>
              <a:t>Thread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2143" y="4937187"/>
            <a:ext cx="30797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20" dirty="0">
                <a:latin typeface="Arial"/>
                <a:cs typeface="Arial"/>
              </a:rPr>
              <a:t>(T2)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72383" y="3552444"/>
            <a:ext cx="4343400" cy="965200"/>
            <a:chOff x="3072383" y="3552444"/>
            <a:chExt cx="4343400" cy="965200"/>
          </a:xfrm>
        </p:grpSpPr>
        <p:sp>
          <p:nvSpPr>
            <p:cNvPr id="19" name="object 19"/>
            <p:cNvSpPr/>
            <p:nvPr/>
          </p:nvSpPr>
          <p:spPr>
            <a:xfrm>
              <a:off x="3747516" y="3624072"/>
              <a:ext cx="3027045" cy="807720"/>
            </a:xfrm>
            <a:custGeom>
              <a:avLst/>
              <a:gdLst/>
              <a:ahLst/>
              <a:cxnLst/>
              <a:rect l="l" t="t" r="r" b="b"/>
              <a:pathLst>
                <a:path w="3027045" h="807720">
                  <a:moveTo>
                    <a:pt x="3026664" y="807719"/>
                  </a:moveTo>
                  <a:lnTo>
                    <a:pt x="0" y="807719"/>
                  </a:lnTo>
                  <a:lnTo>
                    <a:pt x="0" y="0"/>
                  </a:lnTo>
                  <a:lnTo>
                    <a:pt x="3026664" y="0"/>
                  </a:lnTo>
                  <a:lnTo>
                    <a:pt x="3026664" y="807719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72383" y="3552444"/>
              <a:ext cx="4343400" cy="96469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502842" y="3894863"/>
            <a:ext cx="1577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10" dirty="0">
                <a:latin typeface="Arial"/>
                <a:cs typeface="Arial"/>
              </a:rPr>
              <a:t>Sub-</a:t>
            </a:r>
            <a:r>
              <a:rPr sz="1750" b="1" dirty="0">
                <a:latin typeface="Arial"/>
                <a:cs typeface="Arial"/>
              </a:rPr>
              <a:t>Process </a:t>
            </a:r>
            <a:r>
              <a:rPr sz="1750" b="1" spc="-50" dirty="0">
                <a:latin typeface="Arial"/>
                <a:cs typeface="Arial"/>
              </a:rPr>
              <a:t>1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56560" y="3573779"/>
            <a:ext cx="1283208" cy="67208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158724" y="3611323"/>
            <a:ext cx="88011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Arial"/>
                <a:cs typeface="Arial"/>
              </a:rPr>
              <a:t>Sub-</a:t>
            </a:r>
            <a:r>
              <a:rPr sz="1200" b="1" spc="-10" dirty="0">
                <a:latin typeface="Arial"/>
                <a:cs typeface="Arial"/>
              </a:rPr>
              <a:t>Thread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45225" y="3795760"/>
            <a:ext cx="30797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20" dirty="0">
                <a:latin typeface="Arial"/>
                <a:cs typeface="Arial"/>
              </a:rPr>
              <a:t>(T1)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48400" y="4849368"/>
            <a:ext cx="1037843" cy="55626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519104" y="4888476"/>
            <a:ext cx="34290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20" dirty="0">
                <a:latin typeface="Arial"/>
                <a:cs typeface="Arial"/>
              </a:rPr>
              <a:t>Join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845563" y="2467356"/>
            <a:ext cx="7690484" cy="2863850"/>
            <a:chOff x="1845563" y="2467356"/>
            <a:chExt cx="7690484" cy="2863850"/>
          </a:xfrm>
        </p:grpSpPr>
        <p:sp>
          <p:nvSpPr>
            <p:cNvPr id="28" name="object 28"/>
            <p:cNvSpPr/>
            <p:nvPr/>
          </p:nvSpPr>
          <p:spPr>
            <a:xfrm>
              <a:off x="2068055" y="3947172"/>
              <a:ext cx="4752340" cy="1370330"/>
            </a:xfrm>
            <a:custGeom>
              <a:avLst/>
              <a:gdLst/>
              <a:ahLst/>
              <a:cxnLst/>
              <a:rect l="l" t="t" r="r" b="b"/>
              <a:pathLst>
                <a:path w="4752340" h="1370329">
                  <a:moveTo>
                    <a:pt x="2228088" y="114300"/>
                  </a:moveTo>
                  <a:lnTo>
                    <a:pt x="2182685" y="91440"/>
                  </a:lnTo>
                  <a:lnTo>
                    <a:pt x="2001024" y="0"/>
                  </a:lnTo>
                  <a:lnTo>
                    <a:pt x="2072957" y="91440"/>
                  </a:lnTo>
                  <a:lnTo>
                    <a:pt x="912876" y="91440"/>
                  </a:lnTo>
                  <a:lnTo>
                    <a:pt x="904163" y="93294"/>
                  </a:lnTo>
                  <a:lnTo>
                    <a:pt x="896874" y="98298"/>
                  </a:lnTo>
                  <a:lnTo>
                    <a:pt x="891882" y="105575"/>
                  </a:lnTo>
                  <a:lnTo>
                    <a:pt x="890016" y="114300"/>
                  </a:lnTo>
                  <a:lnTo>
                    <a:pt x="890016" y="481571"/>
                  </a:lnTo>
                  <a:lnTo>
                    <a:pt x="0" y="481571"/>
                  </a:lnTo>
                  <a:lnTo>
                    <a:pt x="0" y="527291"/>
                  </a:lnTo>
                  <a:lnTo>
                    <a:pt x="888492" y="527304"/>
                  </a:lnTo>
                  <a:lnTo>
                    <a:pt x="888492" y="1255763"/>
                  </a:lnTo>
                  <a:lnTo>
                    <a:pt x="890358" y="1264488"/>
                  </a:lnTo>
                  <a:lnTo>
                    <a:pt x="895350" y="1271765"/>
                  </a:lnTo>
                  <a:lnTo>
                    <a:pt x="902639" y="1276769"/>
                  </a:lnTo>
                  <a:lnTo>
                    <a:pt x="911352" y="1278623"/>
                  </a:lnTo>
                  <a:lnTo>
                    <a:pt x="2060765" y="1278623"/>
                  </a:lnTo>
                  <a:lnTo>
                    <a:pt x="1988832" y="1370063"/>
                  </a:lnTo>
                  <a:lnTo>
                    <a:pt x="2170480" y="1278623"/>
                  </a:lnTo>
                  <a:lnTo>
                    <a:pt x="2215908" y="1255763"/>
                  </a:lnTo>
                  <a:lnTo>
                    <a:pt x="2169871" y="1232903"/>
                  </a:lnTo>
                  <a:lnTo>
                    <a:pt x="1988832" y="1142987"/>
                  </a:lnTo>
                  <a:lnTo>
                    <a:pt x="2060511" y="1232903"/>
                  </a:lnTo>
                  <a:lnTo>
                    <a:pt x="934212" y="1232903"/>
                  </a:lnTo>
                  <a:lnTo>
                    <a:pt x="934212" y="527291"/>
                  </a:lnTo>
                  <a:lnTo>
                    <a:pt x="934212" y="511606"/>
                  </a:lnTo>
                  <a:lnTo>
                    <a:pt x="935736" y="504444"/>
                  </a:lnTo>
                  <a:lnTo>
                    <a:pt x="935736" y="481584"/>
                  </a:lnTo>
                  <a:lnTo>
                    <a:pt x="935736" y="137160"/>
                  </a:lnTo>
                  <a:lnTo>
                    <a:pt x="2072703" y="137160"/>
                  </a:lnTo>
                  <a:lnTo>
                    <a:pt x="2001024" y="227076"/>
                  </a:lnTo>
                  <a:lnTo>
                    <a:pt x="2182063" y="137160"/>
                  </a:lnTo>
                  <a:lnTo>
                    <a:pt x="2228088" y="114300"/>
                  </a:lnTo>
                  <a:close/>
                </a:path>
                <a:path w="4752340" h="1370329">
                  <a:moveTo>
                    <a:pt x="4751844" y="1255776"/>
                  </a:moveTo>
                  <a:lnTo>
                    <a:pt x="4705807" y="1232916"/>
                  </a:lnTo>
                  <a:lnTo>
                    <a:pt x="4524768" y="1143000"/>
                  </a:lnTo>
                  <a:lnTo>
                    <a:pt x="4596447" y="1232916"/>
                  </a:lnTo>
                  <a:lnTo>
                    <a:pt x="4489716" y="1232916"/>
                  </a:lnTo>
                  <a:lnTo>
                    <a:pt x="4227588" y="1232916"/>
                  </a:lnTo>
                  <a:lnTo>
                    <a:pt x="4227588" y="1278636"/>
                  </a:lnTo>
                  <a:lnTo>
                    <a:pt x="4489716" y="1278636"/>
                  </a:lnTo>
                  <a:lnTo>
                    <a:pt x="4596701" y="1278636"/>
                  </a:lnTo>
                  <a:lnTo>
                    <a:pt x="4524768" y="1370076"/>
                  </a:lnTo>
                  <a:lnTo>
                    <a:pt x="4706429" y="1278636"/>
                  </a:lnTo>
                  <a:lnTo>
                    <a:pt x="4751844" y="1255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85760" y="4030980"/>
              <a:ext cx="1549907" cy="129997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845563" y="4347972"/>
              <a:ext cx="1015365" cy="227329"/>
            </a:xfrm>
            <a:custGeom>
              <a:avLst/>
              <a:gdLst/>
              <a:ahLst/>
              <a:cxnLst/>
              <a:rect l="l" t="t" r="r" b="b"/>
              <a:pathLst>
                <a:path w="1015364" h="227329">
                  <a:moveTo>
                    <a:pt x="879348" y="112776"/>
                  </a:moveTo>
                  <a:lnTo>
                    <a:pt x="787908" y="0"/>
                  </a:lnTo>
                  <a:lnTo>
                    <a:pt x="968955" y="89916"/>
                  </a:lnTo>
                  <a:lnTo>
                    <a:pt x="879348" y="89916"/>
                  </a:lnTo>
                  <a:lnTo>
                    <a:pt x="879348" y="112776"/>
                  </a:lnTo>
                  <a:close/>
                </a:path>
                <a:path w="1015364" h="227329">
                  <a:moveTo>
                    <a:pt x="497041" y="132588"/>
                  </a:moveTo>
                  <a:lnTo>
                    <a:pt x="0" y="132588"/>
                  </a:lnTo>
                  <a:lnTo>
                    <a:pt x="0" y="88392"/>
                  </a:lnTo>
                  <a:lnTo>
                    <a:pt x="507492" y="88392"/>
                  </a:lnTo>
                  <a:lnTo>
                    <a:pt x="515575" y="89916"/>
                  </a:lnTo>
                  <a:lnTo>
                    <a:pt x="507492" y="89916"/>
                  </a:lnTo>
                  <a:lnTo>
                    <a:pt x="528828" y="111252"/>
                  </a:lnTo>
                  <a:lnTo>
                    <a:pt x="484632" y="111252"/>
                  </a:lnTo>
                  <a:lnTo>
                    <a:pt x="484632" y="112776"/>
                  </a:lnTo>
                  <a:lnTo>
                    <a:pt x="486489" y="121491"/>
                  </a:lnTo>
                  <a:lnTo>
                    <a:pt x="491490" y="128778"/>
                  </a:lnTo>
                  <a:lnTo>
                    <a:pt x="497041" y="132588"/>
                  </a:lnTo>
                  <a:close/>
                </a:path>
                <a:path w="1015364" h="227329">
                  <a:moveTo>
                    <a:pt x="530352" y="112776"/>
                  </a:moveTo>
                  <a:lnTo>
                    <a:pt x="507492" y="89916"/>
                  </a:lnTo>
                  <a:lnTo>
                    <a:pt x="516020" y="89916"/>
                  </a:lnTo>
                  <a:lnTo>
                    <a:pt x="523494" y="94678"/>
                  </a:lnTo>
                  <a:lnTo>
                    <a:pt x="528494" y="101893"/>
                  </a:lnTo>
                  <a:lnTo>
                    <a:pt x="530352" y="111252"/>
                  </a:lnTo>
                  <a:lnTo>
                    <a:pt x="530352" y="112776"/>
                  </a:lnTo>
                  <a:close/>
                </a:path>
                <a:path w="1015364" h="227329">
                  <a:moveTo>
                    <a:pt x="879348" y="112776"/>
                  </a:moveTo>
                  <a:lnTo>
                    <a:pt x="530352" y="112776"/>
                  </a:lnTo>
                  <a:lnTo>
                    <a:pt x="530352" y="111252"/>
                  </a:lnTo>
                  <a:lnTo>
                    <a:pt x="528494" y="101893"/>
                  </a:lnTo>
                  <a:lnTo>
                    <a:pt x="523494" y="94678"/>
                  </a:lnTo>
                  <a:lnTo>
                    <a:pt x="516020" y="89916"/>
                  </a:lnTo>
                  <a:lnTo>
                    <a:pt x="860812" y="89916"/>
                  </a:lnTo>
                  <a:lnTo>
                    <a:pt x="879348" y="112776"/>
                  </a:lnTo>
                  <a:close/>
                </a:path>
                <a:path w="1015364" h="227329">
                  <a:moveTo>
                    <a:pt x="969568" y="135636"/>
                  </a:moveTo>
                  <a:lnTo>
                    <a:pt x="879348" y="135636"/>
                  </a:lnTo>
                  <a:lnTo>
                    <a:pt x="879348" y="89916"/>
                  </a:lnTo>
                  <a:lnTo>
                    <a:pt x="968955" y="89916"/>
                  </a:lnTo>
                  <a:lnTo>
                    <a:pt x="1014984" y="112776"/>
                  </a:lnTo>
                  <a:lnTo>
                    <a:pt x="969568" y="135636"/>
                  </a:lnTo>
                  <a:close/>
                </a:path>
                <a:path w="1015364" h="227329">
                  <a:moveTo>
                    <a:pt x="861060" y="135636"/>
                  </a:moveTo>
                  <a:lnTo>
                    <a:pt x="507492" y="135636"/>
                  </a:lnTo>
                  <a:lnTo>
                    <a:pt x="498776" y="133778"/>
                  </a:lnTo>
                  <a:lnTo>
                    <a:pt x="491490" y="128778"/>
                  </a:lnTo>
                  <a:lnTo>
                    <a:pt x="486489" y="121491"/>
                  </a:lnTo>
                  <a:lnTo>
                    <a:pt x="484632" y="112776"/>
                  </a:lnTo>
                  <a:lnTo>
                    <a:pt x="484632" y="111252"/>
                  </a:lnTo>
                  <a:lnTo>
                    <a:pt x="507492" y="132588"/>
                  </a:lnTo>
                  <a:lnTo>
                    <a:pt x="863498" y="132588"/>
                  </a:lnTo>
                  <a:lnTo>
                    <a:pt x="861060" y="135636"/>
                  </a:lnTo>
                  <a:close/>
                </a:path>
                <a:path w="1015364" h="227329">
                  <a:moveTo>
                    <a:pt x="863498" y="132588"/>
                  </a:moveTo>
                  <a:lnTo>
                    <a:pt x="507492" y="132588"/>
                  </a:lnTo>
                  <a:lnTo>
                    <a:pt x="484632" y="111252"/>
                  </a:lnTo>
                  <a:lnTo>
                    <a:pt x="528828" y="111252"/>
                  </a:lnTo>
                  <a:lnTo>
                    <a:pt x="530352" y="112776"/>
                  </a:lnTo>
                  <a:lnTo>
                    <a:pt x="879348" y="112776"/>
                  </a:lnTo>
                  <a:lnTo>
                    <a:pt x="863498" y="132588"/>
                  </a:lnTo>
                  <a:close/>
                </a:path>
                <a:path w="1015364" h="227329">
                  <a:moveTo>
                    <a:pt x="787908" y="227076"/>
                  </a:moveTo>
                  <a:lnTo>
                    <a:pt x="879348" y="112776"/>
                  </a:lnTo>
                  <a:lnTo>
                    <a:pt x="879348" y="135636"/>
                  </a:lnTo>
                  <a:lnTo>
                    <a:pt x="969568" y="135636"/>
                  </a:lnTo>
                  <a:lnTo>
                    <a:pt x="787908" y="2270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23388" y="2467356"/>
              <a:ext cx="2560319" cy="37795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15972" y="1998969"/>
            <a:ext cx="3841115" cy="13163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latin typeface="Arial"/>
                <a:cs typeface="Arial"/>
              </a:rPr>
              <a:t>A</a:t>
            </a:r>
            <a:r>
              <a:rPr sz="1950" b="1" spc="-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Computer</a:t>
            </a:r>
            <a:r>
              <a:rPr sz="1950" b="1" spc="45" dirty="0">
                <a:latin typeface="Arial"/>
                <a:cs typeface="Arial"/>
              </a:rPr>
              <a:t> </a:t>
            </a:r>
            <a:r>
              <a:rPr sz="1950" b="1" spc="-10" dirty="0">
                <a:latin typeface="Arial"/>
                <a:cs typeface="Arial"/>
              </a:rPr>
              <a:t>Device</a:t>
            </a:r>
            <a:endParaRPr sz="1950">
              <a:latin typeface="Arial"/>
              <a:cs typeface="Arial"/>
            </a:endParaRPr>
          </a:p>
          <a:p>
            <a:pPr marL="2037714" marR="5080" indent="-222885">
              <a:lnSpc>
                <a:spcPct val="163600"/>
              </a:lnSpc>
              <a:spcBef>
                <a:spcPts val="130"/>
              </a:spcBef>
            </a:pPr>
            <a:r>
              <a:rPr sz="1950" b="1" dirty="0">
                <a:latin typeface="Arial"/>
                <a:cs typeface="Arial"/>
              </a:rPr>
              <a:t>Main</a:t>
            </a:r>
            <a:r>
              <a:rPr sz="1950" b="1" spc="55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Thread</a:t>
            </a:r>
            <a:r>
              <a:rPr sz="1950" b="1" spc="30" dirty="0">
                <a:latin typeface="Arial"/>
                <a:cs typeface="Arial"/>
              </a:rPr>
              <a:t> </a:t>
            </a:r>
            <a:r>
              <a:rPr sz="1950" b="1" spc="-20" dirty="0">
                <a:latin typeface="Arial"/>
                <a:cs typeface="Arial"/>
              </a:rPr>
              <a:t>(T0) </a:t>
            </a:r>
            <a:r>
              <a:rPr sz="1950" b="1" spc="-10" dirty="0">
                <a:latin typeface="Arial"/>
                <a:cs typeface="Arial"/>
              </a:rPr>
              <a:t>Program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272784" y="3713988"/>
            <a:ext cx="1039367" cy="557783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540431" y="3754573"/>
            <a:ext cx="34290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20" dirty="0">
                <a:latin typeface="Arial"/>
                <a:cs typeface="Arial"/>
              </a:rPr>
              <a:t>Join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18503" y="2900172"/>
            <a:ext cx="2955290" cy="1283335"/>
            <a:chOff x="6318503" y="2900172"/>
            <a:chExt cx="2955290" cy="1283335"/>
          </a:xfrm>
        </p:grpSpPr>
        <p:sp>
          <p:nvSpPr>
            <p:cNvPr id="36" name="object 36"/>
            <p:cNvSpPr/>
            <p:nvPr/>
          </p:nvSpPr>
          <p:spPr>
            <a:xfrm>
              <a:off x="6318503" y="3956303"/>
              <a:ext cx="523240" cy="227329"/>
            </a:xfrm>
            <a:custGeom>
              <a:avLst/>
              <a:gdLst/>
              <a:ahLst/>
              <a:cxnLst/>
              <a:rect l="l" t="t" r="r" b="b"/>
              <a:pathLst>
                <a:path w="523240" h="227329">
                  <a:moveTo>
                    <a:pt x="385572" y="112776"/>
                  </a:moveTo>
                  <a:lnTo>
                    <a:pt x="295656" y="0"/>
                  </a:lnTo>
                  <a:lnTo>
                    <a:pt x="476703" y="89916"/>
                  </a:lnTo>
                  <a:lnTo>
                    <a:pt x="385572" y="89916"/>
                  </a:lnTo>
                  <a:lnTo>
                    <a:pt x="385572" y="112776"/>
                  </a:lnTo>
                  <a:close/>
                </a:path>
                <a:path w="523240" h="227329">
                  <a:moveTo>
                    <a:pt x="260604" y="135636"/>
                  </a:moveTo>
                  <a:lnTo>
                    <a:pt x="0" y="135636"/>
                  </a:lnTo>
                  <a:lnTo>
                    <a:pt x="0" y="89916"/>
                  </a:lnTo>
                  <a:lnTo>
                    <a:pt x="260604" y="89916"/>
                  </a:lnTo>
                  <a:lnTo>
                    <a:pt x="283464" y="112776"/>
                  </a:lnTo>
                  <a:lnTo>
                    <a:pt x="237743" y="112776"/>
                  </a:lnTo>
                  <a:lnTo>
                    <a:pt x="239601" y="121491"/>
                  </a:lnTo>
                  <a:lnTo>
                    <a:pt x="244602" y="128778"/>
                  </a:lnTo>
                  <a:lnTo>
                    <a:pt x="251888" y="133778"/>
                  </a:lnTo>
                  <a:lnTo>
                    <a:pt x="260604" y="135636"/>
                  </a:lnTo>
                  <a:close/>
                </a:path>
                <a:path w="523240" h="227329">
                  <a:moveTo>
                    <a:pt x="283464" y="112776"/>
                  </a:moveTo>
                  <a:lnTo>
                    <a:pt x="260604" y="89916"/>
                  </a:lnTo>
                  <a:lnTo>
                    <a:pt x="269319" y="91773"/>
                  </a:lnTo>
                  <a:lnTo>
                    <a:pt x="276606" y="96774"/>
                  </a:lnTo>
                  <a:lnTo>
                    <a:pt x="281606" y="104060"/>
                  </a:lnTo>
                  <a:lnTo>
                    <a:pt x="283464" y="112776"/>
                  </a:lnTo>
                  <a:close/>
                </a:path>
                <a:path w="523240" h="227329">
                  <a:moveTo>
                    <a:pt x="367588" y="135636"/>
                  </a:moveTo>
                  <a:lnTo>
                    <a:pt x="260604" y="135636"/>
                  </a:lnTo>
                  <a:lnTo>
                    <a:pt x="237743" y="112776"/>
                  </a:lnTo>
                  <a:lnTo>
                    <a:pt x="283464" y="112776"/>
                  </a:lnTo>
                  <a:lnTo>
                    <a:pt x="281606" y="104060"/>
                  </a:lnTo>
                  <a:lnTo>
                    <a:pt x="276606" y="96774"/>
                  </a:lnTo>
                  <a:lnTo>
                    <a:pt x="269319" y="91773"/>
                  </a:lnTo>
                  <a:lnTo>
                    <a:pt x="260604" y="89916"/>
                  </a:lnTo>
                  <a:lnTo>
                    <a:pt x="367345" y="89916"/>
                  </a:lnTo>
                  <a:lnTo>
                    <a:pt x="385572" y="112776"/>
                  </a:lnTo>
                  <a:lnTo>
                    <a:pt x="367588" y="135636"/>
                  </a:lnTo>
                  <a:close/>
                </a:path>
                <a:path w="523240" h="227329">
                  <a:moveTo>
                    <a:pt x="477316" y="135636"/>
                  </a:moveTo>
                  <a:lnTo>
                    <a:pt x="385572" y="135636"/>
                  </a:lnTo>
                  <a:lnTo>
                    <a:pt x="385572" y="89916"/>
                  </a:lnTo>
                  <a:lnTo>
                    <a:pt x="476703" y="89916"/>
                  </a:lnTo>
                  <a:lnTo>
                    <a:pt x="522732" y="112776"/>
                  </a:lnTo>
                  <a:lnTo>
                    <a:pt x="477316" y="135636"/>
                  </a:lnTo>
                  <a:close/>
                </a:path>
                <a:path w="523240" h="227329">
                  <a:moveTo>
                    <a:pt x="260604" y="135636"/>
                  </a:moveTo>
                  <a:lnTo>
                    <a:pt x="251888" y="133778"/>
                  </a:lnTo>
                  <a:lnTo>
                    <a:pt x="244602" y="128778"/>
                  </a:lnTo>
                  <a:lnTo>
                    <a:pt x="239601" y="121491"/>
                  </a:lnTo>
                  <a:lnTo>
                    <a:pt x="237743" y="112776"/>
                  </a:lnTo>
                  <a:lnTo>
                    <a:pt x="260604" y="135636"/>
                  </a:lnTo>
                  <a:close/>
                </a:path>
                <a:path w="523240" h="227329">
                  <a:moveTo>
                    <a:pt x="295656" y="227076"/>
                  </a:moveTo>
                  <a:lnTo>
                    <a:pt x="385572" y="112776"/>
                  </a:lnTo>
                  <a:lnTo>
                    <a:pt x="385572" y="135636"/>
                  </a:lnTo>
                  <a:lnTo>
                    <a:pt x="477316" y="135636"/>
                  </a:lnTo>
                  <a:lnTo>
                    <a:pt x="295656" y="2270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09787" y="2900172"/>
              <a:ext cx="1063751" cy="83057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392160" y="2942336"/>
            <a:ext cx="701040" cy="728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2699"/>
              </a:lnSpc>
              <a:spcBef>
                <a:spcPts val="85"/>
              </a:spcBef>
            </a:pP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T1</a:t>
            </a:r>
            <a:r>
              <a:rPr sz="15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500" b="1" spc="-10" dirty="0">
                <a:solidFill>
                  <a:srgbClr val="FF0000"/>
                </a:solidFill>
                <a:latin typeface="Arial"/>
                <a:cs typeface="Arial"/>
              </a:rPr>
              <a:t>waiting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15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FF0000"/>
                </a:solidFill>
                <a:latin typeface="Arial"/>
                <a:cs typeface="Arial"/>
              </a:rPr>
              <a:t>T2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193023" y="5285232"/>
            <a:ext cx="1063752" cy="827531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8148319" y="4070096"/>
            <a:ext cx="1221740" cy="19850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2699"/>
              </a:lnSpc>
              <a:spcBef>
                <a:spcPts val="85"/>
              </a:spcBef>
            </a:pPr>
            <a:r>
              <a:rPr sz="1500" b="1" dirty="0">
                <a:latin typeface="Arial"/>
                <a:cs typeface="Arial"/>
              </a:rPr>
              <a:t>T0</a:t>
            </a:r>
            <a:r>
              <a:rPr sz="1500" b="1" spc="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is</a:t>
            </a:r>
            <a:r>
              <a:rPr sz="1500" b="1" spc="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Waiting </a:t>
            </a:r>
            <a:r>
              <a:rPr sz="1500" b="1" dirty="0">
                <a:latin typeface="Arial"/>
                <a:cs typeface="Arial"/>
              </a:rPr>
              <a:t>T1</a:t>
            </a:r>
            <a:r>
              <a:rPr sz="1500" b="1" spc="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and</a:t>
            </a:r>
            <a:r>
              <a:rPr sz="1500" b="1" spc="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T2</a:t>
            </a:r>
            <a:r>
              <a:rPr sz="1500" b="1" spc="30" dirty="0">
                <a:latin typeface="Arial"/>
                <a:cs typeface="Arial"/>
              </a:rPr>
              <a:t> </a:t>
            </a:r>
            <a:r>
              <a:rPr sz="1500" b="1" spc="-25" dirty="0">
                <a:latin typeface="Arial"/>
                <a:cs typeface="Arial"/>
              </a:rPr>
              <a:t>to </a:t>
            </a:r>
            <a:r>
              <a:rPr sz="1500" b="1" dirty="0">
                <a:latin typeface="Arial"/>
                <a:cs typeface="Arial"/>
              </a:rPr>
              <a:t>resolve</a:t>
            </a:r>
            <a:r>
              <a:rPr sz="1500" b="1" spc="95" dirty="0">
                <a:latin typeface="Arial"/>
                <a:cs typeface="Arial"/>
              </a:rPr>
              <a:t> </a:t>
            </a:r>
            <a:r>
              <a:rPr sz="1500" b="1" spc="-20" dirty="0">
                <a:latin typeface="Arial"/>
                <a:cs typeface="Arial"/>
              </a:rPr>
              <a:t>their </a:t>
            </a:r>
            <a:r>
              <a:rPr sz="1500" b="1" dirty="0">
                <a:latin typeface="Arial"/>
                <a:cs typeface="Arial"/>
              </a:rPr>
              <a:t>deadlock</a:t>
            </a:r>
            <a:r>
              <a:rPr sz="1500" b="1" spc="100" dirty="0">
                <a:latin typeface="Arial"/>
                <a:cs typeface="Arial"/>
              </a:rPr>
              <a:t> </a:t>
            </a:r>
            <a:r>
              <a:rPr sz="1500" b="1" spc="-25" dirty="0">
                <a:latin typeface="Arial"/>
                <a:cs typeface="Arial"/>
              </a:rPr>
              <a:t>to </a:t>
            </a:r>
            <a:r>
              <a:rPr sz="1500" b="1" spc="-10" dirty="0">
                <a:latin typeface="Arial"/>
                <a:cs typeface="Arial"/>
              </a:rPr>
              <a:t>proceed!</a:t>
            </a:r>
            <a:endParaRPr sz="1500">
              <a:latin typeface="Arial"/>
              <a:cs typeface="Arial"/>
            </a:endParaRPr>
          </a:p>
          <a:p>
            <a:pPr marL="239395" marR="298450" algn="ctr">
              <a:lnSpc>
                <a:spcPct val="102699"/>
              </a:lnSpc>
              <a:spcBef>
                <a:spcPts val="650"/>
              </a:spcBef>
            </a:pP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T2</a:t>
            </a:r>
            <a:r>
              <a:rPr sz="15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500" b="1" spc="-10" dirty="0">
                <a:solidFill>
                  <a:srgbClr val="FF0000"/>
                </a:solidFill>
                <a:latin typeface="Arial"/>
                <a:cs typeface="Arial"/>
              </a:rPr>
              <a:t>waiting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15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FF0000"/>
                </a:solidFill>
                <a:latin typeface="Arial"/>
                <a:cs typeface="Arial"/>
              </a:rPr>
              <a:t>T1</a:t>
            </a:r>
            <a:endParaRPr sz="15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293851" y="3546360"/>
            <a:ext cx="1117600" cy="2005964"/>
          </a:xfrm>
          <a:custGeom>
            <a:avLst/>
            <a:gdLst/>
            <a:ahLst/>
            <a:cxnLst/>
            <a:rect l="l" t="t" r="r" b="b"/>
            <a:pathLst>
              <a:path w="1117600" h="2005964">
                <a:moveTo>
                  <a:pt x="187452" y="1748015"/>
                </a:moveTo>
                <a:lnTo>
                  <a:pt x="10668" y="1706867"/>
                </a:lnTo>
                <a:lnTo>
                  <a:pt x="0" y="1751063"/>
                </a:lnTo>
                <a:lnTo>
                  <a:pt x="178308" y="1792211"/>
                </a:lnTo>
                <a:lnTo>
                  <a:pt x="187452" y="1748015"/>
                </a:lnTo>
                <a:close/>
              </a:path>
              <a:path w="1117600" h="2005964">
                <a:moveTo>
                  <a:pt x="187452" y="323088"/>
                </a:moveTo>
                <a:lnTo>
                  <a:pt x="173736" y="280416"/>
                </a:lnTo>
                <a:lnTo>
                  <a:pt x="0" y="332232"/>
                </a:lnTo>
                <a:lnTo>
                  <a:pt x="13716" y="376428"/>
                </a:lnTo>
                <a:lnTo>
                  <a:pt x="187452" y="323088"/>
                </a:lnTo>
                <a:close/>
              </a:path>
              <a:path w="1117600" h="2005964">
                <a:moveTo>
                  <a:pt x="490728" y="230124"/>
                </a:moveTo>
                <a:lnTo>
                  <a:pt x="478536" y="185928"/>
                </a:lnTo>
                <a:lnTo>
                  <a:pt x="304800" y="239268"/>
                </a:lnTo>
                <a:lnTo>
                  <a:pt x="316992" y="283464"/>
                </a:lnTo>
                <a:lnTo>
                  <a:pt x="490728" y="230124"/>
                </a:lnTo>
                <a:close/>
              </a:path>
              <a:path w="1117600" h="2005964">
                <a:moveTo>
                  <a:pt x="496824" y="1818119"/>
                </a:moveTo>
                <a:lnTo>
                  <a:pt x="320040" y="1778495"/>
                </a:lnTo>
                <a:lnTo>
                  <a:pt x="310896" y="1822691"/>
                </a:lnTo>
                <a:lnTo>
                  <a:pt x="487680" y="1862315"/>
                </a:lnTo>
                <a:lnTo>
                  <a:pt x="496824" y="1818119"/>
                </a:lnTo>
                <a:close/>
              </a:path>
              <a:path w="1117600" h="2005964">
                <a:moveTo>
                  <a:pt x="795528" y="137160"/>
                </a:moveTo>
                <a:lnTo>
                  <a:pt x="781812" y="92964"/>
                </a:lnTo>
                <a:lnTo>
                  <a:pt x="608076" y="146304"/>
                </a:lnTo>
                <a:lnTo>
                  <a:pt x="621792" y="190500"/>
                </a:lnTo>
                <a:lnTo>
                  <a:pt x="795528" y="137160"/>
                </a:lnTo>
                <a:close/>
              </a:path>
              <a:path w="1117600" h="2005964">
                <a:moveTo>
                  <a:pt x="807720" y="1889747"/>
                </a:moveTo>
                <a:lnTo>
                  <a:pt x="630936" y="1848599"/>
                </a:lnTo>
                <a:lnTo>
                  <a:pt x="620268" y="1892795"/>
                </a:lnTo>
                <a:lnTo>
                  <a:pt x="797052" y="1933943"/>
                </a:lnTo>
                <a:lnTo>
                  <a:pt x="807720" y="1889747"/>
                </a:lnTo>
                <a:close/>
              </a:path>
              <a:path w="1117600" h="2005964">
                <a:moveTo>
                  <a:pt x="1098804" y="44196"/>
                </a:moveTo>
                <a:lnTo>
                  <a:pt x="1085088" y="0"/>
                </a:lnTo>
                <a:lnTo>
                  <a:pt x="911352" y="53340"/>
                </a:lnTo>
                <a:lnTo>
                  <a:pt x="925068" y="97536"/>
                </a:lnTo>
                <a:lnTo>
                  <a:pt x="1098804" y="44196"/>
                </a:lnTo>
                <a:close/>
              </a:path>
              <a:path w="1117600" h="2005964">
                <a:moveTo>
                  <a:pt x="1117092" y="1961375"/>
                </a:moveTo>
                <a:lnTo>
                  <a:pt x="940308" y="1920227"/>
                </a:lnTo>
                <a:lnTo>
                  <a:pt x="929640" y="1964423"/>
                </a:lnTo>
                <a:lnTo>
                  <a:pt x="1106424" y="2005571"/>
                </a:lnTo>
                <a:lnTo>
                  <a:pt x="1117092" y="19613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158228" y="6865619"/>
            <a:ext cx="2734056" cy="423671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7253696" y="6926971"/>
            <a:ext cx="236918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1950" b="1" dirty="0">
                <a:solidFill>
                  <a:srgbClr val="FF0000"/>
                </a:solidFill>
                <a:latin typeface="Arial"/>
                <a:cs typeface="Arial"/>
              </a:rPr>
              <a:t>Next</a:t>
            </a:r>
            <a:r>
              <a:rPr sz="195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0000"/>
                </a:solidFill>
                <a:latin typeface="Arial"/>
                <a:cs typeface="Arial"/>
              </a:rPr>
              <a:t>week</a:t>
            </a:r>
            <a:r>
              <a:rPr sz="195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0000"/>
                </a:solidFill>
                <a:latin typeface="Arial"/>
                <a:cs typeface="Arial"/>
              </a:rPr>
              <a:t>Teaser…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5300</Words>
  <Application>Microsoft Office PowerPoint</Application>
  <PresentationFormat>Custom</PresentationFormat>
  <Paragraphs>744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MT</vt:lpstr>
      <vt:lpstr>Arial</vt:lpstr>
      <vt:lpstr>Calibri</vt:lpstr>
      <vt:lpstr>Tahoma</vt:lpstr>
      <vt:lpstr>Times New Roman</vt:lpstr>
      <vt:lpstr>Office Theme</vt:lpstr>
      <vt:lpstr>Concurrent Programming CT074-3-2 Version 0120</vt:lpstr>
      <vt:lpstr>What is Concurrent Programming?</vt:lpstr>
      <vt:lpstr>What is a Program?</vt:lpstr>
      <vt:lpstr>What is an Application?</vt:lpstr>
      <vt:lpstr>What is an Operating System?</vt:lpstr>
      <vt:lpstr>What is an instruction?</vt:lpstr>
      <vt:lpstr>What is a Process?</vt:lpstr>
      <vt:lpstr>So far:</vt:lpstr>
      <vt:lpstr>What is a Thread?</vt:lpstr>
      <vt:lpstr>What is a Thread? Cont…</vt:lpstr>
      <vt:lpstr>What is a Thread?Cont…</vt:lpstr>
      <vt:lpstr>Parallel vs. Concurrent Threads?</vt:lpstr>
      <vt:lpstr>Schedular</vt:lpstr>
      <vt:lpstr>Implementation</vt:lpstr>
      <vt:lpstr>PowerPoint Presentation</vt:lpstr>
      <vt:lpstr>Downsides of Concurrent Programming</vt:lpstr>
      <vt:lpstr>Summary Point</vt:lpstr>
      <vt:lpstr>Conclusion Point</vt:lpstr>
      <vt:lpstr>Basic Operation for Threads</vt:lpstr>
      <vt:lpstr>A Major Concern: DeadLock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1 - Introduction to Concurrent Programming.pptx</dc:title>
  <dc:creator>HUDSOn</dc:creator>
  <cp:keywords>2025</cp:keywords>
  <cp:lastModifiedBy>HUDSOn C.</cp:lastModifiedBy>
  <cp:revision>13</cp:revision>
  <dcterms:created xsi:type="dcterms:W3CDTF">2025-12-04T06:09:38Z</dcterms:created>
  <dcterms:modified xsi:type="dcterms:W3CDTF">2025-12-04T15:13:54Z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2025-03-05T00:00:00Z</vt:filetime>
  </property>
  <property fmtid="{D5CDD505-2E9C-101B-9397-08002B2CF9AE}" pid="3" name="LastSaved">
    <vt:filetime>2025-12-04T00:00:00Z</vt:filetime>
  </property>
  <property fmtid="{D5CDD505-2E9C-101B-9397-08002B2CF9AE}" pid="4" name="Producer">
    <vt:lpwstr>Microsoft: Print To PDF</vt:lpwstr>
  </property>
</Properties>
</file>